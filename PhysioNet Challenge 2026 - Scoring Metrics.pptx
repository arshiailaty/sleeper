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handoutMasters/handoutMaster1.xml" ContentType="application/vnd.openxmlformats-officedocument.presentationml.handoutMaster+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slideLayouts/slideLayout27.xml" ContentType="application/vnd.openxmlformats-officedocument.presentationml.slideLayout+xml"/>
  <Override PartName="/ppt/slideLayouts/slideLayout28.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theme/theme3.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howSpecialPlsOnTitleSld="0" saveSubsetFonts="1" autoCompressPictures="0">
  <p:sldMasterIdLst>
    <p:sldMasterId id="2147483648" r:id="rId1"/>
  </p:sldMasterIdLst>
  <p:notesMasterIdLst>
    <p:notesMasterId r:id="rId61"/>
  </p:notesMasterIdLst>
  <p:handoutMasterIdLst>
    <p:handoutMasterId r:id="rId62"/>
  </p:handoutMasterIdLst>
  <p:sldIdLst>
    <p:sldId id="256" r:id="rId8"/>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4" r:id="rId26"/>
    <p:sldId id="275" r:id="rId27"/>
    <p:sldId id="276" r:id="rId28"/>
    <p:sldId id="277" r:id="rId29"/>
    <p:sldId id="278" r:id="rId30"/>
    <p:sldId id="279" r:id="rId31"/>
    <p:sldId id="281" r:id="rId33"/>
    <p:sldId id="282" r:id="rId34"/>
    <p:sldId id="280" r:id="rId32"/>
    <p:sldId id="271" r:id="rId23"/>
    <p:sldId id="272" r:id="rId24"/>
    <p:sldId id="273" r:id="rId25"/>
  </p:sldIdLst>
  <p:sldSz cx="9144000" cy="5143500" type="screen16x9"/>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937">
          <p15:clr>
            <a:srgbClr val="A4A3A4"/>
          </p15:clr>
        </p15:guide>
        <p15:guide id="2" orient="horz" pos="746">
          <p15:clr>
            <a:srgbClr val="A4A3A4"/>
          </p15:clr>
        </p15:guide>
        <p15:guide id="3" pos="2881">
          <p15:clr>
            <a:srgbClr val="A4A3A4"/>
          </p15:clr>
        </p15:guide>
        <p15:guide id="4" pos="343">
          <p15:clr>
            <a:srgbClr val="A4A3A4"/>
          </p15:clr>
        </p15:guide>
        <p15:guide id="5" pos="5414">
          <p15:clr>
            <a:srgbClr val="A4A3A4"/>
          </p15:clr>
        </p15:guide>
      </p15:sldGuideLst>
    </p:ext>
    <p:ext uri="{2D200454-40CA-4A62-9FC3-DE9A4176ACB9}">
      <p15:notesGuideLst xmlns:p15="http://schemas.microsoft.com/office/powerpoint/2012/main">
        <p15:guide id="1" orient="horz" pos="2880">
          <p15:clr>
            <a:srgbClr val="A4A3A4"/>
          </p15:clr>
        </p15:guide>
        <p15:guide id="2" pos="2160">
          <p15:clr>
            <a:srgbClr val="A4A3A4"/>
          </p15:clr>
        </p15:guide>
      </p15:notes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EFE6E8"/>
    <a:srgbClr val="E0CDD0"/>
    <a:srgbClr val="C09AA1"/>
    <a:srgbClr val="F5E8E0"/>
    <a:srgbClr val="EBD0C0"/>
    <a:srgbClr val="D7A181"/>
    <a:srgbClr val="FE00DD"/>
    <a:srgbClr val="C4C6C6"/>
    <a:srgbClr val="898D8D"/>
  </p:clrMru>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DD3E4D24-59C8-4E92-AF60-1BB1E4F4EC29}">
  <a:tblStyle styleId="{DD3E4D24-59C8-4E92-AF60-1BB1E4F4EC29}" styleName="Edwards">
    <a:wholeTbl>
      <a:tcTxStyle>
        <a:fontRef idx="minor"/>
        <a:srgbClr val="000000"/>
      </a:tcTxStyle>
      <a:tcStyle>
        <a:tcBdr>
          <a:left>
            <a:ln>
              <a:noFill/>
            </a:ln>
          </a:left>
          <a:right>
            <a:ln>
              <a:noFill/>
            </a:ln>
          </a:right>
          <a:top>
            <a:ln w="6350">
              <a:solidFill>
                <a:srgbClr val="505759"/>
              </a:solidFill>
            </a:ln>
          </a:top>
          <a:bottom>
            <a:ln w="6350">
              <a:solidFill>
                <a:srgbClr val="505759"/>
              </a:solidFill>
            </a:ln>
          </a:bottom>
          <a:insideH>
            <a:ln w="6350">
              <a:solidFill>
                <a:srgbClr val="505759"/>
              </a:solidFill>
            </a:ln>
          </a:insideH>
          <a:insideV>
            <a:ln>
              <a:noFill/>
            </a:ln>
          </a:insideV>
        </a:tcBdr>
        <a:fill>
          <a:noFill/>
        </a:fill>
      </a:tcStyle>
    </a:wholeTbl>
    <a:band1H>
      <a:tcStyle>
        <a:tcBdr/>
        <a:fill>
          <a:solidFill>
            <a:srgbClr val="D1D1D1"/>
          </a:solidFill>
        </a:fill>
      </a:tcStyle>
    </a:band1H>
    <a:band2H>
      <a:tcStyle>
        <a:tcBdr/>
        <a:fill>
          <a:noFill/>
        </a:fill>
      </a:tcStyle>
    </a:band2H>
    <a:band1V>
      <a:tcStyle>
        <a:tcBdr/>
        <a:fill>
          <a:solidFill>
            <a:srgbClr val="D1D1D1"/>
          </a:solidFill>
        </a:fill>
      </a:tcStyle>
    </a:band1V>
    <a:band2V>
      <a:tcStyle>
        <a:tcBdr/>
        <a:fill>
          <a:noFill/>
        </a:fill>
      </a:tcStyle>
    </a:band2V>
    <a:lastCol>
      <a:tcStyle>
        <a:tcBdr/>
        <a:fill>
          <a:solidFill>
            <a:srgbClr val="D1D1D1"/>
          </a:solidFill>
        </a:fill>
      </a:tcStyle>
    </a:lastCol>
    <a:firstCol>
      <a:tcStyle>
        <a:tcBdr/>
        <a:fill>
          <a:solidFill>
            <a:srgbClr val="D1D1D1"/>
          </a:solidFill>
        </a:fill>
      </a:tcStyle>
    </a:firstCol>
    <a:lastRow>
      <a:tcTxStyle b="on">
        <a:fontRef idx="minor"/>
        <a:srgbClr val="000000"/>
      </a:tcTxStyle>
      <a:tcStyle>
        <a:tcBdr>
          <a:top>
            <a:ln w="15875">
              <a:solidFill>
                <a:srgbClr val="505759"/>
              </a:solidFill>
            </a:ln>
          </a:top>
          <a:bottom>
            <a:ln>
              <a:noFill/>
            </a:ln>
          </a:bottom>
        </a:tcBdr>
        <a:fill>
          <a:noFill/>
        </a:fill>
      </a:tcStyle>
    </a:lastRow>
    <a:firstRow>
      <a:tcTxStyle b="on">
        <a:fontRef idx="minor"/>
        <a:srgbClr val="FFFFFF"/>
      </a:tcTxStyle>
      <a:tcStyle>
        <a:tcBdr>
          <a:top>
            <a:ln>
              <a:noFill/>
            </a:ln>
          </a:top>
          <a:bottom>
            <a:ln>
              <a:noFill/>
            </a:ln>
          </a:bottom>
        </a:tcBdr>
        <a:fill>
          <a:solidFill>
            <a:srgbClr val="505759"/>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8016"/>
    <p:restoredTop sz="78827"/>
  </p:normalViewPr>
  <p:slideViewPr>
    <p:cSldViewPr snapToGrid="0" snapToObjects="1">
      <p:cViewPr>
        <p:scale>
          <a:sx n="119" d="100"/>
          <a:sy n="119" d="100"/>
        </p:scale>
        <p:origin x="2192" y="904"/>
      </p:cViewPr>
      <p:guideLst>
        <p:guide orient="horz" pos="2937"/>
        <p:guide orient="horz" pos="746"/>
        <p:guide pos="2881"/>
        <p:guide pos="343"/>
        <p:guide pos="5414"/>
      </p:guideLst>
    </p:cSldViewPr>
  </p:slideViewPr>
  <p:outlineViewPr>
    <p:cViewPr>
      <p:scale>
        <a:sx n="33" d="100"/>
        <a:sy n="33" d="100"/>
      </p:scale>
      <p:origin x="0" y="-9400"/>
    </p:cViewPr>
  </p:outlineViewPr>
  <p:notesTextViewPr>
    <p:cViewPr>
      <p:scale>
        <a:sx n="100" d="100"/>
        <a:sy n="100" d="100"/>
      </p:scale>
      <p:origin x="0" y="0"/>
    </p:cViewPr>
  </p:notesTextViewPr>
  <p:sorterViewPr>
    <p:cViewPr>
      <p:scale>
        <a:sx n="66" d="100"/>
        <a:sy n="66" d="100"/>
      </p:scale>
      <p:origin x="0" y="0"/>
    </p:cViewPr>
  </p:sorterViewPr>
  <p:notesViewPr>
    <p:cSldViewPr snapToGrid="0" snapToObjects="1">
      <p:cViewPr varScale="1">
        <p:scale>
          <a:sx n="111" d="100"/>
          <a:sy n="111" d="100"/>
        </p:scale>
        <p:origin x="-5120" y="-120"/>
      </p:cViewPr>
      <p:guideLst>
        <p:guide orient="horz" pos="2880"/>
        <p:guide pos="2160"/>
      </p:guideLst>
    </p:cSldViewPr>
  </p:notes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8" Type="http://schemas.openxmlformats.org/officeDocument/2006/relationships/slide" Target="slides/slide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23.xml"/><Relationship Id="rId24" Type="http://schemas.openxmlformats.org/officeDocument/2006/relationships/slide" Target="slides/slide24.xml"/><Relationship Id="rId25" Type="http://schemas.openxmlformats.org/officeDocument/2006/relationships/slide" Target="slides/slide25.xml"/><Relationship Id="rId26" Type="http://schemas.openxmlformats.org/officeDocument/2006/relationships/slide" Target="slides/slide16.xml"/><Relationship Id="rId27" Type="http://schemas.openxmlformats.org/officeDocument/2006/relationships/slide" Target="slides/slide17.xml"/><Relationship Id="rId28" Type="http://schemas.openxmlformats.org/officeDocument/2006/relationships/slide" Target="slides/slide18.xml"/><Relationship Id="rId29" Type="http://schemas.openxmlformats.org/officeDocument/2006/relationships/slide" Target="slides/slide19.xml"/><Relationship Id="rId30" Type="http://schemas.openxmlformats.org/officeDocument/2006/relationships/slide" Target="slides/slide20.xml"/><Relationship Id="rId31" Type="http://schemas.openxmlformats.org/officeDocument/2006/relationships/slide" Target="slides/slide21.xml"/><Relationship Id="rId32" Type="http://schemas.openxmlformats.org/officeDocument/2006/relationships/slide" Target="slides/slide22.xml"/><Relationship Id="rId33" Type="http://schemas.openxmlformats.org/officeDocument/2006/relationships/slide" Target="slides/slide26.xml"/><Relationship Id="rId34" Type="http://schemas.openxmlformats.org/officeDocument/2006/relationships/slide" Target="slides/slide27.xml"/><Relationship Id="rId61" Type="http://schemas.openxmlformats.org/officeDocument/2006/relationships/notesMaster" Target="notesMasters/notesMaster1.xml"/><Relationship Id="rId62" Type="http://schemas.openxmlformats.org/officeDocument/2006/relationships/handoutMaster" Target="handoutMasters/handoutMaster1.xml"/><Relationship Id="rId63" Type="http://schemas.openxmlformats.org/officeDocument/2006/relationships/presProps" Target="presProps.xml"/><Relationship Id="rId64" Type="http://schemas.openxmlformats.org/officeDocument/2006/relationships/viewProps" Target="viewProps.xml"/><Relationship Id="rId65" Type="http://schemas.openxmlformats.org/officeDocument/2006/relationships/theme" Target="theme/theme1.xml"/><Relationship Id="rId66" Type="http://schemas.openxmlformats.org/officeDocument/2006/relationships/tableStyles" Target="tableStyles.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dirty="0">
              <a:latin typeface="Arial"/>
            </a:endParaRPr>
          </a:p>
        </p:txBody>
      </p:sp>
      <p:sp>
        <p:nvSpPr>
          <p:cNvPr id="3" name="Date Placeholder 2"/>
          <p:cNvSpPr>
            <a:spLocks noGrp="1"/>
          </p:cNvSpPr>
          <p:nvPr>
            <p:ph type="dt" sz="quarter" idx="1"/>
          </p:nvPr>
        </p:nvSpPr>
        <p:spPr>
          <a:xfrm>
            <a:off x="3884613" y="0"/>
            <a:ext cx="2971800" cy="457200"/>
          </a:xfrm>
          <a:prstGeom prst="rect">
            <a:avLst/>
          </a:prstGeom>
        </p:spPr>
        <p:txBody>
          <a:bodyPr vert="horz" lIns="91440" tIns="45720" rIns="91440" bIns="45720" rtlCol="0"/>
          <a:lstStyle>
            <a:lvl1pPr algn="r">
              <a:defRPr sz="1200"/>
            </a:lvl1pPr>
          </a:lstStyle>
          <a:p>
            <a:fld id="{2006CADB-3CA9-FF41-B8D2-FD4740AB41D0}" type="datetimeFigureOut">
              <a:rPr lang="en-US" smtClean="0">
                <a:latin typeface="Arial"/>
              </a:rPr>
              <a:pPr/>
              <a:t>7/9/26</a:t>
            </a:fld>
            <a:endParaRPr lang="en-US" dirty="0">
              <a:latin typeface="Arial"/>
            </a:endParaRPr>
          </a:p>
        </p:txBody>
      </p:sp>
      <p:sp>
        <p:nvSpPr>
          <p:cNvPr id="4" name="Footer Placeholder 3"/>
          <p:cNvSpPr>
            <a:spLocks noGrp="1"/>
          </p:cNvSpPr>
          <p:nvPr>
            <p:ph type="ftr" sz="quarter" idx="2"/>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dirty="0">
              <a:latin typeface="Arial"/>
            </a:endParaRPr>
          </a:p>
        </p:txBody>
      </p:sp>
      <p:sp>
        <p:nvSpPr>
          <p:cNvPr id="5" name="Slide Number Placeholder 4"/>
          <p:cNvSpPr>
            <a:spLocks noGrp="1"/>
          </p:cNvSpPr>
          <p:nvPr>
            <p:ph type="sldNum" sz="quarter" idx="3"/>
          </p:nvPr>
        </p:nvSpPr>
        <p:spPr>
          <a:xfrm>
            <a:off x="3884613" y="8685213"/>
            <a:ext cx="2971800" cy="457200"/>
          </a:xfrm>
          <a:prstGeom prst="rect">
            <a:avLst/>
          </a:prstGeom>
        </p:spPr>
        <p:txBody>
          <a:bodyPr vert="horz" lIns="91440" tIns="45720" rIns="91440" bIns="45720" rtlCol="0" anchor="b"/>
          <a:lstStyle>
            <a:lvl1pPr algn="r">
              <a:defRPr sz="1200"/>
            </a:lvl1pPr>
          </a:lstStyle>
          <a:p>
            <a:fld id="{D9F5B3C3-3362-7841-B0BA-B01E7CF2A151}" type="slidenum">
              <a:rPr lang="en-US" smtClean="0">
                <a:latin typeface="Arial"/>
              </a:rPr>
              <a:pPr/>
              <a:t>‹#›</a:t>
            </a:fld>
            <a:endParaRPr lang="en-US" dirty="0">
              <a:latin typeface="Arial"/>
            </a:endParaRPr>
          </a:p>
        </p:txBody>
      </p:sp>
    </p:spTree>
    <p:extLst>
      <p:ext uri="{BB962C8B-B14F-4D97-AF65-F5344CB8AC3E}">
        <p14:creationId xmlns:p14="http://schemas.microsoft.com/office/powerpoint/2010/main" val="159906479"/>
      </p:ext>
    </p:extLst>
  </p:cSld>
  <p:clrMap bg1="lt1" tx1="dk1" bg2="lt2" tx2="dk2" accent1="accent1" accent2="accent2" accent3="accent3" accent4="accent4" accent5="accent5" accent6="accent6" hlink="hlink" folHlink="folHlink"/>
  <p:hf hdr="0" ftr="0" dt="0"/>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atin typeface="Arial"/>
              </a:defRPr>
            </a:lvl1pPr>
          </a:lstStyle>
          <a:p>
            <a:endParaRPr lang="en-US" dirty="0"/>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atin typeface="Arial"/>
              </a:defRPr>
            </a:lvl1pPr>
          </a:lstStyle>
          <a:p>
            <a:fld id="{55B06DB5-DAEC-D24B-8162-5BC872FB42BD}" type="datetimeFigureOut">
              <a:rPr lang="en-US" smtClean="0"/>
              <a:pPr/>
              <a:t>7/9/26</a:t>
            </a:fld>
            <a:endParaRPr lang="en-US" dirty="0"/>
          </a:p>
        </p:txBody>
      </p:sp>
      <p:sp>
        <p:nvSpPr>
          <p:cNvPr id="4" name="Slide Image Placeholder 3"/>
          <p:cNvSpPr>
            <a:spLocks noGrp="1" noRot="1" noChangeAspect="1"/>
          </p:cNvSpPr>
          <p:nvPr>
            <p:ph type="sldImg" idx="2"/>
          </p:nvPr>
        </p:nvSpPr>
        <p:spPr>
          <a:xfrm>
            <a:off x="381000" y="685800"/>
            <a:ext cx="6096000" cy="3429000"/>
          </a:xfrm>
          <a:prstGeom prst="rect">
            <a:avLst/>
          </a:prstGeom>
          <a:noFill/>
          <a:ln w="12700">
            <a:solidFill>
              <a:prstClr val="black"/>
            </a:solidFill>
          </a:ln>
        </p:spPr>
        <p:txBody>
          <a:bodyPr vert="horz" lIns="91440" tIns="45720" rIns="91440" bIns="45720" rtlCol="0" anchor="ctr"/>
          <a:lstStyle/>
          <a:p>
            <a:endParaRPr lang="en-US" dirty="0"/>
          </a:p>
        </p:txBody>
      </p:sp>
      <p:sp>
        <p:nvSpPr>
          <p:cNvPr id="5" name="Notes Placeholder 4"/>
          <p:cNvSpPr>
            <a:spLocks noGrp="1"/>
          </p:cNvSpPr>
          <p:nvPr>
            <p:ph type="body" sz="quarter" idx="3"/>
          </p:nvPr>
        </p:nvSpPr>
        <p:spPr>
          <a:xfrm>
            <a:off x="381000" y="4343400"/>
            <a:ext cx="6096000" cy="4114800"/>
          </a:xfrm>
          <a:prstGeom prst="rect">
            <a:avLst/>
          </a:prstGeom>
        </p:spPr>
        <p:txBody>
          <a:bodyPr vert="horz" lIns="0" tIns="0" rIns="0" bIns="0" rtlCol="0"/>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atin typeface="Arial"/>
              </a:defRPr>
            </a:lvl1pPr>
          </a:lstStyle>
          <a:p>
            <a:endParaRPr lang="en-US" dirty="0"/>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atin typeface="Arial"/>
              </a:defRPr>
            </a:lvl1pPr>
          </a:lstStyle>
          <a:p>
            <a:fld id="{04A3E607-94AB-4840-8C00-2935C684FD76}" type="slidenum">
              <a:rPr lang="en-US" smtClean="0"/>
              <a:pPr/>
              <a:t>‹#›</a:t>
            </a:fld>
            <a:endParaRPr lang="en-US" dirty="0"/>
          </a:p>
        </p:txBody>
      </p:sp>
    </p:spTree>
    <p:extLst>
      <p:ext uri="{BB962C8B-B14F-4D97-AF65-F5344CB8AC3E}">
        <p14:creationId xmlns:p14="http://schemas.microsoft.com/office/powerpoint/2010/main" val="1658481784"/>
      </p:ext>
    </p:extLst>
  </p:cSld>
  <p:clrMap bg1="lt1" tx1="dk1" bg2="lt2" tx2="dk2" accent1="accent1" accent2="accent2" accent3="accent3" accent4="accent4" accent5="accent5" accent6="accent6" hlink="hlink" folHlink="folHlink"/>
  <p:hf hdr="0" ftr="0" dt="0"/>
  <p:notesStyle>
    <a:lvl1pPr marL="0" algn="l" defTabSz="457200" rtl="0" eaLnBrk="1" latinLnBrk="0" hangingPunct="1">
      <a:defRPr sz="1200" kern="1200">
        <a:solidFill>
          <a:schemeClr val="tx1"/>
        </a:solidFill>
        <a:latin typeface="Arial"/>
        <a:ea typeface="+mn-ea"/>
        <a:cs typeface="+mn-cs"/>
      </a:defRPr>
    </a:lvl1pPr>
    <a:lvl2pPr marL="457200" algn="l" defTabSz="457200" rtl="0" eaLnBrk="1" latinLnBrk="0" hangingPunct="1">
      <a:defRPr sz="1200" kern="1200">
        <a:solidFill>
          <a:schemeClr val="tx1"/>
        </a:solidFill>
        <a:latin typeface="Arial"/>
        <a:ea typeface="+mn-ea"/>
        <a:cs typeface="+mn-cs"/>
      </a:defRPr>
    </a:lvl2pPr>
    <a:lvl3pPr marL="914400" algn="l" defTabSz="457200" rtl="0" eaLnBrk="1" latinLnBrk="0" hangingPunct="1">
      <a:defRPr sz="1200" kern="1200">
        <a:solidFill>
          <a:schemeClr val="tx1"/>
        </a:solidFill>
        <a:latin typeface="Arial"/>
        <a:ea typeface="+mn-ea"/>
        <a:cs typeface="+mn-cs"/>
      </a:defRPr>
    </a:lvl3pPr>
    <a:lvl4pPr marL="1371600" algn="l" defTabSz="457200" rtl="0" eaLnBrk="1" latinLnBrk="0" hangingPunct="1">
      <a:defRPr sz="1200" kern="1200">
        <a:solidFill>
          <a:schemeClr val="tx1"/>
        </a:solidFill>
        <a:latin typeface="Arial"/>
        <a:ea typeface="+mn-ea"/>
        <a:cs typeface="+mn-cs"/>
      </a:defRPr>
    </a:lvl4pPr>
    <a:lvl5pPr marL="1828800" algn="l" defTabSz="457200" rtl="0" eaLnBrk="1" latinLnBrk="0" hangingPunct="1">
      <a:defRPr sz="1200" kern="1200">
        <a:solidFill>
          <a:schemeClr val="tx1"/>
        </a:solidFill>
        <a:latin typeface="Arial"/>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Arial"/>
              </a:rPr>
              <a:t>Welcome, everyone. Today I want to walk through how the George B. Moody PhysioNet Challenge 2026 actually scores and ranks the teams that enter. This matters for us because the metric — not our intuition about accuracy — decides where we land on the leaderboard. My goal is that by the end, everyone understands exactly what we're being graded on and how that shapes the way we build and validate our model.</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Arial"/>
              </a:rPr>
              <a:t>Here's the plan. First I'll frame the prediction task — what the challenge actually asks our model to output. Then I'll explain why the organizers built a custom metric instead of using plain accuracy. We'll look at the seven scores the evaluation produces, then spend most of our time on the one that matters — the Reward — because that's the metric that ranks us. After that, the age-aware AUROCs, and finally what all of this means for how we should tune and validate. Feel free to hold questions until the relevant section, but jump in if something isn't clear.</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Arial"/>
              </a:rPr>
              <a:t>Let's start with the task itself, because the metric only makes sense once you know what we're predicting.</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Arial"/>
              </a:rPr>
              <a:t>The task is a per-patient prediction: from an overnight sleep or physiological recording, decide whether that patient has cognitive impairment. Our model produces two things for each patient. First, a binary 0-or-1 call — that's what the Reward metric scores. Second, a continuous probability between 0 and 1 — that's what the AUROC and AUPRC metrics use. Both matter, and they're scored differently, so we can't just optimize one and forget the other. One more detail that becomes important in a minute: every patient carries an age, and the metric uses that age to set its expectations.</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Arial"/>
              </a:rPr>
              <a:t>So why not just use accuracy? There are two specific problems that a naive metric would get wrong.</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Arial"/>
              </a:rPr>
              <a:t>Two problems. First, class imbalance: cognitive impairment is the rare class. A lazy model that simply predicts 'nobody is impaired' could post a high accuracy while being clinically worthless. So the metric has to reward actually finding the rare positives and give no free credit for trivial guessing. Second, age confounding: the risk of impairment rises steeply with age. A model could look accurate just by learning 'older equals higher risk' — which is real epidemiology but not real physiological signal from the recording. So the metric has to compare patients of similar age, so age alone can't inflate the score. Keep these two problems in mind — every design choice in the metric is aimed at one of them.</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Arial"/>
              </a:rPr>
              <a:t>When you run the official evaluation code, you get seven numbers. I want to be crystal clear about their roles. Exactly one — the Reward, at the top, highlighted — determines the ranking. That's the leaderboard. The other six — the two age-aware AUROCs, standard AUROC, AUPRC, accuracy, and F-measure — are diagnostics. They don't rank us, but they help us understand why a model scores the way it does. So when we report results internally, the Reward is the headline; the rest are supporting evidence.</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Arial"/>
              </a:rPr>
              <a:t>Now the main event — the Reward metric. This is the one that ranks us, so it's worth understanding deeply.</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Arial"/>
              </a:rPr>
              <a:t>Here's the intuition. Every patient earns points, and we average the points over all patients. The key quantity is p — the age-specific prevalence of impairment, essentially the base rate we'd expect at that patient's age. Three things fall out of the design. One: correctly flagging a rare case is worth far more than one common correct call. Two: every error — whether a false alarm or a miss — costs the same flat minus one, so over-predicting is never a free win. And three: because the payoffs scale with one over p, the whole metric self-normalizes — genuine skill shows up, and guessing washes out. We'll see both of those on the next few slides.</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Arial"/>
              </a:rPr>
              <a:t>Here's the exact scoring, laid out as a payoff matrix. If the patient is truly positive and we call positive — a true positive — we earn one-over-p minus one. Because p is small for the rare class, that's a big reward. If the patient is truly negative and we correctly call negative, we earn one-over-one-minus-p minus one, which is a small amount. And any error — a false alarm or a miss — costs a flat minus one. Concretely, at fifteen-percent prevalence: catching a real positive is worth about plus five-point-seven, a correct negative is worth about plus zero-point-one-eight, and any mistake is minus one. That asymmetry is the whole point — it's expensive to miss impairment.</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Arial"/>
              </a:rPr>
              <a:t>This chart is the payoff of that design. I simulated the four strategies. A perfect model scores about plus one. But look at the other three — predict all-negative, predict all-positive, or flip a coin — they all collapse to essentially zero. And this holds at any prevalence, because of that one-over-p normalization. The takeaway: you cannot game this metric with a trivial strategy. A score meaningfully above zero is evidence of real predictive skill. Zero is the 'no better than guessing' line.</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Arial"/>
              </a:rPr>
              <a:t>And this is why the metric is clinically aligned. The red curve is the reward for correctly catching a positive, as a function of how common that condition is at a given age. As prevalence drops — as the condition gets rarer — the payoff shoots up. So the metric actively pushes our model to find the needles, not to ignore them because they're uncommon. The blue curve, correct negatives, stays low and flat until the condition is very common. In short: the rarer the case, the more we're rewarded for catching it — which is exactly the behavior you want from a screening tool.</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Arial"/>
              </a:rPr>
              <a:t>Now the age-aware diagnostics. Standard AUROC asks: if I pick a random positive and a random negative patient, does the model rank the positive as higher-risk? The age-conditioned version adds one restriction — it only compares pairs of patients who are close in age, within about two years. Why does that matter? Because it removes the age shortcut. Within a narrow age band, age is essentially held constant, so a good score reflects real physiological signal, not just the model rediscovering that older patients are higher-risk. As always, zero-point-five is chance and one-point-zero is perfect — but now within each age neighborhood.</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Arial"/>
              </a:rPr>
              <a:t>The age-weighted AUROC is a close cousin. It computes an AUROC within each age, then averages those per-age scores, weighting each age by how many patients actually fall there. The distinction on the slide: the conditioned version gives one pooled score across all similar-age pairs — 'across the board, does it separate cases within age?' The weighted version averages per-age performance by population — 'how well does it work at a typical patient's age?' Both strip out age as a shortcut. Together, they tell us whether our model is consistently good across the whole age range, or just good at the ages that happen to dominate the dataset.</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Arial"/>
              </a:rPr>
              <a:t>These four are the metrics everyone already knows, and here they're context, not ranking. Standard AUROC measures overall ranking quality but ignores prevalence, so it's optimistic on imbalanced data. AUPRC focuses on the positive class and is more honest than AUROC when positives are rare — so it's the more informative of the two for us. Accuracy is the percentage of correct calls, but as we discussed it's misleading under imbalance — we show it mostly for reference. And F-measure is a threshold-dependent balance of precision and recall on our binary output. Useful diagnostics, but none of them decide the competition.</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Arial"/>
              </a:rPr>
              <a:t>So what does this mean for how we work? Four things. One: we optimize the Reward, not accuracy — we tune our decision threshold to maximize that prevalence-weighted payoff, and we accept that accuracy will look worse. That's fine, even expected. Two: we protect recall on the rare class — every caught positive is worth one-over-p minus one, and every miss costs minus one, so missing impairment is genuinely expensive. Three: we don't lean on age — the age-aware AUROCs will expose it if we do, so our features have to carry real signal within an age band. And four: we validate with the official evaluation code on our cross-validation folds, so our internal numbers actually match what the leaderboard will say.</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Arial"/>
              </a:rPr>
              <a:t>Everything I've presented is grounded in primary sources. The challenge website and the official evaluation and example code repositories are listed here. And importantly, the metric definitions in this deck — the exact formulas — were taken directly from the evaluate_model.py file in our own repository, and I verified the reward-normalization claim by simulation. So these aren't approximations; they're the real scoring rules.</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Arial"/>
              </a:rPr>
              <a:t>To wrap up: if you remember one thing, make it this — optimize for the Reward, catch the rare cases, and don't lean on age. That's what wins this challenge. Happy to take questions.</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Now that we understand how we're scored, let's ground it in the actual data. Everything on the next few slides comes from a full statistical pass over all 1,103 recordings on the challenge dataset — demographics, the raw biosignals, and the CAISR sleep annotations. I want you to see two things: first, that the two problems the metric was built to handle — class imbalance and age confounding — are real and measurable in our cohort; and second, that there is genuine sleep signal separating impaired from unimpaired patients that a model can learn.</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Here is the cohort. 1,103 patients, one overnight recording each, drawn from three sites — Beth Israel in Boston, Kaiser, and Emory. The headline number for the metric is prevalence: only 7.6% of patients are cognitively impaired — 84 positives against a thousand-plus negatives. That is exactly the class imbalance the Reward metric is built to reward you for handling. Notice too that prevalence is not uniform across sites — from 6.5% at BIDMC up to nearly 15% at Emory — which is why we validate leave-one-site-out, not just by random fold. Age is tightly clustered around 62, with a long tail to the late 80s.</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empirical case for the whole scoring design. On the left, prevalence of cognitive impairment by age band: 2% for patients in their fifties, rising to 36% for those 80 and older — an eighteen-fold swing. A lazy model could score well just by learning 'older equals higher risk,' which is precisely why the challenge conditions AUROC on age: it strips that shortcut away. On the right, prevalence by site: from 6.5% at BIDMC to almost 15% at Emory. The error bars are wide at the smaller sites, but the shift is real and it's why we don't trust a single random split. So the two things we said in the abstract — imbalance and age confounding — are not hypothetical; they are right here in the data.</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biosignals are rich but messy. A header-only scan of all 1,103 EDF files — we never load the 170 gigabytes of samples — shows EKG in almost every recording, and the core EEG derivations plus oxygen saturation in about four out of five. But the montages are wildly inconsistent: files range from 16 to 88 channels, sampling rates from 20 to 512 hertz, and BIDMC alone uses 42 different channel sets. The same sensor shows up under different labels and units. The practical consequence, and a real design constraint for us, is that we extract features by channel role, not by exact label, and every feature has to degrade gracefully when its channel simply isn't there.</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These come from the CAISR automated sleep annotations, which we read for all 1,090 recordings that have them. The stage bar at the top is the cohort-average hypnogram: about a quarter of the night is wake, nearly half is N2, and only 9% is deep N3 and 12% REM. That is a fragmented, shallow sleep profile — consistent with a clinical sleep-lab population. The tiles below make it concrete: median sleep efficiency in the mid-70s, and a strikingly high apnea-hypopnea index of 48 events per hour of sleep, with an arousal index near 40. This is a heavily sleep-disordered cohort, which matters because sleep-disordered breathing is itself linked to cognitive risk. One caveat: CAISR agrees with the expert scorer on about 76% of epochs, so we treat these as strong but imperfect labels.</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slide that says a model can actually work. Each panel compares the impaired group in red against the unimpaired group in blue. Impaired patients show lower sleep efficiency, shorter total sleep, and notably less deep N3 and REM sleep. The distributions overlap — this is not a clean separation, no single feature is a biomarker — but the shifts are consistent and in the direction sleep medicine would predict. Apnea burden and arousal index are more similar between the groups, which tells us the discriminative signal lives mainly in sleep architecture and continuity, not in the breathing indices. That is exactly why we lean on engineered architecture features rather than raw event counts.</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Finally, data quality, because it drives real modeling decisions. The demographics we can count on — age and sex are complete, race and ethnicity nearly so. But BMI is missing for three-quarters of patients and time-to-event for over 90%, recorded only for the positives, so neither can be a load-bearing feature. On the signal side, 1,090 of 1,103 recordings carry CAISR annotations; the 13 that don't fall back to global features. Eighteen recordings are too short — nine under an hour — and we flag those for the pipeline. The one thing that is perfectly clean is the linkage between the demographics table and the EDF files: zero orphans in either direction, so every patient's metadata lines up with their recording.</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We can go deeper than 'how much' of each stage — into how the night moves between stages. This is the epoch-to-epoch transition matrix: each cell is the probability that a stage is followed by another. The left panel is the whole cohort — sleep is mostly stable, the diagonal is high. The right panel is what's different about the impaired patients, in percentage points. The striking cell is deep sleep: their N3 is far less stable — it drops back to N2 six points more often and holds only 5 points less — and their REM is less stable too. So the fragmentation we saw in the summary metrics has a concrete mechanism: impaired patients can't hold onto their deep, restorative sleep.</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Finally, a formal answer to 'which features actually matter.' We tested every feature against the impairment label — a t-test for numeric features, chi-square for categorical — and corrected for testing 48 of them at once with a false-discovery-rate adjustment. Fourteen survive at q below 0.05. Age has by far the largest effect, a full standard deviation of separation — which is precisely the shortcut the age-conditioned metric strips away, so we can't lean on it. After age come the sleep features: periodic limb movements, reduced REM, more time awake, lower efficiency and stage entropy, fewer REM cycles, less deep sleep. The important negative result is that the apnea-hypopnea index is NOT significant — so the real signal lives in sleep architecture and continuity, not in how many breathing events a patient has. That directly justifies our feature design.</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 Id="rId3" Type="http://schemas.openxmlformats.org/officeDocument/2006/relationships/image" Target="../media/image1.png"/></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png"/><Relationship Id="rId3" Type="http://schemas.openxmlformats.org/officeDocument/2006/relationships/image" Target="../media/image1.png"/></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png"/><Relationship Id="rId3" Type="http://schemas.openxmlformats.org/officeDocument/2006/relationships/image" Target="../media/image5.png"/></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6.png"/><Relationship Id="rId3" Type="http://schemas.openxmlformats.org/officeDocument/2006/relationships/image" Target="../media/image1.png"/></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7.png"/><Relationship Id="rId3" Type="http://schemas.openxmlformats.org/officeDocument/2006/relationships/image" Target="../media/image1.png"/></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8.png"/><Relationship Id="rId3" Type="http://schemas.openxmlformats.org/officeDocument/2006/relationships/image" Target="../media/image5.png"/></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9.png"/><Relationship Id="rId3" Type="http://schemas.openxmlformats.org/officeDocument/2006/relationships/image" Target="../media/image1.png"/></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0.png"/><Relationship Id="rId3" Type="http://schemas.openxmlformats.org/officeDocument/2006/relationships/image" Target="../media/image1.png"/></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1.png"/><Relationship Id="rId3" Type="http://schemas.openxmlformats.org/officeDocument/2006/relationships/image" Target="../media/image5.png"/></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 Id="rId3" Type="http://schemas.openxmlformats.org/officeDocument/2006/relationships/image" Target="../media/image1.png"/></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 Id="rId3" Type="http://schemas.openxmlformats.org/officeDocument/2006/relationships/image" Target="../media/image1.png"/><Relationship Id="rId4" Type="http://schemas.openxmlformats.org/officeDocument/2006/relationships/image" Target="../media/image12.png"/></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12.png"/></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3.jpeg"/></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preserve="1" userDrawn="1">
  <p:cSld name="Title Slide - Photo 01">
    <p:spTree>
      <p:nvGrpSpPr>
        <p:cNvPr id="1" name=""/>
        <p:cNvGrpSpPr/>
        <p:nvPr/>
      </p:nvGrpSpPr>
      <p:grpSpPr>
        <a:xfrm>
          <a:off x="0" y="0"/>
          <a:ext cx="0" cy="0"/>
          <a:chOff x="0" y="0"/>
          <a:chExt cx="0" cy="0"/>
        </a:xfrm>
      </p:grpSpPr>
      <p:sp>
        <p:nvSpPr>
          <p:cNvPr id="6" name="Picture Placeholder 5"/>
          <p:cNvSpPr>
            <a:spLocks noGrp="1"/>
          </p:cNvSpPr>
          <p:nvPr userDrawn="1">
            <p:ph type="pic" sz="quarter" idx="10"/>
          </p:nvPr>
        </p:nvSpPr>
        <p:spPr bwMode="gray">
          <a:xfrm>
            <a:off x="0" y="0"/>
            <a:ext cx="9144000" cy="5148072"/>
          </a:xfrm>
          <a:noFill/>
        </p:spPr>
        <p:txBody>
          <a:bodyPr anchor="ctr" anchorCtr="0">
            <a:normAutofit/>
          </a:bodyPr>
          <a:lstStyle>
            <a:lvl1pPr marL="0" indent="0" algn="ctr">
              <a:buNone/>
              <a:defRPr sz="1400"/>
            </a:lvl1pPr>
          </a:lstStyle>
          <a:p>
            <a:r>
              <a:rPr lang="en-US"/>
              <a:t>Click icon to add picture</a:t>
            </a:r>
            <a:endParaRPr lang="en-US" dirty="0"/>
          </a:p>
        </p:txBody>
      </p:sp>
      <p:sp>
        <p:nvSpPr>
          <p:cNvPr id="17" name="Rectangle 16">
            <a:extLst>
              <a:ext uri="{FF2B5EF4-FFF2-40B4-BE49-F238E27FC236}">
                <a16:creationId xmlns:a16="http://schemas.microsoft.com/office/drawing/2014/main" id="{208DF5EC-8D23-434F-B80A-8F87797486B7}"/>
              </a:ext>
            </a:extLst>
          </p:cNvPr>
          <p:cNvSpPr/>
          <p:nvPr userDrawn="1"/>
        </p:nvSpPr>
        <p:spPr>
          <a:xfrm>
            <a:off x="0" y="0"/>
            <a:ext cx="4955721" cy="5143500"/>
          </a:xfrm>
          <a:prstGeom prst="rect">
            <a:avLst/>
          </a:prstGeom>
          <a:gradFill>
            <a:gsLst>
              <a:gs pos="70000">
                <a:srgbClr val="C4C6C6"/>
              </a:gs>
              <a:gs pos="100000">
                <a:srgbClr val="C4C6C6">
                  <a:alpha val="0"/>
                </a:srgbClr>
              </a:gs>
            </a:gsLst>
            <a:lin ang="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5" name="Group 4">
            <a:extLst>
              <a:ext uri="{FF2B5EF4-FFF2-40B4-BE49-F238E27FC236}">
                <a16:creationId xmlns:a16="http://schemas.microsoft.com/office/drawing/2014/main" id="{328C941C-8FB0-8544-9272-3C88C8C55759}"/>
              </a:ext>
            </a:extLst>
          </p:cNvPr>
          <p:cNvGrpSpPr/>
          <p:nvPr userDrawn="1"/>
        </p:nvGrpSpPr>
        <p:grpSpPr>
          <a:xfrm>
            <a:off x="484632" y="338328"/>
            <a:ext cx="4480560" cy="4480560"/>
            <a:chOff x="484632" y="338328"/>
            <a:chExt cx="4480560" cy="4480560"/>
          </a:xfrm>
        </p:grpSpPr>
        <p:sp>
          <p:nvSpPr>
            <p:cNvPr id="8" name="Rectangle 7">
              <a:extLst>
                <a:ext uri="{FF2B5EF4-FFF2-40B4-BE49-F238E27FC236}">
                  <a16:creationId xmlns:a16="http://schemas.microsoft.com/office/drawing/2014/main" id="{6D8D0332-5560-CE4F-8F24-3E592108CEAD}"/>
                </a:ext>
              </a:extLst>
            </p:cNvPr>
            <p:cNvSpPr>
              <a:spLocks noChangeArrowheads="1"/>
            </p:cNvSpPr>
            <p:nvPr userDrawn="1"/>
          </p:nvSpPr>
          <p:spPr bwMode="gray">
            <a:xfrm>
              <a:off x="786384" y="338328"/>
              <a:ext cx="4178808" cy="4178808"/>
            </a:xfrm>
            <a:prstGeom prst="rect">
              <a:avLst/>
            </a:prstGeom>
            <a:solidFill>
              <a:srgbClr val="C8102E">
                <a:alpha val="90000"/>
              </a:srgbClr>
            </a:solidFill>
            <a:ln>
              <a:noFill/>
            </a:ln>
          </p:spPr>
          <p:txBody>
            <a:bodyPr vert="horz" wrap="square" lIns="91440" tIns="45720" rIns="91440" bIns="45720" numCol="1" anchor="t" anchorCtr="0" compatLnSpc="1">
              <a:prstTxWarp prst="textNoShape">
                <a:avLst/>
              </a:prstTxWarp>
            </a:bodyPr>
            <a:ls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endParaRPr lang="en-US"/>
            </a:p>
          </p:txBody>
        </p:sp>
        <p:sp>
          <p:nvSpPr>
            <p:cNvPr id="4" name="Rectangle 3">
              <a:extLst>
                <a:ext uri="{FF2B5EF4-FFF2-40B4-BE49-F238E27FC236}">
                  <a16:creationId xmlns:a16="http://schemas.microsoft.com/office/drawing/2014/main" id="{730A4470-EEC2-3244-98F7-CDC23B48D372}"/>
                </a:ext>
              </a:extLst>
            </p:cNvPr>
            <p:cNvSpPr/>
            <p:nvPr userDrawn="1"/>
          </p:nvSpPr>
          <p:spPr>
            <a:xfrm>
              <a:off x="484632" y="4517136"/>
              <a:ext cx="301752" cy="301752"/>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2" name="Title 1"/>
          <p:cNvSpPr>
            <a:spLocks noGrp="1"/>
          </p:cNvSpPr>
          <p:nvPr userDrawn="1">
            <p:ph type="ctrTitle"/>
          </p:nvPr>
        </p:nvSpPr>
        <p:spPr bwMode="gray">
          <a:xfrm>
            <a:off x="1005840" y="685800"/>
            <a:ext cx="3657600" cy="1371600"/>
          </a:xfrm>
        </p:spPr>
        <p:txBody>
          <a:bodyPr anchor="t" anchorCtr="0">
            <a:noAutofit/>
          </a:bodyPr>
          <a:lstStyle>
            <a:lvl1pPr>
              <a:defRPr sz="2600" baseline="0">
                <a:solidFill>
                  <a:schemeClr val="bg1"/>
                </a:solidFill>
              </a:defRPr>
            </a:lvl1pPr>
          </a:lstStyle>
          <a:p>
            <a:r>
              <a:rPr lang="en-US"/>
              <a:t>Click to edit Master title style</a:t>
            </a:r>
            <a:endParaRPr lang="en-US" dirty="0"/>
          </a:p>
        </p:txBody>
      </p:sp>
      <p:sp>
        <p:nvSpPr>
          <p:cNvPr id="3" name="Subtitle 2"/>
          <p:cNvSpPr>
            <a:spLocks noGrp="1"/>
          </p:cNvSpPr>
          <p:nvPr userDrawn="1">
            <p:ph type="subTitle" idx="1"/>
          </p:nvPr>
        </p:nvSpPr>
        <p:spPr bwMode="gray">
          <a:xfrm>
            <a:off x="1005840" y="2285996"/>
            <a:ext cx="3657600" cy="685800"/>
          </a:xfrm>
        </p:spPr>
        <p:txBody>
          <a:bodyPr>
            <a:noAutofit/>
          </a:bodyPr>
          <a:lstStyle>
            <a:lvl1pPr marL="0" indent="0" algn="l">
              <a:lnSpc>
                <a:spcPct val="110000"/>
              </a:lnSpc>
              <a:spcBef>
                <a:spcPts val="0"/>
              </a:spcBef>
              <a:buNone/>
              <a:defRPr sz="1200" b="1" baseline="0">
                <a:solidFill>
                  <a:schemeClr val="bg1"/>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endParaRPr lang="en-US" dirty="0"/>
          </a:p>
        </p:txBody>
      </p:sp>
      <p:sp>
        <p:nvSpPr>
          <p:cNvPr id="11" name="Rectangle 10"/>
          <p:cNvSpPr/>
          <p:nvPr userDrawn="1"/>
        </p:nvSpPr>
        <p:spPr bwMode="gray">
          <a:xfrm>
            <a:off x="0" y="0"/>
            <a:ext cx="9144000" cy="5143500"/>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pic>
        <p:nvPicPr>
          <p:cNvPr id="7" name="Picture 6" descr="Icon&#10;&#10;Description automatically generated">
            <a:extLst>
              <a:ext uri="{FF2B5EF4-FFF2-40B4-BE49-F238E27FC236}">
                <a16:creationId xmlns:a16="http://schemas.microsoft.com/office/drawing/2014/main" id="{F75598C8-79BD-B44C-8FE9-D846F1DDEEFD}"/>
              </a:ext>
            </a:extLst>
          </p:cNvPr>
          <p:cNvPicPr>
            <a:picLocks noChangeAspect="1"/>
          </p:cNvPicPr>
          <p:nvPr userDrawn="1"/>
        </p:nvPicPr>
        <p:blipFill>
          <a:blip r:embed="rId2"/>
          <a:stretch>
            <a:fillRect/>
          </a:stretch>
        </p:blipFill>
        <p:spPr>
          <a:xfrm>
            <a:off x="7461504" y="3383280"/>
            <a:ext cx="1342482" cy="1645920"/>
          </a:xfrm>
          <a:prstGeom prst="rect">
            <a:avLst/>
          </a:prstGeom>
        </p:spPr>
      </p:pic>
    </p:spTree>
    <p:extLst>
      <p:ext uri="{BB962C8B-B14F-4D97-AF65-F5344CB8AC3E}">
        <p14:creationId xmlns:p14="http://schemas.microsoft.com/office/powerpoint/2010/main" val="489564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showMasterSp="0" preserve="1" userDrawn="1">
  <p:cSld name="Title Slide - Photo 02">
    <p:spTree>
      <p:nvGrpSpPr>
        <p:cNvPr id="1" name=""/>
        <p:cNvGrpSpPr/>
        <p:nvPr/>
      </p:nvGrpSpPr>
      <p:grpSpPr>
        <a:xfrm>
          <a:off x="0" y="0"/>
          <a:ext cx="0" cy="0"/>
          <a:chOff x="0" y="0"/>
          <a:chExt cx="0" cy="0"/>
        </a:xfrm>
      </p:grpSpPr>
      <p:sp>
        <p:nvSpPr>
          <p:cNvPr id="6" name="Picture Placeholder 5"/>
          <p:cNvSpPr>
            <a:spLocks noGrp="1"/>
          </p:cNvSpPr>
          <p:nvPr userDrawn="1">
            <p:ph type="pic" sz="quarter" idx="10"/>
          </p:nvPr>
        </p:nvSpPr>
        <p:spPr bwMode="gray">
          <a:xfrm>
            <a:off x="786384" y="0"/>
            <a:ext cx="8357616" cy="4361688"/>
          </a:xfrm>
          <a:noFill/>
        </p:spPr>
        <p:txBody>
          <a:bodyPr anchor="ctr" anchorCtr="0">
            <a:normAutofit/>
          </a:bodyPr>
          <a:lstStyle>
            <a:lvl1pPr marL="0" indent="0" algn="ctr">
              <a:buNone/>
              <a:defRPr sz="1400"/>
            </a:lvl1pPr>
          </a:lstStyle>
          <a:p>
            <a:r>
              <a:rPr lang="en-US"/>
              <a:t>Click icon to add picture</a:t>
            </a:r>
            <a:endParaRPr lang="en-US" dirty="0"/>
          </a:p>
        </p:txBody>
      </p:sp>
      <p:sp>
        <p:nvSpPr>
          <p:cNvPr id="2" name="Title 1"/>
          <p:cNvSpPr>
            <a:spLocks noGrp="1"/>
          </p:cNvSpPr>
          <p:nvPr userDrawn="1">
            <p:ph type="ctrTitle"/>
          </p:nvPr>
        </p:nvSpPr>
        <p:spPr bwMode="gray">
          <a:xfrm>
            <a:off x="1005840" y="411480"/>
            <a:ext cx="3657600" cy="1371600"/>
          </a:xfrm>
        </p:spPr>
        <p:txBody>
          <a:bodyPr anchor="t" anchorCtr="0">
            <a:noAutofit/>
          </a:bodyPr>
          <a:lstStyle>
            <a:lvl1pPr>
              <a:defRPr sz="2600" baseline="0">
                <a:solidFill>
                  <a:schemeClr val="accent1"/>
                </a:solidFill>
              </a:defRPr>
            </a:lvl1pPr>
          </a:lstStyle>
          <a:p>
            <a:r>
              <a:rPr lang="en-US"/>
              <a:t>Click to edit Master title style</a:t>
            </a:r>
            <a:endParaRPr lang="en-US" dirty="0"/>
          </a:p>
        </p:txBody>
      </p:sp>
      <p:sp>
        <p:nvSpPr>
          <p:cNvPr id="3" name="Subtitle 2"/>
          <p:cNvSpPr>
            <a:spLocks noGrp="1"/>
          </p:cNvSpPr>
          <p:nvPr userDrawn="1">
            <p:ph type="subTitle" idx="1"/>
          </p:nvPr>
        </p:nvSpPr>
        <p:spPr bwMode="gray">
          <a:xfrm>
            <a:off x="1005840" y="3520440"/>
            <a:ext cx="3657600" cy="685800"/>
          </a:xfrm>
        </p:spPr>
        <p:txBody>
          <a:bodyPr>
            <a:noAutofit/>
          </a:bodyPr>
          <a:lstStyle>
            <a:lvl1pPr marL="0" indent="0" algn="l">
              <a:lnSpc>
                <a:spcPct val="110000"/>
              </a:lnSpc>
              <a:spcBef>
                <a:spcPts val="0"/>
              </a:spcBef>
              <a:buNone/>
              <a:defRPr sz="1200" b="1" baseline="0">
                <a:solidFill>
                  <a:schemeClr val="tx1"/>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endParaRPr lang="en-US" dirty="0"/>
          </a:p>
        </p:txBody>
      </p:sp>
      <p:sp>
        <p:nvSpPr>
          <p:cNvPr id="11" name="Rectangle 10"/>
          <p:cNvSpPr/>
          <p:nvPr userDrawn="1"/>
        </p:nvSpPr>
        <p:spPr bwMode="gray">
          <a:xfrm>
            <a:off x="0" y="0"/>
            <a:ext cx="9144000" cy="5143500"/>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8" name="Rectangle 7">
            <a:extLst>
              <a:ext uri="{FF2B5EF4-FFF2-40B4-BE49-F238E27FC236}">
                <a16:creationId xmlns:a16="http://schemas.microsoft.com/office/drawing/2014/main" id="{D2865EB1-73B3-AC42-A9ED-052F073622EB}"/>
              </a:ext>
            </a:extLst>
          </p:cNvPr>
          <p:cNvSpPr/>
          <p:nvPr userDrawn="1"/>
        </p:nvSpPr>
        <p:spPr>
          <a:xfrm>
            <a:off x="484632" y="4361688"/>
            <a:ext cx="301752" cy="301752"/>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10" name="Picture 9" descr="Icon&#10;&#10;Description automatically generated">
            <a:extLst>
              <a:ext uri="{FF2B5EF4-FFF2-40B4-BE49-F238E27FC236}">
                <a16:creationId xmlns:a16="http://schemas.microsoft.com/office/drawing/2014/main" id="{CED7E1E4-E396-0D4F-9940-1FABB363DEB4}"/>
              </a:ext>
            </a:extLst>
          </p:cNvPr>
          <p:cNvPicPr>
            <a:picLocks noChangeAspect="1"/>
          </p:cNvPicPr>
          <p:nvPr userDrawn="1"/>
        </p:nvPicPr>
        <p:blipFill>
          <a:blip r:embed="rId2"/>
          <a:stretch>
            <a:fillRect/>
          </a:stretch>
        </p:blipFill>
        <p:spPr>
          <a:xfrm>
            <a:off x="7461504" y="3383280"/>
            <a:ext cx="1342482" cy="1645920"/>
          </a:xfrm>
          <a:prstGeom prst="rect">
            <a:avLst/>
          </a:prstGeom>
        </p:spPr>
      </p:pic>
    </p:spTree>
    <p:extLst>
      <p:ext uri="{BB962C8B-B14F-4D97-AF65-F5344CB8AC3E}">
        <p14:creationId xmlns:p14="http://schemas.microsoft.com/office/powerpoint/2010/main" val="342357989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showMasterSp="0" preserve="1" userDrawn="1">
  <p:cSld name="Title Slide - Photo 03">
    <p:spTree>
      <p:nvGrpSpPr>
        <p:cNvPr id="1" name=""/>
        <p:cNvGrpSpPr/>
        <p:nvPr/>
      </p:nvGrpSpPr>
      <p:grpSpPr>
        <a:xfrm>
          <a:off x="0" y="0"/>
          <a:ext cx="0" cy="0"/>
          <a:chOff x="0" y="0"/>
          <a:chExt cx="0" cy="0"/>
        </a:xfrm>
      </p:grpSpPr>
      <p:sp>
        <p:nvSpPr>
          <p:cNvPr id="6" name="Picture Placeholder 5"/>
          <p:cNvSpPr>
            <a:spLocks noGrp="1"/>
          </p:cNvSpPr>
          <p:nvPr userDrawn="1">
            <p:ph type="pic" sz="quarter" idx="10"/>
          </p:nvPr>
        </p:nvSpPr>
        <p:spPr bwMode="gray">
          <a:xfrm>
            <a:off x="786384" y="0"/>
            <a:ext cx="8357616" cy="2560320"/>
          </a:xfrm>
          <a:noFill/>
        </p:spPr>
        <p:txBody>
          <a:bodyPr anchor="ctr" anchorCtr="0">
            <a:normAutofit/>
          </a:bodyPr>
          <a:lstStyle>
            <a:lvl1pPr marL="0" indent="0" algn="ctr">
              <a:buNone/>
              <a:defRPr sz="1400"/>
            </a:lvl1pPr>
          </a:lstStyle>
          <a:p>
            <a:r>
              <a:rPr lang="en-US"/>
              <a:t>Click icon to add picture</a:t>
            </a:r>
            <a:endParaRPr lang="en-US" dirty="0"/>
          </a:p>
        </p:txBody>
      </p:sp>
      <p:sp>
        <p:nvSpPr>
          <p:cNvPr id="2" name="Title 1"/>
          <p:cNvSpPr>
            <a:spLocks noGrp="1"/>
          </p:cNvSpPr>
          <p:nvPr userDrawn="1">
            <p:ph type="ctrTitle"/>
          </p:nvPr>
        </p:nvSpPr>
        <p:spPr bwMode="gray">
          <a:xfrm>
            <a:off x="1005840" y="3044952"/>
            <a:ext cx="3657600" cy="1097280"/>
          </a:xfrm>
        </p:spPr>
        <p:txBody>
          <a:bodyPr anchor="t" anchorCtr="0">
            <a:noAutofit/>
          </a:bodyPr>
          <a:lstStyle>
            <a:lvl1pPr>
              <a:defRPr sz="2600" baseline="0">
                <a:solidFill>
                  <a:schemeClr val="accent1"/>
                </a:solidFill>
              </a:defRPr>
            </a:lvl1pPr>
          </a:lstStyle>
          <a:p>
            <a:r>
              <a:rPr lang="en-US"/>
              <a:t>Click to edit Master title style</a:t>
            </a:r>
            <a:endParaRPr lang="en-US" dirty="0"/>
          </a:p>
        </p:txBody>
      </p:sp>
      <p:sp>
        <p:nvSpPr>
          <p:cNvPr id="3" name="Subtitle 2"/>
          <p:cNvSpPr>
            <a:spLocks noGrp="1"/>
          </p:cNvSpPr>
          <p:nvPr userDrawn="1">
            <p:ph type="subTitle" idx="1"/>
          </p:nvPr>
        </p:nvSpPr>
        <p:spPr bwMode="gray">
          <a:xfrm>
            <a:off x="1005840" y="4189909"/>
            <a:ext cx="3657600" cy="685800"/>
          </a:xfrm>
        </p:spPr>
        <p:txBody>
          <a:bodyPr>
            <a:noAutofit/>
          </a:bodyPr>
          <a:lstStyle>
            <a:lvl1pPr marL="0" indent="0" algn="l">
              <a:lnSpc>
                <a:spcPct val="110000"/>
              </a:lnSpc>
              <a:spcBef>
                <a:spcPts val="0"/>
              </a:spcBef>
              <a:buNone/>
              <a:defRPr sz="1200" b="1" baseline="0">
                <a:solidFill>
                  <a:schemeClr val="tx1"/>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endParaRPr lang="en-US" dirty="0"/>
          </a:p>
        </p:txBody>
      </p:sp>
      <p:sp>
        <p:nvSpPr>
          <p:cNvPr id="11" name="Rectangle 10"/>
          <p:cNvSpPr/>
          <p:nvPr userDrawn="1"/>
        </p:nvSpPr>
        <p:spPr bwMode="gray">
          <a:xfrm>
            <a:off x="0" y="0"/>
            <a:ext cx="9144000" cy="5143500"/>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8" name="Rectangle 7">
            <a:extLst>
              <a:ext uri="{FF2B5EF4-FFF2-40B4-BE49-F238E27FC236}">
                <a16:creationId xmlns:a16="http://schemas.microsoft.com/office/drawing/2014/main" id="{87C646DB-570D-1C4F-B963-2B3EE0B9DF30}"/>
              </a:ext>
            </a:extLst>
          </p:cNvPr>
          <p:cNvSpPr/>
          <p:nvPr userDrawn="1"/>
        </p:nvSpPr>
        <p:spPr>
          <a:xfrm>
            <a:off x="484632" y="2560320"/>
            <a:ext cx="301752" cy="301752"/>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10" name="Picture 9" descr="Icon&#10;&#10;Description automatically generated">
            <a:extLst>
              <a:ext uri="{FF2B5EF4-FFF2-40B4-BE49-F238E27FC236}">
                <a16:creationId xmlns:a16="http://schemas.microsoft.com/office/drawing/2014/main" id="{E3187AA1-66BB-F940-A865-91878D05922E}"/>
              </a:ext>
            </a:extLst>
          </p:cNvPr>
          <p:cNvPicPr>
            <a:picLocks noChangeAspect="1"/>
          </p:cNvPicPr>
          <p:nvPr userDrawn="1"/>
        </p:nvPicPr>
        <p:blipFill>
          <a:blip r:embed="rId2"/>
          <a:stretch>
            <a:fillRect/>
          </a:stretch>
        </p:blipFill>
        <p:spPr>
          <a:xfrm>
            <a:off x="7461504" y="3383280"/>
            <a:ext cx="1342482" cy="1645920"/>
          </a:xfrm>
          <a:prstGeom prst="rect">
            <a:avLst/>
          </a:prstGeom>
        </p:spPr>
      </p:pic>
    </p:spTree>
    <p:extLst>
      <p:ext uri="{BB962C8B-B14F-4D97-AF65-F5344CB8AC3E}">
        <p14:creationId xmlns:p14="http://schemas.microsoft.com/office/powerpoint/2010/main" val="3267242227"/>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showMasterSp="0" preserve="1" userDrawn="1">
  <p:cSld name="Title Slide - Pattern E - 01">
    <p:spTree>
      <p:nvGrpSpPr>
        <p:cNvPr id="1" name=""/>
        <p:cNvGrpSpPr/>
        <p:nvPr/>
      </p:nvGrpSpPr>
      <p:grpSpPr>
        <a:xfrm>
          <a:off x="0" y="0"/>
          <a:ext cx="0" cy="0"/>
          <a:chOff x="0" y="0"/>
          <a:chExt cx="0" cy="0"/>
        </a:xfrm>
      </p:grpSpPr>
      <p:pic>
        <p:nvPicPr>
          <p:cNvPr id="5" name="Picture 4">
            <a:extLst>
              <a:ext uri="{FF2B5EF4-FFF2-40B4-BE49-F238E27FC236}">
                <a16:creationId xmlns:a16="http://schemas.microsoft.com/office/drawing/2014/main" id="{C2205558-E694-6246-8351-BE2A4716F9AF}"/>
              </a:ext>
            </a:extLst>
          </p:cNvPr>
          <p:cNvPicPr>
            <a:picLocks noChangeAspect="1"/>
          </p:cNvPicPr>
          <p:nvPr userDrawn="1"/>
        </p:nvPicPr>
        <p:blipFill>
          <a:blip r:embed="rId2"/>
          <a:srcRect/>
          <a:stretch/>
        </p:blipFill>
        <p:spPr>
          <a:xfrm>
            <a:off x="0" y="0"/>
            <a:ext cx="9144000" cy="5143500"/>
          </a:xfrm>
          <a:prstGeom prst="rect">
            <a:avLst/>
          </a:prstGeom>
        </p:spPr>
      </p:pic>
      <p:sp>
        <p:nvSpPr>
          <p:cNvPr id="8" name="Rectangle 7">
            <a:extLst>
              <a:ext uri="{FF2B5EF4-FFF2-40B4-BE49-F238E27FC236}">
                <a16:creationId xmlns:a16="http://schemas.microsoft.com/office/drawing/2014/main" id="{6D8D0332-5560-CE4F-8F24-3E592108CEAD}"/>
              </a:ext>
            </a:extLst>
          </p:cNvPr>
          <p:cNvSpPr>
            <a:spLocks noChangeArrowheads="1"/>
          </p:cNvSpPr>
          <p:nvPr userDrawn="1"/>
        </p:nvSpPr>
        <p:spPr bwMode="gray">
          <a:xfrm>
            <a:off x="786384" y="338328"/>
            <a:ext cx="4178808" cy="4178808"/>
          </a:xfrm>
          <a:prstGeom prst="rect">
            <a:avLst/>
          </a:prstGeom>
          <a:solidFill>
            <a:srgbClr val="C8102E">
              <a:alpha val="90000"/>
            </a:srgbClr>
          </a:solidFill>
          <a:ln>
            <a:noFill/>
          </a:ln>
        </p:spPr>
        <p:txBody>
          <a:bodyPr vert="horz" wrap="square" lIns="91440" tIns="45720" rIns="91440" bIns="45720" numCol="1" anchor="t" anchorCtr="0" compatLnSpc="1">
            <a:prstTxWarp prst="textNoShape">
              <a:avLst/>
            </a:prstTxWarp>
          </a:bodyPr>
          <a:ls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endParaRPr lang="en-US"/>
          </a:p>
        </p:txBody>
      </p:sp>
      <p:sp>
        <p:nvSpPr>
          <p:cNvPr id="2" name="Title 1"/>
          <p:cNvSpPr>
            <a:spLocks noGrp="1"/>
          </p:cNvSpPr>
          <p:nvPr userDrawn="1">
            <p:ph type="ctrTitle"/>
          </p:nvPr>
        </p:nvSpPr>
        <p:spPr bwMode="gray">
          <a:xfrm>
            <a:off x="1005840" y="685800"/>
            <a:ext cx="3657600" cy="1371600"/>
          </a:xfrm>
        </p:spPr>
        <p:txBody>
          <a:bodyPr anchor="t" anchorCtr="0">
            <a:noAutofit/>
          </a:bodyPr>
          <a:lstStyle>
            <a:lvl1pPr>
              <a:defRPr sz="2600" baseline="0">
                <a:solidFill>
                  <a:schemeClr val="bg1"/>
                </a:solidFill>
              </a:defRPr>
            </a:lvl1pPr>
          </a:lstStyle>
          <a:p>
            <a:r>
              <a:rPr lang="en-US"/>
              <a:t>Click to edit Master title style</a:t>
            </a:r>
            <a:endParaRPr lang="en-US" dirty="0"/>
          </a:p>
        </p:txBody>
      </p:sp>
      <p:sp>
        <p:nvSpPr>
          <p:cNvPr id="3" name="Subtitle 2"/>
          <p:cNvSpPr>
            <a:spLocks noGrp="1"/>
          </p:cNvSpPr>
          <p:nvPr userDrawn="1">
            <p:ph type="subTitle" idx="1"/>
          </p:nvPr>
        </p:nvSpPr>
        <p:spPr bwMode="gray">
          <a:xfrm>
            <a:off x="1005840" y="2285996"/>
            <a:ext cx="3657600" cy="685800"/>
          </a:xfrm>
        </p:spPr>
        <p:txBody>
          <a:bodyPr>
            <a:noAutofit/>
          </a:bodyPr>
          <a:lstStyle>
            <a:lvl1pPr marL="0" indent="0" algn="l">
              <a:lnSpc>
                <a:spcPct val="110000"/>
              </a:lnSpc>
              <a:spcBef>
                <a:spcPts val="0"/>
              </a:spcBef>
              <a:buNone/>
              <a:defRPr sz="1200" b="1" baseline="0">
                <a:solidFill>
                  <a:schemeClr val="bg1"/>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endParaRPr lang="en-US" dirty="0"/>
          </a:p>
        </p:txBody>
      </p:sp>
      <p:sp>
        <p:nvSpPr>
          <p:cNvPr id="11" name="Rectangle 10"/>
          <p:cNvSpPr/>
          <p:nvPr userDrawn="1"/>
        </p:nvSpPr>
        <p:spPr bwMode="gray">
          <a:xfrm>
            <a:off x="0" y="0"/>
            <a:ext cx="9144000" cy="5143500"/>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10" name="Rectangle 9">
            <a:extLst>
              <a:ext uri="{FF2B5EF4-FFF2-40B4-BE49-F238E27FC236}">
                <a16:creationId xmlns:a16="http://schemas.microsoft.com/office/drawing/2014/main" id="{CC229CF4-D02D-164D-B1CC-3890926F04C0}"/>
              </a:ext>
            </a:extLst>
          </p:cNvPr>
          <p:cNvSpPr/>
          <p:nvPr userDrawn="1"/>
        </p:nvSpPr>
        <p:spPr>
          <a:xfrm>
            <a:off x="484632" y="4517136"/>
            <a:ext cx="301752" cy="301752"/>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12" name="Picture 11" descr="Icon&#10;&#10;Description automatically generated">
            <a:extLst>
              <a:ext uri="{FF2B5EF4-FFF2-40B4-BE49-F238E27FC236}">
                <a16:creationId xmlns:a16="http://schemas.microsoft.com/office/drawing/2014/main" id="{C9895328-C1B8-2543-B1B4-F9E4D2BF0AF7}"/>
              </a:ext>
            </a:extLst>
          </p:cNvPr>
          <p:cNvPicPr>
            <a:picLocks noChangeAspect="1"/>
          </p:cNvPicPr>
          <p:nvPr userDrawn="1"/>
        </p:nvPicPr>
        <p:blipFill>
          <a:blip r:embed="rId3"/>
          <a:stretch>
            <a:fillRect/>
          </a:stretch>
        </p:blipFill>
        <p:spPr>
          <a:xfrm>
            <a:off x="7461504" y="3383280"/>
            <a:ext cx="1342482" cy="1645920"/>
          </a:xfrm>
          <a:prstGeom prst="rect">
            <a:avLst/>
          </a:prstGeom>
        </p:spPr>
      </p:pic>
    </p:spTree>
    <p:extLst>
      <p:ext uri="{BB962C8B-B14F-4D97-AF65-F5344CB8AC3E}">
        <p14:creationId xmlns:p14="http://schemas.microsoft.com/office/powerpoint/2010/main" val="3287031464"/>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showMasterSp="0" preserve="1" userDrawn="1">
  <p:cSld name="Title Slide - Pattern E - 02">
    <p:spTree>
      <p:nvGrpSpPr>
        <p:cNvPr id="1" name=""/>
        <p:cNvGrpSpPr/>
        <p:nvPr/>
      </p:nvGrpSpPr>
      <p:grpSpPr>
        <a:xfrm>
          <a:off x="0" y="0"/>
          <a:ext cx="0" cy="0"/>
          <a:chOff x="0" y="0"/>
          <a:chExt cx="0" cy="0"/>
        </a:xfrm>
      </p:grpSpPr>
      <p:pic>
        <p:nvPicPr>
          <p:cNvPr id="8" name="Picture 7">
            <a:extLst>
              <a:ext uri="{FF2B5EF4-FFF2-40B4-BE49-F238E27FC236}">
                <a16:creationId xmlns:a16="http://schemas.microsoft.com/office/drawing/2014/main" id="{CA3319CA-691F-EE44-94CB-D645E89C2F17}"/>
              </a:ext>
            </a:extLst>
          </p:cNvPr>
          <p:cNvPicPr>
            <a:picLocks noChangeAspect="1"/>
          </p:cNvPicPr>
          <p:nvPr userDrawn="1"/>
        </p:nvPicPr>
        <p:blipFill>
          <a:blip r:embed="rId2"/>
          <a:srcRect/>
          <a:stretch/>
        </p:blipFill>
        <p:spPr>
          <a:xfrm>
            <a:off x="787400" y="0"/>
            <a:ext cx="8366759" cy="4361396"/>
          </a:xfrm>
          <a:prstGeom prst="rect">
            <a:avLst/>
          </a:prstGeom>
        </p:spPr>
      </p:pic>
      <p:sp>
        <p:nvSpPr>
          <p:cNvPr id="2" name="Title 1"/>
          <p:cNvSpPr>
            <a:spLocks noGrp="1"/>
          </p:cNvSpPr>
          <p:nvPr userDrawn="1">
            <p:ph type="ctrTitle"/>
          </p:nvPr>
        </p:nvSpPr>
        <p:spPr bwMode="gray">
          <a:xfrm>
            <a:off x="1005840" y="411480"/>
            <a:ext cx="3657600" cy="1371600"/>
          </a:xfrm>
        </p:spPr>
        <p:txBody>
          <a:bodyPr anchor="t" anchorCtr="0">
            <a:noAutofit/>
          </a:bodyPr>
          <a:lstStyle>
            <a:lvl1pPr>
              <a:defRPr sz="2600" baseline="0">
                <a:solidFill>
                  <a:schemeClr val="accent1"/>
                </a:solidFill>
              </a:defRPr>
            </a:lvl1pPr>
          </a:lstStyle>
          <a:p>
            <a:r>
              <a:rPr lang="en-US"/>
              <a:t>Click to edit Master title style</a:t>
            </a:r>
            <a:endParaRPr lang="en-US" dirty="0"/>
          </a:p>
        </p:txBody>
      </p:sp>
      <p:sp>
        <p:nvSpPr>
          <p:cNvPr id="3" name="Subtitle 2"/>
          <p:cNvSpPr>
            <a:spLocks noGrp="1"/>
          </p:cNvSpPr>
          <p:nvPr userDrawn="1">
            <p:ph type="subTitle" idx="1"/>
          </p:nvPr>
        </p:nvSpPr>
        <p:spPr bwMode="gray">
          <a:xfrm>
            <a:off x="1005840" y="3520440"/>
            <a:ext cx="3657600" cy="685800"/>
          </a:xfrm>
        </p:spPr>
        <p:txBody>
          <a:bodyPr>
            <a:noAutofit/>
          </a:bodyPr>
          <a:lstStyle>
            <a:lvl1pPr marL="0" indent="0" algn="l">
              <a:lnSpc>
                <a:spcPct val="110000"/>
              </a:lnSpc>
              <a:spcBef>
                <a:spcPts val="0"/>
              </a:spcBef>
              <a:buNone/>
              <a:defRPr sz="1200" b="1" baseline="0">
                <a:solidFill>
                  <a:schemeClr val="tx1"/>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endParaRPr lang="en-US" dirty="0"/>
          </a:p>
        </p:txBody>
      </p:sp>
      <p:sp>
        <p:nvSpPr>
          <p:cNvPr id="11" name="Rectangle 10"/>
          <p:cNvSpPr/>
          <p:nvPr userDrawn="1"/>
        </p:nvSpPr>
        <p:spPr bwMode="gray">
          <a:xfrm>
            <a:off x="0" y="0"/>
            <a:ext cx="9144000" cy="5143500"/>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10" name="Rectangle 9">
            <a:extLst>
              <a:ext uri="{FF2B5EF4-FFF2-40B4-BE49-F238E27FC236}">
                <a16:creationId xmlns:a16="http://schemas.microsoft.com/office/drawing/2014/main" id="{71ECD164-EE49-3B46-86A8-91306ED73DBA}"/>
              </a:ext>
            </a:extLst>
          </p:cNvPr>
          <p:cNvSpPr/>
          <p:nvPr userDrawn="1"/>
        </p:nvSpPr>
        <p:spPr>
          <a:xfrm>
            <a:off x="484632" y="4361688"/>
            <a:ext cx="301752" cy="301752"/>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12" name="Picture 11" descr="Icon&#10;&#10;Description automatically generated">
            <a:extLst>
              <a:ext uri="{FF2B5EF4-FFF2-40B4-BE49-F238E27FC236}">
                <a16:creationId xmlns:a16="http://schemas.microsoft.com/office/drawing/2014/main" id="{BB96E3C1-5BF7-7443-8CD9-4E21FCBA4C42}"/>
              </a:ext>
            </a:extLst>
          </p:cNvPr>
          <p:cNvPicPr>
            <a:picLocks noChangeAspect="1"/>
          </p:cNvPicPr>
          <p:nvPr userDrawn="1"/>
        </p:nvPicPr>
        <p:blipFill>
          <a:blip r:embed="rId3"/>
          <a:stretch>
            <a:fillRect/>
          </a:stretch>
        </p:blipFill>
        <p:spPr>
          <a:xfrm>
            <a:off x="7461504" y="3383280"/>
            <a:ext cx="1342482" cy="1645920"/>
          </a:xfrm>
          <a:prstGeom prst="rect">
            <a:avLst/>
          </a:prstGeom>
        </p:spPr>
      </p:pic>
    </p:spTree>
    <p:extLst>
      <p:ext uri="{BB962C8B-B14F-4D97-AF65-F5344CB8AC3E}">
        <p14:creationId xmlns:p14="http://schemas.microsoft.com/office/powerpoint/2010/main" val="213007792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showMasterSp="0" preserve="1" userDrawn="1">
  <p:cSld name="Title Slide - Pattern E - 03">
    <p:spTree>
      <p:nvGrpSpPr>
        <p:cNvPr id="1" name=""/>
        <p:cNvGrpSpPr/>
        <p:nvPr/>
      </p:nvGrpSpPr>
      <p:grpSpPr>
        <a:xfrm>
          <a:off x="0" y="0"/>
          <a:ext cx="0" cy="0"/>
          <a:chOff x="0" y="0"/>
          <a:chExt cx="0" cy="0"/>
        </a:xfrm>
      </p:grpSpPr>
      <p:pic>
        <p:nvPicPr>
          <p:cNvPr id="5" name="Picture 4">
            <a:extLst>
              <a:ext uri="{FF2B5EF4-FFF2-40B4-BE49-F238E27FC236}">
                <a16:creationId xmlns:a16="http://schemas.microsoft.com/office/drawing/2014/main" id="{C2205558-E694-6246-8351-BE2A4716F9AF}"/>
              </a:ext>
            </a:extLst>
          </p:cNvPr>
          <p:cNvPicPr>
            <a:picLocks noChangeAspect="1"/>
          </p:cNvPicPr>
          <p:nvPr userDrawn="1"/>
        </p:nvPicPr>
        <p:blipFill>
          <a:blip r:embed="rId2"/>
          <a:srcRect/>
          <a:stretch/>
        </p:blipFill>
        <p:spPr>
          <a:xfrm>
            <a:off x="0" y="0"/>
            <a:ext cx="9144000" cy="5143500"/>
          </a:xfrm>
          <a:prstGeom prst="rect">
            <a:avLst/>
          </a:prstGeom>
        </p:spPr>
      </p:pic>
      <p:sp>
        <p:nvSpPr>
          <p:cNvPr id="8" name="Rectangle 7">
            <a:extLst>
              <a:ext uri="{FF2B5EF4-FFF2-40B4-BE49-F238E27FC236}">
                <a16:creationId xmlns:a16="http://schemas.microsoft.com/office/drawing/2014/main" id="{6D8D0332-5560-CE4F-8F24-3E592108CEAD}"/>
              </a:ext>
            </a:extLst>
          </p:cNvPr>
          <p:cNvSpPr>
            <a:spLocks noChangeArrowheads="1"/>
          </p:cNvSpPr>
          <p:nvPr userDrawn="1"/>
        </p:nvSpPr>
        <p:spPr bwMode="gray">
          <a:xfrm>
            <a:off x="786384" y="338328"/>
            <a:ext cx="4178808" cy="4178808"/>
          </a:xfrm>
          <a:prstGeom prst="rect">
            <a:avLst/>
          </a:prstGeom>
          <a:solidFill>
            <a:srgbClr val="C8102E">
              <a:alpha val="90000"/>
            </a:srgbClr>
          </a:solidFill>
          <a:ln>
            <a:noFill/>
          </a:ln>
        </p:spPr>
        <p:txBody>
          <a:bodyPr vert="horz" wrap="square" lIns="91440" tIns="45720" rIns="91440" bIns="45720" numCol="1" anchor="t" anchorCtr="0" compatLnSpc="1">
            <a:prstTxWarp prst="textNoShape">
              <a:avLst/>
            </a:prstTxWarp>
          </a:bodyPr>
          <a:ls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endParaRPr lang="en-US"/>
          </a:p>
        </p:txBody>
      </p:sp>
      <p:sp>
        <p:nvSpPr>
          <p:cNvPr id="2" name="Title 1"/>
          <p:cNvSpPr>
            <a:spLocks noGrp="1"/>
          </p:cNvSpPr>
          <p:nvPr userDrawn="1">
            <p:ph type="ctrTitle"/>
          </p:nvPr>
        </p:nvSpPr>
        <p:spPr bwMode="gray">
          <a:xfrm>
            <a:off x="1005840" y="685800"/>
            <a:ext cx="3657600" cy="1371600"/>
          </a:xfrm>
        </p:spPr>
        <p:txBody>
          <a:bodyPr anchor="t" anchorCtr="0">
            <a:noAutofit/>
          </a:bodyPr>
          <a:lstStyle>
            <a:lvl1pPr>
              <a:defRPr sz="2600" baseline="0">
                <a:solidFill>
                  <a:schemeClr val="bg1"/>
                </a:solidFill>
              </a:defRPr>
            </a:lvl1pPr>
          </a:lstStyle>
          <a:p>
            <a:r>
              <a:rPr lang="en-US"/>
              <a:t>Click to edit Master title style</a:t>
            </a:r>
            <a:endParaRPr lang="en-US" dirty="0"/>
          </a:p>
        </p:txBody>
      </p:sp>
      <p:sp>
        <p:nvSpPr>
          <p:cNvPr id="3" name="Subtitle 2"/>
          <p:cNvSpPr>
            <a:spLocks noGrp="1"/>
          </p:cNvSpPr>
          <p:nvPr userDrawn="1">
            <p:ph type="subTitle" idx="1"/>
          </p:nvPr>
        </p:nvSpPr>
        <p:spPr bwMode="gray">
          <a:xfrm>
            <a:off x="1005840" y="2285996"/>
            <a:ext cx="3657600" cy="685800"/>
          </a:xfrm>
        </p:spPr>
        <p:txBody>
          <a:bodyPr>
            <a:noAutofit/>
          </a:bodyPr>
          <a:lstStyle>
            <a:lvl1pPr marL="0" indent="0" algn="l">
              <a:lnSpc>
                <a:spcPct val="110000"/>
              </a:lnSpc>
              <a:spcBef>
                <a:spcPts val="0"/>
              </a:spcBef>
              <a:buNone/>
              <a:defRPr sz="1200" b="1" baseline="0">
                <a:solidFill>
                  <a:schemeClr val="bg1"/>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endParaRPr lang="en-US" dirty="0"/>
          </a:p>
        </p:txBody>
      </p:sp>
      <p:sp>
        <p:nvSpPr>
          <p:cNvPr id="11" name="Rectangle 10"/>
          <p:cNvSpPr/>
          <p:nvPr userDrawn="1"/>
        </p:nvSpPr>
        <p:spPr bwMode="gray">
          <a:xfrm>
            <a:off x="0" y="0"/>
            <a:ext cx="9144000" cy="5143500"/>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9" name="Rectangle 8">
            <a:extLst>
              <a:ext uri="{FF2B5EF4-FFF2-40B4-BE49-F238E27FC236}">
                <a16:creationId xmlns:a16="http://schemas.microsoft.com/office/drawing/2014/main" id="{0307D505-78BA-9E41-AFD5-F3867B260D77}"/>
              </a:ext>
            </a:extLst>
          </p:cNvPr>
          <p:cNvSpPr/>
          <p:nvPr userDrawn="1"/>
        </p:nvSpPr>
        <p:spPr>
          <a:xfrm>
            <a:off x="484632" y="4517136"/>
            <a:ext cx="301752" cy="301752"/>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6" name="Picture 5" descr="Logo, company name&#10;&#10;Description automatically generated">
            <a:extLst>
              <a:ext uri="{FF2B5EF4-FFF2-40B4-BE49-F238E27FC236}">
                <a16:creationId xmlns:a16="http://schemas.microsoft.com/office/drawing/2014/main" id="{BAEB68AF-CBF9-2949-A9F5-28C5496CAB1E}"/>
              </a:ext>
            </a:extLst>
          </p:cNvPr>
          <p:cNvPicPr>
            <a:picLocks noChangeAspect="1"/>
          </p:cNvPicPr>
          <p:nvPr userDrawn="1"/>
        </p:nvPicPr>
        <p:blipFill>
          <a:blip r:embed="rId3"/>
          <a:stretch>
            <a:fillRect/>
          </a:stretch>
        </p:blipFill>
        <p:spPr>
          <a:xfrm>
            <a:off x="7461504" y="3383280"/>
            <a:ext cx="1342482" cy="1645920"/>
          </a:xfrm>
          <a:prstGeom prst="rect">
            <a:avLst/>
          </a:prstGeom>
        </p:spPr>
      </p:pic>
    </p:spTree>
    <p:extLst>
      <p:ext uri="{BB962C8B-B14F-4D97-AF65-F5344CB8AC3E}">
        <p14:creationId xmlns:p14="http://schemas.microsoft.com/office/powerpoint/2010/main" val="2217140050"/>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showMasterSp="0" preserve="1" userDrawn="1">
  <p:cSld name="Title Slide - Pattern Plus - 01">
    <p:spTree>
      <p:nvGrpSpPr>
        <p:cNvPr id="1" name=""/>
        <p:cNvGrpSpPr/>
        <p:nvPr/>
      </p:nvGrpSpPr>
      <p:grpSpPr>
        <a:xfrm>
          <a:off x="0" y="0"/>
          <a:ext cx="0" cy="0"/>
          <a:chOff x="0" y="0"/>
          <a:chExt cx="0" cy="0"/>
        </a:xfrm>
      </p:grpSpPr>
      <p:pic>
        <p:nvPicPr>
          <p:cNvPr id="5" name="Picture 4">
            <a:extLst>
              <a:ext uri="{FF2B5EF4-FFF2-40B4-BE49-F238E27FC236}">
                <a16:creationId xmlns:a16="http://schemas.microsoft.com/office/drawing/2014/main" id="{C2205558-E694-6246-8351-BE2A4716F9AF}"/>
              </a:ext>
            </a:extLst>
          </p:cNvPr>
          <p:cNvPicPr>
            <a:picLocks noChangeAspect="1"/>
          </p:cNvPicPr>
          <p:nvPr userDrawn="1"/>
        </p:nvPicPr>
        <p:blipFill>
          <a:blip r:embed="rId2"/>
          <a:srcRect/>
          <a:stretch/>
        </p:blipFill>
        <p:spPr>
          <a:xfrm>
            <a:off x="0" y="0"/>
            <a:ext cx="9144000" cy="5143500"/>
          </a:xfrm>
          <a:prstGeom prst="rect">
            <a:avLst/>
          </a:prstGeom>
        </p:spPr>
      </p:pic>
      <p:sp>
        <p:nvSpPr>
          <p:cNvPr id="8" name="Rectangle 7">
            <a:extLst>
              <a:ext uri="{FF2B5EF4-FFF2-40B4-BE49-F238E27FC236}">
                <a16:creationId xmlns:a16="http://schemas.microsoft.com/office/drawing/2014/main" id="{6D8D0332-5560-CE4F-8F24-3E592108CEAD}"/>
              </a:ext>
            </a:extLst>
          </p:cNvPr>
          <p:cNvSpPr>
            <a:spLocks noChangeArrowheads="1"/>
          </p:cNvSpPr>
          <p:nvPr userDrawn="1"/>
        </p:nvSpPr>
        <p:spPr bwMode="gray">
          <a:xfrm>
            <a:off x="786384" y="338328"/>
            <a:ext cx="4178808" cy="4178808"/>
          </a:xfrm>
          <a:prstGeom prst="rect">
            <a:avLst/>
          </a:prstGeom>
          <a:solidFill>
            <a:srgbClr val="C8102E">
              <a:alpha val="90000"/>
            </a:srgbClr>
          </a:solidFill>
          <a:ln>
            <a:noFill/>
          </a:ln>
        </p:spPr>
        <p:txBody>
          <a:bodyPr vert="horz" wrap="square" lIns="91440" tIns="45720" rIns="91440" bIns="45720" numCol="1" anchor="t" anchorCtr="0" compatLnSpc="1">
            <a:prstTxWarp prst="textNoShape">
              <a:avLst/>
            </a:prstTxWarp>
          </a:bodyPr>
          <a:ls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endParaRPr lang="en-US"/>
          </a:p>
        </p:txBody>
      </p:sp>
      <p:sp>
        <p:nvSpPr>
          <p:cNvPr id="2" name="Title 1"/>
          <p:cNvSpPr>
            <a:spLocks noGrp="1"/>
          </p:cNvSpPr>
          <p:nvPr userDrawn="1">
            <p:ph type="ctrTitle"/>
          </p:nvPr>
        </p:nvSpPr>
        <p:spPr bwMode="gray">
          <a:xfrm>
            <a:off x="1005840" y="685800"/>
            <a:ext cx="3657600" cy="1371600"/>
          </a:xfrm>
        </p:spPr>
        <p:txBody>
          <a:bodyPr anchor="t" anchorCtr="0">
            <a:noAutofit/>
          </a:bodyPr>
          <a:lstStyle>
            <a:lvl1pPr>
              <a:defRPr sz="2600" baseline="0">
                <a:solidFill>
                  <a:schemeClr val="bg1"/>
                </a:solidFill>
              </a:defRPr>
            </a:lvl1pPr>
          </a:lstStyle>
          <a:p>
            <a:r>
              <a:rPr lang="en-US"/>
              <a:t>Click to edit Master title style</a:t>
            </a:r>
            <a:endParaRPr lang="en-US" dirty="0"/>
          </a:p>
        </p:txBody>
      </p:sp>
      <p:sp>
        <p:nvSpPr>
          <p:cNvPr id="3" name="Subtitle 2"/>
          <p:cNvSpPr>
            <a:spLocks noGrp="1"/>
          </p:cNvSpPr>
          <p:nvPr userDrawn="1">
            <p:ph type="subTitle" idx="1"/>
          </p:nvPr>
        </p:nvSpPr>
        <p:spPr bwMode="gray">
          <a:xfrm>
            <a:off x="1005840" y="2285996"/>
            <a:ext cx="3657600" cy="685800"/>
          </a:xfrm>
        </p:spPr>
        <p:txBody>
          <a:bodyPr>
            <a:noAutofit/>
          </a:bodyPr>
          <a:lstStyle>
            <a:lvl1pPr marL="0" indent="0" algn="l">
              <a:lnSpc>
                <a:spcPct val="110000"/>
              </a:lnSpc>
              <a:spcBef>
                <a:spcPts val="0"/>
              </a:spcBef>
              <a:buNone/>
              <a:defRPr sz="1200" b="1" baseline="0">
                <a:solidFill>
                  <a:schemeClr val="bg1"/>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endParaRPr lang="en-US" dirty="0"/>
          </a:p>
        </p:txBody>
      </p:sp>
      <p:sp>
        <p:nvSpPr>
          <p:cNvPr id="11" name="Rectangle 10"/>
          <p:cNvSpPr/>
          <p:nvPr userDrawn="1"/>
        </p:nvSpPr>
        <p:spPr bwMode="gray">
          <a:xfrm>
            <a:off x="0" y="0"/>
            <a:ext cx="9144000" cy="5143500"/>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10" name="Rectangle 9">
            <a:extLst>
              <a:ext uri="{FF2B5EF4-FFF2-40B4-BE49-F238E27FC236}">
                <a16:creationId xmlns:a16="http://schemas.microsoft.com/office/drawing/2014/main" id="{887F108C-ED8C-164D-ADC0-D6142D7EB718}"/>
              </a:ext>
            </a:extLst>
          </p:cNvPr>
          <p:cNvSpPr/>
          <p:nvPr userDrawn="1"/>
        </p:nvSpPr>
        <p:spPr>
          <a:xfrm>
            <a:off x="484632" y="4517136"/>
            <a:ext cx="301752" cy="301752"/>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12" name="Picture 11" descr="Icon&#10;&#10;Description automatically generated">
            <a:extLst>
              <a:ext uri="{FF2B5EF4-FFF2-40B4-BE49-F238E27FC236}">
                <a16:creationId xmlns:a16="http://schemas.microsoft.com/office/drawing/2014/main" id="{67C46DA5-9099-444D-B50C-E9D0A79A7662}"/>
              </a:ext>
            </a:extLst>
          </p:cNvPr>
          <p:cNvPicPr>
            <a:picLocks noChangeAspect="1"/>
          </p:cNvPicPr>
          <p:nvPr userDrawn="1"/>
        </p:nvPicPr>
        <p:blipFill>
          <a:blip r:embed="rId3"/>
          <a:stretch>
            <a:fillRect/>
          </a:stretch>
        </p:blipFill>
        <p:spPr>
          <a:xfrm>
            <a:off x="7461504" y="3383280"/>
            <a:ext cx="1342482" cy="1645920"/>
          </a:xfrm>
          <a:prstGeom prst="rect">
            <a:avLst/>
          </a:prstGeom>
        </p:spPr>
      </p:pic>
    </p:spTree>
    <p:extLst>
      <p:ext uri="{BB962C8B-B14F-4D97-AF65-F5344CB8AC3E}">
        <p14:creationId xmlns:p14="http://schemas.microsoft.com/office/powerpoint/2010/main" val="377002234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showMasterSp="0" preserve="1" userDrawn="1">
  <p:cSld name="Title Slide - Pattern Plus - 02">
    <p:spTree>
      <p:nvGrpSpPr>
        <p:cNvPr id="1" name=""/>
        <p:cNvGrpSpPr/>
        <p:nvPr/>
      </p:nvGrpSpPr>
      <p:grpSpPr>
        <a:xfrm>
          <a:off x="0" y="0"/>
          <a:ext cx="0" cy="0"/>
          <a:chOff x="0" y="0"/>
          <a:chExt cx="0" cy="0"/>
        </a:xfrm>
      </p:grpSpPr>
      <p:pic>
        <p:nvPicPr>
          <p:cNvPr id="8" name="Picture 7">
            <a:extLst>
              <a:ext uri="{FF2B5EF4-FFF2-40B4-BE49-F238E27FC236}">
                <a16:creationId xmlns:a16="http://schemas.microsoft.com/office/drawing/2014/main" id="{CA3319CA-691F-EE44-94CB-D645E89C2F17}"/>
              </a:ext>
            </a:extLst>
          </p:cNvPr>
          <p:cNvPicPr>
            <a:picLocks noChangeAspect="1"/>
          </p:cNvPicPr>
          <p:nvPr userDrawn="1"/>
        </p:nvPicPr>
        <p:blipFill>
          <a:blip r:embed="rId2"/>
          <a:srcRect/>
          <a:stretch/>
        </p:blipFill>
        <p:spPr>
          <a:xfrm>
            <a:off x="787400" y="0"/>
            <a:ext cx="8366759" cy="4361395"/>
          </a:xfrm>
          <a:prstGeom prst="rect">
            <a:avLst/>
          </a:prstGeom>
        </p:spPr>
      </p:pic>
      <p:sp>
        <p:nvSpPr>
          <p:cNvPr id="2" name="Title 1"/>
          <p:cNvSpPr>
            <a:spLocks noGrp="1"/>
          </p:cNvSpPr>
          <p:nvPr userDrawn="1">
            <p:ph type="ctrTitle"/>
          </p:nvPr>
        </p:nvSpPr>
        <p:spPr bwMode="gray">
          <a:xfrm>
            <a:off x="1005840" y="411480"/>
            <a:ext cx="3657600" cy="1371600"/>
          </a:xfrm>
        </p:spPr>
        <p:txBody>
          <a:bodyPr anchor="t" anchorCtr="0">
            <a:noAutofit/>
          </a:bodyPr>
          <a:lstStyle>
            <a:lvl1pPr>
              <a:defRPr sz="2600" baseline="0">
                <a:solidFill>
                  <a:schemeClr val="accent1"/>
                </a:solidFill>
              </a:defRPr>
            </a:lvl1pPr>
          </a:lstStyle>
          <a:p>
            <a:r>
              <a:rPr lang="en-US"/>
              <a:t>Click to edit Master title style</a:t>
            </a:r>
            <a:endParaRPr lang="en-US" dirty="0"/>
          </a:p>
        </p:txBody>
      </p:sp>
      <p:sp>
        <p:nvSpPr>
          <p:cNvPr id="3" name="Subtitle 2"/>
          <p:cNvSpPr>
            <a:spLocks noGrp="1"/>
          </p:cNvSpPr>
          <p:nvPr userDrawn="1">
            <p:ph type="subTitle" idx="1"/>
          </p:nvPr>
        </p:nvSpPr>
        <p:spPr bwMode="gray">
          <a:xfrm>
            <a:off x="1005840" y="3520440"/>
            <a:ext cx="3657600" cy="685800"/>
          </a:xfrm>
        </p:spPr>
        <p:txBody>
          <a:bodyPr>
            <a:noAutofit/>
          </a:bodyPr>
          <a:lstStyle>
            <a:lvl1pPr marL="0" indent="0" algn="l">
              <a:lnSpc>
                <a:spcPct val="110000"/>
              </a:lnSpc>
              <a:spcBef>
                <a:spcPts val="0"/>
              </a:spcBef>
              <a:buNone/>
              <a:defRPr sz="1200" b="1" baseline="0">
                <a:solidFill>
                  <a:schemeClr val="tx1"/>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endParaRPr lang="en-US" dirty="0"/>
          </a:p>
        </p:txBody>
      </p:sp>
      <p:sp>
        <p:nvSpPr>
          <p:cNvPr id="11" name="Rectangle 10"/>
          <p:cNvSpPr/>
          <p:nvPr userDrawn="1"/>
        </p:nvSpPr>
        <p:spPr bwMode="gray">
          <a:xfrm>
            <a:off x="0" y="0"/>
            <a:ext cx="9144000" cy="5143500"/>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10" name="Rectangle 9">
            <a:extLst>
              <a:ext uri="{FF2B5EF4-FFF2-40B4-BE49-F238E27FC236}">
                <a16:creationId xmlns:a16="http://schemas.microsoft.com/office/drawing/2014/main" id="{C5DDC768-DAEF-3E42-80C6-E7A1D3CA90EA}"/>
              </a:ext>
            </a:extLst>
          </p:cNvPr>
          <p:cNvSpPr/>
          <p:nvPr userDrawn="1"/>
        </p:nvSpPr>
        <p:spPr>
          <a:xfrm>
            <a:off x="484632" y="4361688"/>
            <a:ext cx="301752" cy="301752"/>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12" name="Picture 11" descr="Icon&#10;&#10;Description automatically generated">
            <a:extLst>
              <a:ext uri="{FF2B5EF4-FFF2-40B4-BE49-F238E27FC236}">
                <a16:creationId xmlns:a16="http://schemas.microsoft.com/office/drawing/2014/main" id="{EC228387-7219-754F-BBBB-F161E3029DEB}"/>
              </a:ext>
            </a:extLst>
          </p:cNvPr>
          <p:cNvPicPr>
            <a:picLocks noChangeAspect="1"/>
          </p:cNvPicPr>
          <p:nvPr userDrawn="1"/>
        </p:nvPicPr>
        <p:blipFill>
          <a:blip r:embed="rId3"/>
          <a:stretch>
            <a:fillRect/>
          </a:stretch>
        </p:blipFill>
        <p:spPr>
          <a:xfrm>
            <a:off x="7461504" y="3383280"/>
            <a:ext cx="1342482" cy="1645920"/>
          </a:xfrm>
          <a:prstGeom prst="rect">
            <a:avLst/>
          </a:prstGeom>
        </p:spPr>
      </p:pic>
    </p:spTree>
    <p:extLst>
      <p:ext uri="{BB962C8B-B14F-4D97-AF65-F5344CB8AC3E}">
        <p14:creationId xmlns:p14="http://schemas.microsoft.com/office/powerpoint/2010/main" val="3257487911"/>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showMasterSp="0" preserve="1" userDrawn="1">
  <p:cSld name="Title Slide - Pattern Plus - 03">
    <p:spTree>
      <p:nvGrpSpPr>
        <p:cNvPr id="1" name=""/>
        <p:cNvGrpSpPr/>
        <p:nvPr/>
      </p:nvGrpSpPr>
      <p:grpSpPr>
        <a:xfrm>
          <a:off x="0" y="0"/>
          <a:ext cx="0" cy="0"/>
          <a:chOff x="0" y="0"/>
          <a:chExt cx="0" cy="0"/>
        </a:xfrm>
      </p:grpSpPr>
      <p:pic>
        <p:nvPicPr>
          <p:cNvPr id="5" name="Picture 4">
            <a:extLst>
              <a:ext uri="{FF2B5EF4-FFF2-40B4-BE49-F238E27FC236}">
                <a16:creationId xmlns:a16="http://schemas.microsoft.com/office/drawing/2014/main" id="{C2205558-E694-6246-8351-BE2A4716F9AF}"/>
              </a:ext>
            </a:extLst>
          </p:cNvPr>
          <p:cNvPicPr>
            <a:picLocks noChangeAspect="1"/>
          </p:cNvPicPr>
          <p:nvPr userDrawn="1"/>
        </p:nvPicPr>
        <p:blipFill>
          <a:blip r:embed="rId2"/>
          <a:srcRect/>
          <a:stretch/>
        </p:blipFill>
        <p:spPr>
          <a:xfrm>
            <a:off x="0" y="0"/>
            <a:ext cx="9144000" cy="5143500"/>
          </a:xfrm>
          <a:prstGeom prst="rect">
            <a:avLst/>
          </a:prstGeom>
        </p:spPr>
      </p:pic>
      <p:sp>
        <p:nvSpPr>
          <p:cNvPr id="8" name="Rectangle 7">
            <a:extLst>
              <a:ext uri="{FF2B5EF4-FFF2-40B4-BE49-F238E27FC236}">
                <a16:creationId xmlns:a16="http://schemas.microsoft.com/office/drawing/2014/main" id="{6D8D0332-5560-CE4F-8F24-3E592108CEAD}"/>
              </a:ext>
            </a:extLst>
          </p:cNvPr>
          <p:cNvSpPr>
            <a:spLocks noChangeArrowheads="1"/>
          </p:cNvSpPr>
          <p:nvPr userDrawn="1"/>
        </p:nvSpPr>
        <p:spPr bwMode="gray">
          <a:xfrm>
            <a:off x="786384" y="338328"/>
            <a:ext cx="4178808" cy="4178808"/>
          </a:xfrm>
          <a:prstGeom prst="rect">
            <a:avLst/>
          </a:prstGeom>
          <a:solidFill>
            <a:srgbClr val="C8102E">
              <a:alpha val="90000"/>
            </a:srgbClr>
          </a:solidFill>
          <a:ln>
            <a:noFill/>
          </a:ln>
        </p:spPr>
        <p:txBody>
          <a:bodyPr vert="horz" wrap="square" lIns="91440" tIns="45720" rIns="91440" bIns="45720" numCol="1" anchor="t" anchorCtr="0" compatLnSpc="1">
            <a:prstTxWarp prst="textNoShape">
              <a:avLst/>
            </a:prstTxWarp>
          </a:bodyPr>
          <a:ls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endParaRPr lang="en-US"/>
          </a:p>
        </p:txBody>
      </p:sp>
      <p:sp>
        <p:nvSpPr>
          <p:cNvPr id="2" name="Title 1"/>
          <p:cNvSpPr>
            <a:spLocks noGrp="1"/>
          </p:cNvSpPr>
          <p:nvPr userDrawn="1">
            <p:ph type="ctrTitle"/>
          </p:nvPr>
        </p:nvSpPr>
        <p:spPr bwMode="gray">
          <a:xfrm>
            <a:off x="1005840" y="685800"/>
            <a:ext cx="3657600" cy="1371600"/>
          </a:xfrm>
        </p:spPr>
        <p:txBody>
          <a:bodyPr anchor="t" anchorCtr="0">
            <a:noAutofit/>
          </a:bodyPr>
          <a:lstStyle>
            <a:lvl1pPr>
              <a:defRPr sz="2600" baseline="0">
                <a:solidFill>
                  <a:schemeClr val="bg1"/>
                </a:solidFill>
              </a:defRPr>
            </a:lvl1pPr>
          </a:lstStyle>
          <a:p>
            <a:r>
              <a:rPr lang="en-US"/>
              <a:t>Click to edit Master title style</a:t>
            </a:r>
            <a:endParaRPr lang="en-US" dirty="0"/>
          </a:p>
        </p:txBody>
      </p:sp>
      <p:sp>
        <p:nvSpPr>
          <p:cNvPr id="3" name="Subtitle 2"/>
          <p:cNvSpPr>
            <a:spLocks noGrp="1"/>
          </p:cNvSpPr>
          <p:nvPr userDrawn="1">
            <p:ph type="subTitle" idx="1"/>
          </p:nvPr>
        </p:nvSpPr>
        <p:spPr bwMode="gray">
          <a:xfrm>
            <a:off x="1005840" y="2285996"/>
            <a:ext cx="3657600" cy="685800"/>
          </a:xfrm>
        </p:spPr>
        <p:txBody>
          <a:bodyPr>
            <a:noAutofit/>
          </a:bodyPr>
          <a:lstStyle>
            <a:lvl1pPr marL="0" indent="0" algn="l">
              <a:lnSpc>
                <a:spcPct val="110000"/>
              </a:lnSpc>
              <a:spcBef>
                <a:spcPts val="0"/>
              </a:spcBef>
              <a:buNone/>
              <a:defRPr sz="1200" b="1" baseline="0">
                <a:solidFill>
                  <a:schemeClr val="bg1"/>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endParaRPr lang="en-US" dirty="0"/>
          </a:p>
        </p:txBody>
      </p:sp>
      <p:sp>
        <p:nvSpPr>
          <p:cNvPr id="11" name="Rectangle 10"/>
          <p:cNvSpPr/>
          <p:nvPr userDrawn="1"/>
        </p:nvSpPr>
        <p:spPr bwMode="gray">
          <a:xfrm>
            <a:off x="0" y="0"/>
            <a:ext cx="9144000" cy="5143500"/>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9" name="Rectangle 8">
            <a:extLst>
              <a:ext uri="{FF2B5EF4-FFF2-40B4-BE49-F238E27FC236}">
                <a16:creationId xmlns:a16="http://schemas.microsoft.com/office/drawing/2014/main" id="{D6D267A7-D1A2-CD43-AF45-759A6B811D37}"/>
              </a:ext>
            </a:extLst>
          </p:cNvPr>
          <p:cNvSpPr/>
          <p:nvPr userDrawn="1"/>
        </p:nvSpPr>
        <p:spPr>
          <a:xfrm>
            <a:off x="484632" y="4517136"/>
            <a:ext cx="301752" cy="301752"/>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12" name="Picture 11" descr="Logo, company name&#10;&#10;Description automatically generated">
            <a:extLst>
              <a:ext uri="{FF2B5EF4-FFF2-40B4-BE49-F238E27FC236}">
                <a16:creationId xmlns:a16="http://schemas.microsoft.com/office/drawing/2014/main" id="{AFC415BB-2A32-2347-A1B0-A78E1A12445D}"/>
              </a:ext>
            </a:extLst>
          </p:cNvPr>
          <p:cNvPicPr>
            <a:picLocks noChangeAspect="1"/>
          </p:cNvPicPr>
          <p:nvPr userDrawn="1"/>
        </p:nvPicPr>
        <p:blipFill>
          <a:blip r:embed="rId3"/>
          <a:stretch>
            <a:fillRect/>
          </a:stretch>
        </p:blipFill>
        <p:spPr>
          <a:xfrm>
            <a:off x="7461504" y="3383280"/>
            <a:ext cx="1342482" cy="1645920"/>
          </a:xfrm>
          <a:prstGeom prst="rect">
            <a:avLst/>
          </a:prstGeom>
        </p:spPr>
      </p:pic>
    </p:spTree>
    <p:extLst>
      <p:ext uri="{BB962C8B-B14F-4D97-AF65-F5344CB8AC3E}">
        <p14:creationId xmlns:p14="http://schemas.microsoft.com/office/powerpoint/2010/main" val="2635994697"/>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showMasterSp="0" preserve="1" userDrawn="1">
  <p:cSld name="Title Slide - Pattern Arrow - 01">
    <p:spTree>
      <p:nvGrpSpPr>
        <p:cNvPr id="1" name=""/>
        <p:cNvGrpSpPr/>
        <p:nvPr/>
      </p:nvGrpSpPr>
      <p:grpSpPr>
        <a:xfrm>
          <a:off x="0" y="0"/>
          <a:ext cx="0" cy="0"/>
          <a:chOff x="0" y="0"/>
          <a:chExt cx="0" cy="0"/>
        </a:xfrm>
      </p:grpSpPr>
      <p:pic>
        <p:nvPicPr>
          <p:cNvPr id="5" name="Picture 4">
            <a:extLst>
              <a:ext uri="{FF2B5EF4-FFF2-40B4-BE49-F238E27FC236}">
                <a16:creationId xmlns:a16="http://schemas.microsoft.com/office/drawing/2014/main" id="{C2205558-E694-6246-8351-BE2A4716F9AF}"/>
              </a:ext>
            </a:extLst>
          </p:cNvPr>
          <p:cNvPicPr>
            <a:picLocks noChangeAspect="1"/>
          </p:cNvPicPr>
          <p:nvPr userDrawn="1"/>
        </p:nvPicPr>
        <p:blipFill>
          <a:blip r:embed="rId2"/>
          <a:srcRect/>
          <a:stretch/>
        </p:blipFill>
        <p:spPr>
          <a:xfrm>
            <a:off x="0" y="0"/>
            <a:ext cx="9144000" cy="5143500"/>
          </a:xfrm>
          <a:prstGeom prst="rect">
            <a:avLst/>
          </a:prstGeom>
        </p:spPr>
      </p:pic>
      <p:sp>
        <p:nvSpPr>
          <p:cNvPr id="8" name="Rectangle 7">
            <a:extLst>
              <a:ext uri="{FF2B5EF4-FFF2-40B4-BE49-F238E27FC236}">
                <a16:creationId xmlns:a16="http://schemas.microsoft.com/office/drawing/2014/main" id="{6D8D0332-5560-CE4F-8F24-3E592108CEAD}"/>
              </a:ext>
            </a:extLst>
          </p:cNvPr>
          <p:cNvSpPr>
            <a:spLocks noChangeArrowheads="1"/>
          </p:cNvSpPr>
          <p:nvPr userDrawn="1"/>
        </p:nvSpPr>
        <p:spPr bwMode="gray">
          <a:xfrm>
            <a:off x="786384" y="338328"/>
            <a:ext cx="4178808" cy="4178808"/>
          </a:xfrm>
          <a:prstGeom prst="rect">
            <a:avLst/>
          </a:prstGeom>
          <a:solidFill>
            <a:srgbClr val="C8102E">
              <a:alpha val="90000"/>
            </a:srgbClr>
          </a:solidFill>
          <a:ln>
            <a:noFill/>
          </a:ln>
        </p:spPr>
        <p:txBody>
          <a:bodyPr vert="horz" wrap="square" lIns="91440" tIns="45720" rIns="91440" bIns="45720" numCol="1" anchor="t" anchorCtr="0" compatLnSpc="1">
            <a:prstTxWarp prst="textNoShape">
              <a:avLst/>
            </a:prstTxWarp>
          </a:bodyPr>
          <a:ls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endParaRPr lang="en-US"/>
          </a:p>
        </p:txBody>
      </p:sp>
      <p:sp>
        <p:nvSpPr>
          <p:cNvPr id="2" name="Title 1"/>
          <p:cNvSpPr>
            <a:spLocks noGrp="1"/>
          </p:cNvSpPr>
          <p:nvPr userDrawn="1">
            <p:ph type="ctrTitle"/>
          </p:nvPr>
        </p:nvSpPr>
        <p:spPr bwMode="gray">
          <a:xfrm>
            <a:off x="1005840" y="685800"/>
            <a:ext cx="3657600" cy="1371600"/>
          </a:xfrm>
        </p:spPr>
        <p:txBody>
          <a:bodyPr anchor="t" anchorCtr="0">
            <a:noAutofit/>
          </a:bodyPr>
          <a:lstStyle>
            <a:lvl1pPr>
              <a:defRPr sz="2600" baseline="0">
                <a:solidFill>
                  <a:schemeClr val="bg1"/>
                </a:solidFill>
              </a:defRPr>
            </a:lvl1pPr>
          </a:lstStyle>
          <a:p>
            <a:r>
              <a:rPr lang="en-US"/>
              <a:t>Click to edit Master title style</a:t>
            </a:r>
            <a:endParaRPr lang="en-US" dirty="0"/>
          </a:p>
        </p:txBody>
      </p:sp>
      <p:sp>
        <p:nvSpPr>
          <p:cNvPr id="3" name="Subtitle 2"/>
          <p:cNvSpPr>
            <a:spLocks noGrp="1"/>
          </p:cNvSpPr>
          <p:nvPr userDrawn="1">
            <p:ph type="subTitle" idx="1"/>
          </p:nvPr>
        </p:nvSpPr>
        <p:spPr bwMode="gray">
          <a:xfrm>
            <a:off x="1005840" y="2285996"/>
            <a:ext cx="3657600" cy="685800"/>
          </a:xfrm>
        </p:spPr>
        <p:txBody>
          <a:bodyPr>
            <a:noAutofit/>
          </a:bodyPr>
          <a:lstStyle>
            <a:lvl1pPr marL="0" indent="0" algn="l">
              <a:lnSpc>
                <a:spcPct val="110000"/>
              </a:lnSpc>
              <a:spcBef>
                <a:spcPts val="0"/>
              </a:spcBef>
              <a:buNone/>
              <a:defRPr sz="1200" b="1" baseline="0">
                <a:solidFill>
                  <a:schemeClr val="bg1"/>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endParaRPr lang="en-US" dirty="0"/>
          </a:p>
        </p:txBody>
      </p:sp>
      <p:sp>
        <p:nvSpPr>
          <p:cNvPr id="11" name="Rectangle 10"/>
          <p:cNvSpPr/>
          <p:nvPr userDrawn="1"/>
        </p:nvSpPr>
        <p:spPr bwMode="gray">
          <a:xfrm>
            <a:off x="0" y="0"/>
            <a:ext cx="9144000" cy="5143500"/>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10" name="Rectangle 9">
            <a:extLst>
              <a:ext uri="{FF2B5EF4-FFF2-40B4-BE49-F238E27FC236}">
                <a16:creationId xmlns:a16="http://schemas.microsoft.com/office/drawing/2014/main" id="{8731D899-F6C5-AF48-9843-654D91AD0D46}"/>
              </a:ext>
            </a:extLst>
          </p:cNvPr>
          <p:cNvSpPr/>
          <p:nvPr userDrawn="1"/>
        </p:nvSpPr>
        <p:spPr>
          <a:xfrm>
            <a:off x="484632" y="4517136"/>
            <a:ext cx="301752" cy="301752"/>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12" name="Picture 11" descr="Icon&#10;&#10;Description automatically generated">
            <a:extLst>
              <a:ext uri="{FF2B5EF4-FFF2-40B4-BE49-F238E27FC236}">
                <a16:creationId xmlns:a16="http://schemas.microsoft.com/office/drawing/2014/main" id="{5B69E309-6D14-D64E-9D5E-4989669310B1}"/>
              </a:ext>
            </a:extLst>
          </p:cNvPr>
          <p:cNvPicPr>
            <a:picLocks noChangeAspect="1"/>
          </p:cNvPicPr>
          <p:nvPr userDrawn="1"/>
        </p:nvPicPr>
        <p:blipFill>
          <a:blip r:embed="rId3"/>
          <a:stretch>
            <a:fillRect/>
          </a:stretch>
        </p:blipFill>
        <p:spPr>
          <a:xfrm>
            <a:off x="7461504" y="3383280"/>
            <a:ext cx="1342482" cy="1645920"/>
          </a:xfrm>
          <a:prstGeom prst="rect">
            <a:avLst/>
          </a:prstGeom>
        </p:spPr>
      </p:pic>
    </p:spTree>
    <p:extLst>
      <p:ext uri="{BB962C8B-B14F-4D97-AF65-F5344CB8AC3E}">
        <p14:creationId xmlns:p14="http://schemas.microsoft.com/office/powerpoint/2010/main" val="1820474410"/>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showMasterSp="0" preserve="1" userDrawn="1">
  <p:cSld name="Title Slide - Pattern Arrow - 02">
    <p:spTree>
      <p:nvGrpSpPr>
        <p:cNvPr id="1" name=""/>
        <p:cNvGrpSpPr/>
        <p:nvPr/>
      </p:nvGrpSpPr>
      <p:grpSpPr>
        <a:xfrm>
          <a:off x="0" y="0"/>
          <a:ext cx="0" cy="0"/>
          <a:chOff x="0" y="0"/>
          <a:chExt cx="0" cy="0"/>
        </a:xfrm>
      </p:grpSpPr>
      <p:pic>
        <p:nvPicPr>
          <p:cNvPr id="8" name="Picture 7">
            <a:extLst>
              <a:ext uri="{FF2B5EF4-FFF2-40B4-BE49-F238E27FC236}">
                <a16:creationId xmlns:a16="http://schemas.microsoft.com/office/drawing/2014/main" id="{CA3319CA-691F-EE44-94CB-D645E89C2F17}"/>
              </a:ext>
            </a:extLst>
          </p:cNvPr>
          <p:cNvPicPr>
            <a:picLocks noChangeAspect="1"/>
          </p:cNvPicPr>
          <p:nvPr userDrawn="1"/>
        </p:nvPicPr>
        <p:blipFill>
          <a:blip r:embed="rId2"/>
          <a:srcRect/>
          <a:stretch/>
        </p:blipFill>
        <p:spPr>
          <a:xfrm>
            <a:off x="787400" y="0"/>
            <a:ext cx="8366759" cy="4361395"/>
          </a:xfrm>
          <a:prstGeom prst="rect">
            <a:avLst/>
          </a:prstGeom>
        </p:spPr>
      </p:pic>
      <p:sp>
        <p:nvSpPr>
          <p:cNvPr id="2" name="Title 1"/>
          <p:cNvSpPr>
            <a:spLocks noGrp="1"/>
          </p:cNvSpPr>
          <p:nvPr userDrawn="1">
            <p:ph type="ctrTitle"/>
          </p:nvPr>
        </p:nvSpPr>
        <p:spPr bwMode="gray">
          <a:xfrm>
            <a:off x="1005840" y="411480"/>
            <a:ext cx="3657600" cy="1371600"/>
          </a:xfrm>
        </p:spPr>
        <p:txBody>
          <a:bodyPr anchor="t" anchorCtr="0">
            <a:noAutofit/>
          </a:bodyPr>
          <a:lstStyle>
            <a:lvl1pPr>
              <a:defRPr sz="2600" baseline="0">
                <a:solidFill>
                  <a:schemeClr val="accent1"/>
                </a:solidFill>
              </a:defRPr>
            </a:lvl1pPr>
          </a:lstStyle>
          <a:p>
            <a:r>
              <a:rPr lang="en-US"/>
              <a:t>Click to edit Master title style</a:t>
            </a:r>
            <a:endParaRPr lang="en-US" dirty="0"/>
          </a:p>
        </p:txBody>
      </p:sp>
      <p:sp>
        <p:nvSpPr>
          <p:cNvPr id="3" name="Subtitle 2"/>
          <p:cNvSpPr>
            <a:spLocks noGrp="1"/>
          </p:cNvSpPr>
          <p:nvPr userDrawn="1">
            <p:ph type="subTitle" idx="1"/>
          </p:nvPr>
        </p:nvSpPr>
        <p:spPr bwMode="gray">
          <a:xfrm>
            <a:off x="1005840" y="3520440"/>
            <a:ext cx="3657600" cy="685800"/>
          </a:xfrm>
        </p:spPr>
        <p:txBody>
          <a:bodyPr>
            <a:noAutofit/>
          </a:bodyPr>
          <a:lstStyle>
            <a:lvl1pPr marL="0" indent="0" algn="l">
              <a:lnSpc>
                <a:spcPct val="110000"/>
              </a:lnSpc>
              <a:spcBef>
                <a:spcPts val="0"/>
              </a:spcBef>
              <a:buNone/>
              <a:defRPr sz="1200" b="1" baseline="0">
                <a:solidFill>
                  <a:schemeClr val="tx1"/>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endParaRPr lang="en-US" dirty="0"/>
          </a:p>
        </p:txBody>
      </p:sp>
      <p:sp>
        <p:nvSpPr>
          <p:cNvPr id="11" name="Rectangle 10"/>
          <p:cNvSpPr/>
          <p:nvPr userDrawn="1"/>
        </p:nvSpPr>
        <p:spPr bwMode="gray">
          <a:xfrm>
            <a:off x="0" y="0"/>
            <a:ext cx="9144000" cy="5143500"/>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10" name="Rectangle 9">
            <a:extLst>
              <a:ext uri="{FF2B5EF4-FFF2-40B4-BE49-F238E27FC236}">
                <a16:creationId xmlns:a16="http://schemas.microsoft.com/office/drawing/2014/main" id="{8D3AAFCE-220D-6E45-98E7-1965708E3F87}"/>
              </a:ext>
            </a:extLst>
          </p:cNvPr>
          <p:cNvSpPr/>
          <p:nvPr userDrawn="1"/>
        </p:nvSpPr>
        <p:spPr>
          <a:xfrm>
            <a:off x="484632" y="4361688"/>
            <a:ext cx="301752" cy="301752"/>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12" name="Picture 11" descr="Icon&#10;&#10;Description automatically generated">
            <a:extLst>
              <a:ext uri="{FF2B5EF4-FFF2-40B4-BE49-F238E27FC236}">
                <a16:creationId xmlns:a16="http://schemas.microsoft.com/office/drawing/2014/main" id="{CAD44F3A-06E2-BA44-99ED-5FED8610D7E4}"/>
              </a:ext>
            </a:extLst>
          </p:cNvPr>
          <p:cNvPicPr>
            <a:picLocks noChangeAspect="1"/>
          </p:cNvPicPr>
          <p:nvPr userDrawn="1"/>
        </p:nvPicPr>
        <p:blipFill>
          <a:blip r:embed="rId3"/>
          <a:stretch>
            <a:fillRect/>
          </a:stretch>
        </p:blipFill>
        <p:spPr>
          <a:xfrm>
            <a:off x="7461504" y="3383280"/>
            <a:ext cx="1342482" cy="1645920"/>
          </a:xfrm>
          <a:prstGeom prst="rect">
            <a:avLst/>
          </a:prstGeom>
        </p:spPr>
      </p:pic>
    </p:spTree>
    <p:extLst>
      <p:ext uri="{BB962C8B-B14F-4D97-AF65-F5344CB8AC3E}">
        <p14:creationId xmlns:p14="http://schemas.microsoft.com/office/powerpoint/2010/main" val="3604908384"/>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showMasterSp="0" preserve="1" userDrawn="1">
  <p:cSld name="Title Slide - Pattern Arrow - 03">
    <p:spTree>
      <p:nvGrpSpPr>
        <p:cNvPr id="1" name=""/>
        <p:cNvGrpSpPr/>
        <p:nvPr/>
      </p:nvGrpSpPr>
      <p:grpSpPr>
        <a:xfrm>
          <a:off x="0" y="0"/>
          <a:ext cx="0" cy="0"/>
          <a:chOff x="0" y="0"/>
          <a:chExt cx="0" cy="0"/>
        </a:xfrm>
      </p:grpSpPr>
      <p:pic>
        <p:nvPicPr>
          <p:cNvPr id="5" name="Picture 4">
            <a:extLst>
              <a:ext uri="{FF2B5EF4-FFF2-40B4-BE49-F238E27FC236}">
                <a16:creationId xmlns:a16="http://schemas.microsoft.com/office/drawing/2014/main" id="{C2205558-E694-6246-8351-BE2A4716F9AF}"/>
              </a:ext>
            </a:extLst>
          </p:cNvPr>
          <p:cNvPicPr>
            <a:picLocks noChangeAspect="1"/>
          </p:cNvPicPr>
          <p:nvPr userDrawn="1"/>
        </p:nvPicPr>
        <p:blipFill>
          <a:blip r:embed="rId2"/>
          <a:srcRect/>
          <a:stretch/>
        </p:blipFill>
        <p:spPr>
          <a:xfrm>
            <a:off x="0" y="0"/>
            <a:ext cx="9144000" cy="5143500"/>
          </a:xfrm>
          <a:prstGeom prst="rect">
            <a:avLst/>
          </a:prstGeom>
        </p:spPr>
      </p:pic>
      <p:sp>
        <p:nvSpPr>
          <p:cNvPr id="8" name="Rectangle 7">
            <a:extLst>
              <a:ext uri="{FF2B5EF4-FFF2-40B4-BE49-F238E27FC236}">
                <a16:creationId xmlns:a16="http://schemas.microsoft.com/office/drawing/2014/main" id="{6D8D0332-5560-CE4F-8F24-3E592108CEAD}"/>
              </a:ext>
            </a:extLst>
          </p:cNvPr>
          <p:cNvSpPr>
            <a:spLocks noChangeArrowheads="1"/>
          </p:cNvSpPr>
          <p:nvPr userDrawn="1"/>
        </p:nvSpPr>
        <p:spPr bwMode="gray">
          <a:xfrm>
            <a:off x="786384" y="338328"/>
            <a:ext cx="4178808" cy="4178808"/>
          </a:xfrm>
          <a:prstGeom prst="rect">
            <a:avLst/>
          </a:prstGeom>
          <a:solidFill>
            <a:srgbClr val="C8102E">
              <a:alpha val="90000"/>
            </a:srgbClr>
          </a:solidFill>
          <a:ln>
            <a:noFill/>
          </a:ln>
        </p:spPr>
        <p:txBody>
          <a:bodyPr vert="horz" wrap="square" lIns="91440" tIns="45720" rIns="91440" bIns="45720" numCol="1" anchor="t" anchorCtr="0" compatLnSpc="1">
            <a:prstTxWarp prst="textNoShape">
              <a:avLst/>
            </a:prstTxWarp>
          </a:bodyPr>
          <a:ls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endParaRPr lang="en-US"/>
          </a:p>
        </p:txBody>
      </p:sp>
      <p:sp>
        <p:nvSpPr>
          <p:cNvPr id="2" name="Title 1"/>
          <p:cNvSpPr>
            <a:spLocks noGrp="1"/>
          </p:cNvSpPr>
          <p:nvPr userDrawn="1">
            <p:ph type="ctrTitle"/>
          </p:nvPr>
        </p:nvSpPr>
        <p:spPr bwMode="gray">
          <a:xfrm>
            <a:off x="1005840" y="685800"/>
            <a:ext cx="3657600" cy="1371600"/>
          </a:xfrm>
        </p:spPr>
        <p:txBody>
          <a:bodyPr anchor="t" anchorCtr="0">
            <a:noAutofit/>
          </a:bodyPr>
          <a:lstStyle>
            <a:lvl1pPr>
              <a:defRPr sz="2600" baseline="0">
                <a:solidFill>
                  <a:schemeClr val="bg1"/>
                </a:solidFill>
              </a:defRPr>
            </a:lvl1pPr>
          </a:lstStyle>
          <a:p>
            <a:r>
              <a:rPr lang="en-US"/>
              <a:t>Click to edit Master title style</a:t>
            </a:r>
            <a:endParaRPr lang="en-US" dirty="0"/>
          </a:p>
        </p:txBody>
      </p:sp>
      <p:sp>
        <p:nvSpPr>
          <p:cNvPr id="3" name="Subtitle 2"/>
          <p:cNvSpPr>
            <a:spLocks noGrp="1"/>
          </p:cNvSpPr>
          <p:nvPr userDrawn="1">
            <p:ph type="subTitle" idx="1"/>
          </p:nvPr>
        </p:nvSpPr>
        <p:spPr bwMode="gray">
          <a:xfrm>
            <a:off x="1005840" y="2285996"/>
            <a:ext cx="3657600" cy="685800"/>
          </a:xfrm>
        </p:spPr>
        <p:txBody>
          <a:bodyPr>
            <a:noAutofit/>
          </a:bodyPr>
          <a:lstStyle>
            <a:lvl1pPr marL="0" indent="0" algn="l">
              <a:lnSpc>
                <a:spcPct val="110000"/>
              </a:lnSpc>
              <a:spcBef>
                <a:spcPts val="0"/>
              </a:spcBef>
              <a:buNone/>
              <a:defRPr sz="1200" b="1" baseline="0">
                <a:solidFill>
                  <a:schemeClr val="bg1"/>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endParaRPr lang="en-US" dirty="0"/>
          </a:p>
        </p:txBody>
      </p:sp>
      <p:sp>
        <p:nvSpPr>
          <p:cNvPr id="11" name="Rectangle 10"/>
          <p:cNvSpPr/>
          <p:nvPr userDrawn="1"/>
        </p:nvSpPr>
        <p:spPr bwMode="gray">
          <a:xfrm>
            <a:off x="0" y="0"/>
            <a:ext cx="9144000" cy="5143500"/>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9" name="Rectangle 8">
            <a:extLst>
              <a:ext uri="{FF2B5EF4-FFF2-40B4-BE49-F238E27FC236}">
                <a16:creationId xmlns:a16="http://schemas.microsoft.com/office/drawing/2014/main" id="{DCE3E418-21D4-4243-899A-F3B3256B5150}"/>
              </a:ext>
            </a:extLst>
          </p:cNvPr>
          <p:cNvSpPr/>
          <p:nvPr userDrawn="1"/>
        </p:nvSpPr>
        <p:spPr>
          <a:xfrm>
            <a:off x="484632" y="4517136"/>
            <a:ext cx="301752" cy="301752"/>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12" name="Picture 11" descr="Logo, company name&#10;&#10;Description automatically generated">
            <a:extLst>
              <a:ext uri="{FF2B5EF4-FFF2-40B4-BE49-F238E27FC236}">
                <a16:creationId xmlns:a16="http://schemas.microsoft.com/office/drawing/2014/main" id="{08223B33-DFBC-C140-9413-22339E337E93}"/>
              </a:ext>
            </a:extLst>
          </p:cNvPr>
          <p:cNvPicPr>
            <a:picLocks noChangeAspect="1"/>
          </p:cNvPicPr>
          <p:nvPr userDrawn="1"/>
        </p:nvPicPr>
        <p:blipFill>
          <a:blip r:embed="rId3"/>
          <a:stretch>
            <a:fillRect/>
          </a:stretch>
        </p:blipFill>
        <p:spPr>
          <a:xfrm>
            <a:off x="7461504" y="3383280"/>
            <a:ext cx="1342482" cy="1645920"/>
          </a:xfrm>
          <a:prstGeom prst="rect">
            <a:avLst/>
          </a:prstGeom>
        </p:spPr>
      </p:pic>
    </p:spTree>
    <p:extLst>
      <p:ext uri="{BB962C8B-B14F-4D97-AF65-F5344CB8AC3E}">
        <p14:creationId xmlns:p14="http://schemas.microsoft.com/office/powerpoint/2010/main" val="4250855986"/>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bwMode="gray"/>
        <p:txBody>
          <a:bodyPr/>
          <a:lstStyle/>
          <a:p>
            <a:r>
              <a:rPr lang="en-US"/>
              <a:t>Click to edit Master title style</a:t>
            </a:r>
          </a:p>
        </p:txBody>
      </p:sp>
      <p:sp>
        <p:nvSpPr>
          <p:cNvPr id="3" name="Content Placeholder 2"/>
          <p:cNvSpPr>
            <a:spLocks noGrp="1"/>
          </p:cNvSpPr>
          <p:nvPr>
            <p:ph idx="1"/>
          </p:nvPr>
        </p:nvSpPr>
        <p:spPr bwMode="gray"/>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bwMode="gray"/>
        <p:txBody>
          <a:bodyPr/>
          <a:lstStyle/>
          <a:p>
            <a:r>
              <a:rPr lang="en-US"/>
              <a:t>Month 00, 0000</a:t>
            </a:r>
          </a:p>
        </p:txBody>
      </p:sp>
      <p:sp>
        <p:nvSpPr>
          <p:cNvPr id="5" name="Footer Placeholder 4"/>
          <p:cNvSpPr>
            <a:spLocks noGrp="1"/>
          </p:cNvSpPr>
          <p:nvPr>
            <p:ph type="ftr" sz="quarter" idx="11"/>
          </p:nvPr>
        </p:nvSpPr>
        <p:spPr bwMode="gray"/>
        <p:txBody>
          <a:bodyPr/>
          <a:lstStyle/>
          <a:p>
            <a:endParaRPr lang="en-US"/>
          </a:p>
        </p:txBody>
      </p:sp>
      <p:sp>
        <p:nvSpPr>
          <p:cNvPr id="6" name="Slide Number Placeholder 5"/>
          <p:cNvSpPr>
            <a:spLocks noGrp="1"/>
          </p:cNvSpPr>
          <p:nvPr>
            <p:ph type="sldNum" sz="quarter" idx="12"/>
          </p:nvPr>
        </p:nvSpPr>
        <p:spPr bwMode="gray"/>
        <p:txBody>
          <a:bodyPr/>
          <a:lstStyle/>
          <a:p>
            <a:fld id="{CDBA9528-BCFE-1E43-A37D-912FF3C527A6}" type="slidenum">
              <a:rPr lang="en-US" smtClean="0"/>
              <a:pPr/>
              <a:t>‹#›</a:t>
            </a:fld>
            <a:endParaRPr lang="en-US"/>
          </a:p>
        </p:txBody>
      </p:sp>
    </p:spTree>
    <p:extLst>
      <p:ext uri="{BB962C8B-B14F-4D97-AF65-F5344CB8AC3E}">
        <p14:creationId xmlns:p14="http://schemas.microsoft.com/office/powerpoint/2010/main" val="3765930892"/>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bwMode="gray">
          <a:xfrm>
            <a:off x="548640" y="310896"/>
            <a:ext cx="8046720" cy="685800"/>
          </a:xfrm>
        </p:spPr>
        <p:txBody>
          <a:bodyPr/>
          <a:lstStyle/>
          <a:p>
            <a:r>
              <a:rPr lang="en-US"/>
              <a:t>Click to edit Master title style</a:t>
            </a:r>
            <a:endParaRPr lang="en-US" dirty="0"/>
          </a:p>
        </p:txBody>
      </p:sp>
      <p:sp>
        <p:nvSpPr>
          <p:cNvPr id="3" name="Content Placeholder 2"/>
          <p:cNvSpPr>
            <a:spLocks noGrp="1"/>
          </p:cNvSpPr>
          <p:nvPr>
            <p:ph sz="half" idx="1" hasCustomPrompt="1"/>
          </p:nvPr>
        </p:nvSpPr>
        <p:spPr bwMode="gray">
          <a:xfrm>
            <a:off x="548640" y="1188720"/>
            <a:ext cx="3931920" cy="3474720"/>
          </a:xfrm>
        </p:spPr>
        <p:txBody>
          <a:bodyPr>
            <a:noAutofit/>
          </a:bodyPr>
          <a:lstStyle>
            <a:lvl1pPr>
              <a:defRPr sz="1400" baseline="0"/>
            </a:lvl1pPr>
            <a:lvl2pPr>
              <a:defRPr sz="1400" baseline="0"/>
            </a:lvl2pPr>
            <a:lvl3pPr>
              <a:defRPr sz="1400" baseline="0"/>
            </a:lvl3pPr>
            <a:lvl4pPr>
              <a:defRPr sz="1400" baseline="0"/>
            </a:lvl4pPr>
            <a:lvl5pPr>
              <a:defRPr sz="1400" baseline="0"/>
            </a:lvl5pPr>
            <a:lvl6pPr>
              <a:defRPr sz="1800"/>
            </a:lvl6pPr>
            <a:lvl7pPr>
              <a:defRPr sz="1800"/>
            </a:lvl7pPr>
            <a:lvl8pPr>
              <a:defRPr sz="1800"/>
            </a:lvl8pPr>
            <a:lvl9pPr>
              <a:defRPr sz="1800"/>
            </a:lvl9pPr>
          </a:lstStyle>
          <a:p>
            <a:pPr lvl="0"/>
            <a:r>
              <a:rPr lang="en-US" dirty="0"/>
              <a:t>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Content Placeholder 3"/>
          <p:cNvSpPr>
            <a:spLocks noGrp="1"/>
          </p:cNvSpPr>
          <p:nvPr>
            <p:ph sz="half" idx="2" hasCustomPrompt="1"/>
          </p:nvPr>
        </p:nvSpPr>
        <p:spPr bwMode="gray">
          <a:xfrm>
            <a:off x="4663440" y="1188720"/>
            <a:ext cx="3931920" cy="3474720"/>
          </a:xfrm>
        </p:spPr>
        <p:txBody>
          <a:bodyPr>
            <a:noAutofit/>
          </a:bodyPr>
          <a:lstStyle>
            <a:lvl1pPr>
              <a:defRPr sz="1400"/>
            </a:lvl1pPr>
            <a:lvl2pPr>
              <a:defRPr sz="1400"/>
            </a:lvl2pPr>
            <a:lvl3pPr>
              <a:defRPr sz="1400"/>
            </a:lvl3pPr>
            <a:lvl4pPr>
              <a:defRPr sz="1400"/>
            </a:lvl4pPr>
            <a:lvl5pPr>
              <a:defRPr sz="1400"/>
            </a:lvl5pPr>
            <a:lvl6pPr>
              <a:defRPr sz="1800"/>
            </a:lvl6pPr>
            <a:lvl7pPr>
              <a:defRPr sz="1800"/>
            </a:lvl7pPr>
            <a:lvl8pPr>
              <a:defRPr sz="1800"/>
            </a:lvl8pPr>
            <a:lvl9pPr>
              <a:defRPr sz="1800"/>
            </a:lvl9pPr>
          </a:lstStyle>
          <a:p>
            <a:pPr lvl="0"/>
            <a:r>
              <a:rPr lang="en-US" dirty="0"/>
              <a:t>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5" name="Date Placeholder 4"/>
          <p:cNvSpPr>
            <a:spLocks noGrp="1"/>
          </p:cNvSpPr>
          <p:nvPr>
            <p:ph type="dt" sz="half" idx="10"/>
          </p:nvPr>
        </p:nvSpPr>
        <p:spPr bwMode="gray"/>
        <p:txBody>
          <a:bodyPr/>
          <a:lstStyle/>
          <a:p>
            <a:r>
              <a:rPr lang="en-US"/>
              <a:t>Month 00, 0000</a:t>
            </a:r>
          </a:p>
        </p:txBody>
      </p:sp>
      <p:sp>
        <p:nvSpPr>
          <p:cNvPr id="6" name="Footer Placeholder 5"/>
          <p:cNvSpPr>
            <a:spLocks noGrp="1"/>
          </p:cNvSpPr>
          <p:nvPr>
            <p:ph type="ftr" sz="quarter" idx="11"/>
          </p:nvPr>
        </p:nvSpPr>
        <p:spPr bwMode="gray"/>
        <p:txBody>
          <a:bodyPr/>
          <a:lstStyle/>
          <a:p>
            <a:endParaRPr lang="en-US"/>
          </a:p>
        </p:txBody>
      </p:sp>
      <p:sp>
        <p:nvSpPr>
          <p:cNvPr id="7" name="Slide Number Placeholder 6"/>
          <p:cNvSpPr>
            <a:spLocks noGrp="1"/>
          </p:cNvSpPr>
          <p:nvPr>
            <p:ph type="sldNum" sz="quarter" idx="12"/>
          </p:nvPr>
        </p:nvSpPr>
        <p:spPr bwMode="gray"/>
        <p:txBody>
          <a:bodyPr/>
          <a:lstStyle/>
          <a:p>
            <a:fld id="{CDBA9528-BCFE-1E43-A37D-912FF3C527A6}" type="slidenum">
              <a:rPr lang="en-US" smtClean="0"/>
              <a:pPr/>
              <a:t>‹#›</a:t>
            </a:fld>
            <a:endParaRPr lang="en-US"/>
          </a:p>
        </p:txBody>
      </p:sp>
    </p:spTree>
    <p:extLst>
      <p:ext uri="{BB962C8B-B14F-4D97-AF65-F5344CB8AC3E}">
        <p14:creationId xmlns:p14="http://schemas.microsoft.com/office/powerpoint/2010/main" val="1666369116"/>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bwMode="gray">
          <a:xfrm>
            <a:off x="548640" y="310896"/>
            <a:ext cx="8046720" cy="685800"/>
          </a:xfrm>
        </p:spPr>
        <p:txBody>
          <a:bodyPr/>
          <a:lstStyle>
            <a:lvl1pPr>
              <a:defRPr/>
            </a:lvl1pPr>
          </a:lstStyle>
          <a:p>
            <a:r>
              <a:rPr lang="en-US"/>
              <a:t>Click to edit Master title style</a:t>
            </a:r>
            <a:endParaRPr lang="en-US" dirty="0"/>
          </a:p>
        </p:txBody>
      </p:sp>
      <p:sp>
        <p:nvSpPr>
          <p:cNvPr id="3" name="Text Placeholder 2"/>
          <p:cNvSpPr>
            <a:spLocks noGrp="1"/>
          </p:cNvSpPr>
          <p:nvPr>
            <p:ph type="body" idx="1" hasCustomPrompt="1"/>
          </p:nvPr>
        </p:nvSpPr>
        <p:spPr bwMode="gray">
          <a:xfrm>
            <a:off x="548640" y="1188720"/>
            <a:ext cx="3931920" cy="502920"/>
          </a:xfrm>
        </p:spPr>
        <p:txBody>
          <a:bodyPr anchor="t" anchorCtr="0">
            <a:noAutofit/>
          </a:bodyPr>
          <a:lstStyle>
            <a:lvl1pPr marL="0" indent="0">
              <a:spcBef>
                <a:spcPts val="0"/>
              </a:spcBef>
              <a:buNone/>
              <a:defRPr sz="1400" b="1" baseline="0">
                <a:solidFill>
                  <a:schemeClr val="accent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dirty="0"/>
              <a:t>Edit Master text styles</a:t>
            </a:r>
          </a:p>
        </p:txBody>
      </p:sp>
      <p:sp>
        <p:nvSpPr>
          <p:cNvPr id="4" name="Content Placeholder 3"/>
          <p:cNvSpPr>
            <a:spLocks noGrp="1"/>
          </p:cNvSpPr>
          <p:nvPr>
            <p:ph sz="half" idx="2" hasCustomPrompt="1"/>
          </p:nvPr>
        </p:nvSpPr>
        <p:spPr bwMode="gray">
          <a:xfrm>
            <a:off x="548640" y="1737360"/>
            <a:ext cx="3931920" cy="2926080"/>
          </a:xfrm>
        </p:spPr>
        <p:txBody>
          <a:bodyPr>
            <a:noAutofit/>
          </a:bodyPr>
          <a:lstStyle>
            <a:lvl1pPr>
              <a:defRPr sz="1400" baseline="0"/>
            </a:lvl1pPr>
            <a:lvl2pPr>
              <a:defRPr sz="1400" baseline="0"/>
            </a:lvl2pPr>
            <a:lvl3pPr>
              <a:defRPr sz="1400" baseline="0"/>
            </a:lvl3pPr>
            <a:lvl4pPr>
              <a:defRPr sz="1400" baseline="0"/>
            </a:lvl4pPr>
            <a:lvl5pPr>
              <a:defRPr sz="1400" baseline="0"/>
            </a:lvl5pPr>
            <a:lvl6pPr>
              <a:defRPr sz="1600"/>
            </a:lvl6pPr>
            <a:lvl7pPr>
              <a:defRPr sz="1600"/>
            </a:lvl7pPr>
            <a:lvl8pPr>
              <a:defRPr sz="1600"/>
            </a:lvl8pPr>
            <a:lvl9pPr>
              <a:defRPr sz="1600"/>
            </a:lvl9pPr>
          </a:lstStyle>
          <a:p>
            <a:pPr lvl="0"/>
            <a:r>
              <a:rPr lang="en-US" dirty="0"/>
              <a:t>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5" name="Text Placeholder 4"/>
          <p:cNvSpPr>
            <a:spLocks noGrp="1"/>
          </p:cNvSpPr>
          <p:nvPr>
            <p:ph type="body" sz="quarter" idx="3" hasCustomPrompt="1"/>
          </p:nvPr>
        </p:nvSpPr>
        <p:spPr bwMode="gray">
          <a:xfrm>
            <a:off x="4663440" y="1188720"/>
            <a:ext cx="3931920" cy="502920"/>
          </a:xfrm>
        </p:spPr>
        <p:txBody>
          <a:bodyPr anchor="t" anchorCtr="0">
            <a:noAutofit/>
          </a:bodyPr>
          <a:lstStyle>
            <a:lvl1pPr marL="0" indent="0">
              <a:spcBef>
                <a:spcPts val="0"/>
              </a:spcBef>
              <a:buNone/>
              <a:defRPr sz="1400" b="1" baseline="0">
                <a:solidFill>
                  <a:schemeClr val="accent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dirty="0"/>
              <a:t>Edit Master text styles</a:t>
            </a:r>
          </a:p>
        </p:txBody>
      </p:sp>
      <p:sp>
        <p:nvSpPr>
          <p:cNvPr id="6" name="Content Placeholder 5"/>
          <p:cNvSpPr>
            <a:spLocks noGrp="1"/>
          </p:cNvSpPr>
          <p:nvPr>
            <p:ph sz="quarter" idx="4" hasCustomPrompt="1"/>
          </p:nvPr>
        </p:nvSpPr>
        <p:spPr bwMode="gray">
          <a:xfrm>
            <a:off x="4663440" y="1737360"/>
            <a:ext cx="3931920" cy="2926080"/>
          </a:xfrm>
        </p:spPr>
        <p:txBody>
          <a:bodyPr>
            <a:noAutofit/>
          </a:bodyPr>
          <a:lstStyle>
            <a:lvl1pPr>
              <a:defRPr sz="1400" baseline="0"/>
            </a:lvl1pPr>
            <a:lvl2pPr>
              <a:defRPr sz="1400" baseline="0"/>
            </a:lvl2pPr>
            <a:lvl3pPr>
              <a:defRPr sz="1400" baseline="0"/>
            </a:lvl3pPr>
            <a:lvl4pPr>
              <a:defRPr sz="1400" baseline="0"/>
            </a:lvl4pPr>
            <a:lvl5pPr>
              <a:defRPr sz="1400" baseline="0"/>
            </a:lvl5pPr>
            <a:lvl6pPr>
              <a:defRPr sz="1600"/>
            </a:lvl6pPr>
            <a:lvl7pPr>
              <a:defRPr sz="1600"/>
            </a:lvl7pPr>
            <a:lvl8pPr>
              <a:defRPr sz="1600"/>
            </a:lvl8pPr>
            <a:lvl9pPr>
              <a:defRPr sz="1600"/>
            </a:lvl9pPr>
          </a:lstStyle>
          <a:p>
            <a:pPr lvl="0"/>
            <a:r>
              <a:rPr lang="en-US" dirty="0"/>
              <a:t>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7" name="Date Placeholder 6"/>
          <p:cNvSpPr>
            <a:spLocks noGrp="1"/>
          </p:cNvSpPr>
          <p:nvPr>
            <p:ph type="dt" sz="half" idx="10"/>
          </p:nvPr>
        </p:nvSpPr>
        <p:spPr bwMode="gray"/>
        <p:txBody>
          <a:bodyPr/>
          <a:lstStyle/>
          <a:p>
            <a:r>
              <a:rPr lang="en-US"/>
              <a:t>Month 00, 0000</a:t>
            </a:r>
          </a:p>
        </p:txBody>
      </p:sp>
      <p:sp>
        <p:nvSpPr>
          <p:cNvPr id="8" name="Footer Placeholder 7"/>
          <p:cNvSpPr>
            <a:spLocks noGrp="1"/>
          </p:cNvSpPr>
          <p:nvPr>
            <p:ph type="ftr" sz="quarter" idx="11"/>
          </p:nvPr>
        </p:nvSpPr>
        <p:spPr bwMode="gray"/>
        <p:txBody>
          <a:bodyPr/>
          <a:lstStyle/>
          <a:p>
            <a:endParaRPr lang="en-US"/>
          </a:p>
        </p:txBody>
      </p:sp>
      <p:sp>
        <p:nvSpPr>
          <p:cNvPr id="9" name="Slide Number Placeholder 8"/>
          <p:cNvSpPr>
            <a:spLocks noGrp="1"/>
          </p:cNvSpPr>
          <p:nvPr>
            <p:ph type="sldNum" sz="quarter" idx="12"/>
          </p:nvPr>
        </p:nvSpPr>
        <p:spPr bwMode="gray"/>
        <p:txBody>
          <a:bodyPr/>
          <a:lstStyle/>
          <a:p>
            <a:fld id="{CDBA9528-BCFE-1E43-A37D-912FF3C527A6}" type="slidenum">
              <a:rPr lang="en-US" smtClean="0"/>
              <a:pPr/>
              <a:t>‹#›</a:t>
            </a:fld>
            <a:endParaRPr lang="en-US"/>
          </a:p>
        </p:txBody>
      </p:sp>
    </p:spTree>
    <p:extLst>
      <p:ext uri="{BB962C8B-B14F-4D97-AF65-F5344CB8AC3E}">
        <p14:creationId xmlns:p14="http://schemas.microsoft.com/office/powerpoint/2010/main" val="3088684243"/>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bwMode="gray"/>
        <p:txBody>
          <a:bodyPr/>
          <a:lstStyle/>
          <a:p>
            <a:r>
              <a:rPr lang="en-US"/>
              <a:t>Click to edit Master title style</a:t>
            </a:r>
            <a:endParaRPr lang="en-US" dirty="0"/>
          </a:p>
        </p:txBody>
      </p:sp>
      <p:sp>
        <p:nvSpPr>
          <p:cNvPr id="3" name="Date Placeholder 2"/>
          <p:cNvSpPr>
            <a:spLocks noGrp="1"/>
          </p:cNvSpPr>
          <p:nvPr>
            <p:ph type="dt" sz="half" idx="10"/>
          </p:nvPr>
        </p:nvSpPr>
        <p:spPr bwMode="gray"/>
        <p:txBody>
          <a:bodyPr/>
          <a:lstStyle/>
          <a:p>
            <a:r>
              <a:rPr lang="en-US"/>
              <a:t>Month 00, 0000</a:t>
            </a:r>
          </a:p>
        </p:txBody>
      </p:sp>
      <p:sp>
        <p:nvSpPr>
          <p:cNvPr id="4" name="Footer Placeholder 3"/>
          <p:cNvSpPr>
            <a:spLocks noGrp="1"/>
          </p:cNvSpPr>
          <p:nvPr>
            <p:ph type="ftr" sz="quarter" idx="11"/>
          </p:nvPr>
        </p:nvSpPr>
        <p:spPr bwMode="gray"/>
        <p:txBody>
          <a:bodyPr/>
          <a:lstStyle/>
          <a:p>
            <a:endParaRPr lang="en-US"/>
          </a:p>
        </p:txBody>
      </p:sp>
      <p:sp>
        <p:nvSpPr>
          <p:cNvPr id="5" name="Slide Number Placeholder 4"/>
          <p:cNvSpPr>
            <a:spLocks noGrp="1"/>
          </p:cNvSpPr>
          <p:nvPr>
            <p:ph type="sldNum" sz="quarter" idx="12"/>
          </p:nvPr>
        </p:nvSpPr>
        <p:spPr bwMode="gray"/>
        <p:txBody>
          <a:bodyPr/>
          <a:lstStyle/>
          <a:p>
            <a:fld id="{CDBA9528-BCFE-1E43-A37D-912FF3C527A6}" type="slidenum">
              <a:rPr lang="en-US" smtClean="0"/>
              <a:pPr/>
              <a:t>‹#›</a:t>
            </a:fld>
            <a:endParaRPr lang="en-US"/>
          </a:p>
        </p:txBody>
      </p:sp>
    </p:spTree>
    <p:extLst>
      <p:ext uri="{BB962C8B-B14F-4D97-AF65-F5344CB8AC3E}">
        <p14:creationId xmlns:p14="http://schemas.microsoft.com/office/powerpoint/2010/main" val="2736068684"/>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bwMode="gray"/>
        <p:txBody>
          <a:bodyPr/>
          <a:lstStyle/>
          <a:p>
            <a:r>
              <a:rPr lang="en-US"/>
              <a:t>Month 00, 0000</a:t>
            </a:r>
          </a:p>
        </p:txBody>
      </p:sp>
      <p:sp>
        <p:nvSpPr>
          <p:cNvPr id="3" name="Footer Placeholder 2"/>
          <p:cNvSpPr>
            <a:spLocks noGrp="1"/>
          </p:cNvSpPr>
          <p:nvPr>
            <p:ph type="ftr" sz="quarter" idx="11"/>
          </p:nvPr>
        </p:nvSpPr>
        <p:spPr bwMode="gray"/>
        <p:txBody>
          <a:bodyPr/>
          <a:lstStyle/>
          <a:p>
            <a:endParaRPr lang="en-US"/>
          </a:p>
        </p:txBody>
      </p:sp>
      <p:sp>
        <p:nvSpPr>
          <p:cNvPr id="4" name="Slide Number Placeholder 3"/>
          <p:cNvSpPr>
            <a:spLocks noGrp="1"/>
          </p:cNvSpPr>
          <p:nvPr>
            <p:ph type="sldNum" sz="quarter" idx="12"/>
          </p:nvPr>
        </p:nvSpPr>
        <p:spPr bwMode="gray"/>
        <p:txBody>
          <a:bodyPr/>
          <a:lstStyle/>
          <a:p>
            <a:fld id="{CDBA9528-BCFE-1E43-A37D-912FF3C527A6}" type="slidenum">
              <a:rPr lang="en-US" smtClean="0"/>
              <a:pPr/>
              <a:t>‹#›</a:t>
            </a:fld>
            <a:endParaRPr lang="en-US"/>
          </a:p>
        </p:txBody>
      </p:sp>
    </p:spTree>
    <p:extLst>
      <p:ext uri="{BB962C8B-B14F-4D97-AF65-F5344CB8AC3E}">
        <p14:creationId xmlns:p14="http://schemas.microsoft.com/office/powerpoint/2010/main" val="3460312983"/>
      </p:ext>
    </p:extLst>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showMasterSp="0" preserve="1" userDrawn="1">
  <p:cSld name="Section Header">
    <p:spTree>
      <p:nvGrpSpPr>
        <p:cNvPr id="1" name=""/>
        <p:cNvGrpSpPr/>
        <p:nvPr/>
      </p:nvGrpSpPr>
      <p:grpSpPr>
        <a:xfrm>
          <a:off x="0" y="0"/>
          <a:ext cx="0" cy="0"/>
          <a:chOff x="0" y="0"/>
          <a:chExt cx="0" cy="0"/>
        </a:xfrm>
      </p:grpSpPr>
      <p:grpSp>
        <p:nvGrpSpPr>
          <p:cNvPr id="7" name="Group 6">
            <a:extLst>
              <a:ext uri="{FF2B5EF4-FFF2-40B4-BE49-F238E27FC236}">
                <a16:creationId xmlns:a16="http://schemas.microsoft.com/office/drawing/2014/main" id="{FB094C18-084C-E84B-B252-9E74C8EDD8B1}"/>
              </a:ext>
            </a:extLst>
          </p:cNvPr>
          <p:cNvGrpSpPr/>
          <p:nvPr userDrawn="1"/>
        </p:nvGrpSpPr>
        <p:grpSpPr>
          <a:xfrm>
            <a:off x="182880" y="0"/>
            <a:ext cx="8961120" cy="960120"/>
            <a:chOff x="182880" y="0"/>
            <a:chExt cx="8961120" cy="960120"/>
          </a:xfrm>
        </p:grpSpPr>
        <p:sp>
          <p:nvSpPr>
            <p:cNvPr id="11" name="Rectangle 10">
              <a:extLst>
                <a:ext uri="{FF2B5EF4-FFF2-40B4-BE49-F238E27FC236}">
                  <a16:creationId xmlns:a16="http://schemas.microsoft.com/office/drawing/2014/main" id="{06BFCA29-B851-FF45-8BBA-FD9145EC49A3}"/>
                </a:ext>
              </a:extLst>
            </p:cNvPr>
            <p:cNvSpPr/>
            <p:nvPr userDrawn="1"/>
          </p:nvSpPr>
          <p:spPr>
            <a:xfrm>
              <a:off x="182880" y="777240"/>
              <a:ext cx="182880" cy="182880"/>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Rectangle 11">
              <a:extLst>
                <a:ext uri="{FF2B5EF4-FFF2-40B4-BE49-F238E27FC236}">
                  <a16:creationId xmlns:a16="http://schemas.microsoft.com/office/drawing/2014/main" id="{89BDA870-3038-3D48-860A-49F7833D94A7}"/>
                </a:ext>
              </a:extLst>
            </p:cNvPr>
            <p:cNvSpPr/>
            <p:nvPr userDrawn="1"/>
          </p:nvSpPr>
          <p:spPr>
            <a:xfrm>
              <a:off x="365760" y="0"/>
              <a:ext cx="8778240" cy="774700"/>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2" name="Title 1"/>
          <p:cNvSpPr>
            <a:spLocks noGrp="1"/>
          </p:cNvSpPr>
          <p:nvPr>
            <p:ph type="title"/>
          </p:nvPr>
        </p:nvSpPr>
        <p:spPr bwMode="gray">
          <a:xfrm>
            <a:off x="548640" y="1096852"/>
            <a:ext cx="3749040" cy="1600627"/>
          </a:xfrm>
        </p:spPr>
        <p:txBody>
          <a:bodyPr anchor="b" anchorCtr="0">
            <a:noAutofit/>
          </a:bodyPr>
          <a:lstStyle>
            <a:lvl1pPr algn="l">
              <a:defRPr sz="2800" b="1" cap="none"/>
            </a:lvl1pPr>
          </a:lstStyle>
          <a:p>
            <a:r>
              <a:rPr lang="en-US"/>
              <a:t>Click to edit Master title style</a:t>
            </a:r>
            <a:endParaRPr lang="en-US" dirty="0"/>
          </a:p>
        </p:txBody>
      </p:sp>
      <p:sp>
        <p:nvSpPr>
          <p:cNvPr id="3" name="Text Placeholder 2"/>
          <p:cNvSpPr>
            <a:spLocks noGrp="1"/>
          </p:cNvSpPr>
          <p:nvPr>
            <p:ph type="body" idx="1" hasCustomPrompt="1"/>
          </p:nvPr>
        </p:nvSpPr>
        <p:spPr bwMode="gray">
          <a:xfrm>
            <a:off x="548640" y="2971800"/>
            <a:ext cx="3749040" cy="685800"/>
          </a:xfrm>
        </p:spPr>
        <p:txBody>
          <a:bodyPr anchor="t" anchorCtr="0">
            <a:noAutofit/>
          </a:bodyPr>
          <a:lstStyle>
            <a:lvl1pPr marL="0" indent="0">
              <a:spcBef>
                <a:spcPts val="0"/>
              </a:spcBef>
              <a:buNone/>
              <a:defRPr sz="1600">
                <a:solidFill>
                  <a:schemeClr val="tx1"/>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dirty="0"/>
              <a:t>Edit Master text styles</a:t>
            </a:r>
          </a:p>
        </p:txBody>
      </p:sp>
      <p:pic>
        <p:nvPicPr>
          <p:cNvPr id="13" name="Picture 12" descr="Icon&#10;&#10;Description automatically generated">
            <a:extLst>
              <a:ext uri="{FF2B5EF4-FFF2-40B4-BE49-F238E27FC236}">
                <a16:creationId xmlns:a16="http://schemas.microsoft.com/office/drawing/2014/main" id="{02641A0A-A33A-6542-882A-9B703D86214D}"/>
              </a:ext>
            </a:extLst>
          </p:cNvPr>
          <p:cNvPicPr>
            <a:picLocks noChangeAspect="1"/>
          </p:cNvPicPr>
          <p:nvPr userDrawn="1"/>
        </p:nvPicPr>
        <p:blipFill>
          <a:blip r:embed="rId2"/>
          <a:stretch>
            <a:fillRect/>
          </a:stretch>
        </p:blipFill>
        <p:spPr>
          <a:xfrm>
            <a:off x="7461504" y="3383280"/>
            <a:ext cx="1342482" cy="1645920"/>
          </a:xfrm>
          <a:prstGeom prst="rect">
            <a:avLst/>
          </a:prstGeom>
        </p:spPr>
      </p:pic>
    </p:spTree>
    <p:extLst>
      <p:ext uri="{BB962C8B-B14F-4D97-AF65-F5344CB8AC3E}">
        <p14:creationId xmlns:p14="http://schemas.microsoft.com/office/powerpoint/2010/main" val="2751054985"/>
      </p:ext>
    </p:extLst>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showMasterSp="0" preserve="1" userDrawn="1">
  <p:cSld name="Disclosure 01">
    <p:spTree>
      <p:nvGrpSpPr>
        <p:cNvPr id="1" name=""/>
        <p:cNvGrpSpPr/>
        <p:nvPr/>
      </p:nvGrpSpPr>
      <p:grpSpPr>
        <a:xfrm>
          <a:off x="0" y="0"/>
          <a:ext cx="0" cy="0"/>
          <a:chOff x="0" y="0"/>
          <a:chExt cx="0" cy="0"/>
        </a:xfrm>
      </p:grpSpPr>
      <p:grpSp>
        <p:nvGrpSpPr>
          <p:cNvPr id="9" name="Group 8">
            <a:extLst>
              <a:ext uri="{FF2B5EF4-FFF2-40B4-BE49-F238E27FC236}">
                <a16:creationId xmlns:a16="http://schemas.microsoft.com/office/drawing/2014/main" id="{10C44D6A-7F43-9842-9B34-98734C549BCC}"/>
              </a:ext>
            </a:extLst>
          </p:cNvPr>
          <p:cNvGrpSpPr/>
          <p:nvPr userDrawn="1"/>
        </p:nvGrpSpPr>
        <p:grpSpPr>
          <a:xfrm>
            <a:off x="182880" y="0"/>
            <a:ext cx="8961120" cy="960120"/>
            <a:chOff x="182880" y="0"/>
            <a:chExt cx="8961120" cy="960120"/>
          </a:xfrm>
        </p:grpSpPr>
        <p:sp>
          <p:nvSpPr>
            <p:cNvPr id="10" name="Rectangle 9">
              <a:extLst>
                <a:ext uri="{FF2B5EF4-FFF2-40B4-BE49-F238E27FC236}">
                  <a16:creationId xmlns:a16="http://schemas.microsoft.com/office/drawing/2014/main" id="{19371727-4A24-6240-93B7-D0A7AB5C0655}"/>
                </a:ext>
              </a:extLst>
            </p:cNvPr>
            <p:cNvSpPr/>
            <p:nvPr userDrawn="1"/>
          </p:nvSpPr>
          <p:spPr>
            <a:xfrm>
              <a:off x="182880" y="777240"/>
              <a:ext cx="182880" cy="182880"/>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 name="Rectangle 10">
              <a:extLst>
                <a:ext uri="{FF2B5EF4-FFF2-40B4-BE49-F238E27FC236}">
                  <a16:creationId xmlns:a16="http://schemas.microsoft.com/office/drawing/2014/main" id="{8C30ADC9-BF48-114D-8ED4-48FB012641A1}"/>
                </a:ext>
              </a:extLst>
            </p:cNvPr>
            <p:cNvSpPr/>
            <p:nvPr userDrawn="1"/>
          </p:nvSpPr>
          <p:spPr>
            <a:xfrm>
              <a:off x="365760" y="0"/>
              <a:ext cx="8778240" cy="774700"/>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7" name="Title 1"/>
          <p:cNvSpPr txBox="1">
            <a:spLocks/>
          </p:cNvSpPr>
          <p:nvPr userDrawn="1"/>
        </p:nvSpPr>
        <p:spPr bwMode="gray">
          <a:xfrm>
            <a:off x="548640" y="187960"/>
            <a:ext cx="2286000" cy="457200"/>
          </a:xfrm>
          <a:prstGeom prst="rect">
            <a:avLst/>
          </a:prstGeom>
        </p:spPr>
        <p:txBody>
          <a:bodyPr vert="horz" lIns="0" tIns="0" rIns="0" bIns="0" rtlCol="0" anchor="b" anchorCtr="0">
            <a:noAutofit/>
          </a:bodyPr>
          <a:lstStyle>
            <a:lvl1pPr algn="l" defTabSz="457200" rtl="0" eaLnBrk="1" latinLnBrk="0" hangingPunct="1">
              <a:lnSpc>
                <a:spcPct val="90000"/>
              </a:lnSpc>
              <a:spcBef>
                <a:spcPct val="0"/>
              </a:spcBef>
              <a:buNone/>
              <a:defRPr sz="2200" b="1" kern="1200">
                <a:solidFill>
                  <a:schemeClr val="accent1"/>
                </a:solidFill>
                <a:latin typeface="+mj-lt"/>
                <a:ea typeface="+mj-ea"/>
                <a:cs typeface="+mj-cs"/>
              </a:defRPr>
            </a:lvl1pPr>
          </a:lstStyle>
          <a:p>
            <a:r>
              <a:rPr lang="en-US" dirty="0">
                <a:solidFill>
                  <a:srgbClr val="FFFFFF"/>
                </a:solidFill>
              </a:rPr>
              <a:t>Thank you</a:t>
            </a:r>
          </a:p>
        </p:txBody>
      </p:sp>
      <p:sp>
        <p:nvSpPr>
          <p:cNvPr id="16" name="Text Placeholder 15"/>
          <p:cNvSpPr>
            <a:spLocks noGrp="1"/>
          </p:cNvSpPr>
          <p:nvPr>
            <p:ph type="body" sz="quarter" idx="10"/>
          </p:nvPr>
        </p:nvSpPr>
        <p:spPr bwMode="gray">
          <a:xfrm>
            <a:off x="548639" y="1008279"/>
            <a:ext cx="6400800" cy="3520440"/>
          </a:xfrm>
        </p:spPr>
        <p:txBody>
          <a:bodyPr anchor="b" anchorCtr="0">
            <a:noAutofit/>
          </a:bodyPr>
          <a:lstStyle>
            <a:lvl1pPr marL="0" indent="0">
              <a:lnSpc>
                <a:spcPct val="100000"/>
              </a:lnSpc>
              <a:spcBef>
                <a:spcPts val="300"/>
              </a:spcBef>
              <a:buNone/>
              <a:defRPr sz="700"/>
            </a:lvl1pPr>
            <a:lvl2pPr marL="114300" indent="-114300">
              <a:lnSpc>
                <a:spcPct val="100000"/>
              </a:lnSpc>
              <a:spcBef>
                <a:spcPts val="300"/>
              </a:spcBef>
              <a:buClrTx/>
              <a:buFont typeface="+mj-lt"/>
              <a:buAutoNum type="arabicPeriod"/>
              <a:defRPr sz="700"/>
            </a:lvl2pPr>
            <a:lvl3pPr marL="114300" indent="-114300">
              <a:lnSpc>
                <a:spcPct val="100000"/>
              </a:lnSpc>
              <a:spcBef>
                <a:spcPts val="300"/>
              </a:spcBef>
              <a:defRPr sz="700"/>
            </a:lvl3pPr>
            <a:lvl4pPr marL="230188" indent="-115888">
              <a:lnSpc>
                <a:spcPct val="100000"/>
              </a:lnSpc>
              <a:spcBef>
                <a:spcPts val="300"/>
              </a:spcBef>
              <a:defRPr sz="700"/>
            </a:lvl4pPr>
            <a:lvl5pPr marL="344488" indent="-114300">
              <a:lnSpc>
                <a:spcPct val="100000"/>
              </a:lnSpc>
              <a:spcBef>
                <a:spcPts val="300"/>
              </a:spcBef>
              <a:defRPr sz="7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4" name="TextBox 13"/>
          <p:cNvSpPr txBox="1"/>
          <p:nvPr userDrawn="1"/>
        </p:nvSpPr>
        <p:spPr bwMode="gray">
          <a:xfrm>
            <a:off x="548640" y="4541353"/>
            <a:ext cx="6400800" cy="182411"/>
          </a:xfrm>
          <a:prstGeom prst="rect">
            <a:avLst/>
          </a:prstGeom>
          <a:noFill/>
        </p:spPr>
        <p:txBody>
          <a:bodyPr wrap="square" lIns="0" tIns="0" rIns="0" bIns="0" rtlCol="0" anchor="b" anchorCtr="0">
            <a:noAutofit/>
          </a:bodyPr>
          <a:lstStyle/>
          <a:p>
            <a:r>
              <a:rPr lang="en-US" sz="700" b="1" dirty="0"/>
              <a:t>Edwards </a:t>
            </a:r>
            <a:r>
              <a:rPr lang="en-US" sz="700" b="1" dirty="0" err="1"/>
              <a:t>Lifesciences</a:t>
            </a:r>
            <a:r>
              <a:rPr lang="en-US" sz="700" b="0" dirty="0"/>
              <a:t> • One Edwards Way,</a:t>
            </a:r>
            <a:r>
              <a:rPr lang="en-US" sz="700" b="0" baseline="0" dirty="0"/>
              <a:t> I</a:t>
            </a:r>
            <a:r>
              <a:rPr lang="en-US" sz="700" b="0" dirty="0"/>
              <a:t>rvine CA 92614 USA</a:t>
            </a:r>
            <a:r>
              <a:rPr lang="en-US" sz="700" b="0" baseline="0" dirty="0"/>
              <a:t> • </a:t>
            </a:r>
            <a:r>
              <a:rPr lang="en-US" sz="700" b="0" dirty="0" err="1"/>
              <a:t>edwards.com</a:t>
            </a:r>
            <a:endParaRPr lang="en-US" sz="700" b="0" dirty="0"/>
          </a:p>
        </p:txBody>
      </p:sp>
      <p:pic>
        <p:nvPicPr>
          <p:cNvPr id="12" name="Picture 11" descr="Icon&#10;&#10;Description automatically generated">
            <a:extLst>
              <a:ext uri="{FF2B5EF4-FFF2-40B4-BE49-F238E27FC236}">
                <a16:creationId xmlns:a16="http://schemas.microsoft.com/office/drawing/2014/main" id="{0097F107-356F-0941-9C39-3C57885F0A7C}"/>
              </a:ext>
            </a:extLst>
          </p:cNvPr>
          <p:cNvPicPr>
            <a:picLocks noChangeAspect="1"/>
          </p:cNvPicPr>
          <p:nvPr userDrawn="1"/>
        </p:nvPicPr>
        <p:blipFill>
          <a:blip r:embed="rId2"/>
          <a:stretch>
            <a:fillRect/>
          </a:stretch>
        </p:blipFill>
        <p:spPr>
          <a:xfrm>
            <a:off x="7461504" y="3383280"/>
            <a:ext cx="1342482" cy="1645920"/>
          </a:xfrm>
          <a:prstGeom prst="rect">
            <a:avLst/>
          </a:prstGeom>
        </p:spPr>
      </p:pic>
    </p:spTree>
    <p:extLst>
      <p:ext uri="{BB962C8B-B14F-4D97-AF65-F5344CB8AC3E}">
        <p14:creationId xmlns:p14="http://schemas.microsoft.com/office/powerpoint/2010/main" val="1207330610"/>
      </p:ext>
    </p:extLst>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showMasterSp="0" preserve="1" userDrawn="1">
  <p:cSld name="Disclosure 02">
    <p:spTree>
      <p:nvGrpSpPr>
        <p:cNvPr id="1" name=""/>
        <p:cNvGrpSpPr/>
        <p:nvPr/>
      </p:nvGrpSpPr>
      <p:grpSpPr>
        <a:xfrm>
          <a:off x="0" y="0"/>
          <a:ext cx="0" cy="0"/>
          <a:chOff x="0" y="0"/>
          <a:chExt cx="0" cy="0"/>
        </a:xfrm>
      </p:grpSpPr>
      <p:sp>
        <p:nvSpPr>
          <p:cNvPr id="16" name="Text Placeholder 15"/>
          <p:cNvSpPr>
            <a:spLocks noGrp="1"/>
          </p:cNvSpPr>
          <p:nvPr>
            <p:ph type="body" sz="quarter" idx="10"/>
          </p:nvPr>
        </p:nvSpPr>
        <p:spPr bwMode="gray">
          <a:xfrm>
            <a:off x="548639" y="644533"/>
            <a:ext cx="6400800" cy="3883992"/>
          </a:xfrm>
        </p:spPr>
        <p:txBody>
          <a:bodyPr anchor="b" anchorCtr="0">
            <a:noAutofit/>
          </a:bodyPr>
          <a:lstStyle>
            <a:lvl1pPr marL="0" indent="0">
              <a:lnSpc>
                <a:spcPct val="100000"/>
              </a:lnSpc>
              <a:spcBef>
                <a:spcPts val="300"/>
              </a:spcBef>
              <a:buNone/>
              <a:defRPr sz="700"/>
            </a:lvl1pPr>
            <a:lvl2pPr marL="114300" indent="-114300">
              <a:lnSpc>
                <a:spcPct val="100000"/>
              </a:lnSpc>
              <a:spcBef>
                <a:spcPts val="300"/>
              </a:spcBef>
              <a:buClrTx/>
              <a:buFont typeface="+mj-lt"/>
              <a:buAutoNum type="arabicPeriod"/>
              <a:defRPr sz="700"/>
            </a:lvl2pPr>
            <a:lvl3pPr marL="114300" indent="-114300">
              <a:lnSpc>
                <a:spcPct val="100000"/>
              </a:lnSpc>
              <a:spcBef>
                <a:spcPts val="300"/>
              </a:spcBef>
              <a:defRPr sz="700"/>
            </a:lvl3pPr>
            <a:lvl4pPr marL="230188" indent="-115888">
              <a:lnSpc>
                <a:spcPct val="100000"/>
              </a:lnSpc>
              <a:spcBef>
                <a:spcPts val="300"/>
              </a:spcBef>
              <a:defRPr sz="700"/>
            </a:lvl4pPr>
            <a:lvl5pPr marL="344488" indent="-114300">
              <a:lnSpc>
                <a:spcPct val="100000"/>
              </a:lnSpc>
              <a:spcBef>
                <a:spcPts val="300"/>
              </a:spcBef>
              <a:defRPr sz="7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0" name="TextBox 9"/>
          <p:cNvSpPr txBox="1"/>
          <p:nvPr userDrawn="1"/>
        </p:nvSpPr>
        <p:spPr bwMode="gray">
          <a:xfrm>
            <a:off x="548640" y="4541354"/>
            <a:ext cx="6400800" cy="182411"/>
          </a:xfrm>
          <a:prstGeom prst="rect">
            <a:avLst/>
          </a:prstGeom>
          <a:noFill/>
        </p:spPr>
        <p:txBody>
          <a:bodyPr wrap="square" lIns="0" tIns="0" rIns="0" bIns="0" rtlCol="0" anchor="b" anchorCtr="0">
            <a:noAutofit/>
          </a:bodyPr>
          <a:lstStyle/>
          <a:p>
            <a:r>
              <a:rPr lang="en-US" sz="700" b="1" dirty="0"/>
              <a:t>Edwards </a:t>
            </a:r>
            <a:r>
              <a:rPr lang="en-US" sz="700" b="1" dirty="0" err="1"/>
              <a:t>Lifesciences</a:t>
            </a:r>
            <a:r>
              <a:rPr lang="en-US" sz="700" b="0" dirty="0"/>
              <a:t> • One Edwards Way,</a:t>
            </a:r>
            <a:r>
              <a:rPr lang="en-US" sz="700" b="0" baseline="0" dirty="0"/>
              <a:t> I</a:t>
            </a:r>
            <a:r>
              <a:rPr lang="en-US" sz="700" b="0" dirty="0"/>
              <a:t>rvine CA 92614 USA</a:t>
            </a:r>
            <a:r>
              <a:rPr lang="en-US" sz="700" b="0" baseline="0" dirty="0"/>
              <a:t> • </a:t>
            </a:r>
            <a:r>
              <a:rPr lang="en-US" sz="700" b="0" dirty="0" err="1"/>
              <a:t>edwards.com</a:t>
            </a:r>
            <a:endParaRPr lang="en-US" sz="700" b="0" dirty="0"/>
          </a:p>
        </p:txBody>
      </p:sp>
      <p:sp>
        <p:nvSpPr>
          <p:cNvPr id="7" name="Rectangle 6">
            <a:extLst>
              <a:ext uri="{FF2B5EF4-FFF2-40B4-BE49-F238E27FC236}">
                <a16:creationId xmlns:a16="http://schemas.microsoft.com/office/drawing/2014/main" id="{DC2ED8A1-E8C6-8340-8E83-E72820C53283}"/>
              </a:ext>
            </a:extLst>
          </p:cNvPr>
          <p:cNvSpPr/>
          <p:nvPr userDrawn="1"/>
        </p:nvSpPr>
        <p:spPr>
          <a:xfrm>
            <a:off x="182880" y="182880"/>
            <a:ext cx="182880" cy="182880"/>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Rectangle 7">
            <a:extLst>
              <a:ext uri="{FF2B5EF4-FFF2-40B4-BE49-F238E27FC236}">
                <a16:creationId xmlns:a16="http://schemas.microsoft.com/office/drawing/2014/main" id="{13EA60E5-D6B1-5A41-AF2D-3BA1FD72E238}"/>
              </a:ext>
            </a:extLst>
          </p:cNvPr>
          <p:cNvSpPr/>
          <p:nvPr userDrawn="1"/>
        </p:nvSpPr>
        <p:spPr>
          <a:xfrm>
            <a:off x="365760" y="0"/>
            <a:ext cx="8778240" cy="182880"/>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9" name="Picture 8" descr="Icon&#10;&#10;Description automatically generated">
            <a:extLst>
              <a:ext uri="{FF2B5EF4-FFF2-40B4-BE49-F238E27FC236}">
                <a16:creationId xmlns:a16="http://schemas.microsoft.com/office/drawing/2014/main" id="{8FD6E5EE-B587-B14A-8D8C-6F5AE0CE498C}"/>
              </a:ext>
            </a:extLst>
          </p:cNvPr>
          <p:cNvPicPr>
            <a:picLocks noChangeAspect="1"/>
          </p:cNvPicPr>
          <p:nvPr userDrawn="1"/>
        </p:nvPicPr>
        <p:blipFill>
          <a:blip r:embed="rId2"/>
          <a:stretch>
            <a:fillRect/>
          </a:stretch>
        </p:blipFill>
        <p:spPr>
          <a:xfrm>
            <a:off x="7461504" y="3383280"/>
            <a:ext cx="1342482" cy="1645920"/>
          </a:xfrm>
          <a:prstGeom prst="rect">
            <a:avLst/>
          </a:prstGeom>
        </p:spPr>
      </p:pic>
    </p:spTree>
    <p:extLst>
      <p:ext uri="{BB962C8B-B14F-4D97-AF65-F5344CB8AC3E}">
        <p14:creationId xmlns:p14="http://schemas.microsoft.com/office/powerpoint/2010/main" val="1436507374"/>
      </p:ext>
    </p:extLst>
  </p:cSld>
  <p:clrMapOvr>
    <a:masterClrMapping/>
  </p:clrMapOvr>
</p:sldLayout>
</file>

<file path=ppt/slideLayouts/slideLayout21.xml><?xml version="1.0" encoding="utf-8"?>
<p:sldLayout xmlns:a="http://schemas.openxmlformats.org/drawingml/2006/main" xmlns:r="http://schemas.openxmlformats.org/officeDocument/2006/relationships" xmlns:p="http://schemas.openxmlformats.org/presentationml/2006/main" showMasterSp="0" preserve="1" userDrawn="1">
  <p:cSld name="End Slide 01">
    <p:spTree>
      <p:nvGrpSpPr>
        <p:cNvPr id="1" name=""/>
        <p:cNvGrpSpPr/>
        <p:nvPr/>
      </p:nvGrpSpPr>
      <p:grpSpPr>
        <a:xfrm>
          <a:off x="0" y="0"/>
          <a:ext cx="0" cy="0"/>
          <a:chOff x="0" y="0"/>
          <a:chExt cx="0" cy="0"/>
        </a:xfrm>
      </p:grpSpPr>
      <p:pic>
        <p:nvPicPr>
          <p:cNvPr id="7" name="Picture 6">
            <a:extLst>
              <a:ext uri="{FF2B5EF4-FFF2-40B4-BE49-F238E27FC236}">
                <a16:creationId xmlns:a16="http://schemas.microsoft.com/office/drawing/2014/main" id="{8BE7579C-21DF-6340-B503-C26EA0EF508C}"/>
              </a:ext>
            </a:extLst>
          </p:cNvPr>
          <p:cNvPicPr>
            <a:picLocks noChangeAspect="1"/>
          </p:cNvPicPr>
          <p:nvPr userDrawn="1"/>
        </p:nvPicPr>
        <p:blipFill>
          <a:blip r:embed="rId2"/>
          <a:srcRect/>
          <a:stretch/>
        </p:blipFill>
        <p:spPr>
          <a:xfrm>
            <a:off x="0" y="0"/>
            <a:ext cx="9144000" cy="5143500"/>
          </a:xfrm>
          <a:prstGeom prst="rect">
            <a:avLst/>
          </a:prstGeom>
        </p:spPr>
      </p:pic>
      <p:pic>
        <p:nvPicPr>
          <p:cNvPr id="4" name="Picture 3" descr="Icon&#10;&#10;Description automatically generated">
            <a:extLst>
              <a:ext uri="{FF2B5EF4-FFF2-40B4-BE49-F238E27FC236}">
                <a16:creationId xmlns:a16="http://schemas.microsoft.com/office/drawing/2014/main" id="{DF1B41CB-E201-1E4A-AF89-92639569DDD0}"/>
              </a:ext>
            </a:extLst>
          </p:cNvPr>
          <p:cNvPicPr>
            <a:picLocks noChangeAspect="1"/>
          </p:cNvPicPr>
          <p:nvPr userDrawn="1"/>
        </p:nvPicPr>
        <p:blipFill>
          <a:blip r:embed="rId3"/>
          <a:stretch>
            <a:fillRect/>
          </a:stretch>
        </p:blipFill>
        <p:spPr>
          <a:xfrm>
            <a:off x="3300984" y="786384"/>
            <a:ext cx="2532888" cy="3105391"/>
          </a:xfrm>
          <a:prstGeom prst="rect">
            <a:avLst/>
          </a:prstGeom>
        </p:spPr>
      </p:pic>
    </p:spTree>
    <p:extLst>
      <p:ext uri="{BB962C8B-B14F-4D97-AF65-F5344CB8AC3E}">
        <p14:creationId xmlns:p14="http://schemas.microsoft.com/office/powerpoint/2010/main" val="2293994132"/>
      </p:ext>
    </p:extLst>
  </p:cSld>
  <p:clrMapOvr>
    <a:masterClrMapping/>
  </p:clrMapOvr>
</p:sldLayout>
</file>

<file path=ppt/slideLayouts/slideLayout22.xml><?xml version="1.0" encoding="utf-8"?>
<p:sldLayout xmlns:a="http://schemas.openxmlformats.org/drawingml/2006/main" xmlns:r="http://schemas.openxmlformats.org/officeDocument/2006/relationships" xmlns:p="http://schemas.openxmlformats.org/presentationml/2006/main" showMasterSp="0" preserve="1" userDrawn="1">
  <p:cSld name="End Slide 02">
    <p:spTree>
      <p:nvGrpSpPr>
        <p:cNvPr id="1" name=""/>
        <p:cNvGrpSpPr/>
        <p:nvPr/>
      </p:nvGrpSpPr>
      <p:grpSpPr>
        <a:xfrm>
          <a:off x="0" y="0"/>
          <a:ext cx="0" cy="0"/>
          <a:chOff x="0" y="0"/>
          <a:chExt cx="0" cy="0"/>
        </a:xfrm>
      </p:grpSpPr>
      <p:pic>
        <p:nvPicPr>
          <p:cNvPr id="9" name="Picture 8">
            <a:extLst>
              <a:ext uri="{FF2B5EF4-FFF2-40B4-BE49-F238E27FC236}">
                <a16:creationId xmlns:a16="http://schemas.microsoft.com/office/drawing/2014/main" id="{E6DFF96D-6037-9542-B646-415069ABF30B}"/>
              </a:ext>
            </a:extLst>
          </p:cNvPr>
          <p:cNvPicPr>
            <a:picLocks noChangeAspect="1"/>
          </p:cNvPicPr>
          <p:nvPr userDrawn="1"/>
        </p:nvPicPr>
        <p:blipFill>
          <a:blip r:embed="rId2"/>
          <a:srcRect/>
          <a:stretch/>
        </p:blipFill>
        <p:spPr>
          <a:xfrm>
            <a:off x="0" y="0"/>
            <a:ext cx="9144000" cy="5143500"/>
          </a:xfrm>
          <a:prstGeom prst="rect">
            <a:avLst/>
          </a:prstGeom>
        </p:spPr>
      </p:pic>
      <p:pic>
        <p:nvPicPr>
          <p:cNvPr id="8" name="Picture 7" descr="Icon&#10;&#10;Description automatically generated">
            <a:extLst>
              <a:ext uri="{FF2B5EF4-FFF2-40B4-BE49-F238E27FC236}">
                <a16:creationId xmlns:a16="http://schemas.microsoft.com/office/drawing/2014/main" id="{A2BAD6A5-47D6-D04B-B4C4-A4A70F9D846A}"/>
              </a:ext>
            </a:extLst>
          </p:cNvPr>
          <p:cNvPicPr>
            <a:picLocks noChangeAspect="1"/>
          </p:cNvPicPr>
          <p:nvPr userDrawn="1"/>
        </p:nvPicPr>
        <p:blipFill>
          <a:blip r:embed="rId3"/>
          <a:stretch>
            <a:fillRect/>
          </a:stretch>
        </p:blipFill>
        <p:spPr>
          <a:xfrm>
            <a:off x="3300984" y="786384"/>
            <a:ext cx="2532888" cy="3105391"/>
          </a:xfrm>
          <a:prstGeom prst="rect">
            <a:avLst/>
          </a:prstGeom>
        </p:spPr>
      </p:pic>
      <p:pic>
        <p:nvPicPr>
          <p:cNvPr id="6" name="Picture 5" title="life is now">
            <a:extLst>
              <a:ext uri="{FF2B5EF4-FFF2-40B4-BE49-F238E27FC236}">
                <a16:creationId xmlns:a16="http://schemas.microsoft.com/office/drawing/2014/main" id="{5B192082-5EF7-B541-9CBA-FE41C4AF19E5}"/>
              </a:ext>
            </a:extLst>
          </p:cNvPr>
          <p:cNvPicPr>
            <a:picLocks noChangeAspect="1"/>
          </p:cNvPicPr>
          <p:nvPr userDrawn="1"/>
        </p:nvPicPr>
        <p:blipFill>
          <a:blip r:embed="rId4">
            <a:extLst>
              <a:ext uri="{28A0092B-C50C-407E-A947-70E740481C1C}">
                <a14:useLocalDpi xmlns:a14="http://schemas.microsoft.com/office/drawing/2010/main"/>
              </a:ext>
            </a:extLst>
          </a:blip>
          <a:stretch>
            <a:fillRect/>
          </a:stretch>
        </p:blipFill>
        <p:spPr bwMode="gray">
          <a:xfrm>
            <a:off x="5715000" y="3959352"/>
            <a:ext cx="1765808" cy="819334"/>
          </a:xfrm>
          <a:prstGeom prst="rect">
            <a:avLst/>
          </a:prstGeom>
        </p:spPr>
      </p:pic>
      <p:sp>
        <p:nvSpPr>
          <p:cNvPr id="7" name="Freeform 16" title="Helping Patients is Our Life's Work, and">
            <a:extLst>
              <a:ext uri="{FF2B5EF4-FFF2-40B4-BE49-F238E27FC236}">
                <a16:creationId xmlns:a16="http://schemas.microsoft.com/office/drawing/2014/main" id="{F11E9E8C-026F-1A47-9704-7A3313BDA801}"/>
              </a:ext>
            </a:extLst>
          </p:cNvPr>
          <p:cNvSpPr>
            <a:spLocks noChangeAspect="1" noEditPoints="1"/>
          </p:cNvSpPr>
          <p:nvPr userDrawn="1"/>
        </p:nvSpPr>
        <p:spPr bwMode="gray">
          <a:xfrm>
            <a:off x="1778147" y="3968495"/>
            <a:ext cx="4443984" cy="262666"/>
          </a:xfrm>
          <a:custGeom>
            <a:avLst/>
            <a:gdLst>
              <a:gd name="T0" fmla="*/ 11 w 2027"/>
              <a:gd name="T1" fmla="*/ 45 h 120"/>
              <a:gd name="T2" fmla="*/ 113 w 2027"/>
              <a:gd name="T3" fmla="*/ 86 h 120"/>
              <a:gd name="T4" fmla="*/ 131 w 2027"/>
              <a:gd name="T5" fmla="*/ 59 h 120"/>
              <a:gd name="T6" fmla="*/ 119 w 2027"/>
              <a:gd name="T7" fmla="*/ 52 h 120"/>
              <a:gd name="T8" fmla="*/ 188 w 2027"/>
              <a:gd name="T9" fmla="*/ 120 h 120"/>
              <a:gd name="T10" fmla="*/ 200 w 2027"/>
              <a:gd name="T11" fmla="*/ 38 h 120"/>
              <a:gd name="T12" fmla="*/ 252 w 2027"/>
              <a:gd name="T13" fmla="*/ 7 h 120"/>
              <a:gd name="T14" fmla="*/ 315 w 2027"/>
              <a:gd name="T15" fmla="*/ 92 h 120"/>
              <a:gd name="T16" fmla="*/ 289 w 2027"/>
              <a:gd name="T17" fmla="*/ 32 h 120"/>
              <a:gd name="T18" fmla="*/ 388 w 2027"/>
              <a:gd name="T19" fmla="*/ 51 h 120"/>
              <a:gd name="T20" fmla="*/ 363 w 2027"/>
              <a:gd name="T21" fmla="*/ 120 h 120"/>
              <a:gd name="T22" fmla="*/ 397 w 2027"/>
              <a:gd name="T23" fmla="*/ 32 h 120"/>
              <a:gd name="T24" fmla="*/ 368 w 2027"/>
              <a:gd name="T25" fmla="*/ 91 h 120"/>
              <a:gd name="T26" fmla="*/ 461 w 2027"/>
              <a:gd name="T27" fmla="*/ 57 h 120"/>
              <a:gd name="T28" fmla="*/ 437 w 2027"/>
              <a:gd name="T29" fmla="*/ 92 h 120"/>
              <a:gd name="T30" fmla="*/ 512 w 2027"/>
              <a:gd name="T31" fmla="*/ 93 h 120"/>
              <a:gd name="T32" fmla="*/ 503 w 2027"/>
              <a:gd name="T33" fmla="*/ 40 h 120"/>
              <a:gd name="T34" fmla="*/ 521 w 2027"/>
              <a:gd name="T35" fmla="*/ 64 h 120"/>
              <a:gd name="T36" fmla="*/ 560 w 2027"/>
              <a:gd name="T37" fmla="*/ 71 h 120"/>
              <a:gd name="T38" fmla="*/ 571 w 2027"/>
              <a:gd name="T39" fmla="*/ 32 h 120"/>
              <a:gd name="T40" fmla="*/ 577 w 2027"/>
              <a:gd name="T41" fmla="*/ 93 h 120"/>
              <a:gd name="T42" fmla="*/ 615 w 2027"/>
              <a:gd name="T43" fmla="*/ 32 h 120"/>
              <a:gd name="T44" fmla="*/ 661 w 2027"/>
              <a:gd name="T45" fmla="*/ 93 h 120"/>
              <a:gd name="T46" fmla="*/ 669 w 2027"/>
              <a:gd name="T47" fmla="*/ 52 h 120"/>
              <a:gd name="T48" fmla="*/ 734 w 2027"/>
              <a:gd name="T49" fmla="*/ 49 h 120"/>
              <a:gd name="T50" fmla="*/ 726 w 2027"/>
              <a:gd name="T51" fmla="*/ 30 h 120"/>
              <a:gd name="T52" fmla="*/ 765 w 2027"/>
              <a:gd name="T53" fmla="*/ 38 h 120"/>
              <a:gd name="T54" fmla="*/ 796 w 2027"/>
              <a:gd name="T55" fmla="*/ 32 h 120"/>
              <a:gd name="T56" fmla="*/ 824 w 2027"/>
              <a:gd name="T57" fmla="*/ 93 h 120"/>
              <a:gd name="T58" fmla="*/ 828 w 2027"/>
              <a:gd name="T59" fmla="*/ 30 h 120"/>
              <a:gd name="T60" fmla="*/ 824 w 2027"/>
              <a:gd name="T61" fmla="*/ 93 h 120"/>
              <a:gd name="T62" fmla="*/ 901 w 2027"/>
              <a:gd name="T63" fmla="*/ 32 h 120"/>
              <a:gd name="T64" fmla="*/ 937 w 2027"/>
              <a:gd name="T65" fmla="*/ 69 h 120"/>
              <a:gd name="T66" fmla="*/ 934 w 2027"/>
              <a:gd name="T67" fmla="*/ 54 h 120"/>
              <a:gd name="T68" fmla="*/ 1032 w 2027"/>
              <a:gd name="T69" fmla="*/ 94 h 120"/>
              <a:gd name="T70" fmla="*/ 1106 w 2027"/>
              <a:gd name="T71" fmla="*/ 94 h 120"/>
              <a:gd name="T72" fmla="*/ 1124 w 2027"/>
              <a:gd name="T73" fmla="*/ 83 h 120"/>
              <a:gd name="T74" fmla="*/ 1166 w 2027"/>
              <a:gd name="T75" fmla="*/ 92 h 120"/>
              <a:gd name="T76" fmla="*/ 1227 w 2027"/>
              <a:gd name="T77" fmla="*/ 92 h 120"/>
              <a:gd name="T78" fmla="*/ 1280 w 2027"/>
              <a:gd name="T79" fmla="*/ 14 h 120"/>
              <a:gd name="T80" fmla="*/ 1281 w 2027"/>
              <a:gd name="T81" fmla="*/ 92 h 120"/>
              <a:gd name="T82" fmla="*/ 1325 w 2027"/>
              <a:gd name="T83" fmla="*/ 38 h 120"/>
              <a:gd name="T84" fmla="*/ 1315 w 2027"/>
              <a:gd name="T85" fmla="*/ 13 h 120"/>
              <a:gd name="T86" fmla="*/ 1393 w 2027"/>
              <a:gd name="T87" fmla="*/ 90 h 120"/>
              <a:gd name="T88" fmla="*/ 1356 w 2027"/>
              <a:gd name="T89" fmla="*/ 60 h 120"/>
              <a:gd name="T90" fmla="*/ 1410 w 2027"/>
              <a:gd name="T91" fmla="*/ 34 h 120"/>
              <a:gd name="T92" fmla="*/ 1425 w 2027"/>
              <a:gd name="T93" fmla="*/ 90 h 120"/>
              <a:gd name="T94" fmla="*/ 1464 w 2027"/>
              <a:gd name="T95" fmla="*/ 34 h 120"/>
              <a:gd name="T96" fmla="*/ 1587 w 2027"/>
              <a:gd name="T97" fmla="*/ 93 h 120"/>
              <a:gd name="T98" fmla="*/ 1512 w 2027"/>
              <a:gd name="T99" fmla="*/ 8 h 120"/>
              <a:gd name="T100" fmla="*/ 1584 w 2027"/>
              <a:gd name="T101" fmla="*/ 72 h 120"/>
              <a:gd name="T102" fmla="*/ 1643 w 2027"/>
              <a:gd name="T103" fmla="*/ 94 h 120"/>
              <a:gd name="T104" fmla="*/ 1700 w 2027"/>
              <a:gd name="T105" fmla="*/ 42 h 120"/>
              <a:gd name="T106" fmla="*/ 1719 w 2027"/>
              <a:gd name="T107" fmla="*/ 42 h 120"/>
              <a:gd name="T108" fmla="*/ 1770 w 2027"/>
              <a:gd name="T109" fmla="*/ 32 h 120"/>
              <a:gd name="T110" fmla="*/ 1794 w 2027"/>
              <a:gd name="T111" fmla="*/ 89 h 120"/>
              <a:gd name="T112" fmla="*/ 1844 w 2027"/>
              <a:gd name="T113" fmla="*/ 76 h 120"/>
              <a:gd name="T114" fmla="*/ 1850 w 2027"/>
              <a:gd name="T115" fmla="*/ 33 h 120"/>
              <a:gd name="T116" fmla="*/ 1861 w 2027"/>
              <a:gd name="T117" fmla="*/ 66 h 120"/>
              <a:gd name="T118" fmla="*/ 1931 w 2027"/>
              <a:gd name="T119" fmla="*/ 38 h 120"/>
              <a:gd name="T120" fmla="*/ 1956 w 2027"/>
              <a:gd name="T121" fmla="*/ 44 h 120"/>
              <a:gd name="T122" fmla="*/ 2002 w 2027"/>
              <a:gd name="T123" fmla="*/ 31 h 120"/>
              <a:gd name="T124" fmla="*/ 1985 w 2027"/>
              <a:gd name="T125" fmla="*/ 62 h 12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 ang="0">
                <a:pos x="T122" y="T123"/>
              </a:cxn>
              <a:cxn ang="0">
                <a:pos x="T124" y="T125"/>
              </a:cxn>
            </a:cxnLst>
            <a:rect l="0" t="0" r="r" b="b"/>
            <a:pathLst>
              <a:path w="2027" h="120">
                <a:moveTo>
                  <a:pt x="52" y="92"/>
                </a:moveTo>
                <a:cubicBezTo>
                  <a:pt x="52" y="52"/>
                  <a:pt x="52" y="52"/>
                  <a:pt x="52" y="52"/>
                </a:cubicBezTo>
                <a:cubicBezTo>
                  <a:pt x="11" y="52"/>
                  <a:pt x="11" y="52"/>
                  <a:pt x="11" y="52"/>
                </a:cubicBezTo>
                <a:cubicBezTo>
                  <a:pt x="11" y="92"/>
                  <a:pt x="11" y="92"/>
                  <a:pt x="11" y="92"/>
                </a:cubicBezTo>
                <a:cubicBezTo>
                  <a:pt x="0" y="92"/>
                  <a:pt x="0" y="92"/>
                  <a:pt x="0" y="92"/>
                </a:cubicBezTo>
                <a:cubicBezTo>
                  <a:pt x="0" y="8"/>
                  <a:pt x="0" y="8"/>
                  <a:pt x="0" y="8"/>
                </a:cubicBezTo>
                <a:cubicBezTo>
                  <a:pt x="11" y="8"/>
                  <a:pt x="11" y="8"/>
                  <a:pt x="11" y="8"/>
                </a:cubicBezTo>
                <a:cubicBezTo>
                  <a:pt x="11" y="45"/>
                  <a:pt x="11" y="45"/>
                  <a:pt x="11" y="45"/>
                </a:cubicBezTo>
                <a:cubicBezTo>
                  <a:pt x="52" y="45"/>
                  <a:pt x="52" y="45"/>
                  <a:pt x="52" y="45"/>
                </a:cubicBezTo>
                <a:cubicBezTo>
                  <a:pt x="52" y="8"/>
                  <a:pt x="52" y="8"/>
                  <a:pt x="52" y="8"/>
                </a:cubicBezTo>
                <a:cubicBezTo>
                  <a:pt x="64" y="8"/>
                  <a:pt x="64" y="8"/>
                  <a:pt x="64" y="8"/>
                </a:cubicBezTo>
                <a:cubicBezTo>
                  <a:pt x="64" y="92"/>
                  <a:pt x="64" y="92"/>
                  <a:pt x="64" y="92"/>
                </a:cubicBezTo>
                <a:lnTo>
                  <a:pt x="52" y="92"/>
                </a:lnTo>
                <a:close/>
                <a:moveTo>
                  <a:pt x="92" y="60"/>
                </a:moveTo>
                <a:cubicBezTo>
                  <a:pt x="92" y="60"/>
                  <a:pt x="92" y="62"/>
                  <a:pt x="92" y="62"/>
                </a:cubicBezTo>
                <a:cubicBezTo>
                  <a:pt x="92" y="83"/>
                  <a:pt x="106" y="86"/>
                  <a:pt x="113" y="86"/>
                </a:cubicBezTo>
                <a:cubicBezTo>
                  <a:pt x="122" y="86"/>
                  <a:pt x="126" y="83"/>
                  <a:pt x="126" y="83"/>
                </a:cubicBezTo>
                <a:cubicBezTo>
                  <a:pt x="129" y="90"/>
                  <a:pt x="129" y="90"/>
                  <a:pt x="129" y="90"/>
                </a:cubicBezTo>
                <a:cubicBezTo>
                  <a:pt x="129" y="90"/>
                  <a:pt x="123" y="93"/>
                  <a:pt x="111" y="93"/>
                </a:cubicBezTo>
                <a:cubicBezTo>
                  <a:pt x="98" y="93"/>
                  <a:pt x="81" y="89"/>
                  <a:pt x="81" y="62"/>
                </a:cubicBezTo>
                <a:cubicBezTo>
                  <a:pt x="81" y="51"/>
                  <a:pt x="85" y="30"/>
                  <a:pt x="108" y="30"/>
                </a:cubicBezTo>
                <a:cubicBezTo>
                  <a:pt x="118" y="30"/>
                  <a:pt x="124" y="34"/>
                  <a:pt x="127" y="40"/>
                </a:cubicBezTo>
                <a:cubicBezTo>
                  <a:pt x="130" y="44"/>
                  <a:pt x="131" y="51"/>
                  <a:pt x="131" y="58"/>
                </a:cubicBezTo>
                <a:cubicBezTo>
                  <a:pt x="131" y="59"/>
                  <a:pt x="131" y="59"/>
                  <a:pt x="131" y="59"/>
                </a:cubicBezTo>
                <a:cubicBezTo>
                  <a:pt x="131" y="60"/>
                  <a:pt x="131" y="60"/>
                  <a:pt x="131" y="60"/>
                </a:cubicBezTo>
                <a:lnTo>
                  <a:pt x="92" y="60"/>
                </a:lnTo>
                <a:close/>
                <a:moveTo>
                  <a:pt x="119" y="52"/>
                </a:moveTo>
                <a:cubicBezTo>
                  <a:pt x="119" y="42"/>
                  <a:pt x="115" y="37"/>
                  <a:pt x="106" y="37"/>
                </a:cubicBezTo>
                <a:cubicBezTo>
                  <a:pt x="100" y="37"/>
                  <a:pt x="96" y="40"/>
                  <a:pt x="94" y="46"/>
                </a:cubicBezTo>
                <a:cubicBezTo>
                  <a:pt x="93" y="50"/>
                  <a:pt x="93" y="53"/>
                  <a:pt x="93" y="54"/>
                </a:cubicBezTo>
                <a:cubicBezTo>
                  <a:pt x="119" y="54"/>
                  <a:pt x="119" y="54"/>
                  <a:pt x="119" y="54"/>
                </a:cubicBezTo>
                <a:lnTo>
                  <a:pt x="119" y="52"/>
                </a:lnTo>
                <a:close/>
                <a:moveTo>
                  <a:pt x="146" y="92"/>
                </a:moveTo>
                <a:cubicBezTo>
                  <a:pt x="146" y="0"/>
                  <a:pt x="146" y="0"/>
                  <a:pt x="146" y="0"/>
                </a:cubicBezTo>
                <a:cubicBezTo>
                  <a:pt x="158" y="0"/>
                  <a:pt x="158" y="0"/>
                  <a:pt x="158" y="0"/>
                </a:cubicBezTo>
                <a:cubicBezTo>
                  <a:pt x="158" y="92"/>
                  <a:pt x="158" y="92"/>
                  <a:pt x="158" y="92"/>
                </a:cubicBezTo>
                <a:lnTo>
                  <a:pt x="146" y="92"/>
                </a:lnTo>
                <a:close/>
                <a:moveTo>
                  <a:pt x="202" y="94"/>
                </a:moveTo>
                <a:cubicBezTo>
                  <a:pt x="192" y="94"/>
                  <a:pt x="188" y="91"/>
                  <a:pt x="188" y="91"/>
                </a:cubicBezTo>
                <a:cubicBezTo>
                  <a:pt x="188" y="120"/>
                  <a:pt x="188" y="120"/>
                  <a:pt x="188" y="120"/>
                </a:cubicBezTo>
                <a:cubicBezTo>
                  <a:pt x="177" y="120"/>
                  <a:pt x="177" y="120"/>
                  <a:pt x="177" y="120"/>
                </a:cubicBezTo>
                <a:cubicBezTo>
                  <a:pt x="177" y="32"/>
                  <a:pt x="177" y="32"/>
                  <a:pt x="177" y="32"/>
                </a:cubicBezTo>
                <a:cubicBezTo>
                  <a:pt x="188" y="32"/>
                  <a:pt x="188" y="32"/>
                  <a:pt x="188" y="32"/>
                </a:cubicBezTo>
                <a:cubicBezTo>
                  <a:pt x="188" y="38"/>
                  <a:pt x="188" y="38"/>
                  <a:pt x="188" y="38"/>
                </a:cubicBezTo>
                <a:cubicBezTo>
                  <a:pt x="188" y="38"/>
                  <a:pt x="193" y="31"/>
                  <a:pt x="206" y="31"/>
                </a:cubicBezTo>
                <a:cubicBezTo>
                  <a:pt x="221" y="31"/>
                  <a:pt x="231" y="42"/>
                  <a:pt x="231" y="61"/>
                </a:cubicBezTo>
                <a:cubicBezTo>
                  <a:pt x="231" y="81"/>
                  <a:pt x="218" y="94"/>
                  <a:pt x="202" y="94"/>
                </a:cubicBezTo>
                <a:close/>
                <a:moveTo>
                  <a:pt x="200" y="38"/>
                </a:moveTo>
                <a:cubicBezTo>
                  <a:pt x="193" y="38"/>
                  <a:pt x="188" y="41"/>
                  <a:pt x="188" y="41"/>
                </a:cubicBezTo>
                <a:cubicBezTo>
                  <a:pt x="188" y="86"/>
                  <a:pt x="188" y="86"/>
                  <a:pt x="188" y="86"/>
                </a:cubicBezTo>
                <a:cubicBezTo>
                  <a:pt x="188" y="86"/>
                  <a:pt x="192" y="87"/>
                  <a:pt x="197" y="87"/>
                </a:cubicBezTo>
                <a:cubicBezTo>
                  <a:pt x="212" y="87"/>
                  <a:pt x="219" y="78"/>
                  <a:pt x="219" y="62"/>
                </a:cubicBezTo>
                <a:cubicBezTo>
                  <a:pt x="219" y="48"/>
                  <a:pt x="212" y="38"/>
                  <a:pt x="200" y="38"/>
                </a:cubicBezTo>
                <a:close/>
                <a:moveTo>
                  <a:pt x="252" y="20"/>
                </a:moveTo>
                <a:cubicBezTo>
                  <a:pt x="248" y="20"/>
                  <a:pt x="245" y="18"/>
                  <a:pt x="245" y="14"/>
                </a:cubicBezTo>
                <a:cubicBezTo>
                  <a:pt x="245" y="9"/>
                  <a:pt x="248" y="7"/>
                  <a:pt x="252" y="7"/>
                </a:cubicBezTo>
                <a:cubicBezTo>
                  <a:pt x="257" y="7"/>
                  <a:pt x="259" y="9"/>
                  <a:pt x="259" y="13"/>
                </a:cubicBezTo>
                <a:cubicBezTo>
                  <a:pt x="259" y="18"/>
                  <a:pt x="257" y="20"/>
                  <a:pt x="252" y="20"/>
                </a:cubicBezTo>
                <a:close/>
                <a:moveTo>
                  <a:pt x="247" y="92"/>
                </a:moveTo>
                <a:cubicBezTo>
                  <a:pt x="247" y="32"/>
                  <a:pt x="247" y="32"/>
                  <a:pt x="247" y="32"/>
                </a:cubicBezTo>
                <a:cubicBezTo>
                  <a:pt x="258" y="32"/>
                  <a:pt x="258" y="32"/>
                  <a:pt x="258" y="32"/>
                </a:cubicBezTo>
                <a:cubicBezTo>
                  <a:pt x="258" y="92"/>
                  <a:pt x="258" y="92"/>
                  <a:pt x="258" y="92"/>
                </a:cubicBezTo>
                <a:lnTo>
                  <a:pt x="247" y="92"/>
                </a:lnTo>
                <a:close/>
                <a:moveTo>
                  <a:pt x="315" y="92"/>
                </a:moveTo>
                <a:cubicBezTo>
                  <a:pt x="315" y="60"/>
                  <a:pt x="315" y="60"/>
                  <a:pt x="315" y="60"/>
                </a:cubicBezTo>
                <a:cubicBezTo>
                  <a:pt x="315" y="56"/>
                  <a:pt x="315" y="52"/>
                  <a:pt x="315" y="49"/>
                </a:cubicBezTo>
                <a:cubicBezTo>
                  <a:pt x="313" y="41"/>
                  <a:pt x="308" y="38"/>
                  <a:pt x="300" y="38"/>
                </a:cubicBezTo>
                <a:cubicBezTo>
                  <a:pt x="294" y="38"/>
                  <a:pt x="289" y="41"/>
                  <a:pt x="289" y="41"/>
                </a:cubicBezTo>
                <a:cubicBezTo>
                  <a:pt x="289" y="92"/>
                  <a:pt x="289" y="92"/>
                  <a:pt x="289" y="92"/>
                </a:cubicBezTo>
                <a:cubicBezTo>
                  <a:pt x="277" y="92"/>
                  <a:pt x="277" y="92"/>
                  <a:pt x="277" y="92"/>
                </a:cubicBezTo>
                <a:cubicBezTo>
                  <a:pt x="277" y="32"/>
                  <a:pt x="277" y="32"/>
                  <a:pt x="277" y="32"/>
                </a:cubicBezTo>
                <a:cubicBezTo>
                  <a:pt x="289" y="32"/>
                  <a:pt x="289" y="32"/>
                  <a:pt x="289" y="32"/>
                </a:cubicBezTo>
                <a:cubicBezTo>
                  <a:pt x="289" y="38"/>
                  <a:pt x="289" y="38"/>
                  <a:pt x="289" y="38"/>
                </a:cubicBezTo>
                <a:cubicBezTo>
                  <a:pt x="289" y="38"/>
                  <a:pt x="294" y="30"/>
                  <a:pt x="307" y="30"/>
                </a:cubicBezTo>
                <a:cubicBezTo>
                  <a:pt x="319" y="30"/>
                  <a:pt x="324" y="38"/>
                  <a:pt x="326" y="44"/>
                </a:cubicBezTo>
                <a:cubicBezTo>
                  <a:pt x="327" y="48"/>
                  <a:pt x="327" y="53"/>
                  <a:pt x="327" y="56"/>
                </a:cubicBezTo>
                <a:cubicBezTo>
                  <a:pt x="327" y="92"/>
                  <a:pt x="327" y="92"/>
                  <a:pt x="327" y="92"/>
                </a:cubicBezTo>
                <a:lnTo>
                  <a:pt x="315" y="92"/>
                </a:lnTo>
                <a:close/>
                <a:moveTo>
                  <a:pt x="383" y="38"/>
                </a:moveTo>
                <a:cubicBezTo>
                  <a:pt x="383" y="38"/>
                  <a:pt x="388" y="43"/>
                  <a:pt x="388" y="51"/>
                </a:cubicBezTo>
                <a:cubicBezTo>
                  <a:pt x="388" y="62"/>
                  <a:pt x="380" y="71"/>
                  <a:pt x="365" y="71"/>
                </a:cubicBezTo>
                <a:cubicBezTo>
                  <a:pt x="361" y="71"/>
                  <a:pt x="359" y="71"/>
                  <a:pt x="359" y="71"/>
                </a:cubicBezTo>
                <a:cubicBezTo>
                  <a:pt x="359" y="71"/>
                  <a:pt x="356" y="73"/>
                  <a:pt x="356" y="77"/>
                </a:cubicBezTo>
                <a:cubicBezTo>
                  <a:pt x="356" y="82"/>
                  <a:pt x="361" y="82"/>
                  <a:pt x="365" y="82"/>
                </a:cubicBezTo>
                <a:cubicBezTo>
                  <a:pt x="369" y="82"/>
                  <a:pt x="371" y="82"/>
                  <a:pt x="376" y="82"/>
                </a:cubicBezTo>
                <a:cubicBezTo>
                  <a:pt x="381" y="82"/>
                  <a:pt x="395" y="81"/>
                  <a:pt x="395" y="96"/>
                </a:cubicBezTo>
                <a:cubicBezTo>
                  <a:pt x="395" y="104"/>
                  <a:pt x="391" y="111"/>
                  <a:pt x="382" y="116"/>
                </a:cubicBezTo>
                <a:cubicBezTo>
                  <a:pt x="377" y="118"/>
                  <a:pt x="371" y="120"/>
                  <a:pt x="363" y="120"/>
                </a:cubicBezTo>
                <a:cubicBezTo>
                  <a:pt x="350" y="120"/>
                  <a:pt x="338" y="116"/>
                  <a:pt x="338" y="104"/>
                </a:cubicBezTo>
                <a:cubicBezTo>
                  <a:pt x="338" y="93"/>
                  <a:pt x="351" y="90"/>
                  <a:pt x="351" y="90"/>
                </a:cubicBezTo>
                <a:cubicBezTo>
                  <a:pt x="351" y="90"/>
                  <a:pt x="346" y="88"/>
                  <a:pt x="346" y="82"/>
                </a:cubicBezTo>
                <a:cubicBezTo>
                  <a:pt x="346" y="73"/>
                  <a:pt x="355" y="70"/>
                  <a:pt x="355" y="70"/>
                </a:cubicBezTo>
                <a:cubicBezTo>
                  <a:pt x="355" y="70"/>
                  <a:pt x="342" y="66"/>
                  <a:pt x="342" y="51"/>
                </a:cubicBezTo>
                <a:cubicBezTo>
                  <a:pt x="342" y="40"/>
                  <a:pt x="350" y="30"/>
                  <a:pt x="365" y="30"/>
                </a:cubicBezTo>
                <a:cubicBezTo>
                  <a:pt x="370" y="30"/>
                  <a:pt x="374" y="32"/>
                  <a:pt x="374" y="32"/>
                </a:cubicBezTo>
                <a:cubicBezTo>
                  <a:pt x="397" y="32"/>
                  <a:pt x="397" y="32"/>
                  <a:pt x="397" y="32"/>
                </a:cubicBezTo>
                <a:cubicBezTo>
                  <a:pt x="397" y="38"/>
                  <a:pt x="397" y="38"/>
                  <a:pt x="397" y="38"/>
                </a:cubicBezTo>
                <a:lnTo>
                  <a:pt x="383" y="38"/>
                </a:lnTo>
                <a:close/>
                <a:moveTo>
                  <a:pt x="368" y="91"/>
                </a:moveTo>
                <a:cubicBezTo>
                  <a:pt x="355" y="91"/>
                  <a:pt x="355" y="91"/>
                  <a:pt x="355" y="91"/>
                </a:cubicBezTo>
                <a:cubicBezTo>
                  <a:pt x="355" y="91"/>
                  <a:pt x="348" y="94"/>
                  <a:pt x="348" y="102"/>
                </a:cubicBezTo>
                <a:cubicBezTo>
                  <a:pt x="348" y="112"/>
                  <a:pt x="359" y="113"/>
                  <a:pt x="365" y="113"/>
                </a:cubicBezTo>
                <a:cubicBezTo>
                  <a:pt x="378" y="113"/>
                  <a:pt x="385" y="108"/>
                  <a:pt x="385" y="99"/>
                </a:cubicBezTo>
                <a:cubicBezTo>
                  <a:pt x="385" y="91"/>
                  <a:pt x="377" y="91"/>
                  <a:pt x="368" y="91"/>
                </a:cubicBezTo>
                <a:close/>
                <a:moveTo>
                  <a:pt x="365" y="36"/>
                </a:moveTo>
                <a:cubicBezTo>
                  <a:pt x="363" y="36"/>
                  <a:pt x="360" y="36"/>
                  <a:pt x="359" y="37"/>
                </a:cubicBezTo>
                <a:cubicBezTo>
                  <a:pt x="354" y="40"/>
                  <a:pt x="353" y="46"/>
                  <a:pt x="353" y="51"/>
                </a:cubicBezTo>
                <a:cubicBezTo>
                  <a:pt x="353" y="59"/>
                  <a:pt x="357" y="66"/>
                  <a:pt x="365" y="66"/>
                </a:cubicBezTo>
                <a:cubicBezTo>
                  <a:pt x="367" y="66"/>
                  <a:pt x="369" y="65"/>
                  <a:pt x="371" y="64"/>
                </a:cubicBezTo>
                <a:cubicBezTo>
                  <a:pt x="375" y="61"/>
                  <a:pt x="376" y="56"/>
                  <a:pt x="376" y="51"/>
                </a:cubicBezTo>
                <a:cubicBezTo>
                  <a:pt x="376" y="43"/>
                  <a:pt x="373" y="36"/>
                  <a:pt x="365" y="36"/>
                </a:cubicBezTo>
                <a:close/>
                <a:moveTo>
                  <a:pt x="461" y="57"/>
                </a:moveTo>
                <a:cubicBezTo>
                  <a:pt x="455" y="57"/>
                  <a:pt x="452" y="56"/>
                  <a:pt x="452" y="56"/>
                </a:cubicBezTo>
                <a:cubicBezTo>
                  <a:pt x="453" y="50"/>
                  <a:pt x="453" y="50"/>
                  <a:pt x="453" y="50"/>
                </a:cubicBezTo>
                <a:cubicBezTo>
                  <a:pt x="453" y="50"/>
                  <a:pt x="455" y="51"/>
                  <a:pt x="459" y="51"/>
                </a:cubicBezTo>
                <a:cubicBezTo>
                  <a:pt x="465" y="51"/>
                  <a:pt x="476" y="49"/>
                  <a:pt x="476" y="32"/>
                </a:cubicBezTo>
                <a:cubicBezTo>
                  <a:pt x="476" y="21"/>
                  <a:pt x="471" y="13"/>
                  <a:pt x="455" y="13"/>
                </a:cubicBezTo>
                <a:cubicBezTo>
                  <a:pt x="452" y="13"/>
                  <a:pt x="449" y="14"/>
                  <a:pt x="449" y="14"/>
                </a:cubicBezTo>
                <a:cubicBezTo>
                  <a:pt x="449" y="92"/>
                  <a:pt x="449" y="92"/>
                  <a:pt x="449" y="92"/>
                </a:cubicBezTo>
                <a:cubicBezTo>
                  <a:pt x="437" y="92"/>
                  <a:pt x="437" y="92"/>
                  <a:pt x="437" y="92"/>
                </a:cubicBezTo>
                <a:cubicBezTo>
                  <a:pt x="437" y="8"/>
                  <a:pt x="437" y="8"/>
                  <a:pt x="437" y="8"/>
                </a:cubicBezTo>
                <a:cubicBezTo>
                  <a:pt x="438" y="8"/>
                  <a:pt x="444" y="7"/>
                  <a:pt x="454" y="7"/>
                </a:cubicBezTo>
                <a:cubicBezTo>
                  <a:pt x="462" y="7"/>
                  <a:pt x="467" y="8"/>
                  <a:pt x="473" y="10"/>
                </a:cubicBezTo>
                <a:cubicBezTo>
                  <a:pt x="477" y="11"/>
                  <a:pt x="488" y="17"/>
                  <a:pt x="488" y="31"/>
                </a:cubicBezTo>
                <a:cubicBezTo>
                  <a:pt x="488" y="47"/>
                  <a:pt x="478" y="57"/>
                  <a:pt x="461" y="57"/>
                </a:cubicBezTo>
                <a:close/>
                <a:moveTo>
                  <a:pt x="528" y="92"/>
                </a:moveTo>
                <a:cubicBezTo>
                  <a:pt x="528" y="87"/>
                  <a:pt x="528" y="87"/>
                  <a:pt x="528" y="87"/>
                </a:cubicBezTo>
                <a:cubicBezTo>
                  <a:pt x="528" y="87"/>
                  <a:pt x="522" y="93"/>
                  <a:pt x="512" y="93"/>
                </a:cubicBezTo>
                <a:cubicBezTo>
                  <a:pt x="501" y="93"/>
                  <a:pt x="494" y="87"/>
                  <a:pt x="494" y="76"/>
                </a:cubicBezTo>
                <a:cubicBezTo>
                  <a:pt x="494" y="70"/>
                  <a:pt x="496" y="65"/>
                  <a:pt x="500" y="62"/>
                </a:cubicBezTo>
                <a:cubicBezTo>
                  <a:pt x="505" y="59"/>
                  <a:pt x="511" y="58"/>
                  <a:pt x="518" y="58"/>
                </a:cubicBezTo>
                <a:cubicBezTo>
                  <a:pt x="523" y="58"/>
                  <a:pt x="527" y="59"/>
                  <a:pt x="527" y="59"/>
                </a:cubicBezTo>
                <a:cubicBezTo>
                  <a:pt x="527" y="54"/>
                  <a:pt x="527" y="54"/>
                  <a:pt x="527" y="54"/>
                </a:cubicBezTo>
                <a:cubicBezTo>
                  <a:pt x="527" y="51"/>
                  <a:pt x="527" y="46"/>
                  <a:pt x="527" y="44"/>
                </a:cubicBezTo>
                <a:cubicBezTo>
                  <a:pt x="525" y="39"/>
                  <a:pt x="521" y="37"/>
                  <a:pt x="515" y="37"/>
                </a:cubicBezTo>
                <a:cubicBezTo>
                  <a:pt x="508" y="37"/>
                  <a:pt x="503" y="40"/>
                  <a:pt x="503" y="40"/>
                </a:cubicBezTo>
                <a:cubicBezTo>
                  <a:pt x="500" y="33"/>
                  <a:pt x="500" y="33"/>
                  <a:pt x="500" y="33"/>
                </a:cubicBezTo>
                <a:cubicBezTo>
                  <a:pt x="500" y="33"/>
                  <a:pt x="507" y="30"/>
                  <a:pt x="518" y="30"/>
                </a:cubicBezTo>
                <a:cubicBezTo>
                  <a:pt x="535" y="30"/>
                  <a:pt x="537" y="39"/>
                  <a:pt x="538" y="42"/>
                </a:cubicBezTo>
                <a:cubicBezTo>
                  <a:pt x="539" y="45"/>
                  <a:pt x="539" y="55"/>
                  <a:pt x="539" y="57"/>
                </a:cubicBezTo>
                <a:cubicBezTo>
                  <a:pt x="539" y="92"/>
                  <a:pt x="539" y="92"/>
                  <a:pt x="539" y="92"/>
                </a:cubicBezTo>
                <a:lnTo>
                  <a:pt x="528" y="92"/>
                </a:lnTo>
                <a:close/>
                <a:moveTo>
                  <a:pt x="527" y="64"/>
                </a:moveTo>
                <a:cubicBezTo>
                  <a:pt x="527" y="64"/>
                  <a:pt x="526" y="64"/>
                  <a:pt x="521" y="64"/>
                </a:cubicBezTo>
                <a:cubicBezTo>
                  <a:pt x="516" y="64"/>
                  <a:pt x="513" y="65"/>
                  <a:pt x="510" y="66"/>
                </a:cubicBezTo>
                <a:cubicBezTo>
                  <a:pt x="506" y="68"/>
                  <a:pt x="506" y="72"/>
                  <a:pt x="506" y="75"/>
                </a:cubicBezTo>
                <a:cubicBezTo>
                  <a:pt x="506" y="84"/>
                  <a:pt x="512" y="86"/>
                  <a:pt x="518" y="86"/>
                </a:cubicBezTo>
                <a:cubicBezTo>
                  <a:pt x="524" y="86"/>
                  <a:pt x="527" y="84"/>
                  <a:pt x="527" y="84"/>
                </a:cubicBezTo>
                <a:lnTo>
                  <a:pt x="527" y="64"/>
                </a:lnTo>
                <a:close/>
                <a:moveTo>
                  <a:pt x="577" y="93"/>
                </a:moveTo>
                <a:cubicBezTo>
                  <a:pt x="569" y="93"/>
                  <a:pt x="563" y="91"/>
                  <a:pt x="561" y="84"/>
                </a:cubicBezTo>
                <a:cubicBezTo>
                  <a:pt x="560" y="81"/>
                  <a:pt x="560" y="75"/>
                  <a:pt x="560" y="71"/>
                </a:cubicBezTo>
                <a:cubicBezTo>
                  <a:pt x="560" y="38"/>
                  <a:pt x="560" y="38"/>
                  <a:pt x="560" y="38"/>
                </a:cubicBezTo>
                <a:cubicBezTo>
                  <a:pt x="551" y="38"/>
                  <a:pt x="551" y="38"/>
                  <a:pt x="551" y="38"/>
                </a:cubicBezTo>
                <a:cubicBezTo>
                  <a:pt x="551" y="34"/>
                  <a:pt x="551" y="34"/>
                  <a:pt x="551" y="34"/>
                </a:cubicBezTo>
                <a:cubicBezTo>
                  <a:pt x="552" y="33"/>
                  <a:pt x="552" y="33"/>
                  <a:pt x="552" y="33"/>
                </a:cubicBezTo>
                <a:cubicBezTo>
                  <a:pt x="559" y="30"/>
                  <a:pt x="563" y="26"/>
                  <a:pt x="564" y="19"/>
                </a:cubicBezTo>
                <a:cubicBezTo>
                  <a:pt x="564" y="18"/>
                  <a:pt x="564" y="18"/>
                  <a:pt x="564" y="18"/>
                </a:cubicBezTo>
                <a:cubicBezTo>
                  <a:pt x="571" y="18"/>
                  <a:pt x="571" y="18"/>
                  <a:pt x="571" y="18"/>
                </a:cubicBezTo>
                <a:cubicBezTo>
                  <a:pt x="571" y="32"/>
                  <a:pt x="571" y="32"/>
                  <a:pt x="571" y="32"/>
                </a:cubicBezTo>
                <a:cubicBezTo>
                  <a:pt x="591" y="32"/>
                  <a:pt x="591" y="32"/>
                  <a:pt x="591" y="32"/>
                </a:cubicBezTo>
                <a:cubicBezTo>
                  <a:pt x="591" y="38"/>
                  <a:pt x="591" y="38"/>
                  <a:pt x="591" y="38"/>
                </a:cubicBezTo>
                <a:cubicBezTo>
                  <a:pt x="571" y="38"/>
                  <a:pt x="571" y="38"/>
                  <a:pt x="571" y="38"/>
                </a:cubicBezTo>
                <a:cubicBezTo>
                  <a:pt x="571" y="74"/>
                  <a:pt x="571" y="74"/>
                  <a:pt x="571" y="74"/>
                </a:cubicBezTo>
                <a:cubicBezTo>
                  <a:pt x="571" y="80"/>
                  <a:pt x="572" y="86"/>
                  <a:pt x="581" y="86"/>
                </a:cubicBezTo>
                <a:cubicBezTo>
                  <a:pt x="586" y="86"/>
                  <a:pt x="589" y="84"/>
                  <a:pt x="589" y="84"/>
                </a:cubicBezTo>
                <a:cubicBezTo>
                  <a:pt x="591" y="91"/>
                  <a:pt x="591" y="91"/>
                  <a:pt x="591" y="91"/>
                </a:cubicBezTo>
                <a:cubicBezTo>
                  <a:pt x="591" y="91"/>
                  <a:pt x="586" y="93"/>
                  <a:pt x="577" y="93"/>
                </a:cubicBezTo>
                <a:close/>
                <a:moveTo>
                  <a:pt x="609" y="20"/>
                </a:moveTo>
                <a:cubicBezTo>
                  <a:pt x="604" y="20"/>
                  <a:pt x="602" y="18"/>
                  <a:pt x="602" y="14"/>
                </a:cubicBezTo>
                <a:cubicBezTo>
                  <a:pt x="602" y="9"/>
                  <a:pt x="604" y="7"/>
                  <a:pt x="609" y="7"/>
                </a:cubicBezTo>
                <a:cubicBezTo>
                  <a:pt x="613" y="7"/>
                  <a:pt x="616" y="9"/>
                  <a:pt x="616" y="13"/>
                </a:cubicBezTo>
                <a:cubicBezTo>
                  <a:pt x="616" y="18"/>
                  <a:pt x="613" y="20"/>
                  <a:pt x="609" y="20"/>
                </a:cubicBezTo>
                <a:close/>
                <a:moveTo>
                  <a:pt x="603" y="92"/>
                </a:moveTo>
                <a:cubicBezTo>
                  <a:pt x="603" y="32"/>
                  <a:pt x="603" y="32"/>
                  <a:pt x="603" y="32"/>
                </a:cubicBezTo>
                <a:cubicBezTo>
                  <a:pt x="615" y="32"/>
                  <a:pt x="615" y="32"/>
                  <a:pt x="615" y="32"/>
                </a:cubicBezTo>
                <a:cubicBezTo>
                  <a:pt x="615" y="92"/>
                  <a:pt x="615" y="92"/>
                  <a:pt x="615" y="92"/>
                </a:cubicBezTo>
                <a:lnTo>
                  <a:pt x="603" y="92"/>
                </a:lnTo>
                <a:close/>
                <a:moveTo>
                  <a:pt x="642" y="60"/>
                </a:moveTo>
                <a:cubicBezTo>
                  <a:pt x="642" y="60"/>
                  <a:pt x="642" y="62"/>
                  <a:pt x="642" y="62"/>
                </a:cubicBezTo>
                <a:cubicBezTo>
                  <a:pt x="642" y="83"/>
                  <a:pt x="656" y="86"/>
                  <a:pt x="663" y="86"/>
                </a:cubicBezTo>
                <a:cubicBezTo>
                  <a:pt x="672" y="86"/>
                  <a:pt x="676" y="83"/>
                  <a:pt x="676" y="83"/>
                </a:cubicBezTo>
                <a:cubicBezTo>
                  <a:pt x="679" y="90"/>
                  <a:pt x="679" y="90"/>
                  <a:pt x="679" y="90"/>
                </a:cubicBezTo>
                <a:cubicBezTo>
                  <a:pt x="679" y="90"/>
                  <a:pt x="672" y="93"/>
                  <a:pt x="661" y="93"/>
                </a:cubicBezTo>
                <a:cubicBezTo>
                  <a:pt x="648" y="93"/>
                  <a:pt x="630" y="89"/>
                  <a:pt x="630" y="62"/>
                </a:cubicBezTo>
                <a:cubicBezTo>
                  <a:pt x="630" y="51"/>
                  <a:pt x="635" y="30"/>
                  <a:pt x="657" y="30"/>
                </a:cubicBezTo>
                <a:cubicBezTo>
                  <a:pt x="667" y="30"/>
                  <a:pt x="673" y="34"/>
                  <a:pt x="677" y="40"/>
                </a:cubicBezTo>
                <a:cubicBezTo>
                  <a:pt x="680" y="44"/>
                  <a:pt x="681" y="51"/>
                  <a:pt x="681" y="58"/>
                </a:cubicBezTo>
                <a:cubicBezTo>
                  <a:pt x="681" y="59"/>
                  <a:pt x="681" y="59"/>
                  <a:pt x="681" y="59"/>
                </a:cubicBezTo>
                <a:cubicBezTo>
                  <a:pt x="681" y="60"/>
                  <a:pt x="681" y="60"/>
                  <a:pt x="681" y="60"/>
                </a:cubicBezTo>
                <a:lnTo>
                  <a:pt x="642" y="60"/>
                </a:lnTo>
                <a:close/>
                <a:moveTo>
                  <a:pt x="669" y="52"/>
                </a:moveTo>
                <a:cubicBezTo>
                  <a:pt x="669" y="42"/>
                  <a:pt x="665" y="37"/>
                  <a:pt x="656" y="37"/>
                </a:cubicBezTo>
                <a:cubicBezTo>
                  <a:pt x="650" y="37"/>
                  <a:pt x="646" y="40"/>
                  <a:pt x="644" y="46"/>
                </a:cubicBezTo>
                <a:cubicBezTo>
                  <a:pt x="642" y="50"/>
                  <a:pt x="642" y="53"/>
                  <a:pt x="642" y="54"/>
                </a:cubicBezTo>
                <a:cubicBezTo>
                  <a:pt x="669" y="54"/>
                  <a:pt x="669" y="54"/>
                  <a:pt x="669" y="54"/>
                </a:cubicBezTo>
                <a:lnTo>
                  <a:pt x="669" y="52"/>
                </a:lnTo>
                <a:close/>
                <a:moveTo>
                  <a:pt x="734" y="92"/>
                </a:moveTo>
                <a:cubicBezTo>
                  <a:pt x="734" y="60"/>
                  <a:pt x="734" y="60"/>
                  <a:pt x="734" y="60"/>
                </a:cubicBezTo>
                <a:cubicBezTo>
                  <a:pt x="734" y="56"/>
                  <a:pt x="734" y="52"/>
                  <a:pt x="734" y="49"/>
                </a:cubicBezTo>
                <a:cubicBezTo>
                  <a:pt x="732" y="41"/>
                  <a:pt x="727" y="38"/>
                  <a:pt x="719" y="38"/>
                </a:cubicBezTo>
                <a:cubicBezTo>
                  <a:pt x="713" y="38"/>
                  <a:pt x="708" y="41"/>
                  <a:pt x="708" y="41"/>
                </a:cubicBezTo>
                <a:cubicBezTo>
                  <a:pt x="708" y="92"/>
                  <a:pt x="708" y="92"/>
                  <a:pt x="708" y="92"/>
                </a:cubicBezTo>
                <a:cubicBezTo>
                  <a:pt x="696" y="92"/>
                  <a:pt x="696" y="92"/>
                  <a:pt x="696" y="92"/>
                </a:cubicBezTo>
                <a:cubicBezTo>
                  <a:pt x="696" y="32"/>
                  <a:pt x="696" y="32"/>
                  <a:pt x="696" y="32"/>
                </a:cubicBezTo>
                <a:cubicBezTo>
                  <a:pt x="707" y="32"/>
                  <a:pt x="707" y="32"/>
                  <a:pt x="707" y="32"/>
                </a:cubicBezTo>
                <a:cubicBezTo>
                  <a:pt x="707" y="38"/>
                  <a:pt x="707" y="38"/>
                  <a:pt x="707" y="38"/>
                </a:cubicBezTo>
                <a:cubicBezTo>
                  <a:pt x="707" y="38"/>
                  <a:pt x="713" y="30"/>
                  <a:pt x="726" y="30"/>
                </a:cubicBezTo>
                <a:cubicBezTo>
                  <a:pt x="738" y="30"/>
                  <a:pt x="743" y="38"/>
                  <a:pt x="745" y="44"/>
                </a:cubicBezTo>
                <a:cubicBezTo>
                  <a:pt x="746" y="48"/>
                  <a:pt x="746" y="53"/>
                  <a:pt x="746" y="56"/>
                </a:cubicBezTo>
                <a:cubicBezTo>
                  <a:pt x="746" y="92"/>
                  <a:pt x="746" y="92"/>
                  <a:pt x="746" y="92"/>
                </a:cubicBezTo>
                <a:lnTo>
                  <a:pt x="734" y="92"/>
                </a:lnTo>
                <a:close/>
                <a:moveTo>
                  <a:pt x="783" y="93"/>
                </a:moveTo>
                <a:cubicBezTo>
                  <a:pt x="774" y="93"/>
                  <a:pt x="769" y="91"/>
                  <a:pt x="766" y="84"/>
                </a:cubicBezTo>
                <a:cubicBezTo>
                  <a:pt x="765" y="81"/>
                  <a:pt x="765" y="75"/>
                  <a:pt x="765" y="71"/>
                </a:cubicBezTo>
                <a:cubicBezTo>
                  <a:pt x="765" y="38"/>
                  <a:pt x="765" y="38"/>
                  <a:pt x="765" y="38"/>
                </a:cubicBezTo>
                <a:cubicBezTo>
                  <a:pt x="757" y="38"/>
                  <a:pt x="757" y="38"/>
                  <a:pt x="757" y="38"/>
                </a:cubicBezTo>
                <a:cubicBezTo>
                  <a:pt x="757" y="34"/>
                  <a:pt x="757" y="34"/>
                  <a:pt x="757" y="34"/>
                </a:cubicBezTo>
                <a:cubicBezTo>
                  <a:pt x="758" y="33"/>
                  <a:pt x="758" y="33"/>
                  <a:pt x="758" y="33"/>
                </a:cubicBezTo>
                <a:cubicBezTo>
                  <a:pt x="765" y="30"/>
                  <a:pt x="769" y="26"/>
                  <a:pt x="770" y="19"/>
                </a:cubicBezTo>
                <a:cubicBezTo>
                  <a:pt x="770" y="18"/>
                  <a:pt x="770" y="18"/>
                  <a:pt x="770" y="18"/>
                </a:cubicBezTo>
                <a:cubicBezTo>
                  <a:pt x="777" y="18"/>
                  <a:pt x="777" y="18"/>
                  <a:pt x="777" y="18"/>
                </a:cubicBezTo>
                <a:cubicBezTo>
                  <a:pt x="777" y="32"/>
                  <a:pt x="777" y="32"/>
                  <a:pt x="777" y="32"/>
                </a:cubicBezTo>
                <a:cubicBezTo>
                  <a:pt x="796" y="32"/>
                  <a:pt x="796" y="32"/>
                  <a:pt x="796" y="32"/>
                </a:cubicBezTo>
                <a:cubicBezTo>
                  <a:pt x="796" y="38"/>
                  <a:pt x="796" y="38"/>
                  <a:pt x="796" y="38"/>
                </a:cubicBezTo>
                <a:cubicBezTo>
                  <a:pt x="777" y="38"/>
                  <a:pt x="777" y="38"/>
                  <a:pt x="777" y="38"/>
                </a:cubicBezTo>
                <a:cubicBezTo>
                  <a:pt x="777" y="74"/>
                  <a:pt x="777" y="74"/>
                  <a:pt x="777" y="74"/>
                </a:cubicBezTo>
                <a:cubicBezTo>
                  <a:pt x="777" y="80"/>
                  <a:pt x="778" y="86"/>
                  <a:pt x="787" y="86"/>
                </a:cubicBezTo>
                <a:cubicBezTo>
                  <a:pt x="791" y="86"/>
                  <a:pt x="795" y="84"/>
                  <a:pt x="795" y="84"/>
                </a:cubicBezTo>
                <a:cubicBezTo>
                  <a:pt x="797" y="91"/>
                  <a:pt x="797" y="91"/>
                  <a:pt x="797" y="91"/>
                </a:cubicBezTo>
                <a:cubicBezTo>
                  <a:pt x="796" y="91"/>
                  <a:pt x="792" y="93"/>
                  <a:pt x="783" y="93"/>
                </a:cubicBezTo>
                <a:close/>
                <a:moveTo>
                  <a:pt x="824" y="93"/>
                </a:moveTo>
                <a:cubicBezTo>
                  <a:pt x="812" y="93"/>
                  <a:pt x="806" y="90"/>
                  <a:pt x="806" y="90"/>
                </a:cubicBezTo>
                <a:cubicBezTo>
                  <a:pt x="808" y="83"/>
                  <a:pt x="808" y="83"/>
                  <a:pt x="808" y="83"/>
                </a:cubicBezTo>
                <a:cubicBezTo>
                  <a:pt x="808" y="83"/>
                  <a:pt x="813" y="86"/>
                  <a:pt x="823" y="86"/>
                </a:cubicBezTo>
                <a:cubicBezTo>
                  <a:pt x="831" y="86"/>
                  <a:pt x="836" y="83"/>
                  <a:pt x="836" y="77"/>
                </a:cubicBezTo>
                <a:cubicBezTo>
                  <a:pt x="836" y="72"/>
                  <a:pt x="833" y="71"/>
                  <a:pt x="829" y="69"/>
                </a:cubicBezTo>
                <a:cubicBezTo>
                  <a:pt x="819" y="63"/>
                  <a:pt x="819" y="63"/>
                  <a:pt x="819" y="63"/>
                </a:cubicBezTo>
                <a:cubicBezTo>
                  <a:pt x="812" y="59"/>
                  <a:pt x="808" y="55"/>
                  <a:pt x="808" y="47"/>
                </a:cubicBezTo>
                <a:cubicBezTo>
                  <a:pt x="808" y="35"/>
                  <a:pt x="817" y="30"/>
                  <a:pt x="828" y="30"/>
                </a:cubicBezTo>
                <a:cubicBezTo>
                  <a:pt x="839" y="30"/>
                  <a:pt x="845" y="34"/>
                  <a:pt x="845" y="34"/>
                </a:cubicBezTo>
                <a:cubicBezTo>
                  <a:pt x="842" y="41"/>
                  <a:pt x="842" y="41"/>
                  <a:pt x="842" y="41"/>
                </a:cubicBezTo>
                <a:cubicBezTo>
                  <a:pt x="842" y="41"/>
                  <a:pt x="837" y="37"/>
                  <a:pt x="829" y="37"/>
                </a:cubicBezTo>
                <a:cubicBezTo>
                  <a:pt x="825" y="37"/>
                  <a:pt x="818" y="39"/>
                  <a:pt x="818" y="45"/>
                </a:cubicBezTo>
                <a:cubicBezTo>
                  <a:pt x="818" y="50"/>
                  <a:pt x="821" y="51"/>
                  <a:pt x="826" y="54"/>
                </a:cubicBezTo>
                <a:cubicBezTo>
                  <a:pt x="836" y="59"/>
                  <a:pt x="836" y="59"/>
                  <a:pt x="836" y="59"/>
                </a:cubicBezTo>
                <a:cubicBezTo>
                  <a:pt x="843" y="63"/>
                  <a:pt x="846" y="68"/>
                  <a:pt x="846" y="75"/>
                </a:cubicBezTo>
                <a:cubicBezTo>
                  <a:pt x="846" y="90"/>
                  <a:pt x="833" y="93"/>
                  <a:pt x="824" y="93"/>
                </a:cubicBezTo>
                <a:close/>
                <a:moveTo>
                  <a:pt x="895" y="20"/>
                </a:moveTo>
                <a:cubicBezTo>
                  <a:pt x="890" y="20"/>
                  <a:pt x="888" y="18"/>
                  <a:pt x="888" y="14"/>
                </a:cubicBezTo>
                <a:cubicBezTo>
                  <a:pt x="888" y="9"/>
                  <a:pt x="890" y="7"/>
                  <a:pt x="895" y="7"/>
                </a:cubicBezTo>
                <a:cubicBezTo>
                  <a:pt x="899" y="7"/>
                  <a:pt x="902" y="9"/>
                  <a:pt x="902" y="13"/>
                </a:cubicBezTo>
                <a:cubicBezTo>
                  <a:pt x="902" y="18"/>
                  <a:pt x="899" y="20"/>
                  <a:pt x="895" y="20"/>
                </a:cubicBezTo>
                <a:close/>
                <a:moveTo>
                  <a:pt x="889" y="92"/>
                </a:moveTo>
                <a:cubicBezTo>
                  <a:pt x="889" y="32"/>
                  <a:pt x="889" y="32"/>
                  <a:pt x="889" y="32"/>
                </a:cubicBezTo>
                <a:cubicBezTo>
                  <a:pt x="901" y="32"/>
                  <a:pt x="901" y="32"/>
                  <a:pt x="901" y="32"/>
                </a:cubicBezTo>
                <a:cubicBezTo>
                  <a:pt x="901" y="92"/>
                  <a:pt x="901" y="92"/>
                  <a:pt x="901" y="92"/>
                </a:cubicBezTo>
                <a:lnTo>
                  <a:pt x="889" y="92"/>
                </a:lnTo>
                <a:close/>
                <a:moveTo>
                  <a:pt x="932" y="93"/>
                </a:moveTo>
                <a:cubicBezTo>
                  <a:pt x="920" y="93"/>
                  <a:pt x="914" y="90"/>
                  <a:pt x="914" y="90"/>
                </a:cubicBezTo>
                <a:cubicBezTo>
                  <a:pt x="916" y="83"/>
                  <a:pt x="916" y="83"/>
                  <a:pt x="916" y="83"/>
                </a:cubicBezTo>
                <a:cubicBezTo>
                  <a:pt x="916" y="83"/>
                  <a:pt x="921" y="86"/>
                  <a:pt x="931" y="86"/>
                </a:cubicBezTo>
                <a:cubicBezTo>
                  <a:pt x="939" y="86"/>
                  <a:pt x="944" y="83"/>
                  <a:pt x="944" y="77"/>
                </a:cubicBezTo>
                <a:cubicBezTo>
                  <a:pt x="944" y="72"/>
                  <a:pt x="941" y="71"/>
                  <a:pt x="937" y="69"/>
                </a:cubicBezTo>
                <a:cubicBezTo>
                  <a:pt x="927" y="63"/>
                  <a:pt x="927" y="63"/>
                  <a:pt x="927" y="63"/>
                </a:cubicBezTo>
                <a:cubicBezTo>
                  <a:pt x="920" y="59"/>
                  <a:pt x="916" y="55"/>
                  <a:pt x="916" y="47"/>
                </a:cubicBezTo>
                <a:cubicBezTo>
                  <a:pt x="916" y="35"/>
                  <a:pt x="925" y="30"/>
                  <a:pt x="936" y="30"/>
                </a:cubicBezTo>
                <a:cubicBezTo>
                  <a:pt x="947" y="30"/>
                  <a:pt x="953" y="34"/>
                  <a:pt x="953" y="34"/>
                </a:cubicBezTo>
                <a:cubicBezTo>
                  <a:pt x="950" y="41"/>
                  <a:pt x="950" y="41"/>
                  <a:pt x="950" y="41"/>
                </a:cubicBezTo>
                <a:cubicBezTo>
                  <a:pt x="950" y="41"/>
                  <a:pt x="945" y="37"/>
                  <a:pt x="937" y="37"/>
                </a:cubicBezTo>
                <a:cubicBezTo>
                  <a:pt x="932" y="37"/>
                  <a:pt x="926" y="39"/>
                  <a:pt x="926" y="45"/>
                </a:cubicBezTo>
                <a:cubicBezTo>
                  <a:pt x="926" y="50"/>
                  <a:pt x="929" y="51"/>
                  <a:pt x="934" y="54"/>
                </a:cubicBezTo>
                <a:cubicBezTo>
                  <a:pt x="944" y="59"/>
                  <a:pt x="944" y="59"/>
                  <a:pt x="944" y="59"/>
                </a:cubicBezTo>
                <a:cubicBezTo>
                  <a:pt x="950" y="63"/>
                  <a:pt x="954" y="68"/>
                  <a:pt x="954" y="75"/>
                </a:cubicBezTo>
                <a:cubicBezTo>
                  <a:pt x="954" y="90"/>
                  <a:pt x="941" y="93"/>
                  <a:pt x="932" y="93"/>
                </a:cubicBezTo>
                <a:close/>
                <a:moveTo>
                  <a:pt x="1032" y="94"/>
                </a:moveTo>
                <a:cubicBezTo>
                  <a:pt x="1007" y="94"/>
                  <a:pt x="993" y="79"/>
                  <a:pt x="993" y="52"/>
                </a:cubicBezTo>
                <a:cubicBezTo>
                  <a:pt x="993" y="23"/>
                  <a:pt x="1007" y="6"/>
                  <a:pt x="1031" y="6"/>
                </a:cubicBezTo>
                <a:cubicBezTo>
                  <a:pt x="1055" y="6"/>
                  <a:pt x="1070" y="22"/>
                  <a:pt x="1070" y="48"/>
                </a:cubicBezTo>
                <a:cubicBezTo>
                  <a:pt x="1070" y="77"/>
                  <a:pt x="1055" y="94"/>
                  <a:pt x="1032" y="94"/>
                </a:cubicBezTo>
                <a:close/>
                <a:moveTo>
                  <a:pt x="1031" y="14"/>
                </a:moveTo>
                <a:cubicBezTo>
                  <a:pt x="1015" y="14"/>
                  <a:pt x="1005" y="27"/>
                  <a:pt x="1005" y="50"/>
                </a:cubicBezTo>
                <a:cubicBezTo>
                  <a:pt x="1005" y="74"/>
                  <a:pt x="1014" y="86"/>
                  <a:pt x="1032" y="86"/>
                </a:cubicBezTo>
                <a:cubicBezTo>
                  <a:pt x="1048" y="86"/>
                  <a:pt x="1058" y="74"/>
                  <a:pt x="1058" y="50"/>
                </a:cubicBezTo>
                <a:cubicBezTo>
                  <a:pt x="1058" y="27"/>
                  <a:pt x="1049" y="14"/>
                  <a:pt x="1031" y="14"/>
                </a:cubicBezTo>
                <a:close/>
                <a:moveTo>
                  <a:pt x="1124" y="92"/>
                </a:moveTo>
                <a:cubicBezTo>
                  <a:pt x="1124" y="86"/>
                  <a:pt x="1124" y="86"/>
                  <a:pt x="1124" y="86"/>
                </a:cubicBezTo>
                <a:cubicBezTo>
                  <a:pt x="1124" y="86"/>
                  <a:pt x="1118" y="94"/>
                  <a:pt x="1106" y="94"/>
                </a:cubicBezTo>
                <a:cubicBezTo>
                  <a:pt x="1101" y="94"/>
                  <a:pt x="1090" y="93"/>
                  <a:pt x="1087" y="80"/>
                </a:cubicBezTo>
                <a:cubicBezTo>
                  <a:pt x="1085" y="76"/>
                  <a:pt x="1086" y="69"/>
                  <a:pt x="1086" y="67"/>
                </a:cubicBezTo>
                <a:cubicBezTo>
                  <a:pt x="1086" y="32"/>
                  <a:pt x="1086" y="32"/>
                  <a:pt x="1086" y="32"/>
                </a:cubicBezTo>
                <a:cubicBezTo>
                  <a:pt x="1097" y="32"/>
                  <a:pt x="1097" y="32"/>
                  <a:pt x="1097" y="32"/>
                </a:cubicBezTo>
                <a:cubicBezTo>
                  <a:pt x="1097" y="64"/>
                  <a:pt x="1097" y="64"/>
                  <a:pt x="1097" y="64"/>
                </a:cubicBezTo>
                <a:cubicBezTo>
                  <a:pt x="1097" y="70"/>
                  <a:pt x="1097" y="72"/>
                  <a:pt x="1098" y="75"/>
                </a:cubicBezTo>
                <a:cubicBezTo>
                  <a:pt x="1099" y="82"/>
                  <a:pt x="1104" y="86"/>
                  <a:pt x="1112" y="86"/>
                </a:cubicBezTo>
                <a:cubicBezTo>
                  <a:pt x="1119" y="86"/>
                  <a:pt x="1124" y="83"/>
                  <a:pt x="1124" y="83"/>
                </a:cubicBezTo>
                <a:cubicBezTo>
                  <a:pt x="1124" y="32"/>
                  <a:pt x="1124" y="32"/>
                  <a:pt x="1124" y="32"/>
                </a:cubicBezTo>
                <a:cubicBezTo>
                  <a:pt x="1135" y="32"/>
                  <a:pt x="1135" y="32"/>
                  <a:pt x="1135" y="32"/>
                </a:cubicBezTo>
                <a:cubicBezTo>
                  <a:pt x="1135" y="92"/>
                  <a:pt x="1135" y="92"/>
                  <a:pt x="1135" y="92"/>
                </a:cubicBezTo>
                <a:lnTo>
                  <a:pt x="1124" y="92"/>
                </a:lnTo>
                <a:close/>
                <a:moveTo>
                  <a:pt x="1185" y="42"/>
                </a:moveTo>
                <a:cubicBezTo>
                  <a:pt x="1183" y="41"/>
                  <a:pt x="1181" y="39"/>
                  <a:pt x="1176" y="39"/>
                </a:cubicBezTo>
                <a:cubicBezTo>
                  <a:pt x="1170" y="39"/>
                  <a:pt x="1166" y="42"/>
                  <a:pt x="1166" y="42"/>
                </a:cubicBezTo>
                <a:cubicBezTo>
                  <a:pt x="1166" y="92"/>
                  <a:pt x="1166" y="92"/>
                  <a:pt x="1166" y="92"/>
                </a:cubicBezTo>
                <a:cubicBezTo>
                  <a:pt x="1154" y="92"/>
                  <a:pt x="1154" y="92"/>
                  <a:pt x="1154" y="92"/>
                </a:cubicBezTo>
                <a:cubicBezTo>
                  <a:pt x="1154" y="32"/>
                  <a:pt x="1154" y="32"/>
                  <a:pt x="1154" y="32"/>
                </a:cubicBezTo>
                <a:cubicBezTo>
                  <a:pt x="1166" y="32"/>
                  <a:pt x="1166" y="32"/>
                  <a:pt x="1166" y="32"/>
                </a:cubicBezTo>
                <a:cubicBezTo>
                  <a:pt x="1166" y="39"/>
                  <a:pt x="1166" y="39"/>
                  <a:pt x="1166" y="39"/>
                </a:cubicBezTo>
                <a:cubicBezTo>
                  <a:pt x="1166" y="39"/>
                  <a:pt x="1171" y="30"/>
                  <a:pt x="1180" y="30"/>
                </a:cubicBezTo>
                <a:cubicBezTo>
                  <a:pt x="1185" y="30"/>
                  <a:pt x="1187" y="32"/>
                  <a:pt x="1189" y="32"/>
                </a:cubicBezTo>
                <a:lnTo>
                  <a:pt x="1185" y="42"/>
                </a:lnTo>
                <a:close/>
                <a:moveTo>
                  <a:pt x="1227" y="92"/>
                </a:moveTo>
                <a:cubicBezTo>
                  <a:pt x="1227" y="8"/>
                  <a:pt x="1227" y="8"/>
                  <a:pt x="1227" y="8"/>
                </a:cubicBezTo>
                <a:cubicBezTo>
                  <a:pt x="1239" y="8"/>
                  <a:pt x="1239" y="8"/>
                  <a:pt x="1239" y="8"/>
                </a:cubicBezTo>
                <a:cubicBezTo>
                  <a:pt x="1239" y="85"/>
                  <a:pt x="1239" y="85"/>
                  <a:pt x="1239" y="85"/>
                </a:cubicBezTo>
                <a:cubicBezTo>
                  <a:pt x="1269" y="85"/>
                  <a:pt x="1269" y="85"/>
                  <a:pt x="1269" y="85"/>
                </a:cubicBezTo>
                <a:cubicBezTo>
                  <a:pt x="1269" y="92"/>
                  <a:pt x="1269" y="92"/>
                  <a:pt x="1269" y="92"/>
                </a:cubicBezTo>
                <a:lnTo>
                  <a:pt x="1227" y="92"/>
                </a:lnTo>
                <a:close/>
                <a:moveTo>
                  <a:pt x="1287" y="20"/>
                </a:moveTo>
                <a:cubicBezTo>
                  <a:pt x="1283" y="20"/>
                  <a:pt x="1280" y="18"/>
                  <a:pt x="1280" y="14"/>
                </a:cubicBezTo>
                <a:cubicBezTo>
                  <a:pt x="1280" y="9"/>
                  <a:pt x="1283" y="7"/>
                  <a:pt x="1287" y="7"/>
                </a:cubicBezTo>
                <a:cubicBezTo>
                  <a:pt x="1291" y="7"/>
                  <a:pt x="1294" y="9"/>
                  <a:pt x="1294" y="13"/>
                </a:cubicBezTo>
                <a:cubicBezTo>
                  <a:pt x="1294" y="18"/>
                  <a:pt x="1291" y="20"/>
                  <a:pt x="1287" y="20"/>
                </a:cubicBezTo>
                <a:close/>
                <a:moveTo>
                  <a:pt x="1281" y="92"/>
                </a:moveTo>
                <a:cubicBezTo>
                  <a:pt x="1281" y="32"/>
                  <a:pt x="1281" y="32"/>
                  <a:pt x="1281" y="32"/>
                </a:cubicBezTo>
                <a:cubicBezTo>
                  <a:pt x="1293" y="32"/>
                  <a:pt x="1293" y="32"/>
                  <a:pt x="1293" y="32"/>
                </a:cubicBezTo>
                <a:cubicBezTo>
                  <a:pt x="1293" y="92"/>
                  <a:pt x="1293" y="92"/>
                  <a:pt x="1293" y="92"/>
                </a:cubicBezTo>
                <a:lnTo>
                  <a:pt x="1281" y="92"/>
                </a:lnTo>
                <a:close/>
                <a:moveTo>
                  <a:pt x="1343" y="8"/>
                </a:moveTo>
                <a:cubicBezTo>
                  <a:pt x="1343" y="8"/>
                  <a:pt x="1340" y="6"/>
                  <a:pt x="1336" y="6"/>
                </a:cubicBezTo>
                <a:cubicBezTo>
                  <a:pt x="1331" y="6"/>
                  <a:pt x="1328" y="8"/>
                  <a:pt x="1327" y="11"/>
                </a:cubicBezTo>
                <a:cubicBezTo>
                  <a:pt x="1325" y="13"/>
                  <a:pt x="1325" y="17"/>
                  <a:pt x="1325" y="23"/>
                </a:cubicBezTo>
                <a:cubicBezTo>
                  <a:pt x="1325" y="32"/>
                  <a:pt x="1325" y="32"/>
                  <a:pt x="1325" y="32"/>
                </a:cubicBezTo>
                <a:cubicBezTo>
                  <a:pt x="1339" y="32"/>
                  <a:pt x="1339" y="32"/>
                  <a:pt x="1339" y="32"/>
                </a:cubicBezTo>
                <a:cubicBezTo>
                  <a:pt x="1339" y="38"/>
                  <a:pt x="1339" y="38"/>
                  <a:pt x="1339" y="38"/>
                </a:cubicBezTo>
                <a:cubicBezTo>
                  <a:pt x="1325" y="38"/>
                  <a:pt x="1325" y="38"/>
                  <a:pt x="1325" y="38"/>
                </a:cubicBezTo>
                <a:cubicBezTo>
                  <a:pt x="1325" y="92"/>
                  <a:pt x="1325" y="92"/>
                  <a:pt x="1325" y="92"/>
                </a:cubicBezTo>
                <a:cubicBezTo>
                  <a:pt x="1314" y="92"/>
                  <a:pt x="1314" y="92"/>
                  <a:pt x="1314" y="92"/>
                </a:cubicBezTo>
                <a:cubicBezTo>
                  <a:pt x="1314" y="38"/>
                  <a:pt x="1314" y="38"/>
                  <a:pt x="1314" y="38"/>
                </a:cubicBezTo>
                <a:cubicBezTo>
                  <a:pt x="1305" y="38"/>
                  <a:pt x="1305" y="38"/>
                  <a:pt x="1305" y="38"/>
                </a:cubicBezTo>
                <a:cubicBezTo>
                  <a:pt x="1305" y="32"/>
                  <a:pt x="1305" y="32"/>
                  <a:pt x="1305" y="32"/>
                </a:cubicBezTo>
                <a:cubicBezTo>
                  <a:pt x="1314" y="32"/>
                  <a:pt x="1314" y="32"/>
                  <a:pt x="1314" y="32"/>
                </a:cubicBezTo>
                <a:cubicBezTo>
                  <a:pt x="1314" y="28"/>
                  <a:pt x="1314" y="28"/>
                  <a:pt x="1314" y="28"/>
                </a:cubicBezTo>
                <a:cubicBezTo>
                  <a:pt x="1314" y="24"/>
                  <a:pt x="1314" y="17"/>
                  <a:pt x="1315" y="13"/>
                </a:cubicBezTo>
                <a:cubicBezTo>
                  <a:pt x="1318" y="5"/>
                  <a:pt x="1324" y="0"/>
                  <a:pt x="1334" y="0"/>
                </a:cubicBezTo>
                <a:cubicBezTo>
                  <a:pt x="1341" y="0"/>
                  <a:pt x="1345" y="2"/>
                  <a:pt x="1345" y="2"/>
                </a:cubicBezTo>
                <a:lnTo>
                  <a:pt x="1343" y="8"/>
                </a:lnTo>
                <a:close/>
                <a:moveTo>
                  <a:pt x="1356" y="60"/>
                </a:moveTo>
                <a:cubicBezTo>
                  <a:pt x="1356" y="60"/>
                  <a:pt x="1356" y="62"/>
                  <a:pt x="1356" y="62"/>
                </a:cubicBezTo>
                <a:cubicBezTo>
                  <a:pt x="1356" y="83"/>
                  <a:pt x="1370" y="86"/>
                  <a:pt x="1377" y="86"/>
                </a:cubicBezTo>
                <a:cubicBezTo>
                  <a:pt x="1386" y="86"/>
                  <a:pt x="1390" y="83"/>
                  <a:pt x="1390" y="83"/>
                </a:cubicBezTo>
                <a:cubicBezTo>
                  <a:pt x="1393" y="90"/>
                  <a:pt x="1393" y="90"/>
                  <a:pt x="1393" y="90"/>
                </a:cubicBezTo>
                <a:cubicBezTo>
                  <a:pt x="1393" y="90"/>
                  <a:pt x="1387" y="93"/>
                  <a:pt x="1375" y="93"/>
                </a:cubicBezTo>
                <a:cubicBezTo>
                  <a:pt x="1362" y="93"/>
                  <a:pt x="1345" y="89"/>
                  <a:pt x="1345" y="62"/>
                </a:cubicBezTo>
                <a:cubicBezTo>
                  <a:pt x="1345" y="51"/>
                  <a:pt x="1349" y="30"/>
                  <a:pt x="1372" y="30"/>
                </a:cubicBezTo>
                <a:cubicBezTo>
                  <a:pt x="1382" y="30"/>
                  <a:pt x="1388" y="34"/>
                  <a:pt x="1391" y="40"/>
                </a:cubicBezTo>
                <a:cubicBezTo>
                  <a:pt x="1394" y="44"/>
                  <a:pt x="1395" y="51"/>
                  <a:pt x="1395" y="58"/>
                </a:cubicBezTo>
                <a:cubicBezTo>
                  <a:pt x="1395" y="59"/>
                  <a:pt x="1395" y="59"/>
                  <a:pt x="1395" y="59"/>
                </a:cubicBezTo>
                <a:cubicBezTo>
                  <a:pt x="1395" y="60"/>
                  <a:pt x="1395" y="60"/>
                  <a:pt x="1395" y="60"/>
                </a:cubicBezTo>
                <a:lnTo>
                  <a:pt x="1356" y="60"/>
                </a:lnTo>
                <a:close/>
                <a:moveTo>
                  <a:pt x="1383" y="52"/>
                </a:moveTo>
                <a:cubicBezTo>
                  <a:pt x="1383" y="42"/>
                  <a:pt x="1379" y="37"/>
                  <a:pt x="1371" y="37"/>
                </a:cubicBezTo>
                <a:cubicBezTo>
                  <a:pt x="1364" y="37"/>
                  <a:pt x="1360" y="40"/>
                  <a:pt x="1358" y="46"/>
                </a:cubicBezTo>
                <a:cubicBezTo>
                  <a:pt x="1357" y="50"/>
                  <a:pt x="1357" y="53"/>
                  <a:pt x="1357" y="54"/>
                </a:cubicBezTo>
                <a:cubicBezTo>
                  <a:pt x="1383" y="54"/>
                  <a:pt x="1383" y="54"/>
                  <a:pt x="1383" y="54"/>
                </a:cubicBezTo>
                <a:lnTo>
                  <a:pt x="1383" y="52"/>
                </a:lnTo>
                <a:close/>
                <a:moveTo>
                  <a:pt x="1420" y="23"/>
                </a:moveTo>
                <a:cubicBezTo>
                  <a:pt x="1417" y="30"/>
                  <a:pt x="1410" y="34"/>
                  <a:pt x="1410" y="34"/>
                </a:cubicBezTo>
                <a:cubicBezTo>
                  <a:pt x="1406" y="31"/>
                  <a:pt x="1406" y="31"/>
                  <a:pt x="1406" y="31"/>
                </a:cubicBezTo>
                <a:cubicBezTo>
                  <a:pt x="1406" y="31"/>
                  <a:pt x="1411" y="25"/>
                  <a:pt x="1411" y="14"/>
                </a:cubicBezTo>
                <a:cubicBezTo>
                  <a:pt x="1411" y="7"/>
                  <a:pt x="1410" y="4"/>
                  <a:pt x="1410" y="4"/>
                </a:cubicBezTo>
                <a:cubicBezTo>
                  <a:pt x="1423" y="4"/>
                  <a:pt x="1423" y="4"/>
                  <a:pt x="1423" y="4"/>
                </a:cubicBezTo>
                <a:cubicBezTo>
                  <a:pt x="1423" y="5"/>
                  <a:pt x="1423" y="5"/>
                  <a:pt x="1423" y="5"/>
                </a:cubicBezTo>
                <a:cubicBezTo>
                  <a:pt x="1423" y="15"/>
                  <a:pt x="1422" y="19"/>
                  <a:pt x="1420" y="23"/>
                </a:cubicBezTo>
                <a:close/>
                <a:moveTo>
                  <a:pt x="1444" y="93"/>
                </a:moveTo>
                <a:cubicBezTo>
                  <a:pt x="1431" y="93"/>
                  <a:pt x="1425" y="90"/>
                  <a:pt x="1425" y="90"/>
                </a:cubicBezTo>
                <a:cubicBezTo>
                  <a:pt x="1428" y="83"/>
                  <a:pt x="1428" y="83"/>
                  <a:pt x="1428" y="83"/>
                </a:cubicBezTo>
                <a:cubicBezTo>
                  <a:pt x="1428" y="83"/>
                  <a:pt x="1433" y="86"/>
                  <a:pt x="1443" y="86"/>
                </a:cubicBezTo>
                <a:cubicBezTo>
                  <a:pt x="1451" y="86"/>
                  <a:pt x="1455" y="83"/>
                  <a:pt x="1455" y="77"/>
                </a:cubicBezTo>
                <a:cubicBezTo>
                  <a:pt x="1455" y="72"/>
                  <a:pt x="1453" y="71"/>
                  <a:pt x="1449" y="69"/>
                </a:cubicBezTo>
                <a:cubicBezTo>
                  <a:pt x="1439" y="63"/>
                  <a:pt x="1439" y="63"/>
                  <a:pt x="1439" y="63"/>
                </a:cubicBezTo>
                <a:cubicBezTo>
                  <a:pt x="1432" y="59"/>
                  <a:pt x="1428" y="55"/>
                  <a:pt x="1428" y="47"/>
                </a:cubicBezTo>
                <a:cubicBezTo>
                  <a:pt x="1428" y="35"/>
                  <a:pt x="1436" y="30"/>
                  <a:pt x="1448" y="30"/>
                </a:cubicBezTo>
                <a:cubicBezTo>
                  <a:pt x="1459" y="30"/>
                  <a:pt x="1464" y="34"/>
                  <a:pt x="1464" y="34"/>
                </a:cubicBezTo>
                <a:cubicBezTo>
                  <a:pt x="1462" y="41"/>
                  <a:pt x="1462" y="41"/>
                  <a:pt x="1462" y="41"/>
                </a:cubicBezTo>
                <a:cubicBezTo>
                  <a:pt x="1462" y="41"/>
                  <a:pt x="1457" y="37"/>
                  <a:pt x="1449" y="37"/>
                </a:cubicBezTo>
                <a:cubicBezTo>
                  <a:pt x="1444" y="37"/>
                  <a:pt x="1438" y="39"/>
                  <a:pt x="1438" y="45"/>
                </a:cubicBezTo>
                <a:cubicBezTo>
                  <a:pt x="1438" y="50"/>
                  <a:pt x="1440" y="51"/>
                  <a:pt x="1446" y="54"/>
                </a:cubicBezTo>
                <a:cubicBezTo>
                  <a:pt x="1455" y="59"/>
                  <a:pt x="1455" y="59"/>
                  <a:pt x="1455" y="59"/>
                </a:cubicBezTo>
                <a:cubicBezTo>
                  <a:pt x="1462" y="63"/>
                  <a:pt x="1466" y="68"/>
                  <a:pt x="1466" y="75"/>
                </a:cubicBezTo>
                <a:cubicBezTo>
                  <a:pt x="1466" y="90"/>
                  <a:pt x="1452" y="93"/>
                  <a:pt x="1444" y="93"/>
                </a:cubicBezTo>
                <a:close/>
                <a:moveTo>
                  <a:pt x="1587" y="93"/>
                </a:moveTo>
                <a:cubicBezTo>
                  <a:pt x="1575" y="93"/>
                  <a:pt x="1575" y="93"/>
                  <a:pt x="1575" y="93"/>
                </a:cubicBezTo>
                <a:cubicBezTo>
                  <a:pt x="1557" y="31"/>
                  <a:pt x="1557" y="31"/>
                  <a:pt x="1557" y="31"/>
                </a:cubicBezTo>
                <a:cubicBezTo>
                  <a:pt x="1556" y="25"/>
                  <a:pt x="1556" y="23"/>
                  <a:pt x="1556" y="23"/>
                </a:cubicBezTo>
                <a:cubicBezTo>
                  <a:pt x="1556" y="23"/>
                  <a:pt x="1556" y="25"/>
                  <a:pt x="1554" y="31"/>
                </a:cubicBezTo>
                <a:cubicBezTo>
                  <a:pt x="1536" y="93"/>
                  <a:pt x="1536" y="93"/>
                  <a:pt x="1536" y="93"/>
                </a:cubicBezTo>
                <a:cubicBezTo>
                  <a:pt x="1524" y="93"/>
                  <a:pt x="1524" y="93"/>
                  <a:pt x="1524" y="93"/>
                </a:cubicBezTo>
                <a:cubicBezTo>
                  <a:pt x="1500" y="8"/>
                  <a:pt x="1500" y="8"/>
                  <a:pt x="1500" y="8"/>
                </a:cubicBezTo>
                <a:cubicBezTo>
                  <a:pt x="1512" y="8"/>
                  <a:pt x="1512" y="8"/>
                  <a:pt x="1512" y="8"/>
                </a:cubicBezTo>
                <a:cubicBezTo>
                  <a:pt x="1530" y="72"/>
                  <a:pt x="1530" y="72"/>
                  <a:pt x="1530" y="72"/>
                </a:cubicBezTo>
                <a:cubicBezTo>
                  <a:pt x="1532" y="78"/>
                  <a:pt x="1532" y="81"/>
                  <a:pt x="1532" y="81"/>
                </a:cubicBezTo>
                <a:cubicBezTo>
                  <a:pt x="1532" y="81"/>
                  <a:pt x="1532" y="77"/>
                  <a:pt x="1534" y="72"/>
                </a:cubicBezTo>
                <a:cubicBezTo>
                  <a:pt x="1552" y="8"/>
                  <a:pt x="1552" y="8"/>
                  <a:pt x="1552" y="8"/>
                </a:cubicBezTo>
                <a:cubicBezTo>
                  <a:pt x="1562" y="8"/>
                  <a:pt x="1562" y="8"/>
                  <a:pt x="1562" y="8"/>
                </a:cubicBezTo>
                <a:cubicBezTo>
                  <a:pt x="1581" y="73"/>
                  <a:pt x="1581" y="73"/>
                  <a:pt x="1581" y="73"/>
                </a:cubicBezTo>
                <a:cubicBezTo>
                  <a:pt x="1582" y="77"/>
                  <a:pt x="1582" y="81"/>
                  <a:pt x="1582" y="81"/>
                </a:cubicBezTo>
                <a:cubicBezTo>
                  <a:pt x="1582" y="81"/>
                  <a:pt x="1583" y="77"/>
                  <a:pt x="1584" y="72"/>
                </a:cubicBezTo>
                <a:cubicBezTo>
                  <a:pt x="1603" y="8"/>
                  <a:pt x="1603" y="8"/>
                  <a:pt x="1603" y="8"/>
                </a:cubicBezTo>
                <a:cubicBezTo>
                  <a:pt x="1613" y="8"/>
                  <a:pt x="1613" y="8"/>
                  <a:pt x="1613" y="8"/>
                </a:cubicBezTo>
                <a:lnTo>
                  <a:pt x="1587" y="93"/>
                </a:lnTo>
                <a:close/>
                <a:moveTo>
                  <a:pt x="1643" y="94"/>
                </a:moveTo>
                <a:cubicBezTo>
                  <a:pt x="1626" y="94"/>
                  <a:pt x="1615" y="81"/>
                  <a:pt x="1615" y="63"/>
                </a:cubicBezTo>
                <a:cubicBezTo>
                  <a:pt x="1615" y="50"/>
                  <a:pt x="1621" y="30"/>
                  <a:pt x="1645" y="30"/>
                </a:cubicBezTo>
                <a:cubicBezTo>
                  <a:pt x="1662" y="30"/>
                  <a:pt x="1673" y="43"/>
                  <a:pt x="1673" y="61"/>
                </a:cubicBezTo>
                <a:cubicBezTo>
                  <a:pt x="1673" y="74"/>
                  <a:pt x="1667" y="94"/>
                  <a:pt x="1643" y="94"/>
                </a:cubicBezTo>
                <a:close/>
                <a:moveTo>
                  <a:pt x="1644" y="37"/>
                </a:moveTo>
                <a:cubicBezTo>
                  <a:pt x="1632" y="37"/>
                  <a:pt x="1628" y="46"/>
                  <a:pt x="1628" y="62"/>
                </a:cubicBezTo>
                <a:cubicBezTo>
                  <a:pt x="1628" y="76"/>
                  <a:pt x="1632" y="87"/>
                  <a:pt x="1644" y="87"/>
                </a:cubicBezTo>
                <a:cubicBezTo>
                  <a:pt x="1656" y="87"/>
                  <a:pt x="1660" y="78"/>
                  <a:pt x="1660" y="62"/>
                </a:cubicBezTo>
                <a:cubicBezTo>
                  <a:pt x="1660" y="48"/>
                  <a:pt x="1656" y="37"/>
                  <a:pt x="1644" y="37"/>
                </a:cubicBezTo>
                <a:close/>
                <a:moveTo>
                  <a:pt x="1719" y="42"/>
                </a:moveTo>
                <a:cubicBezTo>
                  <a:pt x="1718" y="41"/>
                  <a:pt x="1715" y="39"/>
                  <a:pt x="1710" y="39"/>
                </a:cubicBezTo>
                <a:cubicBezTo>
                  <a:pt x="1704" y="39"/>
                  <a:pt x="1700" y="42"/>
                  <a:pt x="1700" y="42"/>
                </a:cubicBezTo>
                <a:cubicBezTo>
                  <a:pt x="1700" y="92"/>
                  <a:pt x="1700" y="92"/>
                  <a:pt x="1700" y="92"/>
                </a:cubicBezTo>
                <a:cubicBezTo>
                  <a:pt x="1688" y="92"/>
                  <a:pt x="1688" y="92"/>
                  <a:pt x="1688" y="92"/>
                </a:cubicBezTo>
                <a:cubicBezTo>
                  <a:pt x="1688" y="32"/>
                  <a:pt x="1688" y="32"/>
                  <a:pt x="1688" y="32"/>
                </a:cubicBezTo>
                <a:cubicBezTo>
                  <a:pt x="1700" y="32"/>
                  <a:pt x="1700" y="32"/>
                  <a:pt x="1700" y="32"/>
                </a:cubicBezTo>
                <a:cubicBezTo>
                  <a:pt x="1700" y="39"/>
                  <a:pt x="1700" y="39"/>
                  <a:pt x="1700" y="39"/>
                </a:cubicBezTo>
                <a:cubicBezTo>
                  <a:pt x="1700" y="39"/>
                  <a:pt x="1705" y="30"/>
                  <a:pt x="1714" y="30"/>
                </a:cubicBezTo>
                <a:cubicBezTo>
                  <a:pt x="1719" y="30"/>
                  <a:pt x="1721" y="32"/>
                  <a:pt x="1723" y="32"/>
                </a:cubicBezTo>
                <a:lnTo>
                  <a:pt x="1719" y="42"/>
                </a:lnTo>
                <a:close/>
                <a:moveTo>
                  <a:pt x="1769" y="92"/>
                </a:moveTo>
                <a:cubicBezTo>
                  <a:pt x="1746" y="60"/>
                  <a:pt x="1746" y="60"/>
                  <a:pt x="1746" y="60"/>
                </a:cubicBezTo>
                <a:cubicBezTo>
                  <a:pt x="1746" y="92"/>
                  <a:pt x="1746" y="92"/>
                  <a:pt x="1746" y="92"/>
                </a:cubicBezTo>
                <a:cubicBezTo>
                  <a:pt x="1734" y="92"/>
                  <a:pt x="1734" y="92"/>
                  <a:pt x="1734" y="92"/>
                </a:cubicBezTo>
                <a:cubicBezTo>
                  <a:pt x="1734" y="0"/>
                  <a:pt x="1734" y="0"/>
                  <a:pt x="1734" y="0"/>
                </a:cubicBezTo>
                <a:cubicBezTo>
                  <a:pt x="1746" y="0"/>
                  <a:pt x="1746" y="0"/>
                  <a:pt x="1746" y="0"/>
                </a:cubicBezTo>
                <a:cubicBezTo>
                  <a:pt x="1746" y="58"/>
                  <a:pt x="1746" y="58"/>
                  <a:pt x="1746" y="58"/>
                </a:cubicBezTo>
                <a:cubicBezTo>
                  <a:pt x="1770" y="32"/>
                  <a:pt x="1770" y="32"/>
                  <a:pt x="1770" y="32"/>
                </a:cubicBezTo>
                <a:cubicBezTo>
                  <a:pt x="1783" y="32"/>
                  <a:pt x="1783" y="32"/>
                  <a:pt x="1783" y="32"/>
                </a:cubicBezTo>
                <a:cubicBezTo>
                  <a:pt x="1757" y="57"/>
                  <a:pt x="1757" y="57"/>
                  <a:pt x="1757" y="57"/>
                </a:cubicBezTo>
                <a:cubicBezTo>
                  <a:pt x="1783" y="92"/>
                  <a:pt x="1783" y="92"/>
                  <a:pt x="1783" y="92"/>
                </a:cubicBezTo>
                <a:lnTo>
                  <a:pt x="1769" y="92"/>
                </a:lnTo>
                <a:close/>
                <a:moveTo>
                  <a:pt x="1803" y="99"/>
                </a:moveTo>
                <a:cubicBezTo>
                  <a:pt x="1799" y="106"/>
                  <a:pt x="1792" y="110"/>
                  <a:pt x="1792" y="110"/>
                </a:cubicBezTo>
                <a:cubicBezTo>
                  <a:pt x="1789" y="106"/>
                  <a:pt x="1789" y="106"/>
                  <a:pt x="1789" y="106"/>
                </a:cubicBezTo>
                <a:cubicBezTo>
                  <a:pt x="1789" y="106"/>
                  <a:pt x="1794" y="100"/>
                  <a:pt x="1794" y="89"/>
                </a:cubicBezTo>
                <a:cubicBezTo>
                  <a:pt x="1794" y="83"/>
                  <a:pt x="1793" y="80"/>
                  <a:pt x="1793" y="80"/>
                </a:cubicBezTo>
                <a:cubicBezTo>
                  <a:pt x="1805" y="80"/>
                  <a:pt x="1805" y="80"/>
                  <a:pt x="1805" y="80"/>
                </a:cubicBezTo>
                <a:cubicBezTo>
                  <a:pt x="1805" y="80"/>
                  <a:pt x="1805" y="80"/>
                  <a:pt x="1805" y="80"/>
                </a:cubicBezTo>
                <a:cubicBezTo>
                  <a:pt x="1805" y="91"/>
                  <a:pt x="1804" y="95"/>
                  <a:pt x="1803" y="99"/>
                </a:cubicBezTo>
                <a:close/>
                <a:moveTo>
                  <a:pt x="1878" y="92"/>
                </a:moveTo>
                <a:cubicBezTo>
                  <a:pt x="1878" y="87"/>
                  <a:pt x="1878" y="87"/>
                  <a:pt x="1878" y="87"/>
                </a:cubicBezTo>
                <a:cubicBezTo>
                  <a:pt x="1878" y="87"/>
                  <a:pt x="1873" y="93"/>
                  <a:pt x="1863" y="93"/>
                </a:cubicBezTo>
                <a:cubicBezTo>
                  <a:pt x="1852" y="93"/>
                  <a:pt x="1844" y="87"/>
                  <a:pt x="1844" y="76"/>
                </a:cubicBezTo>
                <a:cubicBezTo>
                  <a:pt x="1844" y="70"/>
                  <a:pt x="1847" y="65"/>
                  <a:pt x="1851" y="62"/>
                </a:cubicBezTo>
                <a:cubicBezTo>
                  <a:pt x="1855" y="59"/>
                  <a:pt x="1862" y="58"/>
                  <a:pt x="1869" y="58"/>
                </a:cubicBezTo>
                <a:cubicBezTo>
                  <a:pt x="1873" y="58"/>
                  <a:pt x="1878" y="59"/>
                  <a:pt x="1878" y="59"/>
                </a:cubicBezTo>
                <a:cubicBezTo>
                  <a:pt x="1878" y="54"/>
                  <a:pt x="1878" y="54"/>
                  <a:pt x="1878" y="54"/>
                </a:cubicBezTo>
                <a:cubicBezTo>
                  <a:pt x="1878" y="51"/>
                  <a:pt x="1878" y="46"/>
                  <a:pt x="1877" y="44"/>
                </a:cubicBezTo>
                <a:cubicBezTo>
                  <a:pt x="1876" y="39"/>
                  <a:pt x="1871" y="37"/>
                  <a:pt x="1866" y="37"/>
                </a:cubicBezTo>
                <a:cubicBezTo>
                  <a:pt x="1858" y="37"/>
                  <a:pt x="1853" y="40"/>
                  <a:pt x="1853" y="40"/>
                </a:cubicBezTo>
                <a:cubicBezTo>
                  <a:pt x="1850" y="33"/>
                  <a:pt x="1850" y="33"/>
                  <a:pt x="1850" y="33"/>
                </a:cubicBezTo>
                <a:cubicBezTo>
                  <a:pt x="1850" y="33"/>
                  <a:pt x="1857" y="30"/>
                  <a:pt x="1869" y="30"/>
                </a:cubicBezTo>
                <a:cubicBezTo>
                  <a:pt x="1885" y="30"/>
                  <a:pt x="1888" y="39"/>
                  <a:pt x="1888" y="42"/>
                </a:cubicBezTo>
                <a:cubicBezTo>
                  <a:pt x="1889" y="45"/>
                  <a:pt x="1889" y="55"/>
                  <a:pt x="1889" y="57"/>
                </a:cubicBezTo>
                <a:cubicBezTo>
                  <a:pt x="1889" y="92"/>
                  <a:pt x="1889" y="92"/>
                  <a:pt x="1889" y="92"/>
                </a:cubicBezTo>
                <a:lnTo>
                  <a:pt x="1878" y="92"/>
                </a:lnTo>
                <a:close/>
                <a:moveTo>
                  <a:pt x="1878" y="64"/>
                </a:moveTo>
                <a:cubicBezTo>
                  <a:pt x="1878" y="64"/>
                  <a:pt x="1876" y="64"/>
                  <a:pt x="1871" y="64"/>
                </a:cubicBezTo>
                <a:cubicBezTo>
                  <a:pt x="1867" y="64"/>
                  <a:pt x="1863" y="65"/>
                  <a:pt x="1861" y="66"/>
                </a:cubicBezTo>
                <a:cubicBezTo>
                  <a:pt x="1857" y="68"/>
                  <a:pt x="1856" y="72"/>
                  <a:pt x="1856" y="75"/>
                </a:cubicBezTo>
                <a:cubicBezTo>
                  <a:pt x="1856" y="84"/>
                  <a:pt x="1862" y="86"/>
                  <a:pt x="1868" y="86"/>
                </a:cubicBezTo>
                <a:cubicBezTo>
                  <a:pt x="1874" y="86"/>
                  <a:pt x="1878" y="84"/>
                  <a:pt x="1878" y="84"/>
                </a:cubicBezTo>
                <a:lnTo>
                  <a:pt x="1878" y="64"/>
                </a:lnTo>
                <a:close/>
                <a:moveTo>
                  <a:pt x="1946" y="92"/>
                </a:moveTo>
                <a:cubicBezTo>
                  <a:pt x="1946" y="60"/>
                  <a:pt x="1946" y="60"/>
                  <a:pt x="1946" y="60"/>
                </a:cubicBezTo>
                <a:cubicBezTo>
                  <a:pt x="1946" y="56"/>
                  <a:pt x="1946" y="52"/>
                  <a:pt x="1945" y="49"/>
                </a:cubicBezTo>
                <a:cubicBezTo>
                  <a:pt x="1944" y="41"/>
                  <a:pt x="1939" y="38"/>
                  <a:pt x="1931" y="38"/>
                </a:cubicBezTo>
                <a:cubicBezTo>
                  <a:pt x="1924" y="38"/>
                  <a:pt x="1919" y="41"/>
                  <a:pt x="1919" y="41"/>
                </a:cubicBezTo>
                <a:cubicBezTo>
                  <a:pt x="1919" y="92"/>
                  <a:pt x="1919" y="92"/>
                  <a:pt x="1919" y="92"/>
                </a:cubicBezTo>
                <a:cubicBezTo>
                  <a:pt x="1908" y="92"/>
                  <a:pt x="1908" y="92"/>
                  <a:pt x="1908" y="92"/>
                </a:cubicBezTo>
                <a:cubicBezTo>
                  <a:pt x="1908" y="32"/>
                  <a:pt x="1908" y="32"/>
                  <a:pt x="1908" y="32"/>
                </a:cubicBezTo>
                <a:cubicBezTo>
                  <a:pt x="1919" y="32"/>
                  <a:pt x="1919" y="32"/>
                  <a:pt x="1919" y="32"/>
                </a:cubicBezTo>
                <a:cubicBezTo>
                  <a:pt x="1919" y="38"/>
                  <a:pt x="1919" y="38"/>
                  <a:pt x="1919" y="38"/>
                </a:cubicBezTo>
                <a:cubicBezTo>
                  <a:pt x="1919" y="38"/>
                  <a:pt x="1925" y="30"/>
                  <a:pt x="1937" y="30"/>
                </a:cubicBezTo>
                <a:cubicBezTo>
                  <a:pt x="1950" y="30"/>
                  <a:pt x="1955" y="38"/>
                  <a:pt x="1956" y="44"/>
                </a:cubicBezTo>
                <a:cubicBezTo>
                  <a:pt x="1957" y="48"/>
                  <a:pt x="1957" y="53"/>
                  <a:pt x="1957" y="56"/>
                </a:cubicBezTo>
                <a:cubicBezTo>
                  <a:pt x="1957" y="92"/>
                  <a:pt x="1957" y="92"/>
                  <a:pt x="1957" y="92"/>
                </a:cubicBezTo>
                <a:lnTo>
                  <a:pt x="1946" y="92"/>
                </a:lnTo>
                <a:close/>
                <a:moveTo>
                  <a:pt x="2015" y="92"/>
                </a:moveTo>
                <a:cubicBezTo>
                  <a:pt x="2015" y="86"/>
                  <a:pt x="2015" y="86"/>
                  <a:pt x="2015" y="86"/>
                </a:cubicBezTo>
                <a:cubicBezTo>
                  <a:pt x="2015" y="86"/>
                  <a:pt x="2010" y="93"/>
                  <a:pt x="1998" y="93"/>
                </a:cubicBezTo>
                <a:cubicBezTo>
                  <a:pt x="1984" y="93"/>
                  <a:pt x="1973" y="83"/>
                  <a:pt x="1973" y="63"/>
                </a:cubicBezTo>
                <a:cubicBezTo>
                  <a:pt x="1973" y="43"/>
                  <a:pt x="1986" y="31"/>
                  <a:pt x="2002" y="31"/>
                </a:cubicBezTo>
                <a:cubicBezTo>
                  <a:pt x="2011" y="31"/>
                  <a:pt x="2015" y="33"/>
                  <a:pt x="2015" y="33"/>
                </a:cubicBezTo>
                <a:cubicBezTo>
                  <a:pt x="2015" y="0"/>
                  <a:pt x="2015" y="0"/>
                  <a:pt x="2015" y="0"/>
                </a:cubicBezTo>
                <a:cubicBezTo>
                  <a:pt x="2027" y="0"/>
                  <a:pt x="2027" y="0"/>
                  <a:pt x="2027" y="0"/>
                </a:cubicBezTo>
                <a:cubicBezTo>
                  <a:pt x="2027" y="92"/>
                  <a:pt x="2027" y="92"/>
                  <a:pt x="2027" y="92"/>
                </a:cubicBezTo>
                <a:lnTo>
                  <a:pt x="2015" y="92"/>
                </a:lnTo>
                <a:close/>
                <a:moveTo>
                  <a:pt x="2015" y="38"/>
                </a:moveTo>
                <a:cubicBezTo>
                  <a:pt x="2015" y="38"/>
                  <a:pt x="2012" y="37"/>
                  <a:pt x="2006" y="37"/>
                </a:cubicBezTo>
                <a:cubicBezTo>
                  <a:pt x="1992" y="37"/>
                  <a:pt x="1985" y="46"/>
                  <a:pt x="1985" y="62"/>
                </a:cubicBezTo>
                <a:cubicBezTo>
                  <a:pt x="1985" y="76"/>
                  <a:pt x="1992" y="86"/>
                  <a:pt x="2004" y="86"/>
                </a:cubicBezTo>
                <a:cubicBezTo>
                  <a:pt x="2011" y="86"/>
                  <a:pt x="2015" y="83"/>
                  <a:pt x="2015" y="83"/>
                </a:cubicBezTo>
                <a:lnTo>
                  <a:pt x="2015" y="38"/>
                </a:lnTo>
                <a:close/>
              </a:path>
            </a:pathLst>
          </a:custGeom>
          <a:solidFill>
            <a:srgbClr val="505759"/>
          </a:solidFill>
          <a:ln>
            <a:noFill/>
          </a:ln>
        </p:spPr>
        <p:txBody>
          <a:bodyPr vert="horz" wrap="square" lIns="91440" tIns="45720" rIns="91440" bIns="45720" numCol="1" anchor="t" anchorCtr="0" compatLnSpc="1">
            <a:prstTxWarp prst="textNoShape">
              <a:avLst/>
            </a:prstTxWarp>
          </a:bodyPr>
          <a:lstStyle/>
          <a:p>
            <a:endParaRPr lang="en-US"/>
          </a:p>
        </p:txBody>
      </p:sp>
    </p:spTree>
    <p:extLst>
      <p:ext uri="{BB962C8B-B14F-4D97-AF65-F5344CB8AC3E}">
        <p14:creationId xmlns:p14="http://schemas.microsoft.com/office/powerpoint/2010/main" val="136806606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7"/>
                                        </p:tgtEl>
                                        <p:attrNameLst>
                                          <p:attrName>style.visibility</p:attrName>
                                        </p:attrNameLst>
                                      </p:cBhvr>
                                      <p:to>
                                        <p:strVal val="visible"/>
                                      </p:to>
                                    </p:set>
                                    <p:animEffect transition="in" filter="wipe(left)">
                                      <p:cBhvr>
                                        <p:cTn id="7" dur="2000"/>
                                        <p:tgtEl>
                                          <p:spTgt spid="7"/>
                                        </p:tgtEl>
                                      </p:cBhvr>
                                    </p:animEffect>
                                  </p:childTnLst>
                                </p:cTn>
                              </p:par>
                            </p:childTnLst>
                          </p:cTn>
                        </p:par>
                        <p:par>
                          <p:cTn id="8" fill="hold">
                            <p:stCondLst>
                              <p:cond delay="2000"/>
                            </p:stCondLst>
                            <p:childTnLst>
                              <p:par>
                                <p:cTn id="9" presetID="10" presetClass="entr" presetSubtype="0" fill="hold" nodeType="afterEffect">
                                  <p:stCondLst>
                                    <p:cond delay="250"/>
                                  </p:stCondLst>
                                  <p:childTnLst>
                                    <p:set>
                                      <p:cBhvr>
                                        <p:cTn id="10" dur="1" fill="hold">
                                          <p:stCondLst>
                                            <p:cond delay="0"/>
                                          </p:stCondLst>
                                        </p:cTn>
                                        <p:tgtEl>
                                          <p:spTgt spid="6"/>
                                        </p:tgtEl>
                                        <p:attrNameLst>
                                          <p:attrName>style.visibility</p:attrName>
                                        </p:attrNameLst>
                                      </p:cBhvr>
                                      <p:to>
                                        <p:strVal val="visible"/>
                                      </p:to>
                                    </p:set>
                                    <p:animEffect transition="in" filter="fade">
                                      <p:cBhvr>
                                        <p:cTn id="11" dur="250"/>
                                        <p:tgtEl>
                                          <p:spTgt spid="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animBg="1"/>
    </p:bldLst>
  </p:timing>
</p:sldLayout>
</file>

<file path=ppt/slideLayouts/slideLayout23.xml><?xml version="1.0" encoding="utf-8"?>
<p:sldLayout xmlns:a="http://schemas.openxmlformats.org/drawingml/2006/main" xmlns:r="http://schemas.openxmlformats.org/officeDocument/2006/relationships" xmlns:p="http://schemas.openxmlformats.org/presentationml/2006/main" showMasterSp="0" preserve="1" userDrawn="1">
  <p:cSld name="End Slide 03">
    <p:spTree>
      <p:nvGrpSpPr>
        <p:cNvPr id="1" name=""/>
        <p:cNvGrpSpPr/>
        <p:nvPr/>
      </p:nvGrpSpPr>
      <p:grpSpPr>
        <a:xfrm>
          <a:off x="0" y="0"/>
          <a:ext cx="0" cy="0"/>
          <a:chOff x="0" y="0"/>
          <a:chExt cx="0" cy="0"/>
        </a:xfrm>
      </p:grpSpPr>
      <p:pic>
        <p:nvPicPr>
          <p:cNvPr id="7" name="Picture 6" descr="Icon&#10;&#10;Description automatically generated">
            <a:extLst>
              <a:ext uri="{FF2B5EF4-FFF2-40B4-BE49-F238E27FC236}">
                <a16:creationId xmlns:a16="http://schemas.microsoft.com/office/drawing/2014/main" id="{AE74AC07-E5ED-D346-85B8-2A7BD7B92650}"/>
              </a:ext>
            </a:extLst>
          </p:cNvPr>
          <p:cNvPicPr>
            <a:picLocks noChangeAspect="1"/>
          </p:cNvPicPr>
          <p:nvPr userDrawn="1"/>
        </p:nvPicPr>
        <p:blipFill>
          <a:blip r:embed="rId2"/>
          <a:stretch>
            <a:fillRect/>
          </a:stretch>
        </p:blipFill>
        <p:spPr>
          <a:xfrm>
            <a:off x="3300984" y="786384"/>
            <a:ext cx="2532888" cy="3105391"/>
          </a:xfrm>
          <a:prstGeom prst="rect">
            <a:avLst/>
          </a:prstGeom>
        </p:spPr>
      </p:pic>
      <p:pic>
        <p:nvPicPr>
          <p:cNvPr id="6" name="Picture 5" title="life is now">
            <a:extLst>
              <a:ext uri="{FF2B5EF4-FFF2-40B4-BE49-F238E27FC236}">
                <a16:creationId xmlns:a16="http://schemas.microsoft.com/office/drawing/2014/main" id="{5A984F1C-C797-C840-9648-955CFCE6638C}"/>
              </a:ext>
            </a:extLst>
          </p:cNvPr>
          <p:cNvPicPr>
            <a:picLocks noChangeAspect="1"/>
          </p:cNvPicPr>
          <p:nvPr userDrawn="1"/>
        </p:nvPicPr>
        <p:blipFill>
          <a:blip r:embed="rId3">
            <a:extLst>
              <a:ext uri="{28A0092B-C50C-407E-A947-70E740481C1C}">
                <a14:useLocalDpi xmlns:a14="http://schemas.microsoft.com/office/drawing/2010/main"/>
              </a:ext>
            </a:extLst>
          </a:blip>
          <a:stretch>
            <a:fillRect/>
          </a:stretch>
        </p:blipFill>
        <p:spPr bwMode="gray">
          <a:xfrm>
            <a:off x="5715000" y="3959352"/>
            <a:ext cx="1765808" cy="819334"/>
          </a:xfrm>
          <a:prstGeom prst="rect">
            <a:avLst/>
          </a:prstGeom>
        </p:spPr>
      </p:pic>
      <p:sp>
        <p:nvSpPr>
          <p:cNvPr id="8" name="Freeform 16" title="Helping Patients is Our Life's Work, and">
            <a:extLst>
              <a:ext uri="{FF2B5EF4-FFF2-40B4-BE49-F238E27FC236}">
                <a16:creationId xmlns:a16="http://schemas.microsoft.com/office/drawing/2014/main" id="{D0945591-442B-2441-9CBA-8B980E021662}"/>
              </a:ext>
            </a:extLst>
          </p:cNvPr>
          <p:cNvSpPr>
            <a:spLocks noChangeAspect="1" noEditPoints="1"/>
          </p:cNvSpPr>
          <p:nvPr userDrawn="1"/>
        </p:nvSpPr>
        <p:spPr bwMode="gray">
          <a:xfrm>
            <a:off x="1778147" y="3968495"/>
            <a:ext cx="4443984" cy="262666"/>
          </a:xfrm>
          <a:custGeom>
            <a:avLst/>
            <a:gdLst>
              <a:gd name="T0" fmla="*/ 11 w 2027"/>
              <a:gd name="T1" fmla="*/ 45 h 120"/>
              <a:gd name="T2" fmla="*/ 113 w 2027"/>
              <a:gd name="T3" fmla="*/ 86 h 120"/>
              <a:gd name="T4" fmla="*/ 131 w 2027"/>
              <a:gd name="T5" fmla="*/ 59 h 120"/>
              <a:gd name="T6" fmla="*/ 119 w 2027"/>
              <a:gd name="T7" fmla="*/ 52 h 120"/>
              <a:gd name="T8" fmla="*/ 188 w 2027"/>
              <a:gd name="T9" fmla="*/ 120 h 120"/>
              <a:gd name="T10" fmla="*/ 200 w 2027"/>
              <a:gd name="T11" fmla="*/ 38 h 120"/>
              <a:gd name="T12" fmla="*/ 252 w 2027"/>
              <a:gd name="T13" fmla="*/ 7 h 120"/>
              <a:gd name="T14" fmla="*/ 315 w 2027"/>
              <a:gd name="T15" fmla="*/ 92 h 120"/>
              <a:gd name="T16" fmla="*/ 289 w 2027"/>
              <a:gd name="T17" fmla="*/ 32 h 120"/>
              <a:gd name="T18" fmla="*/ 388 w 2027"/>
              <a:gd name="T19" fmla="*/ 51 h 120"/>
              <a:gd name="T20" fmla="*/ 363 w 2027"/>
              <a:gd name="T21" fmla="*/ 120 h 120"/>
              <a:gd name="T22" fmla="*/ 397 w 2027"/>
              <a:gd name="T23" fmla="*/ 32 h 120"/>
              <a:gd name="T24" fmla="*/ 368 w 2027"/>
              <a:gd name="T25" fmla="*/ 91 h 120"/>
              <a:gd name="T26" fmla="*/ 461 w 2027"/>
              <a:gd name="T27" fmla="*/ 57 h 120"/>
              <a:gd name="T28" fmla="*/ 437 w 2027"/>
              <a:gd name="T29" fmla="*/ 92 h 120"/>
              <a:gd name="T30" fmla="*/ 512 w 2027"/>
              <a:gd name="T31" fmla="*/ 93 h 120"/>
              <a:gd name="T32" fmla="*/ 503 w 2027"/>
              <a:gd name="T33" fmla="*/ 40 h 120"/>
              <a:gd name="T34" fmla="*/ 521 w 2027"/>
              <a:gd name="T35" fmla="*/ 64 h 120"/>
              <a:gd name="T36" fmla="*/ 560 w 2027"/>
              <a:gd name="T37" fmla="*/ 71 h 120"/>
              <a:gd name="T38" fmla="*/ 571 w 2027"/>
              <a:gd name="T39" fmla="*/ 32 h 120"/>
              <a:gd name="T40" fmla="*/ 577 w 2027"/>
              <a:gd name="T41" fmla="*/ 93 h 120"/>
              <a:gd name="T42" fmla="*/ 615 w 2027"/>
              <a:gd name="T43" fmla="*/ 32 h 120"/>
              <a:gd name="T44" fmla="*/ 661 w 2027"/>
              <a:gd name="T45" fmla="*/ 93 h 120"/>
              <a:gd name="T46" fmla="*/ 669 w 2027"/>
              <a:gd name="T47" fmla="*/ 52 h 120"/>
              <a:gd name="T48" fmla="*/ 734 w 2027"/>
              <a:gd name="T49" fmla="*/ 49 h 120"/>
              <a:gd name="T50" fmla="*/ 726 w 2027"/>
              <a:gd name="T51" fmla="*/ 30 h 120"/>
              <a:gd name="T52" fmla="*/ 765 w 2027"/>
              <a:gd name="T53" fmla="*/ 38 h 120"/>
              <a:gd name="T54" fmla="*/ 796 w 2027"/>
              <a:gd name="T55" fmla="*/ 32 h 120"/>
              <a:gd name="T56" fmla="*/ 824 w 2027"/>
              <a:gd name="T57" fmla="*/ 93 h 120"/>
              <a:gd name="T58" fmla="*/ 828 w 2027"/>
              <a:gd name="T59" fmla="*/ 30 h 120"/>
              <a:gd name="T60" fmla="*/ 824 w 2027"/>
              <a:gd name="T61" fmla="*/ 93 h 120"/>
              <a:gd name="T62" fmla="*/ 901 w 2027"/>
              <a:gd name="T63" fmla="*/ 32 h 120"/>
              <a:gd name="T64" fmla="*/ 937 w 2027"/>
              <a:gd name="T65" fmla="*/ 69 h 120"/>
              <a:gd name="T66" fmla="*/ 934 w 2027"/>
              <a:gd name="T67" fmla="*/ 54 h 120"/>
              <a:gd name="T68" fmla="*/ 1032 w 2027"/>
              <a:gd name="T69" fmla="*/ 94 h 120"/>
              <a:gd name="T70" fmla="*/ 1106 w 2027"/>
              <a:gd name="T71" fmla="*/ 94 h 120"/>
              <a:gd name="T72" fmla="*/ 1124 w 2027"/>
              <a:gd name="T73" fmla="*/ 83 h 120"/>
              <a:gd name="T74" fmla="*/ 1166 w 2027"/>
              <a:gd name="T75" fmla="*/ 92 h 120"/>
              <a:gd name="T76" fmla="*/ 1227 w 2027"/>
              <a:gd name="T77" fmla="*/ 92 h 120"/>
              <a:gd name="T78" fmla="*/ 1280 w 2027"/>
              <a:gd name="T79" fmla="*/ 14 h 120"/>
              <a:gd name="T80" fmla="*/ 1281 w 2027"/>
              <a:gd name="T81" fmla="*/ 92 h 120"/>
              <a:gd name="T82" fmla="*/ 1325 w 2027"/>
              <a:gd name="T83" fmla="*/ 38 h 120"/>
              <a:gd name="T84" fmla="*/ 1315 w 2027"/>
              <a:gd name="T85" fmla="*/ 13 h 120"/>
              <a:gd name="T86" fmla="*/ 1393 w 2027"/>
              <a:gd name="T87" fmla="*/ 90 h 120"/>
              <a:gd name="T88" fmla="*/ 1356 w 2027"/>
              <a:gd name="T89" fmla="*/ 60 h 120"/>
              <a:gd name="T90" fmla="*/ 1410 w 2027"/>
              <a:gd name="T91" fmla="*/ 34 h 120"/>
              <a:gd name="T92" fmla="*/ 1425 w 2027"/>
              <a:gd name="T93" fmla="*/ 90 h 120"/>
              <a:gd name="T94" fmla="*/ 1464 w 2027"/>
              <a:gd name="T95" fmla="*/ 34 h 120"/>
              <a:gd name="T96" fmla="*/ 1587 w 2027"/>
              <a:gd name="T97" fmla="*/ 93 h 120"/>
              <a:gd name="T98" fmla="*/ 1512 w 2027"/>
              <a:gd name="T99" fmla="*/ 8 h 120"/>
              <a:gd name="T100" fmla="*/ 1584 w 2027"/>
              <a:gd name="T101" fmla="*/ 72 h 120"/>
              <a:gd name="T102" fmla="*/ 1643 w 2027"/>
              <a:gd name="T103" fmla="*/ 94 h 120"/>
              <a:gd name="T104" fmla="*/ 1700 w 2027"/>
              <a:gd name="T105" fmla="*/ 42 h 120"/>
              <a:gd name="T106" fmla="*/ 1719 w 2027"/>
              <a:gd name="T107" fmla="*/ 42 h 120"/>
              <a:gd name="T108" fmla="*/ 1770 w 2027"/>
              <a:gd name="T109" fmla="*/ 32 h 120"/>
              <a:gd name="T110" fmla="*/ 1794 w 2027"/>
              <a:gd name="T111" fmla="*/ 89 h 120"/>
              <a:gd name="T112" fmla="*/ 1844 w 2027"/>
              <a:gd name="T113" fmla="*/ 76 h 120"/>
              <a:gd name="T114" fmla="*/ 1850 w 2027"/>
              <a:gd name="T115" fmla="*/ 33 h 120"/>
              <a:gd name="T116" fmla="*/ 1861 w 2027"/>
              <a:gd name="T117" fmla="*/ 66 h 120"/>
              <a:gd name="T118" fmla="*/ 1931 w 2027"/>
              <a:gd name="T119" fmla="*/ 38 h 120"/>
              <a:gd name="T120" fmla="*/ 1956 w 2027"/>
              <a:gd name="T121" fmla="*/ 44 h 120"/>
              <a:gd name="T122" fmla="*/ 2002 w 2027"/>
              <a:gd name="T123" fmla="*/ 31 h 120"/>
              <a:gd name="T124" fmla="*/ 1985 w 2027"/>
              <a:gd name="T125" fmla="*/ 62 h 12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 ang="0">
                <a:pos x="T122" y="T123"/>
              </a:cxn>
              <a:cxn ang="0">
                <a:pos x="T124" y="T125"/>
              </a:cxn>
            </a:cxnLst>
            <a:rect l="0" t="0" r="r" b="b"/>
            <a:pathLst>
              <a:path w="2027" h="120">
                <a:moveTo>
                  <a:pt x="52" y="92"/>
                </a:moveTo>
                <a:cubicBezTo>
                  <a:pt x="52" y="52"/>
                  <a:pt x="52" y="52"/>
                  <a:pt x="52" y="52"/>
                </a:cubicBezTo>
                <a:cubicBezTo>
                  <a:pt x="11" y="52"/>
                  <a:pt x="11" y="52"/>
                  <a:pt x="11" y="52"/>
                </a:cubicBezTo>
                <a:cubicBezTo>
                  <a:pt x="11" y="92"/>
                  <a:pt x="11" y="92"/>
                  <a:pt x="11" y="92"/>
                </a:cubicBezTo>
                <a:cubicBezTo>
                  <a:pt x="0" y="92"/>
                  <a:pt x="0" y="92"/>
                  <a:pt x="0" y="92"/>
                </a:cubicBezTo>
                <a:cubicBezTo>
                  <a:pt x="0" y="8"/>
                  <a:pt x="0" y="8"/>
                  <a:pt x="0" y="8"/>
                </a:cubicBezTo>
                <a:cubicBezTo>
                  <a:pt x="11" y="8"/>
                  <a:pt x="11" y="8"/>
                  <a:pt x="11" y="8"/>
                </a:cubicBezTo>
                <a:cubicBezTo>
                  <a:pt x="11" y="45"/>
                  <a:pt x="11" y="45"/>
                  <a:pt x="11" y="45"/>
                </a:cubicBezTo>
                <a:cubicBezTo>
                  <a:pt x="52" y="45"/>
                  <a:pt x="52" y="45"/>
                  <a:pt x="52" y="45"/>
                </a:cubicBezTo>
                <a:cubicBezTo>
                  <a:pt x="52" y="8"/>
                  <a:pt x="52" y="8"/>
                  <a:pt x="52" y="8"/>
                </a:cubicBezTo>
                <a:cubicBezTo>
                  <a:pt x="64" y="8"/>
                  <a:pt x="64" y="8"/>
                  <a:pt x="64" y="8"/>
                </a:cubicBezTo>
                <a:cubicBezTo>
                  <a:pt x="64" y="92"/>
                  <a:pt x="64" y="92"/>
                  <a:pt x="64" y="92"/>
                </a:cubicBezTo>
                <a:lnTo>
                  <a:pt x="52" y="92"/>
                </a:lnTo>
                <a:close/>
                <a:moveTo>
                  <a:pt x="92" y="60"/>
                </a:moveTo>
                <a:cubicBezTo>
                  <a:pt x="92" y="60"/>
                  <a:pt x="92" y="62"/>
                  <a:pt x="92" y="62"/>
                </a:cubicBezTo>
                <a:cubicBezTo>
                  <a:pt x="92" y="83"/>
                  <a:pt x="106" y="86"/>
                  <a:pt x="113" y="86"/>
                </a:cubicBezTo>
                <a:cubicBezTo>
                  <a:pt x="122" y="86"/>
                  <a:pt x="126" y="83"/>
                  <a:pt x="126" y="83"/>
                </a:cubicBezTo>
                <a:cubicBezTo>
                  <a:pt x="129" y="90"/>
                  <a:pt x="129" y="90"/>
                  <a:pt x="129" y="90"/>
                </a:cubicBezTo>
                <a:cubicBezTo>
                  <a:pt x="129" y="90"/>
                  <a:pt x="123" y="93"/>
                  <a:pt x="111" y="93"/>
                </a:cubicBezTo>
                <a:cubicBezTo>
                  <a:pt x="98" y="93"/>
                  <a:pt x="81" y="89"/>
                  <a:pt x="81" y="62"/>
                </a:cubicBezTo>
                <a:cubicBezTo>
                  <a:pt x="81" y="51"/>
                  <a:pt x="85" y="30"/>
                  <a:pt x="108" y="30"/>
                </a:cubicBezTo>
                <a:cubicBezTo>
                  <a:pt x="118" y="30"/>
                  <a:pt x="124" y="34"/>
                  <a:pt x="127" y="40"/>
                </a:cubicBezTo>
                <a:cubicBezTo>
                  <a:pt x="130" y="44"/>
                  <a:pt x="131" y="51"/>
                  <a:pt x="131" y="58"/>
                </a:cubicBezTo>
                <a:cubicBezTo>
                  <a:pt x="131" y="59"/>
                  <a:pt x="131" y="59"/>
                  <a:pt x="131" y="59"/>
                </a:cubicBezTo>
                <a:cubicBezTo>
                  <a:pt x="131" y="60"/>
                  <a:pt x="131" y="60"/>
                  <a:pt x="131" y="60"/>
                </a:cubicBezTo>
                <a:lnTo>
                  <a:pt x="92" y="60"/>
                </a:lnTo>
                <a:close/>
                <a:moveTo>
                  <a:pt x="119" y="52"/>
                </a:moveTo>
                <a:cubicBezTo>
                  <a:pt x="119" y="42"/>
                  <a:pt x="115" y="37"/>
                  <a:pt x="106" y="37"/>
                </a:cubicBezTo>
                <a:cubicBezTo>
                  <a:pt x="100" y="37"/>
                  <a:pt x="96" y="40"/>
                  <a:pt x="94" y="46"/>
                </a:cubicBezTo>
                <a:cubicBezTo>
                  <a:pt x="93" y="50"/>
                  <a:pt x="93" y="53"/>
                  <a:pt x="93" y="54"/>
                </a:cubicBezTo>
                <a:cubicBezTo>
                  <a:pt x="119" y="54"/>
                  <a:pt x="119" y="54"/>
                  <a:pt x="119" y="54"/>
                </a:cubicBezTo>
                <a:lnTo>
                  <a:pt x="119" y="52"/>
                </a:lnTo>
                <a:close/>
                <a:moveTo>
                  <a:pt x="146" y="92"/>
                </a:moveTo>
                <a:cubicBezTo>
                  <a:pt x="146" y="0"/>
                  <a:pt x="146" y="0"/>
                  <a:pt x="146" y="0"/>
                </a:cubicBezTo>
                <a:cubicBezTo>
                  <a:pt x="158" y="0"/>
                  <a:pt x="158" y="0"/>
                  <a:pt x="158" y="0"/>
                </a:cubicBezTo>
                <a:cubicBezTo>
                  <a:pt x="158" y="92"/>
                  <a:pt x="158" y="92"/>
                  <a:pt x="158" y="92"/>
                </a:cubicBezTo>
                <a:lnTo>
                  <a:pt x="146" y="92"/>
                </a:lnTo>
                <a:close/>
                <a:moveTo>
                  <a:pt x="202" y="94"/>
                </a:moveTo>
                <a:cubicBezTo>
                  <a:pt x="192" y="94"/>
                  <a:pt x="188" y="91"/>
                  <a:pt x="188" y="91"/>
                </a:cubicBezTo>
                <a:cubicBezTo>
                  <a:pt x="188" y="120"/>
                  <a:pt x="188" y="120"/>
                  <a:pt x="188" y="120"/>
                </a:cubicBezTo>
                <a:cubicBezTo>
                  <a:pt x="177" y="120"/>
                  <a:pt x="177" y="120"/>
                  <a:pt x="177" y="120"/>
                </a:cubicBezTo>
                <a:cubicBezTo>
                  <a:pt x="177" y="32"/>
                  <a:pt x="177" y="32"/>
                  <a:pt x="177" y="32"/>
                </a:cubicBezTo>
                <a:cubicBezTo>
                  <a:pt x="188" y="32"/>
                  <a:pt x="188" y="32"/>
                  <a:pt x="188" y="32"/>
                </a:cubicBezTo>
                <a:cubicBezTo>
                  <a:pt x="188" y="38"/>
                  <a:pt x="188" y="38"/>
                  <a:pt x="188" y="38"/>
                </a:cubicBezTo>
                <a:cubicBezTo>
                  <a:pt x="188" y="38"/>
                  <a:pt x="193" y="31"/>
                  <a:pt x="206" y="31"/>
                </a:cubicBezTo>
                <a:cubicBezTo>
                  <a:pt x="221" y="31"/>
                  <a:pt x="231" y="42"/>
                  <a:pt x="231" y="61"/>
                </a:cubicBezTo>
                <a:cubicBezTo>
                  <a:pt x="231" y="81"/>
                  <a:pt x="218" y="94"/>
                  <a:pt x="202" y="94"/>
                </a:cubicBezTo>
                <a:close/>
                <a:moveTo>
                  <a:pt x="200" y="38"/>
                </a:moveTo>
                <a:cubicBezTo>
                  <a:pt x="193" y="38"/>
                  <a:pt x="188" y="41"/>
                  <a:pt x="188" y="41"/>
                </a:cubicBezTo>
                <a:cubicBezTo>
                  <a:pt x="188" y="86"/>
                  <a:pt x="188" y="86"/>
                  <a:pt x="188" y="86"/>
                </a:cubicBezTo>
                <a:cubicBezTo>
                  <a:pt x="188" y="86"/>
                  <a:pt x="192" y="87"/>
                  <a:pt x="197" y="87"/>
                </a:cubicBezTo>
                <a:cubicBezTo>
                  <a:pt x="212" y="87"/>
                  <a:pt x="219" y="78"/>
                  <a:pt x="219" y="62"/>
                </a:cubicBezTo>
                <a:cubicBezTo>
                  <a:pt x="219" y="48"/>
                  <a:pt x="212" y="38"/>
                  <a:pt x="200" y="38"/>
                </a:cubicBezTo>
                <a:close/>
                <a:moveTo>
                  <a:pt x="252" y="20"/>
                </a:moveTo>
                <a:cubicBezTo>
                  <a:pt x="248" y="20"/>
                  <a:pt x="245" y="18"/>
                  <a:pt x="245" y="14"/>
                </a:cubicBezTo>
                <a:cubicBezTo>
                  <a:pt x="245" y="9"/>
                  <a:pt x="248" y="7"/>
                  <a:pt x="252" y="7"/>
                </a:cubicBezTo>
                <a:cubicBezTo>
                  <a:pt x="257" y="7"/>
                  <a:pt x="259" y="9"/>
                  <a:pt x="259" y="13"/>
                </a:cubicBezTo>
                <a:cubicBezTo>
                  <a:pt x="259" y="18"/>
                  <a:pt x="257" y="20"/>
                  <a:pt x="252" y="20"/>
                </a:cubicBezTo>
                <a:close/>
                <a:moveTo>
                  <a:pt x="247" y="92"/>
                </a:moveTo>
                <a:cubicBezTo>
                  <a:pt x="247" y="32"/>
                  <a:pt x="247" y="32"/>
                  <a:pt x="247" y="32"/>
                </a:cubicBezTo>
                <a:cubicBezTo>
                  <a:pt x="258" y="32"/>
                  <a:pt x="258" y="32"/>
                  <a:pt x="258" y="32"/>
                </a:cubicBezTo>
                <a:cubicBezTo>
                  <a:pt x="258" y="92"/>
                  <a:pt x="258" y="92"/>
                  <a:pt x="258" y="92"/>
                </a:cubicBezTo>
                <a:lnTo>
                  <a:pt x="247" y="92"/>
                </a:lnTo>
                <a:close/>
                <a:moveTo>
                  <a:pt x="315" y="92"/>
                </a:moveTo>
                <a:cubicBezTo>
                  <a:pt x="315" y="60"/>
                  <a:pt x="315" y="60"/>
                  <a:pt x="315" y="60"/>
                </a:cubicBezTo>
                <a:cubicBezTo>
                  <a:pt x="315" y="56"/>
                  <a:pt x="315" y="52"/>
                  <a:pt x="315" y="49"/>
                </a:cubicBezTo>
                <a:cubicBezTo>
                  <a:pt x="313" y="41"/>
                  <a:pt x="308" y="38"/>
                  <a:pt x="300" y="38"/>
                </a:cubicBezTo>
                <a:cubicBezTo>
                  <a:pt x="294" y="38"/>
                  <a:pt x="289" y="41"/>
                  <a:pt x="289" y="41"/>
                </a:cubicBezTo>
                <a:cubicBezTo>
                  <a:pt x="289" y="92"/>
                  <a:pt x="289" y="92"/>
                  <a:pt x="289" y="92"/>
                </a:cubicBezTo>
                <a:cubicBezTo>
                  <a:pt x="277" y="92"/>
                  <a:pt x="277" y="92"/>
                  <a:pt x="277" y="92"/>
                </a:cubicBezTo>
                <a:cubicBezTo>
                  <a:pt x="277" y="32"/>
                  <a:pt x="277" y="32"/>
                  <a:pt x="277" y="32"/>
                </a:cubicBezTo>
                <a:cubicBezTo>
                  <a:pt x="289" y="32"/>
                  <a:pt x="289" y="32"/>
                  <a:pt x="289" y="32"/>
                </a:cubicBezTo>
                <a:cubicBezTo>
                  <a:pt x="289" y="38"/>
                  <a:pt x="289" y="38"/>
                  <a:pt x="289" y="38"/>
                </a:cubicBezTo>
                <a:cubicBezTo>
                  <a:pt x="289" y="38"/>
                  <a:pt x="294" y="30"/>
                  <a:pt x="307" y="30"/>
                </a:cubicBezTo>
                <a:cubicBezTo>
                  <a:pt x="319" y="30"/>
                  <a:pt x="324" y="38"/>
                  <a:pt x="326" y="44"/>
                </a:cubicBezTo>
                <a:cubicBezTo>
                  <a:pt x="327" y="48"/>
                  <a:pt x="327" y="53"/>
                  <a:pt x="327" y="56"/>
                </a:cubicBezTo>
                <a:cubicBezTo>
                  <a:pt x="327" y="92"/>
                  <a:pt x="327" y="92"/>
                  <a:pt x="327" y="92"/>
                </a:cubicBezTo>
                <a:lnTo>
                  <a:pt x="315" y="92"/>
                </a:lnTo>
                <a:close/>
                <a:moveTo>
                  <a:pt x="383" y="38"/>
                </a:moveTo>
                <a:cubicBezTo>
                  <a:pt x="383" y="38"/>
                  <a:pt x="388" y="43"/>
                  <a:pt x="388" y="51"/>
                </a:cubicBezTo>
                <a:cubicBezTo>
                  <a:pt x="388" y="62"/>
                  <a:pt x="380" y="71"/>
                  <a:pt x="365" y="71"/>
                </a:cubicBezTo>
                <a:cubicBezTo>
                  <a:pt x="361" y="71"/>
                  <a:pt x="359" y="71"/>
                  <a:pt x="359" y="71"/>
                </a:cubicBezTo>
                <a:cubicBezTo>
                  <a:pt x="359" y="71"/>
                  <a:pt x="356" y="73"/>
                  <a:pt x="356" y="77"/>
                </a:cubicBezTo>
                <a:cubicBezTo>
                  <a:pt x="356" y="82"/>
                  <a:pt x="361" y="82"/>
                  <a:pt x="365" y="82"/>
                </a:cubicBezTo>
                <a:cubicBezTo>
                  <a:pt x="369" y="82"/>
                  <a:pt x="371" y="82"/>
                  <a:pt x="376" y="82"/>
                </a:cubicBezTo>
                <a:cubicBezTo>
                  <a:pt x="381" y="82"/>
                  <a:pt x="395" y="81"/>
                  <a:pt x="395" y="96"/>
                </a:cubicBezTo>
                <a:cubicBezTo>
                  <a:pt x="395" y="104"/>
                  <a:pt x="391" y="111"/>
                  <a:pt x="382" y="116"/>
                </a:cubicBezTo>
                <a:cubicBezTo>
                  <a:pt x="377" y="118"/>
                  <a:pt x="371" y="120"/>
                  <a:pt x="363" y="120"/>
                </a:cubicBezTo>
                <a:cubicBezTo>
                  <a:pt x="350" y="120"/>
                  <a:pt x="338" y="116"/>
                  <a:pt x="338" y="104"/>
                </a:cubicBezTo>
                <a:cubicBezTo>
                  <a:pt x="338" y="93"/>
                  <a:pt x="351" y="90"/>
                  <a:pt x="351" y="90"/>
                </a:cubicBezTo>
                <a:cubicBezTo>
                  <a:pt x="351" y="90"/>
                  <a:pt x="346" y="88"/>
                  <a:pt x="346" y="82"/>
                </a:cubicBezTo>
                <a:cubicBezTo>
                  <a:pt x="346" y="73"/>
                  <a:pt x="355" y="70"/>
                  <a:pt x="355" y="70"/>
                </a:cubicBezTo>
                <a:cubicBezTo>
                  <a:pt x="355" y="70"/>
                  <a:pt x="342" y="66"/>
                  <a:pt x="342" y="51"/>
                </a:cubicBezTo>
                <a:cubicBezTo>
                  <a:pt x="342" y="40"/>
                  <a:pt x="350" y="30"/>
                  <a:pt x="365" y="30"/>
                </a:cubicBezTo>
                <a:cubicBezTo>
                  <a:pt x="370" y="30"/>
                  <a:pt x="374" y="32"/>
                  <a:pt x="374" y="32"/>
                </a:cubicBezTo>
                <a:cubicBezTo>
                  <a:pt x="397" y="32"/>
                  <a:pt x="397" y="32"/>
                  <a:pt x="397" y="32"/>
                </a:cubicBezTo>
                <a:cubicBezTo>
                  <a:pt x="397" y="38"/>
                  <a:pt x="397" y="38"/>
                  <a:pt x="397" y="38"/>
                </a:cubicBezTo>
                <a:lnTo>
                  <a:pt x="383" y="38"/>
                </a:lnTo>
                <a:close/>
                <a:moveTo>
                  <a:pt x="368" y="91"/>
                </a:moveTo>
                <a:cubicBezTo>
                  <a:pt x="355" y="91"/>
                  <a:pt x="355" y="91"/>
                  <a:pt x="355" y="91"/>
                </a:cubicBezTo>
                <a:cubicBezTo>
                  <a:pt x="355" y="91"/>
                  <a:pt x="348" y="94"/>
                  <a:pt x="348" y="102"/>
                </a:cubicBezTo>
                <a:cubicBezTo>
                  <a:pt x="348" y="112"/>
                  <a:pt x="359" y="113"/>
                  <a:pt x="365" y="113"/>
                </a:cubicBezTo>
                <a:cubicBezTo>
                  <a:pt x="378" y="113"/>
                  <a:pt x="385" y="108"/>
                  <a:pt x="385" y="99"/>
                </a:cubicBezTo>
                <a:cubicBezTo>
                  <a:pt x="385" y="91"/>
                  <a:pt x="377" y="91"/>
                  <a:pt x="368" y="91"/>
                </a:cubicBezTo>
                <a:close/>
                <a:moveTo>
                  <a:pt x="365" y="36"/>
                </a:moveTo>
                <a:cubicBezTo>
                  <a:pt x="363" y="36"/>
                  <a:pt x="360" y="36"/>
                  <a:pt x="359" y="37"/>
                </a:cubicBezTo>
                <a:cubicBezTo>
                  <a:pt x="354" y="40"/>
                  <a:pt x="353" y="46"/>
                  <a:pt x="353" y="51"/>
                </a:cubicBezTo>
                <a:cubicBezTo>
                  <a:pt x="353" y="59"/>
                  <a:pt x="357" y="66"/>
                  <a:pt x="365" y="66"/>
                </a:cubicBezTo>
                <a:cubicBezTo>
                  <a:pt x="367" y="66"/>
                  <a:pt x="369" y="65"/>
                  <a:pt x="371" y="64"/>
                </a:cubicBezTo>
                <a:cubicBezTo>
                  <a:pt x="375" y="61"/>
                  <a:pt x="376" y="56"/>
                  <a:pt x="376" y="51"/>
                </a:cubicBezTo>
                <a:cubicBezTo>
                  <a:pt x="376" y="43"/>
                  <a:pt x="373" y="36"/>
                  <a:pt x="365" y="36"/>
                </a:cubicBezTo>
                <a:close/>
                <a:moveTo>
                  <a:pt x="461" y="57"/>
                </a:moveTo>
                <a:cubicBezTo>
                  <a:pt x="455" y="57"/>
                  <a:pt x="452" y="56"/>
                  <a:pt x="452" y="56"/>
                </a:cubicBezTo>
                <a:cubicBezTo>
                  <a:pt x="453" y="50"/>
                  <a:pt x="453" y="50"/>
                  <a:pt x="453" y="50"/>
                </a:cubicBezTo>
                <a:cubicBezTo>
                  <a:pt x="453" y="50"/>
                  <a:pt x="455" y="51"/>
                  <a:pt x="459" y="51"/>
                </a:cubicBezTo>
                <a:cubicBezTo>
                  <a:pt x="465" y="51"/>
                  <a:pt x="476" y="49"/>
                  <a:pt x="476" y="32"/>
                </a:cubicBezTo>
                <a:cubicBezTo>
                  <a:pt x="476" y="21"/>
                  <a:pt x="471" y="13"/>
                  <a:pt x="455" y="13"/>
                </a:cubicBezTo>
                <a:cubicBezTo>
                  <a:pt x="452" y="13"/>
                  <a:pt x="449" y="14"/>
                  <a:pt x="449" y="14"/>
                </a:cubicBezTo>
                <a:cubicBezTo>
                  <a:pt x="449" y="92"/>
                  <a:pt x="449" y="92"/>
                  <a:pt x="449" y="92"/>
                </a:cubicBezTo>
                <a:cubicBezTo>
                  <a:pt x="437" y="92"/>
                  <a:pt x="437" y="92"/>
                  <a:pt x="437" y="92"/>
                </a:cubicBezTo>
                <a:cubicBezTo>
                  <a:pt x="437" y="8"/>
                  <a:pt x="437" y="8"/>
                  <a:pt x="437" y="8"/>
                </a:cubicBezTo>
                <a:cubicBezTo>
                  <a:pt x="438" y="8"/>
                  <a:pt x="444" y="7"/>
                  <a:pt x="454" y="7"/>
                </a:cubicBezTo>
                <a:cubicBezTo>
                  <a:pt x="462" y="7"/>
                  <a:pt x="467" y="8"/>
                  <a:pt x="473" y="10"/>
                </a:cubicBezTo>
                <a:cubicBezTo>
                  <a:pt x="477" y="11"/>
                  <a:pt x="488" y="17"/>
                  <a:pt x="488" y="31"/>
                </a:cubicBezTo>
                <a:cubicBezTo>
                  <a:pt x="488" y="47"/>
                  <a:pt x="478" y="57"/>
                  <a:pt x="461" y="57"/>
                </a:cubicBezTo>
                <a:close/>
                <a:moveTo>
                  <a:pt x="528" y="92"/>
                </a:moveTo>
                <a:cubicBezTo>
                  <a:pt x="528" y="87"/>
                  <a:pt x="528" y="87"/>
                  <a:pt x="528" y="87"/>
                </a:cubicBezTo>
                <a:cubicBezTo>
                  <a:pt x="528" y="87"/>
                  <a:pt x="522" y="93"/>
                  <a:pt x="512" y="93"/>
                </a:cubicBezTo>
                <a:cubicBezTo>
                  <a:pt x="501" y="93"/>
                  <a:pt x="494" y="87"/>
                  <a:pt x="494" y="76"/>
                </a:cubicBezTo>
                <a:cubicBezTo>
                  <a:pt x="494" y="70"/>
                  <a:pt x="496" y="65"/>
                  <a:pt x="500" y="62"/>
                </a:cubicBezTo>
                <a:cubicBezTo>
                  <a:pt x="505" y="59"/>
                  <a:pt x="511" y="58"/>
                  <a:pt x="518" y="58"/>
                </a:cubicBezTo>
                <a:cubicBezTo>
                  <a:pt x="523" y="58"/>
                  <a:pt x="527" y="59"/>
                  <a:pt x="527" y="59"/>
                </a:cubicBezTo>
                <a:cubicBezTo>
                  <a:pt x="527" y="54"/>
                  <a:pt x="527" y="54"/>
                  <a:pt x="527" y="54"/>
                </a:cubicBezTo>
                <a:cubicBezTo>
                  <a:pt x="527" y="51"/>
                  <a:pt x="527" y="46"/>
                  <a:pt x="527" y="44"/>
                </a:cubicBezTo>
                <a:cubicBezTo>
                  <a:pt x="525" y="39"/>
                  <a:pt x="521" y="37"/>
                  <a:pt x="515" y="37"/>
                </a:cubicBezTo>
                <a:cubicBezTo>
                  <a:pt x="508" y="37"/>
                  <a:pt x="503" y="40"/>
                  <a:pt x="503" y="40"/>
                </a:cubicBezTo>
                <a:cubicBezTo>
                  <a:pt x="500" y="33"/>
                  <a:pt x="500" y="33"/>
                  <a:pt x="500" y="33"/>
                </a:cubicBezTo>
                <a:cubicBezTo>
                  <a:pt x="500" y="33"/>
                  <a:pt x="507" y="30"/>
                  <a:pt x="518" y="30"/>
                </a:cubicBezTo>
                <a:cubicBezTo>
                  <a:pt x="535" y="30"/>
                  <a:pt x="537" y="39"/>
                  <a:pt x="538" y="42"/>
                </a:cubicBezTo>
                <a:cubicBezTo>
                  <a:pt x="539" y="45"/>
                  <a:pt x="539" y="55"/>
                  <a:pt x="539" y="57"/>
                </a:cubicBezTo>
                <a:cubicBezTo>
                  <a:pt x="539" y="92"/>
                  <a:pt x="539" y="92"/>
                  <a:pt x="539" y="92"/>
                </a:cubicBezTo>
                <a:lnTo>
                  <a:pt x="528" y="92"/>
                </a:lnTo>
                <a:close/>
                <a:moveTo>
                  <a:pt x="527" y="64"/>
                </a:moveTo>
                <a:cubicBezTo>
                  <a:pt x="527" y="64"/>
                  <a:pt x="526" y="64"/>
                  <a:pt x="521" y="64"/>
                </a:cubicBezTo>
                <a:cubicBezTo>
                  <a:pt x="516" y="64"/>
                  <a:pt x="513" y="65"/>
                  <a:pt x="510" y="66"/>
                </a:cubicBezTo>
                <a:cubicBezTo>
                  <a:pt x="506" y="68"/>
                  <a:pt x="506" y="72"/>
                  <a:pt x="506" y="75"/>
                </a:cubicBezTo>
                <a:cubicBezTo>
                  <a:pt x="506" y="84"/>
                  <a:pt x="512" y="86"/>
                  <a:pt x="518" y="86"/>
                </a:cubicBezTo>
                <a:cubicBezTo>
                  <a:pt x="524" y="86"/>
                  <a:pt x="527" y="84"/>
                  <a:pt x="527" y="84"/>
                </a:cubicBezTo>
                <a:lnTo>
                  <a:pt x="527" y="64"/>
                </a:lnTo>
                <a:close/>
                <a:moveTo>
                  <a:pt x="577" y="93"/>
                </a:moveTo>
                <a:cubicBezTo>
                  <a:pt x="569" y="93"/>
                  <a:pt x="563" y="91"/>
                  <a:pt x="561" y="84"/>
                </a:cubicBezTo>
                <a:cubicBezTo>
                  <a:pt x="560" y="81"/>
                  <a:pt x="560" y="75"/>
                  <a:pt x="560" y="71"/>
                </a:cubicBezTo>
                <a:cubicBezTo>
                  <a:pt x="560" y="38"/>
                  <a:pt x="560" y="38"/>
                  <a:pt x="560" y="38"/>
                </a:cubicBezTo>
                <a:cubicBezTo>
                  <a:pt x="551" y="38"/>
                  <a:pt x="551" y="38"/>
                  <a:pt x="551" y="38"/>
                </a:cubicBezTo>
                <a:cubicBezTo>
                  <a:pt x="551" y="34"/>
                  <a:pt x="551" y="34"/>
                  <a:pt x="551" y="34"/>
                </a:cubicBezTo>
                <a:cubicBezTo>
                  <a:pt x="552" y="33"/>
                  <a:pt x="552" y="33"/>
                  <a:pt x="552" y="33"/>
                </a:cubicBezTo>
                <a:cubicBezTo>
                  <a:pt x="559" y="30"/>
                  <a:pt x="563" y="26"/>
                  <a:pt x="564" y="19"/>
                </a:cubicBezTo>
                <a:cubicBezTo>
                  <a:pt x="564" y="18"/>
                  <a:pt x="564" y="18"/>
                  <a:pt x="564" y="18"/>
                </a:cubicBezTo>
                <a:cubicBezTo>
                  <a:pt x="571" y="18"/>
                  <a:pt x="571" y="18"/>
                  <a:pt x="571" y="18"/>
                </a:cubicBezTo>
                <a:cubicBezTo>
                  <a:pt x="571" y="32"/>
                  <a:pt x="571" y="32"/>
                  <a:pt x="571" y="32"/>
                </a:cubicBezTo>
                <a:cubicBezTo>
                  <a:pt x="591" y="32"/>
                  <a:pt x="591" y="32"/>
                  <a:pt x="591" y="32"/>
                </a:cubicBezTo>
                <a:cubicBezTo>
                  <a:pt x="591" y="38"/>
                  <a:pt x="591" y="38"/>
                  <a:pt x="591" y="38"/>
                </a:cubicBezTo>
                <a:cubicBezTo>
                  <a:pt x="571" y="38"/>
                  <a:pt x="571" y="38"/>
                  <a:pt x="571" y="38"/>
                </a:cubicBezTo>
                <a:cubicBezTo>
                  <a:pt x="571" y="74"/>
                  <a:pt x="571" y="74"/>
                  <a:pt x="571" y="74"/>
                </a:cubicBezTo>
                <a:cubicBezTo>
                  <a:pt x="571" y="80"/>
                  <a:pt x="572" y="86"/>
                  <a:pt x="581" y="86"/>
                </a:cubicBezTo>
                <a:cubicBezTo>
                  <a:pt x="586" y="86"/>
                  <a:pt x="589" y="84"/>
                  <a:pt x="589" y="84"/>
                </a:cubicBezTo>
                <a:cubicBezTo>
                  <a:pt x="591" y="91"/>
                  <a:pt x="591" y="91"/>
                  <a:pt x="591" y="91"/>
                </a:cubicBezTo>
                <a:cubicBezTo>
                  <a:pt x="591" y="91"/>
                  <a:pt x="586" y="93"/>
                  <a:pt x="577" y="93"/>
                </a:cubicBezTo>
                <a:close/>
                <a:moveTo>
                  <a:pt x="609" y="20"/>
                </a:moveTo>
                <a:cubicBezTo>
                  <a:pt x="604" y="20"/>
                  <a:pt x="602" y="18"/>
                  <a:pt x="602" y="14"/>
                </a:cubicBezTo>
                <a:cubicBezTo>
                  <a:pt x="602" y="9"/>
                  <a:pt x="604" y="7"/>
                  <a:pt x="609" y="7"/>
                </a:cubicBezTo>
                <a:cubicBezTo>
                  <a:pt x="613" y="7"/>
                  <a:pt x="616" y="9"/>
                  <a:pt x="616" y="13"/>
                </a:cubicBezTo>
                <a:cubicBezTo>
                  <a:pt x="616" y="18"/>
                  <a:pt x="613" y="20"/>
                  <a:pt x="609" y="20"/>
                </a:cubicBezTo>
                <a:close/>
                <a:moveTo>
                  <a:pt x="603" y="92"/>
                </a:moveTo>
                <a:cubicBezTo>
                  <a:pt x="603" y="32"/>
                  <a:pt x="603" y="32"/>
                  <a:pt x="603" y="32"/>
                </a:cubicBezTo>
                <a:cubicBezTo>
                  <a:pt x="615" y="32"/>
                  <a:pt x="615" y="32"/>
                  <a:pt x="615" y="32"/>
                </a:cubicBezTo>
                <a:cubicBezTo>
                  <a:pt x="615" y="92"/>
                  <a:pt x="615" y="92"/>
                  <a:pt x="615" y="92"/>
                </a:cubicBezTo>
                <a:lnTo>
                  <a:pt x="603" y="92"/>
                </a:lnTo>
                <a:close/>
                <a:moveTo>
                  <a:pt x="642" y="60"/>
                </a:moveTo>
                <a:cubicBezTo>
                  <a:pt x="642" y="60"/>
                  <a:pt x="642" y="62"/>
                  <a:pt x="642" y="62"/>
                </a:cubicBezTo>
                <a:cubicBezTo>
                  <a:pt x="642" y="83"/>
                  <a:pt x="656" y="86"/>
                  <a:pt x="663" y="86"/>
                </a:cubicBezTo>
                <a:cubicBezTo>
                  <a:pt x="672" y="86"/>
                  <a:pt x="676" y="83"/>
                  <a:pt x="676" y="83"/>
                </a:cubicBezTo>
                <a:cubicBezTo>
                  <a:pt x="679" y="90"/>
                  <a:pt x="679" y="90"/>
                  <a:pt x="679" y="90"/>
                </a:cubicBezTo>
                <a:cubicBezTo>
                  <a:pt x="679" y="90"/>
                  <a:pt x="672" y="93"/>
                  <a:pt x="661" y="93"/>
                </a:cubicBezTo>
                <a:cubicBezTo>
                  <a:pt x="648" y="93"/>
                  <a:pt x="630" y="89"/>
                  <a:pt x="630" y="62"/>
                </a:cubicBezTo>
                <a:cubicBezTo>
                  <a:pt x="630" y="51"/>
                  <a:pt x="635" y="30"/>
                  <a:pt x="657" y="30"/>
                </a:cubicBezTo>
                <a:cubicBezTo>
                  <a:pt x="667" y="30"/>
                  <a:pt x="673" y="34"/>
                  <a:pt x="677" y="40"/>
                </a:cubicBezTo>
                <a:cubicBezTo>
                  <a:pt x="680" y="44"/>
                  <a:pt x="681" y="51"/>
                  <a:pt x="681" y="58"/>
                </a:cubicBezTo>
                <a:cubicBezTo>
                  <a:pt x="681" y="59"/>
                  <a:pt x="681" y="59"/>
                  <a:pt x="681" y="59"/>
                </a:cubicBezTo>
                <a:cubicBezTo>
                  <a:pt x="681" y="60"/>
                  <a:pt x="681" y="60"/>
                  <a:pt x="681" y="60"/>
                </a:cubicBezTo>
                <a:lnTo>
                  <a:pt x="642" y="60"/>
                </a:lnTo>
                <a:close/>
                <a:moveTo>
                  <a:pt x="669" y="52"/>
                </a:moveTo>
                <a:cubicBezTo>
                  <a:pt x="669" y="42"/>
                  <a:pt x="665" y="37"/>
                  <a:pt x="656" y="37"/>
                </a:cubicBezTo>
                <a:cubicBezTo>
                  <a:pt x="650" y="37"/>
                  <a:pt x="646" y="40"/>
                  <a:pt x="644" y="46"/>
                </a:cubicBezTo>
                <a:cubicBezTo>
                  <a:pt x="642" y="50"/>
                  <a:pt x="642" y="53"/>
                  <a:pt x="642" y="54"/>
                </a:cubicBezTo>
                <a:cubicBezTo>
                  <a:pt x="669" y="54"/>
                  <a:pt x="669" y="54"/>
                  <a:pt x="669" y="54"/>
                </a:cubicBezTo>
                <a:lnTo>
                  <a:pt x="669" y="52"/>
                </a:lnTo>
                <a:close/>
                <a:moveTo>
                  <a:pt x="734" y="92"/>
                </a:moveTo>
                <a:cubicBezTo>
                  <a:pt x="734" y="60"/>
                  <a:pt x="734" y="60"/>
                  <a:pt x="734" y="60"/>
                </a:cubicBezTo>
                <a:cubicBezTo>
                  <a:pt x="734" y="56"/>
                  <a:pt x="734" y="52"/>
                  <a:pt x="734" y="49"/>
                </a:cubicBezTo>
                <a:cubicBezTo>
                  <a:pt x="732" y="41"/>
                  <a:pt x="727" y="38"/>
                  <a:pt x="719" y="38"/>
                </a:cubicBezTo>
                <a:cubicBezTo>
                  <a:pt x="713" y="38"/>
                  <a:pt x="708" y="41"/>
                  <a:pt x="708" y="41"/>
                </a:cubicBezTo>
                <a:cubicBezTo>
                  <a:pt x="708" y="92"/>
                  <a:pt x="708" y="92"/>
                  <a:pt x="708" y="92"/>
                </a:cubicBezTo>
                <a:cubicBezTo>
                  <a:pt x="696" y="92"/>
                  <a:pt x="696" y="92"/>
                  <a:pt x="696" y="92"/>
                </a:cubicBezTo>
                <a:cubicBezTo>
                  <a:pt x="696" y="32"/>
                  <a:pt x="696" y="32"/>
                  <a:pt x="696" y="32"/>
                </a:cubicBezTo>
                <a:cubicBezTo>
                  <a:pt x="707" y="32"/>
                  <a:pt x="707" y="32"/>
                  <a:pt x="707" y="32"/>
                </a:cubicBezTo>
                <a:cubicBezTo>
                  <a:pt x="707" y="38"/>
                  <a:pt x="707" y="38"/>
                  <a:pt x="707" y="38"/>
                </a:cubicBezTo>
                <a:cubicBezTo>
                  <a:pt x="707" y="38"/>
                  <a:pt x="713" y="30"/>
                  <a:pt x="726" y="30"/>
                </a:cubicBezTo>
                <a:cubicBezTo>
                  <a:pt x="738" y="30"/>
                  <a:pt x="743" y="38"/>
                  <a:pt x="745" y="44"/>
                </a:cubicBezTo>
                <a:cubicBezTo>
                  <a:pt x="746" y="48"/>
                  <a:pt x="746" y="53"/>
                  <a:pt x="746" y="56"/>
                </a:cubicBezTo>
                <a:cubicBezTo>
                  <a:pt x="746" y="92"/>
                  <a:pt x="746" y="92"/>
                  <a:pt x="746" y="92"/>
                </a:cubicBezTo>
                <a:lnTo>
                  <a:pt x="734" y="92"/>
                </a:lnTo>
                <a:close/>
                <a:moveTo>
                  <a:pt x="783" y="93"/>
                </a:moveTo>
                <a:cubicBezTo>
                  <a:pt x="774" y="93"/>
                  <a:pt x="769" y="91"/>
                  <a:pt x="766" y="84"/>
                </a:cubicBezTo>
                <a:cubicBezTo>
                  <a:pt x="765" y="81"/>
                  <a:pt x="765" y="75"/>
                  <a:pt x="765" y="71"/>
                </a:cubicBezTo>
                <a:cubicBezTo>
                  <a:pt x="765" y="38"/>
                  <a:pt x="765" y="38"/>
                  <a:pt x="765" y="38"/>
                </a:cubicBezTo>
                <a:cubicBezTo>
                  <a:pt x="757" y="38"/>
                  <a:pt x="757" y="38"/>
                  <a:pt x="757" y="38"/>
                </a:cubicBezTo>
                <a:cubicBezTo>
                  <a:pt x="757" y="34"/>
                  <a:pt x="757" y="34"/>
                  <a:pt x="757" y="34"/>
                </a:cubicBezTo>
                <a:cubicBezTo>
                  <a:pt x="758" y="33"/>
                  <a:pt x="758" y="33"/>
                  <a:pt x="758" y="33"/>
                </a:cubicBezTo>
                <a:cubicBezTo>
                  <a:pt x="765" y="30"/>
                  <a:pt x="769" y="26"/>
                  <a:pt x="770" y="19"/>
                </a:cubicBezTo>
                <a:cubicBezTo>
                  <a:pt x="770" y="18"/>
                  <a:pt x="770" y="18"/>
                  <a:pt x="770" y="18"/>
                </a:cubicBezTo>
                <a:cubicBezTo>
                  <a:pt x="777" y="18"/>
                  <a:pt x="777" y="18"/>
                  <a:pt x="777" y="18"/>
                </a:cubicBezTo>
                <a:cubicBezTo>
                  <a:pt x="777" y="32"/>
                  <a:pt x="777" y="32"/>
                  <a:pt x="777" y="32"/>
                </a:cubicBezTo>
                <a:cubicBezTo>
                  <a:pt x="796" y="32"/>
                  <a:pt x="796" y="32"/>
                  <a:pt x="796" y="32"/>
                </a:cubicBezTo>
                <a:cubicBezTo>
                  <a:pt x="796" y="38"/>
                  <a:pt x="796" y="38"/>
                  <a:pt x="796" y="38"/>
                </a:cubicBezTo>
                <a:cubicBezTo>
                  <a:pt x="777" y="38"/>
                  <a:pt x="777" y="38"/>
                  <a:pt x="777" y="38"/>
                </a:cubicBezTo>
                <a:cubicBezTo>
                  <a:pt x="777" y="74"/>
                  <a:pt x="777" y="74"/>
                  <a:pt x="777" y="74"/>
                </a:cubicBezTo>
                <a:cubicBezTo>
                  <a:pt x="777" y="80"/>
                  <a:pt x="778" y="86"/>
                  <a:pt x="787" y="86"/>
                </a:cubicBezTo>
                <a:cubicBezTo>
                  <a:pt x="791" y="86"/>
                  <a:pt x="795" y="84"/>
                  <a:pt x="795" y="84"/>
                </a:cubicBezTo>
                <a:cubicBezTo>
                  <a:pt x="797" y="91"/>
                  <a:pt x="797" y="91"/>
                  <a:pt x="797" y="91"/>
                </a:cubicBezTo>
                <a:cubicBezTo>
                  <a:pt x="796" y="91"/>
                  <a:pt x="792" y="93"/>
                  <a:pt x="783" y="93"/>
                </a:cubicBezTo>
                <a:close/>
                <a:moveTo>
                  <a:pt x="824" y="93"/>
                </a:moveTo>
                <a:cubicBezTo>
                  <a:pt x="812" y="93"/>
                  <a:pt x="806" y="90"/>
                  <a:pt x="806" y="90"/>
                </a:cubicBezTo>
                <a:cubicBezTo>
                  <a:pt x="808" y="83"/>
                  <a:pt x="808" y="83"/>
                  <a:pt x="808" y="83"/>
                </a:cubicBezTo>
                <a:cubicBezTo>
                  <a:pt x="808" y="83"/>
                  <a:pt x="813" y="86"/>
                  <a:pt x="823" y="86"/>
                </a:cubicBezTo>
                <a:cubicBezTo>
                  <a:pt x="831" y="86"/>
                  <a:pt x="836" y="83"/>
                  <a:pt x="836" y="77"/>
                </a:cubicBezTo>
                <a:cubicBezTo>
                  <a:pt x="836" y="72"/>
                  <a:pt x="833" y="71"/>
                  <a:pt x="829" y="69"/>
                </a:cubicBezTo>
                <a:cubicBezTo>
                  <a:pt x="819" y="63"/>
                  <a:pt x="819" y="63"/>
                  <a:pt x="819" y="63"/>
                </a:cubicBezTo>
                <a:cubicBezTo>
                  <a:pt x="812" y="59"/>
                  <a:pt x="808" y="55"/>
                  <a:pt x="808" y="47"/>
                </a:cubicBezTo>
                <a:cubicBezTo>
                  <a:pt x="808" y="35"/>
                  <a:pt x="817" y="30"/>
                  <a:pt x="828" y="30"/>
                </a:cubicBezTo>
                <a:cubicBezTo>
                  <a:pt x="839" y="30"/>
                  <a:pt x="845" y="34"/>
                  <a:pt x="845" y="34"/>
                </a:cubicBezTo>
                <a:cubicBezTo>
                  <a:pt x="842" y="41"/>
                  <a:pt x="842" y="41"/>
                  <a:pt x="842" y="41"/>
                </a:cubicBezTo>
                <a:cubicBezTo>
                  <a:pt x="842" y="41"/>
                  <a:pt x="837" y="37"/>
                  <a:pt x="829" y="37"/>
                </a:cubicBezTo>
                <a:cubicBezTo>
                  <a:pt x="825" y="37"/>
                  <a:pt x="818" y="39"/>
                  <a:pt x="818" y="45"/>
                </a:cubicBezTo>
                <a:cubicBezTo>
                  <a:pt x="818" y="50"/>
                  <a:pt x="821" y="51"/>
                  <a:pt x="826" y="54"/>
                </a:cubicBezTo>
                <a:cubicBezTo>
                  <a:pt x="836" y="59"/>
                  <a:pt x="836" y="59"/>
                  <a:pt x="836" y="59"/>
                </a:cubicBezTo>
                <a:cubicBezTo>
                  <a:pt x="843" y="63"/>
                  <a:pt x="846" y="68"/>
                  <a:pt x="846" y="75"/>
                </a:cubicBezTo>
                <a:cubicBezTo>
                  <a:pt x="846" y="90"/>
                  <a:pt x="833" y="93"/>
                  <a:pt x="824" y="93"/>
                </a:cubicBezTo>
                <a:close/>
                <a:moveTo>
                  <a:pt x="895" y="20"/>
                </a:moveTo>
                <a:cubicBezTo>
                  <a:pt x="890" y="20"/>
                  <a:pt x="888" y="18"/>
                  <a:pt x="888" y="14"/>
                </a:cubicBezTo>
                <a:cubicBezTo>
                  <a:pt x="888" y="9"/>
                  <a:pt x="890" y="7"/>
                  <a:pt x="895" y="7"/>
                </a:cubicBezTo>
                <a:cubicBezTo>
                  <a:pt x="899" y="7"/>
                  <a:pt x="902" y="9"/>
                  <a:pt x="902" y="13"/>
                </a:cubicBezTo>
                <a:cubicBezTo>
                  <a:pt x="902" y="18"/>
                  <a:pt x="899" y="20"/>
                  <a:pt x="895" y="20"/>
                </a:cubicBezTo>
                <a:close/>
                <a:moveTo>
                  <a:pt x="889" y="92"/>
                </a:moveTo>
                <a:cubicBezTo>
                  <a:pt x="889" y="32"/>
                  <a:pt x="889" y="32"/>
                  <a:pt x="889" y="32"/>
                </a:cubicBezTo>
                <a:cubicBezTo>
                  <a:pt x="901" y="32"/>
                  <a:pt x="901" y="32"/>
                  <a:pt x="901" y="32"/>
                </a:cubicBezTo>
                <a:cubicBezTo>
                  <a:pt x="901" y="92"/>
                  <a:pt x="901" y="92"/>
                  <a:pt x="901" y="92"/>
                </a:cubicBezTo>
                <a:lnTo>
                  <a:pt x="889" y="92"/>
                </a:lnTo>
                <a:close/>
                <a:moveTo>
                  <a:pt x="932" y="93"/>
                </a:moveTo>
                <a:cubicBezTo>
                  <a:pt x="920" y="93"/>
                  <a:pt x="914" y="90"/>
                  <a:pt x="914" y="90"/>
                </a:cubicBezTo>
                <a:cubicBezTo>
                  <a:pt x="916" y="83"/>
                  <a:pt x="916" y="83"/>
                  <a:pt x="916" y="83"/>
                </a:cubicBezTo>
                <a:cubicBezTo>
                  <a:pt x="916" y="83"/>
                  <a:pt x="921" y="86"/>
                  <a:pt x="931" y="86"/>
                </a:cubicBezTo>
                <a:cubicBezTo>
                  <a:pt x="939" y="86"/>
                  <a:pt x="944" y="83"/>
                  <a:pt x="944" y="77"/>
                </a:cubicBezTo>
                <a:cubicBezTo>
                  <a:pt x="944" y="72"/>
                  <a:pt x="941" y="71"/>
                  <a:pt x="937" y="69"/>
                </a:cubicBezTo>
                <a:cubicBezTo>
                  <a:pt x="927" y="63"/>
                  <a:pt x="927" y="63"/>
                  <a:pt x="927" y="63"/>
                </a:cubicBezTo>
                <a:cubicBezTo>
                  <a:pt x="920" y="59"/>
                  <a:pt x="916" y="55"/>
                  <a:pt x="916" y="47"/>
                </a:cubicBezTo>
                <a:cubicBezTo>
                  <a:pt x="916" y="35"/>
                  <a:pt x="925" y="30"/>
                  <a:pt x="936" y="30"/>
                </a:cubicBezTo>
                <a:cubicBezTo>
                  <a:pt x="947" y="30"/>
                  <a:pt x="953" y="34"/>
                  <a:pt x="953" y="34"/>
                </a:cubicBezTo>
                <a:cubicBezTo>
                  <a:pt x="950" y="41"/>
                  <a:pt x="950" y="41"/>
                  <a:pt x="950" y="41"/>
                </a:cubicBezTo>
                <a:cubicBezTo>
                  <a:pt x="950" y="41"/>
                  <a:pt x="945" y="37"/>
                  <a:pt x="937" y="37"/>
                </a:cubicBezTo>
                <a:cubicBezTo>
                  <a:pt x="932" y="37"/>
                  <a:pt x="926" y="39"/>
                  <a:pt x="926" y="45"/>
                </a:cubicBezTo>
                <a:cubicBezTo>
                  <a:pt x="926" y="50"/>
                  <a:pt x="929" y="51"/>
                  <a:pt x="934" y="54"/>
                </a:cubicBezTo>
                <a:cubicBezTo>
                  <a:pt x="944" y="59"/>
                  <a:pt x="944" y="59"/>
                  <a:pt x="944" y="59"/>
                </a:cubicBezTo>
                <a:cubicBezTo>
                  <a:pt x="950" y="63"/>
                  <a:pt x="954" y="68"/>
                  <a:pt x="954" y="75"/>
                </a:cubicBezTo>
                <a:cubicBezTo>
                  <a:pt x="954" y="90"/>
                  <a:pt x="941" y="93"/>
                  <a:pt x="932" y="93"/>
                </a:cubicBezTo>
                <a:close/>
                <a:moveTo>
                  <a:pt x="1032" y="94"/>
                </a:moveTo>
                <a:cubicBezTo>
                  <a:pt x="1007" y="94"/>
                  <a:pt x="993" y="79"/>
                  <a:pt x="993" y="52"/>
                </a:cubicBezTo>
                <a:cubicBezTo>
                  <a:pt x="993" y="23"/>
                  <a:pt x="1007" y="6"/>
                  <a:pt x="1031" y="6"/>
                </a:cubicBezTo>
                <a:cubicBezTo>
                  <a:pt x="1055" y="6"/>
                  <a:pt x="1070" y="22"/>
                  <a:pt x="1070" y="48"/>
                </a:cubicBezTo>
                <a:cubicBezTo>
                  <a:pt x="1070" y="77"/>
                  <a:pt x="1055" y="94"/>
                  <a:pt x="1032" y="94"/>
                </a:cubicBezTo>
                <a:close/>
                <a:moveTo>
                  <a:pt x="1031" y="14"/>
                </a:moveTo>
                <a:cubicBezTo>
                  <a:pt x="1015" y="14"/>
                  <a:pt x="1005" y="27"/>
                  <a:pt x="1005" y="50"/>
                </a:cubicBezTo>
                <a:cubicBezTo>
                  <a:pt x="1005" y="74"/>
                  <a:pt x="1014" y="86"/>
                  <a:pt x="1032" y="86"/>
                </a:cubicBezTo>
                <a:cubicBezTo>
                  <a:pt x="1048" y="86"/>
                  <a:pt x="1058" y="74"/>
                  <a:pt x="1058" y="50"/>
                </a:cubicBezTo>
                <a:cubicBezTo>
                  <a:pt x="1058" y="27"/>
                  <a:pt x="1049" y="14"/>
                  <a:pt x="1031" y="14"/>
                </a:cubicBezTo>
                <a:close/>
                <a:moveTo>
                  <a:pt x="1124" y="92"/>
                </a:moveTo>
                <a:cubicBezTo>
                  <a:pt x="1124" y="86"/>
                  <a:pt x="1124" y="86"/>
                  <a:pt x="1124" y="86"/>
                </a:cubicBezTo>
                <a:cubicBezTo>
                  <a:pt x="1124" y="86"/>
                  <a:pt x="1118" y="94"/>
                  <a:pt x="1106" y="94"/>
                </a:cubicBezTo>
                <a:cubicBezTo>
                  <a:pt x="1101" y="94"/>
                  <a:pt x="1090" y="93"/>
                  <a:pt x="1087" y="80"/>
                </a:cubicBezTo>
                <a:cubicBezTo>
                  <a:pt x="1085" y="76"/>
                  <a:pt x="1086" y="69"/>
                  <a:pt x="1086" y="67"/>
                </a:cubicBezTo>
                <a:cubicBezTo>
                  <a:pt x="1086" y="32"/>
                  <a:pt x="1086" y="32"/>
                  <a:pt x="1086" y="32"/>
                </a:cubicBezTo>
                <a:cubicBezTo>
                  <a:pt x="1097" y="32"/>
                  <a:pt x="1097" y="32"/>
                  <a:pt x="1097" y="32"/>
                </a:cubicBezTo>
                <a:cubicBezTo>
                  <a:pt x="1097" y="64"/>
                  <a:pt x="1097" y="64"/>
                  <a:pt x="1097" y="64"/>
                </a:cubicBezTo>
                <a:cubicBezTo>
                  <a:pt x="1097" y="70"/>
                  <a:pt x="1097" y="72"/>
                  <a:pt x="1098" y="75"/>
                </a:cubicBezTo>
                <a:cubicBezTo>
                  <a:pt x="1099" y="82"/>
                  <a:pt x="1104" y="86"/>
                  <a:pt x="1112" y="86"/>
                </a:cubicBezTo>
                <a:cubicBezTo>
                  <a:pt x="1119" y="86"/>
                  <a:pt x="1124" y="83"/>
                  <a:pt x="1124" y="83"/>
                </a:cubicBezTo>
                <a:cubicBezTo>
                  <a:pt x="1124" y="32"/>
                  <a:pt x="1124" y="32"/>
                  <a:pt x="1124" y="32"/>
                </a:cubicBezTo>
                <a:cubicBezTo>
                  <a:pt x="1135" y="32"/>
                  <a:pt x="1135" y="32"/>
                  <a:pt x="1135" y="32"/>
                </a:cubicBezTo>
                <a:cubicBezTo>
                  <a:pt x="1135" y="92"/>
                  <a:pt x="1135" y="92"/>
                  <a:pt x="1135" y="92"/>
                </a:cubicBezTo>
                <a:lnTo>
                  <a:pt x="1124" y="92"/>
                </a:lnTo>
                <a:close/>
                <a:moveTo>
                  <a:pt x="1185" y="42"/>
                </a:moveTo>
                <a:cubicBezTo>
                  <a:pt x="1183" y="41"/>
                  <a:pt x="1181" y="39"/>
                  <a:pt x="1176" y="39"/>
                </a:cubicBezTo>
                <a:cubicBezTo>
                  <a:pt x="1170" y="39"/>
                  <a:pt x="1166" y="42"/>
                  <a:pt x="1166" y="42"/>
                </a:cubicBezTo>
                <a:cubicBezTo>
                  <a:pt x="1166" y="92"/>
                  <a:pt x="1166" y="92"/>
                  <a:pt x="1166" y="92"/>
                </a:cubicBezTo>
                <a:cubicBezTo>
                  <a:pt x="1154" y="92"/>
                  <a:pt x="1154" y="92"/>
                  <a:pt x="1154" y="92"/>
                </a:cubicBezTo>
                <a:cubicBezTo>
                  <a:pt x="1154" y="32"/>
                  <a:pt x="1154" y="32"/>
                  <a:pt x="1154" y="32"/>
                </a:cubicBezTo>
                <a:cubicBezTo>
                  <a:pt x="1166" y="32"/>
                  <a:pt x="1166" y="32"/>
                  <a:pt x="1166" y="32"/>
                </a:cubicBezTo>
                <a:cubicBezTo>
                  <a:pt x="1166" y="39"/>
                  <a:pt x="1166" y="39"/>
                  <a:pt x="1166" y="39"/>
                </a:cubicBezTo>
                <a:cubicBezTo>
                  <a:pt x="1166" y="39"/>
                  <a:pt x="1171" y="30"/>
                  <a:pt x="1180" y="30"/>
                </a:cubicBezTo>
                <a:cubicBezTo>
                  <a:pt x="1185" y="30"/>
                  <a:pt x="1187" y="32"/>
                  <a:pt x="1189" y="32"/>
                </a:cubicBezTo>
                <a:lnTo>
                  <a:pt x="1185" y="42"/>
                </a:lnTo>
                <a:close/>
                <a:moveTo>
                  <a:pt x="1227" y="92"/>
                </a:moveTo>
                <a:cubicBezTo>
                  <a:pt x="1227" y="8"/>
                  <a:pt x="1227" y="8"/>
                  <a:pt x="1227" y="8"/>
                </a:cubicBezTo>
                <a:cubicBezTo>
                  <a:pt x="1239" y="8"/>
                  <a:pt x="1239" y="8"/>
                  <a:pt x="1239" y="8"/>
                </a:cubicBezTo>
                <a:cubicBezTo>
                  <a:pt x="1239" y="85"/>
                  <a:pt x="1239" y="85"/>
                  <a:pt x="1239" y="85"/>
                </a:cubicBezTo>
                <a:cubicBezTo>
                  <a:pt x="1269" y="85"/>
                  <a:pt x="1269" y="85"/>
                  <a:pt x="1269" y="85"/>
                </a:cubicBezTo>
                <a:cubicBezTo>
                  <a:pt x="1269" y="92"/>
                  <a:pt x="1269" y="92"/>
                  <a:pt x="1269" y="92"/>
                </a:cubicBezTo>
                <a:lnTo>
                  <a:pt x="1227" y="92"/>
                </a:lnTo>
                <a:close/>
                <a:moveTo>
                  <a:pt x="1287" y="20"/>
                </a:moveTo>
                <a:cubicBezTo>
                  <a:pt x="1283" y="20"/>
                  <a:pt x="1280" y="18"/>
                  <a:pt x="1280" y="14"/>
                </a:cubicBezTo>
                <a:cubicBezTo>
                  <a:pt x="1280" y="9"/>
                  <a:pt x="1283" y="7"/>
                  <a:pt x="1287" y="7"/>
                </a:cubicBezTo>
                <a:cubicBezTo>
                  <a:pt x="1291" y="7"/>
                  <a:pt x="1294" y="9"/>
                  <a:pt x="1294" y="13"/>
                </a:cubicBezTo>
                <a:cubicBezTo>
                  <a:pt x="1294" y="18"/>
                  <a:pt x="1291" y="20"/>
                  <a:pt x="1287" y="20"/>
                </a:cubicBezTo>
                <a:close/>
                <a:moveTo>
                  <a:pt x="1281" y="92"/>
                </a:moveTo>
                <a:cubicBezTo>
                  <a:pt x="1281" y="32"/>
                  <a:pt x="1281" y="32"/>
                  <a:pt x="1281" y="32"/>
                </a:cubicBezTo>
                <a:cubicBezTo>
                  <a:pt x="1293" y="32"/>
                  <a:pt x="1293" y="32"/>
                  <a:pt x="1293" y="32"/>
                </a:cubicBezTo>
                <a:cubicBezTo>
                  <a:pt x="1293" y="92"/>
                  <a:pt x="1293" y="92"/>
                  <a:pt x="1293" y="92"/>
                </a:cubicBezTo>
                <a:lnTo>
                  <a:pt x="1281" y="92"/>
                </a:lnTo>
                <a:close/>
                <a:moveTo>
                  <a:pt x="1343" y="8"/>
                </a:moveTo>
                <a:cubicBezTo>
                  <a:pt x="1343" y="8"/>
                  <a:pt x="1340" y="6"/>
                  <a:pt x="1336" y="6"/>
                </a:cubicBezTo>
                <a:cubicBezTo>
                  <a:pt x="1331" y="6"/>
                  <a:pt x="1328" y="8"/>
                  <a:pt x="1327" y="11"/>
                </a:cubicBezTo>
                <a:cubicBezTo>
                  <a:pt x="1325" y="13"/>
                  <a:pt x="1325" y="17"/>
                  <a:pt x="1325" y="23"/>
                </a:cubicBezTo>
                <a:cubicBezTo>
                  <a:pt x="1325" y="32"/>
                  <a:pt x="1325" y="32"/>
                  <a:pt x="1325" y="32"/>
                </a:cubicBezTo>
                <a:cubicBezTo>
                  <a:pt x="1339" y="32"/>
                  <a:pt x="1339" y="32"/>
                  <a:pt x="1339" y="32"/>
                </a:cubicBezTo>
                <a:cubicBezTo>
                  <a:pt x="1339" y="38"/>
                  <a:pt x="1339" y="38"/>
                  <a:pt x="1339" y="38"/>
                </a:cubicBezTo>
                <a:cubicBezTo>
                  <a:pt x="1325" y="38"/>
                  <a:pt x="1325" y="38"/>
                  <a:pt x="1325" y="38"/>
                </a:cubicBezTo>
                <a:cubicBezTo>
                  <a:pt x="1325" y="92"/>
                  <a:pt x="1325" y="92"/>
                  <a:pt x="1325" y="92"/>
                </a:cubicBezTo>
                <a:cubicBezTo>
                  <a:pt x="1314" y="92"/>
                  <a:pt x="1314" y="92"/>
                  <a:pt x="1314" y="92"/>
                </a:cubicBezTo>
                <a:cubicBezTo>
                  <a:pt x="1314" y="38"/>
                  <a:pt x="1314" y="38"/>
                  <a:pt x="1314" y="38"/>
                </a:cubicBezTo>
                <a:cubicBezTo>
                  <a:pt x="1305" y="38"/>
                  <a:pt x="1305" y="38"/>
                  <a:pt x="1305" y="38"/>
                </a:cubicBezTo>
                <a:cubicBezTo>
                  <a:pt x="1305" y="32"/>
                  <a:pt x="1305" y="32"/>
                  <a:pt x="1305" y="32"/>
                </a:cubicBezTo>
                <a:cubicBezTo>
                  <a:pt x="1314" y="32"/>
                  <a:pt x="1314" y="32"/>
                  <a:pt x="1314" y="32"/>
                </a:cubicBezTo>
                <a:cubicBezTo>
                  <a:pt x="1314" y="28"/>
                  <a:pt x="1314" y="28"/>
                  <a:pt x="1314" y="28"/>
                </a:cubicBezTo>
                <a:cubicBezTo>
                  <a:pt x="1314" y="24"/>
                  <a:pt x="1314" y="17"/>
                  <a:pt x="1315" y="13"/>
                </a:cubicBezTo>
                <a:cubicBezTo>
                  <a:pt x="1318" y="5"/>
                  <a:pt x="1324" y="0"/>
                  <a:pt x="1334" y="0"/>
                </a:cubicBezTo>
                <a:cubicBezTo>
                  <a:pt x="1341" y="0"/>
                  <a:pt x="1345" y="2"/>
                  <a:pt x="1345" y="2"/>
                </a:cubicBezTo>
                <a:lnTo>
                  <a:pt x="1343" y="8"/>
                </a:lnTo>
                <a:close/>
                <a:moveTo>
                  <a:pt x="1356" y="60"/>
                </a:moveTo>
                <a:cubicBezTo>
                  <a:pt x="1356" y="60"/>
                  <a:pt x="1356" y="62"/>
                  <a:pt x="1356" y="62"/>
                </a:cubicBezTo>
                <a:cubicBezTo>
                  <a:pt x="1356" y="83"/>
                  <a:pt x="1370" y="86"/>
                  <a:pt x="1377" y="86"/>
                </a:cubicBezTo>
                <a:cubicBezTo>
                  <a:pt x="1386" y="86"/>
                  <a:pt x="1390" y="83"/>
                  <a:pt x="1390" y="83"/>
                </a:cubicBezTo>
                <a:cubicBezTo>
                  <a:pt x="1393" y="90"/>
                  <a:pt x="1393" y="90"/>
                  <a:pt x="1393" y="90"/>
                </a:cubicBezTo>
                <a:cubicBezTo>
                  <a:pt x="1393" y="90"/>
                  <a:pt x="1387" y="93"/>
                  <a:pt x="1375" y="93"/>
                </a:cubicBezTo>
                <a:cubicBezTo>
                  <a:pt x="1362" y="93"/>
                  <a:pt x="1345" y="89"/>
                  <a:pt x="1345" y="62"/>
                </a:cubicBezTo>
                <a:cubicBezTo>
                  <a:pt x="1345" y="51"/>
                  <a:pt x="1349" y="30"/>
                  <a:pt x="1372" y="30"/>
                </a:cubicBezTo>
                <a:cubicBezTo>
                  <a:pt x="1382" y="30"/>
                  <a:pt x="1388" y="34"/>
                  <a:pt x="1391" y="40"/>
                </a:cubicBezTo>
                <a:cubicBezTo>
                  <a:pt x="1394" y="44"/>
                  <a:pt x="1395" y="51"/>
                  <a:pt x="1395" y="58"/>
                </a:cubicBezTo>
                <a:cubicBezTo>
                  <a:pt x="1395" y="59"/>
                  <a:pt x="1395" y="59"/>
                  <a:pt x="1395" y="59"/>
                </a:cubicBezTo>
                <a:cubicBezTo>
                  <a:pt x="1395" y="60"/>
                  <a:pt x="1395" y="60"/>
                  <a:pt x="1395" y="60"/>
                </a:cubicBezTo>
                <a:lnTo>
                  <a:pt x="1356" y="60"/>
                </a:lnTo>
                <a:close/>
                <a:moveTo>
                  <a:pt x="1383" y="52"/>
                </a:moveTo>
                <a:cubicBezTo>
                  <a:pt x="1383" y="42"/>
                  <a:pt x="1379" y="37"/>
                  <a:pt x="1371" y="37"/>
                </a:cubicBezTo>
                <a:cubicBezTo>
                  <a:pt x="1364" y="37"/>
                  <a:pt x="1360" y="40"/>
                  <a:pt x="1358" y="46"/>
                </a:cubicBezTo>
                <a:cubicBezTo>
                  <a:pt x="1357" y="50"/>
                  <a:pt x="1357" y="53"/>
                  <a:pt x="1357" y="54"/>
                </a:cubicBezTo>
                <a:cubicBezTo>
                  <a:pt x="1383" y="54"/>
                  <a:pt x="1383" y="54"/>
                  <a:pt x="1383" y="54"/>
                </a:cubicBezTo>
                <a:lnTo>
                  <a:pt x="1383" y="52"/>
                </a:lnTo>
                <a:close/>
                <a:moveTo>
                  <a:pt x="1420" y="23"/>
                </a:moveTo>
                <a:cubicBezTo>
                  <a:pt x="1417" y="30"/>
                  <a:pt x="1410" y="34"/>
                  <a:pt x="1410" y="34"/>
                </a:cubicBezTo>
                <a:cubicBezTo>
                  <a:pt x="1406" y="31"/>
                  <a:pt x="1406" y="31"/>
                  <a:pt x="1406" y="31"/>
                </a:cubicBezTo>
                <a:cubicBezTo>
                  <a:pt x="1406" y="31"/>
                  <a:pt x="1411" y="25"/>
                  <a:pt x="1411" y="14"/>
                </a:cubicBezTo>
                <a:cubicBezTo>
                  <a:pt x="1411" y="7"/>
                  <a:pt x="1410" y="4"/>
                  <a:pt x="1410" y="4"/>
                </a:cubicBezTo>
                <a:cubicBezTo>
                  <a:pt x="1423" y="4"/>
                  <a:pt x="1423" y="4"/>
                  <a:pt x="1423" y="4"/>
                </a:cubicBezTo>
                <a:cubicBezTo>
                  <a:pt x="1423" y="5"/>
                  <a:pt x="1423" y="5"/>
                  <a:pt x="1423" y="5"/>
                </a:cubicBezTo>
                <a:cubicBezTo>
                  <a:pt x="1423" y="15"/>
                  <a:pt x="1422" y="19"/>
                  <a:pt x="1420" y="23"/>
                </a:cubicBezTo>
                <a:close/>
                <a:moveTo>
                  <a:pt x="1444" y="93"/>
                </a:moveTo>
                <a:cubicBezTo>
                  <a:pt x="1431" y="93"/>
                  <a:pt x="1425" y="90"/>
                  <a:pt x="1425" y="90"/>
                </a:cubicBezTo>
                <a:cubicBezTo>
                  <a:pt x="1428" y="83"/>
                  <a:pt x="1428" y="83"/>
                  <a:pt x="1428" y="83"/>
                </a:cubicBezTo>
                <a:cubicBezTo>
                  <a:pt x="1428" y="83"/>
                  <a:pt x="1433" y="86"/>
                  <a:pt x="1443" y="86"/>
                </a:cubicBezTo>
                <a:cubicBezTo>
                  <a:pt x="1451" y="86"/>
                  <a:pt x="1455" y="83"/>
                  <a:pt x="1455" y="77"/>
                </a:cubicBezTo>
                <a:cubicBezTo>
                  <a:pt x="1455" y="72"/>
                  <a:pt x="1453" y="71"/>
                  <a:pt x="1449" y="69"/>
                </a:cubicBezTo>
                <a:cubicBezTo>
                  <a:pt x="1439" y="63"/>
                  <a:pt x="1439" y="63"/>
                  <a:pt x="1439" y="63"/>
                </a:cubicBezTo>
                <a:cubicBezTo>
                  <a:pt x="1432" y="59"/>
                  <a:pt x="1428" y="55"/>
                  <a:pt x="1428" y="47"/>
                </a:cubicBezTo>
                <a:cubicBezTo>
                  <a:pt x="1428" y="35"/>
                  <a:pt x="1436" y="30"/>
                  <a:pt x="1448" y="30"/>
                </a:cubicBezTo>
                <a:cubicBezTo>
                  <a:pt x="1459" y="30"/>
                  <a:pt x="1464" y="34"/>
                  <a:pt x="1464" y="34"/>
                </a:cubicBezTo>
                <a:cubicBezTo>
                  <a:pt x="1462" y="41"/>
                  <a:pt x="1462" y="41"/>
                  <a:pt x="1462" y="41"/>
                </a:cubicBezTo>
                <a:cubicBezTo>
                  <a:pt x="1462" y="41"/>
                  <a:pt x="1457" y="37"/>
                  <a:pt x="1449" y="37"/>
                </a:cubicBezTo>
                <a:cubicBezTo>
                  <a:pt x="1444" y="37"/>
                  <a:pt x="1438" y="39"/>
                  <a:pt x="1438" y="45"/>
                </a:cubicBezTo>
                <a:cubicBezTo>
                  <a:pt x="1438" y="50"/>
                  <a:pt x="1440" y="51"/>
                  <a:pt x="1446" y="54"/>
                </a:cubicBezTo>
                <a:cubicBezTo>
                  <a:pt x="1455" y="59"/>
                  <a:pt x="1455" y="59"/>
                  <a:pt x="1455" y="59"/>
                </a:cubicBezTo>
                <a:cubicBezTo>
                  <a:pt x="1462" y="63"/>
                  <a:pt x="1466" y="68"/>
                  <a:pt x="1466" y="75"/>
                </a:cubicBezTo>
                <a:cubicBezTo>
                  <a:pt x="1466" y="90"/>
                  <a:pt x="1452" y="93"/>
                  <a:pt x="1444" y="93"/>
                </a:cubicBezTo>
                <a:close/>
                <a:moveTo>
                  <a:pt x="1587" y="93"/>
                </a:moveTo>
                <a:cubicBezTo>
                  <a:pt x="1575" y="93"/>
                  <a:pt x="1575" y="93"/>
                  <a:pt x="1575" y="93"/>
                </a:cubicBezTo>
                <a:cubicBezTo>
                  <a:pt x="1557" y="31"/>
                  <a:pt x="1557" y="31"/>
                  <a:pt x="1557" y="31"/>
                </a:cubicBezTo>
                <a:cubicBezTo>
                  <a:pt x="1556" y="25"/>
                  <a:pt x="1556" y="23"/>
                  <a:pt x="1556" y="23"/>
                </a:cubicBezTo>
                <a:cubicBezTo>
                  <a:pt x="1556" y="23"/>
                  <a:pt x="1556" y="25"/>
                  <a:pt x="1554" y="31"/>
                </a:cubicBezTo>
                <a:cubicBezTo>
                  <a:pt x="1536" y="93"/>
                  <a:pt x="1536" y="93"/>
                  <a:pt x="1536" y="93"/>
                </a:cubicBezTo>
                <a:cubicBezTo>
                  <a:pt x="1524" y="93"/>
                  <a:pt x="1524" y="93"/>
                  <a:pt x="1524" y="93"/>
                </a:cubicBezTo>
                <a:cubicBezTo>
                  <a:pt x="1500" y="8"/>
                  <a:pt x="1500" y="8"/>
                  <a:pt x="1500" y="8"/>
                </a:cubicBezTo>
                <a:cubicBezTo>
                  <a:pt x="1512" y="8"/>
                  <a:pt x="1512" y="8"/>
                  <a:pt x="1512" y="8"/>
                </a:cubicBezTo>
                <a:cubicBezTo>
                  <a:pt x="1530" y="72"/>
                  <a:pt x="1530" y="72"/>
                  <a:pt x="1530" y="72"/>
                </a:cubicBezTo>
                <a:cubicBezTo>
                  <a:pt x="1532" y="78"/>
                  <a:pt x="1532" y="81"/>
                  <a:pt x="1532" y="81"/>
                </a:cubicBezTo>
                <a:cubicBezTo>
                  <a:pt x="1532" y="81"/>
                  <a:pt x="1532" y="77"/>
                  <a:pt x="1534" y="72"/>
                </a:cubicBezTo>
                <a:cubicBezTo>
                  <a:pt x="1552" y="8"/>
                  <a:pt x="1552" y="8"/>
                  <a:pt x="1552" y="8"/>
                </a:cubicBezTo>
                <a:cubicBezTo>
                  <a:pt x="1562" y="8"/>
                  <a:pt x="1562" y="8"/>
                  <a:pt x="1562" y="8"/>
                </a:cubicBezTo>
                <a:cubicBezTo>
                  <a:pt x="1581" y="73"/>
                  <a:pt x="1581" y="73"/>
                  <a:pt x="1581" y="73"/>
                </a:cubicBezTo>
                <a:cubicBezTo>
                  <a:pt x="1582" y="77"/>
                  <a:pt x="1582" y="81"/>
                  <a:pt x="1582" y="81"/>
                </a:cubicBezTo>
                <a:cubicBezTo>
                  <a:pt x="1582" y="81"/>
                  <a:pt x="1583" y="77"/>
                  <a:pt x="1584" y="72"/>
                </a:cubicBezTo>
                <a:cubicBezTo>
                  <a:pt x="1603" y="8"/>
                  <a:pt x="1603" y="8"/>
                  <a:pt x="1603" y="8"/>
                </a:cubicBezTo>
                <a:cubicBezTo>
                  <a:pt x="1613" y="8"/>
                  <a:pt x="1613" y="8"/>
                  <a:pt x="1613" y="8"/>
                </a:cubicBezTo>
                <a:lnTo>
                  <a:pt x="1587" y="93"/>
                </a:lnTo>
                <a:close/>
                <a:moveTo>
                  <a:pt x="1643" y="94"/>
                </a:moveTo>
                <a:cubicBezTo>
                  <a:pt x="1626" y="94"/>
                  <a:pt x="1615" y="81"/>
                  <a:pt x="1615" y="63"/>
                </a:cubicBezTo>
                <a:cubicBezTo>
                  <a:pt x="1615" y="50"/>
                  <a:pt x="1621" y="30"/>
                  <a:pt x="1645" y="30"/>
                </a:cubicBezTo>
                <a:cubicBezTo>
                  <a:pt x="1662" y="30"/>
                  <a:pt x="1673" y="43"/>
                  <a:pt x="1673" y="61"/>
                </a:cubicBezTo>
                <a:cubicBezTo>
                  <a:pt x="1673" y="74"/>
                  <a:pt x="1667" y="94"/>
                  <a:pt x="1643" y="94"/>
                </a:cubicBezTo>
                <a:close/>
                <a:moveTo>
                  <a:pt x="1644" y="37"/>
                </a:moveTo>
                <a:cubicBezTo>
                  <a:pt x="1632" y="37"/>
                  <a:pt x="1628" y="46"/>
                  <a:pt x="1628" y="62"/>
                </a:cubicBezTo>
                <a:cubicBezTo>
                  <a:pt x="1628" y="76"/>
                  <a:pt x="1632" y="87"/>
                  <a:pt x="1644" y="87"/>
                </a:cubicBezTo>
                <a:cubicBezTo>
                  <a:pt x="1656" y="87"/>
                  <a:pt x="1660" y="78"/>
                  <a:pt x="1660" y="62"/>
                </a:cubicBezTo>
                <a:cubicBezTo>
                  <a:pt x="1660" y="48"/>
                  <a:pt x="1656" y="37"/>
                  <a:pt x="1644" y="37"/>
                </a:cubicBezTo>
                <a:close/>
                <a:moveTo>
                  <a:pt x="1719" y="42"/>
                </a:moveTo>
                <a:cubicBezTo>
                  <a:pt x="1718" y="41"/>
                  <a:pt x="1715" y="39"/>
                  <a:pt x="1710" y="39"/>
                </a:cubicBezTo>
                <a:cubicBezTo>
                  <a:pt x="1704" y="39"/>
                  <a:pt x="1700" y="42"/>
                  <a:pt x="1700" y="42"/>
                </a:cubicBezTo>
                <a:cubicBezTo>
                  <a:pt x="1700" y="92"/>
                  <a:pt x="1700" y="92"/>
                  <a:pt x="1700" y="92"/>
                </a:cubicBezTo>
                <a:cubicBezTo>
                  <a:pt x="1688" y="92"/>
                  <a:pt x="1688" y="92"/>
                  <a:pt x="1688" y="92"/>
                </a:cubicBezTo>
                <a:cubicBezTo>
                  <a:pt x="1688" y="32"/>
                  <a:pt x="1688" y="32"/>
                  <a:pt x="1688" y="32"/>
                </a:cubicBezTo>
                <a:cubicBezTo>
                  <a:pt x="1700" y="32"/>
                  <a:pt x="1700" y="32"/>
                  <a:pt x="1700" y="32"/>
                </a:cubicBezTo>
                <a:cubicBezTo>
                  <a:pt x="1700" y="39"/>
                  <a:pt x="1700" y="39"/>
                  <a:pt x="1700" y="39"/>
                </a:cubicBezTo>
                <a:cubicBezTo>
                  <a:pt x="1700" y="39"/>
                  <a:pt x="1705" y="30"/>
                  <a:pt x="1714" y="30"/>
                </a:cubicBezTo>
                <a:cubicBezTo>
                  <a:pt x="1719" y="30"/>
                  <a:pt x="1721" y="32"/>
                  <a:pt x="1723" y="32"/>
                </a:cubicBezTo>
                <a:lnTo>
                  <a:pt x="1719" y="42"/>
                </a:lnTo>
                <a:close/>
                <a:moveTo>
                  <a:pt x="1769" y="92"/>
                </a:moveTo>
                <a:cubicBezTo>
                  <a:pt x="1746" y="60"/>
                  <a:pt x="1746" y="60"/>
                  <a:pt x="1746" y="60"/>
                </a:cubicBezTo>
                <a:cubicBezTo>
                  <a:pt x="1746" y="92"/>
                  <a:pt x="1746" y="92"/>
                  <a:pt x="1746" y="92"/>
                </a:cubicBezTo>
                <a:cubicBezTo>
                  <a:pt x="1734" y="92"/>
                  <a:pt x="1734" y="92"/>
                  <a:pt x="1734" y="92"/>
                </a:cubicBezTo>
                <a:cubicBezTo>
                  <a:pt x="1734" y="0"/>
                  <a:pt x="1734" y="0"/>
                  <a:pt x="1734" y="0"/>
                </a:cubicBezTo>
                <a:cubicBezTo>
                  <a:pt x="1746" y="0"/>
                  <a:pt x="1746" y="0"/>
                  <a:pt x="1746" y="0"/>
                </a:cubicBezTo>
                <a:cubicBezTo>
                  <a:pt x="1746" y="58"/>
                  <a:pt x="1746" y="58"/>
                  <a:pt x="1746" y="58"/>
                </a:cubicBezTo>
                <a:cubicBezTo>
                  <a:pt x="1770" y="32"/>
                  <a:pt x="1770" y="32"/>
                  <a:pt x="1770" y="32"/>
                </a:cubicBezTo>
                <a:cubicBezTo>
                  <a:pt x="1783" y="32"/>
                  <a:pt x="1783" y="32"/>
                  <a:pt x="1783" y="32"/>
                </a:cubicBezTo>
                <a:cubicBezTo>
                  <a:pt x="1757" y="57"/>
                  <a:pt x="1757" y="57"/>
                  <a:pt x="1757" y="57"/>
                </a:cubicBezTo>
                <a:cubicBezTo>
                  <a:pt x="1783" y="92"/>
                  <a:pt x="1783" y="92"/>
                  <a:pt x="1783" y="92"/>
                </a:cubicBezTo>
                <a:lnTo>
                  <a:pt x="1769" y="92"/>
                </a:lnTo>
                <a:close/>
                <a:moveTo>
                  <a:pt x="1803" y="99"/>
                </a:moveTo>
                <a:cubicBezTo>
                  <a:pt x="1799" y="106"/>
                  <a:pt x="1792" y="110"/>
                  <a:pt x="1792" y="110"/>
                </a:cubicBezTo>
                <a:cubicBezTo>
                  <a:pt x="1789" y="106"/>
                  <a:pt x="1789" y="106"/>
                  <a:pt x="1789" y="106"/>
                </a:cubicBezTo>
                <a:cubicBezTo>
                  <a:pt x="1789" y="106"/>
                  <a:pt x="1794" y="100"/>
                  <a:pt x="1794" y="89"/>
                </a:cubicBezTo>
                <a:cubicBezTo>
                  <a:pt x="1794" y="83"/>
                  <a:pt x="1793" y="80"/>
                  <a:pt x="1793" y="80"/>
                </a:cubicBezTo>
                <a:cubicBezTo>
                  <a:pt x="1805" y="80"/>
                  <a:pt x="1805" y="80"/>
                  <a:pt x="1805" y="80"/>
                </a:cubicBezTo>
                <a:cubicBezTo>
                  <a:pt x="1805" y="80"/>
                  <a:pt x="1805" y="80"/>
                  <a:pt x="1805" y="80"/>
                </a:cubicBezTo>
                <a:cubicBezTo>
                  <a:pt x="1805" y="91"/>
                  <a:pt x="1804" y="95"/>
                  <a:pt x="1803" y="99"/>
                </a:cubicBezTo>
                <a:close/>
                <a:moveTo>
                  <a:pt x="1878" y="92"/>
                </a:moveTo>
                <a:cubicBezTo>
                  <a:pt x="1878" y="87"/>
                  <a:pt x="1878" y="87"/>
                  <a:pt x="1878" y="87"/>
                </a:cubicBezTo>
                <a:cubicBezTo>
                  <a:pt x="1878" y="87"/>
                  <a:pt x="1873" y="93"/>
                  <a:pt x="1863" y="93"/>
                </a:cubicBezTo>
                <a:cubicBezTo>
                  <a:pt x="1852" y="93"/>
                  <a:pt x="1844" y="87"/>
                  <a:pt x="1844" y="76"/>
                </a:cubicBezTo>
                <a:cubicBezTo>
                  <a:pt x="1844" y="70"/>
                  <a:pt x="1847" y="65"/>
                  <a:pt x="1851" y="62"/>
                </a:cubicBezTo>
                <a:cubicBezTo>
                  <a:pt x="1855" y="59"/>
                  <a:pt x="1862" y="58"/>
                  <a:pt x="1869" y="58"/>
                </a:cubicBezTo>
                <a:cubicBezTo>
                  <a:pt x="1873" y="58"/>
                  <a:pt x="1878" y="59"/>
                  <a:pt x="1878" y="59"/>
                </a:cubicBezTo>
                <a:cubicBezTo>
                  <a:pt x="1878" y="54"/>
                  <a:pt x="1878" y="54"/>
                  <a:pt x="1878" y="54"/>
                </a:cubicBezTo>
                <a:cubicBezTo>
                  <a:pt x="1878" y="51"/>
                  <a:pt x="1878" y="46"/>
                  <a:pt x="1877" y="44"/>
                </a:cubicBezTo>
                <a:cubicBezTo>
                  <a:pt x="1876" y="39"/>
                  <a:pt x="1871" y="37"/>
                  <a:pt x="1866" y="37"/>
                </a:cubicBezTo>
                <a:cubicBezTo>
                  <a:pt x="1858" y="37"/>
                  <a:pt x="1853" y="40"/>
                  <a:pt x="1853" y="40"/>
                </a:cubicBezTo>
                <a:cubicBezTo>
                  <a:pt x="1850" y="33"/>
                  <a:pt x="1850" y="33"/>
                  <a:pt x="1850" y="33"/>
                </a:cubicBezTo>
                <a:cubicBezTo>
                  <a:pt x="1850" y="33"/>
                  <a:pt x="1857" y="30"/>
                  <a:pt x="1869" y="30"/>
                </a:cubicBezTo>
                <a:cubicBezTo>
                  <a:pt x="1885" y="30"/>
                  <a:pt x="1888" y="39"/>
                  <a:pt x="1888" y="42"/>
                </a:cubicBezTo>
                <a:cubicBezTo>
                  <a:pt x="1889" y="45"/>
                  <a:pt x="1889" y="55"/>
                  <a:pt x="1889" y="57"/>
                </a:cubicBezTo>
                <a:cubicBezTo>
                  <a:pt x="1889" y="92"/>
                  <a:pt x="1889" y="92"/>
                  <a:pt x="1889" y="92"/>
                </a:cubicBezTo>
                <a:lnTo>
                  <a:pt x="1878" y="92"/>
                </a:lnTo>
                <a:close/>
                <a:moveTo>
                  <a:pt x="1878" y="64"/>
                </a:moveTo>
                <a:cubicBezTo>
                  <a:pt x="1878" y="64"/>
                  <a:pt x="1876" y="64"/>
                  <a:pt x="1871" y="64"/>
                </a:cubicBezTo>
                <a:cubicBezTo>
                  <a:pt x="1867" y="64"/>
                  <a:pt x="1863" y="65"/>
                  <a:pt x="1861" y="66"/>
                </a:cubicBezTo>
                <a:cubicBezTo>
                  <a:pt x="1857" y="68"/>
                  <a:pt x="1856" y="72"/>
                  <a:pt x="1856" y="75"/>
                </a:cubicBezTo>
                <a:cubicBezTo>
                  <a:pt x="1856" y="84"/>
                  <a:pt x="1862" y="86"/>
                  <a:pt x="1868" y="86"/>
                </a:cubicBezTo>
                <a:cubicBezTo>
                  <a:pt x="1874" y="86"/>
                  <a:pt x="1878" y="84"/>
                  <a:pt x="1878" y="84"/>
                </a:cubicBezTo>
                <a:lnTo>
                  <a:pt x="1878" y="64"/>
                </a:lnTo>
                <a:close/>
                <a:moveTo>
                  <a:pt x="1946" y="92"/>
                </a:moveTo>
                <a:cubicBezTo>
                  <a:pt x="1946" y="60"/>
                  <a:pt x="1946" y="60"/>
                  <a:pt x="1946" y="60"/>
                </a:cubicBezTo>
                <a:cubicBezTo>
                  <a:pt x="1946" y="56"/>
                  <a:pt x="1946" y="52"/>
                  <a:pt x="1945" y="49"/>
                </a:cubicBezTo>
                <a:cubicBezTo>
                  <a:pt x="1944" y="41"/>
                  <a:pt x="1939" y="38"/>
                  <a:pt x="1931" y="38"/>
                </a:cubicBezTo>
                <a:cubicBezTo>
                  <a:pt x="1924" y="38"/>
                  <a:pt x="1919" y="41"/>
                  <a:pt x="1919" y="41"/>
                </a:cubicBezTo>
                <a:cubicBezTo>
                  <a:pt x="1919" y="92"/>
                  <a:pt x="1919" y="92"/>
                  <a:pt x="1919" y="92"/>
                </a:cubicBezTo>
                <a:cubicBezTo>
                  <a:pt x="1908" y="92"/>
                  <a:pt x="1908" y="92"/>
                  <a:pt x="1908" y="92"/>
                </a:cubicBezTo>
                <a:cubicBezTo>
                  <a:pt x="1908" y="32"/>
                  <a:pt x="1908" y="32"/>
                  <a:pt x="1908" y="32"/>
                </a:cubicBezTo>
                <a:cubicBezTo>
                  <a:pt x="1919" y="32"/>
                  <a:pt x="1919" y="32"/>
                  <a:pt x="1919" y="32"/>
                </a:cubicBezTo>
                <a:cubicBezTo>
                  <a:pt x="1919" y="38"/>
                  <a:pt x="1919" y="38"/>
                  <a:pt x="1919" y="38"/>
                </a:cubicBezTo>
                <a:cubicBezTo>
                  <a:pt x="1919" y="38"/>
                  <a:pt x="1925" y="30"/>
                  <a:pt x="1937" y="30"/>
                </a:cubicBezTo>
                <a:cubicBezTo>
                  <a:pt x="1950" y="30"/>
                  <a:pt x="1955" y="38"/>
                  <a:pt x="1956" y="44"/>
                </a:cubicBezTo>
                <a:cubicBezTo>
                  <a:pt x="1957" y="48"/>
                  <a:pt x="1957" y="53"/>
                  <a:pt x="1957" y="56"/>
                </a:cubicBezTo>
                <a:cubicBezTo>
                  <a:pt x="1957" y="92"/>
                  <a:pt x="1957" y="92"/>
                  <a:pt x="1957" y="92"/>
                </a:cubicBezTo>
                <a:lnTo>
                  <a:pt x="1946" y="92"/>
                </a:lnTo>
                <a:close/>
                <a:moveTo>
                  <a:pt x="2015" y="92"/>
                </a:moveTo>
                <a:cubicBezTo>
                  <a:pt x="2015" y="86"/>
                  <a:pt x="2015" y="86"/>
                  <a:pt x="2015" y="86"/>
                </a:cubicBezTo>
                <a:cubicBezTo>
                  <a:pt x="2015" y="86"/>
                  <a:pt x="2010" y="93"/>
                  <a:pt x="1998" y="93"/>
                </a:cubicBezTo>
                <a:cubicBezTo>
                  <a:pt x="1984" y="93"/>
                  <a:pt x="1973" y="83"/>
                  <a:pt x="1973" y="63"/>
                </a:cubicBezTo>
                <a:cubicBezTo>
                  <a:pt x="1973" y="43"/>
                  <a:pt x="1986" y="31"/>
                  <a:pt x="2002" y="31"/>
                </a:cubicBezTo>
                <a:cubicBezTo>
                  <a:pt x="2011" y="31"/>
                  <a:pt x="2015" y="33"/>
                  <a:pt x="2015" y="33"/>
                </a:cubicBezTo>
                <a:cubicBezTo>
                  <a:pt x="2015" y="0"/>
                  <a:pt x="2015" y="0"/>
                  <a:pt x="2015" y="0"/>
                </a:cubicBezTo>
                <a:cubicBezTo>
                  <a:pt x="2027" y="0"/>
                  <a:pt x="2027" y="0"/>
                  <a:pt x="2027" y="0"/>
                </a:cubicBezTo>
                <a:cubicBezTo>
                  <a:pt x="2027" y="92"/>
                  <a:pt x="2027" y="92"/>
                  <a:pt x="2027" y="92"/>
                </a:cubicBezTo>
                <a:lnTo>
                  <a:pt x="2015" y="92"/>
                </a:lnTo>
                <a:close/>
                <a:moveTo>
                  <a:pt x="2015" y="38"/>
                </a:moveTo>
                <a:cubicBezTo>
                  <a:pt x="2015" y="38"/>
                  <a:pt x="2012" y="37"/>
                  <a:pt x="2006" y="37"/>
                </a:cubicBezTo>
                <a:cubicBezTo>
                  <a:pt x="1992" y="37"/>
                  <a:pt x="1985" y="46"/>
                  <a:pt x="1985" y="62"/>
                </a:cubicBezTo>
                <a:cubicBezTo>
                  <a:pt x="1985" y="76"/>
                  <a:pt x="1992" y="86"/>
                  <a:pt x="2004" y="86"/>
                </a:cubicBezTo>
                <a:cubicBezTo>
                  <a:pt x="2011" y="86"/>
                  <a:pt x="2015" y="83"/>
                  <a:pt x="2015" y="83"/>
                </a:cubicBezTo>
                <a:lnTo>
                  <a:pt x="2015" y="38"/>
                </a:lnTo>
                <a:close/>
              </a:path>
            </a:pathLst>
          </a:custGeom>
          <a:solidFill>
            <a:srgbClr val="505759"/>
          </a:solidFill>
          <a:ln>
            <a:noFill/>
          </a:ln>
        </p:spPr>
        <p:txBody>
          <a:bodyPr vert="horz" wrap="square" lIns="91440" tIns="45720" rIns="91440" bIns="45720" numCol="1" anchor="t" anchorCtr="0" compatLnSpc="1">
            <a:prstTxWarp prst="textNoShape">
              <a:avLst/>
            </a:prstTxWarp>
          </a:bodyPr>
          <a:lstStyle/>
          <a:p>
            <a:endParaRPr lang="en-US"/>
          </a:p>
        </p:txBody>
      </p:sp>
    </p:spTree>
    <p:extLst>
      <p:ext uri="{BB962C8B-B14F-4D97-AF65-F5344CB8AC3E}">
        <p14:creationId xmlns:p14="http://schemas.microsoft.com/office/powerpoint/2010/main" val="309012278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8"/>
                                        </p:tgtEl>
                                        <p:attrNameLst>
                                          <p:attrName>style.visibility</p:attrName>
                                        </p:attrNameLst>
                                      </p:cBhvr>
                                      <p:to>
                                        <p:strVal val="visible"/>
                                      </p:to>
                                    </p:set>
                                    <p:animEffect transition="in" filter="wipe(left)">
                                      <p:cBhvr>
                                        <p:cTn id="7" dur="2000"/>
                                        <p:tgtEl>
                                          <p:spTgt spid="8"/>
                                        </p:tgtEl>
                                      </p:cBhvr>
                                    </p:animEffect>
                                  </p:childTnLst>
                                </p:cTn>
                              </p:par>
                            </p:childTnLst>
                          </p:cTn>
                        </p:par>
                        <p:par>
                          <p:cTn id="8" fill="hold">
                            <p:stCondLst>
                              <p:cond delay="2000"/>
                            </p:stCondLst>
                            <p:childTnLst>
                              <p:par>
                                <p:cTn id="9" presetID="10" presetClass="entr" presetSubtype="0" fill="hold" nodeType="afterEffect">
                                  <p:stCondLst>
                                    <p:cond delay="250"/>
                                  </p:stCondLst>
                                  <p:childTnLst>
                                    <p:set>
                                      <p:cBhvr>
                                        <p:cTn id="10" dur="1" fill="hold">
                                          <p:stCondLst>
                                            <p:cond delay="0"/>
                                          </p:stCondLst>
                                        </p:cTn>
                                        <p:tgtEl>
                                          <p:spTgt spid="6"/>
                                        </p:tgtEl>
                                        <p:attrNameLst>
                                          <p:attrName>style.visibility</p:attrName>
                                        </p:attrNameLst>
                                      </p:cBhvr>
                                      <p:to>
                                        <p:strVal val="visible"/>
                                      </p:to>
                                    </p:set>
                                    <p:animEffect transition="in" filter="fade">
                                      <p:cBhvr>
                                        <p:cTn id="11" dur="250"/>
                                        <p:tgtEl>
                                          <p:spTgt spid="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animBg="1"/>
    </p:bldLst>
  </p:timing>
</p:sldLayout>
</file>

<file path=ppt/slideLayouts/slideLayout24.xml><?xml version="1.0" encoding="utf-8"?>
<p:sldLayout xmlns:a="http://schemas.openxmlformats.org/drawingml/2006/main" xmlns:r="http://schemas.openxmlformats.org/officeDocument/2006/relationships" xmlns:p="http://schemas.openxmlformats.org/presentationml/2006/main">
  <p:cSld name="1_Section Header">
    <p:bg>
      <p:bgPr>
        <a:solidFill>
          <a:schemeClr val="accent1"/>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892EA34-13CC-54C1-DE3D-4F1D5D55C9A7}"/>
              </a:ext>
            </a:extLst>
          </p:cNvPr>
          <p:cNvSpPr>
            <a:spLocks noGrp="1"/>
          </p:cNvSpPr>
          <p:nvPr>
            <p:ph type="title"/>
          </p:nvPr>
        </p:nvSpPr>
        <p:spPr>
          <a:xfrm>
            <a:off x="118297" y="2400300"/>
            <a:ext cx="6752171" cy="2686638"/>
          </a:xfrm>
        </p:spPr>
        <p:txBody>
          <a:bodyPr anchor="b">
            <a:normAutofit/>
          </a:bodyPr>
          <a:lstStyle>
            <a:lvl1pPr>
              <a:defRPr sz="5175">
                <a:solidFill>
                  <a:schemeClr val="tx2"/>
                </a:solidFill>
              </a:defRPr>
            </a:lvl1pPr>
          </a:lstStyle>
          <a:p>
            <a:r>
              <a:rPr lang="en-US"/>
              <a:t>Click to edit Master title style</a:t>
            </a:r>
          </a:p>
        </p:txBody>
      </p:sp>
      <p:sp>
        <p:nvSpPr>
          <p:cNvPr id="5" name="Footer Placeholder 4">
            <a:extLst>
              <a:ext uri="{FF2B5EF4-FFF2-40B4-BE49-F238E27FC236}">
                <a16:creationId xmlns:a16="http://schemas.microsoft.com/office/drawing/2014/main" id="{9F1849E7-8E94-3B02-239C-AAB481596BFD}"/>
              </a:ext>
            </a:extLst>
          </p:cNvPr>
          <p:cNvSpPr>
            <a:spLocks noGrp="1"/>
          </p:cNvSpPr>
          <p:nvPr>
            <p:ph type="ftr" sz="quarter" idx="11"/>
          </p:nvPr>
        </p:nvSpPr>
        <p:spPr>
          <a:xfrm>
            <a:off x="134028" y="105912"/>
            <a:ext cx="2027833" cy="253746"/>
          </a:xfrm>
        </p:spPr>
        <p:txBody>
          <a:bodyPr/>
          <a:lstStyle>
            <a:lvl1pPr>
              <a:defRPr>
                <a:solidFill>
                  <a:schemeClr val="tx2"/>
                </a:solidFill>
              </a:defRPr>
            </a:lvl1pPr>
          </a:lstStyle>
          <a:p>
            <a:r>
              <a:rPr lang="en-US"/>
              <a:t>Sample Footer Text</a:t>
            </a:r>
          </a:p>
        </p:txBody>
      </p:sp>
      <p:sp>
        <p:nvSpPr>
          <p:cNvPr id="4" name="Date Placeholder 3">
            <a:extLst>
              <a:ext uri="{FF2B5EF4-FFF2-40B4-BE49-F238E27FC236}">
                <a16:creationId xmlns:a16="http://schemas.microsoft.com/office/drawing/2014/main" id="{8F845713-EE4C-7615-B812-531C14CF0CA2}"/>
              </a:ext>
            </a:extLst>
          </p:cNvPr>
          <p:cNvSpPr>
            <a:spLocks noGrp="1"/>
          </p:cNvSpPr>
          <p:nvPr>
            <p:ph type="dt" sz="half" idx="10"/>
          </p:nvPr>
        </p:nvSpPr>
        <p:spPr>
          <a:xfrm>
            <a:off x="7858125" y="105912"/>
            <a:ext cx="774063" cy="253746"/>
          </a:xfrm>
        </p:spPr>
        <p:txBody>
          <a:bodyPr/>
          <a:lstStyle>
            <a:lvl1pPr>
              <a:defRPr>
                <a:solidFill>
                  <a:schemeClr val="tx2"/>
                </a:solidFill>
              </a:defRPr>
            </a:lvl1pPr>
          </a:lstStyle>
          <a:p>
            <a:fld id="{7E2CC31D-7501-40A7-9D1B-8AC69C4CFF73}" type="datetime1">
              <a:rPr lang="en-US" smtClean="0"/>
              <a:t>7/9/26</a:t>
            </a:fld>
            <a:endParaRPr lang="en-US"/>
          </a:p>
        </p:txBody>
      </p:sp>
      <p:sp>
        <p:nvSpPr>
          <p:cNvPr id="6" name="Slide Number Placeholder 5">
            <a:extLst>
              <a:ext uri="{FF2B5EF4-FFF2-40B4-BE49-F238E27FC236}">
                <a16:creationId xmlns:a16="http://schemas.microsoft.com/office/drawing/2014/main" id="{70644BD7-C050-D052-8408-65ADAAF674FF}"/>
              </a:ext>
            </a:extLst>
          </p:cNvPr>
          <p:cNvSpPr>
            <a:spLocks noGrp="1"/>
          </p:cNvSpPr>
          <p:nvPr>
            <p:ph type="sldNum" sz="quarter" idx="12"/>
          </p:nvPr>
        </p:nvSpPr>
        <p:spPr>
          <a:xfrm>
            <a:off x="8632188" y="105912"/>
            <a:ext cx="342900" cy="253746"/>
          </a:xfrm>
        </p:spPr>
        <p:txBody>
          <a:bodyPr/>
          <a:lstStyle>
            <a:lvl1pPr>
              <a:defRPr>
                <a:solidFill>
                  <a:schemeClr val="tx2"/>
                </a:solidFill>
              </a:defRPr>
            </a:lvl1pPr>
          </a:lstStyle>
          <a:p>
            <a:fld id="{C8116806-1FD2-4A57-B5EA-7014AB76383B}" type="slidenum">
              <a:rPr lang="en-US" smtClean="0"/>
              <a:t>‹#›</a:t>
            </a:fld>
            <a:endParaRPr lang="en-US"/>
          </a:p>
        </p:txBody>
      </p:sp>
      <p:sp>
        <p:nvSpPr>
          <p:cNvPr id="10" name="Rectangle 9">
            <a:extLst>
              <a:ext uri="{FF2B5EF4-FFF2-40B4-BE49-F238E27FC236}">
                <a16:creationId xmlns:a16="http://schemas.microsoft.com/office/drawing/2014/main" id="{28B733B7-4A89-38D3-D0F4-3813FE0C01AB}"/>
              </a:ext>
            </a:extLst>
          </p:cNvPr>
          <p:cNvSpPr/>
          <p:nvPr userDrawn="1"/>
        </p:nvSpPr>
        <p:spPr>
          <a:xfrm>
            <a:off x="0" y="0"/>
            <a:ext cx="9144000" cy="5143500"/>
          </a:xfrm>
          <a:prstGeom prst="rect">
            <a:avLst/>
          </a:prstGeom>
          <a:solidFill>
            <a:srgbClr val="C8102E"/>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350"/>
          </a:p>
        </p:txBody>
      </p:sp>
    </p:spTree>
    <p:extLst>
      <p:ext uri="{BB962C8B-B14F-4D97-AF65-F5344CB8AC3E}">
        <p14:creationId xmlns:p14="http://schemas.microsoft.com/office/powerpoint/2010/main" val="2635761996"/>
      </p:ext>
    </p:extLst>
  </p:cSld>
  <p:clrMapOvr>
    <a:overrideClrMapping bg1="dk1" tx1="lt1" bg2="dk2" tx2="lt2" accent1="accent1" accent2="accent2" accent3="accent3" accent4="accent4" accent5="accent5" accent6="accent6" hlink="hlink" folHlink="folHlink"/>
  </p:clrMapOvr>
</p:sldLayout>
</file>

<file path=ppt/slideLayouts/slideLayout25.xml><?xml version="1.0" encoding="utf-8"?>
<p:sldLayout xmlns:a="http://schemas.openxmlformats.org/drawingml/2006/main" xmlns:r="http://schemas.openxmlformats.org/officeDocument/2006/relationships" xmlns:p="http://schemas.openxmlformats.org/presentationml/2006/main">
  <p:cSld name="Content with Picture 2">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AF3BB49-A328-F121-7F27-DEB7C3CC2B0F}"/>
              </a:ext>
            </a:extLst>
          </p:cNvPr>
          <p:cNvSpPr>
            <a:spLocks noGrp="1"/>
          </p:cNvSpPr>
          <p:nvPr>
            <p:ph type="title"/>
          </p:nvPr>
        </p:nvSpPr>
        <p:spPr>
          <a:xfrm>
            <a:off x="137159" y="164593"/>
            <a:ext cx="4777741" cy="756653"/>
          </a:xfrm>
        </p:spPr>
        <p:txBody>
          <a:bodyPr anchor="t"/>
          <a:lstStyle/>
          <a:p>
            <a:r>
              <a:rPr lang="en-US"/>
              <a:t>Click to edit Master title style</a:t>
            </a:r>
          </a:p>
        </p:txBody>
      </p:sp>
      <p:sp>
        <p:nvSpPr>
          <p:cNvPr id="8" name="Content Placeholder 7">
            <a:extLst>
              <a:ext uri="{FF2B5EF4-FFF2-40B4-BE49-F238E27FC236}">
                <a16:creationId xmlns:a16="http://schemas.microsoft.com/office/drawing/2014/main" id="{07755DB3-9272-8E5E-039F-AC14A2C07898}"/>
              </a:ext>
            </a:extLst>
          </p:cNvPr>
          <p:cNvSpPr>
            <a:spLocks noGrp="1"/>
          </p:cNvSpPr>
          <p:nvPr>
            <p:ph sz="quarter" idx="14"/>
          </p:nvPr>
        </p:nvSpPr>
        <p:spPr>
          <a:xfrm>
            <a:off x="137160" y="921246"/>
            <a:ext cx="4777740" cy="3782618"/>
          </a:xfrm>
        </p:spPr>
        <p:txBody>
          <a:bodyPr anchor="b"/>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a:extLst>
              <a:ext uri="{FF2B5EF4-FFF2-40B4-BE49-F238E27FC236}">
                <a16:creationId xmlns:a16="http://schemas.microsoft.com/office/drawing/2014/main" id="{C2BDD5A2-CE3E-3215-6DAA-F75C0D1229DA}"/>
              </a:ext>
            </a:extLst>
          </p:cNvPr>
          <p:cNvSpPr>
            <a:spLocks noGrp="1"/>
          </p:cNvSpPr>
          <p:nvPr>
            <p:ph type="ftr" sz="quarter" idx="11"/>
          </p:nvPr>
        </p:nvSpPr>
        <p:spPr/>
        <p:txBody>
          <a:bodyPr/>
          <a:lstStyle>
            <a:lvl1pPr>
              <a:defRPr>
                <a:solidFill>
                  <a:schemeClr val="tx1"/>
                </a:solidFill>
                <a:effectLst/>
              </a:defRPr>
            </a:lvl1pPr>
          </a:lstStyle>
          <a:p>
            <a:r>
              <a:rPr lang="en-US"/>
              <a:t>Sample Footer Text</a:t>
            </a:r>
          </a:p>
        </p:txBody>
      </p:sp>
      <p:sp>
        <p:nvSpPr>
          <p:cNvPr id="5" name="Date Placeholder 4">
            <a:extLst>
              <a:ext uri="{FF2B5EF4-FFF2-40B4-BE49-F238E27FC236}">
                <a16:creationId xmlns:a16="http://schemas.microsoft.com/office/drawing/2014/main" id="{897D0B7E-1A60-DA52-6965-92412B1C2F9F}"/>
              </a:ext>
            </a:extLst>
          </p:cNvPr>
          <p:cNvSpPr>
            <a:spLocks noGrp="1"/>
          </p:cNvSpPr>
          <p:nvPr>
            <p:ph type="dt" sz="half" idx="10"/>
          </p:nvPr>
        </p:nvSpPr>
        <p:spPr>
          <a:xfrm>
            <a:off x="3940812" y="4793096"/>
            <a:ext cx="974088" cy="253746"/>
          </a:xfrm>
        </p:spPr>
        <p:txBody>
          <a:bodyPr/>
          <a:lstStyle/>
          <a:p>
            <a:fld id="{501F6A6B-DAC2-4111-A4C8-22F3732D2683}" type="datetime1">
              <a:rPr lang="en-US" smtClean="0"/>
              <a:t>7/9/26</a:t>
            </a:fld>
            <a:endParaRPr lang="en-US"/>
          </a:p>
        </p:txBody>
      </p:sp>
      <p:sp>
        <p:nvSpPr>
          <p:cNvPr id="7" name="Slide Number Placeholder 6">
            <a:extLst>
              <a:ext uri="{FF2B5EF4-FFF2-40B4-BE49-F238E27FC236}">
                <a16:creationId xmlns:a16="http://schemas.microsoft.com/office/drawing/2014/main" id="{B1B822F1-284A-1786-FAF2-72129E2FE64D}"/>
              </a:ext>
            </a:extLst>
          </p:cNvPr>
          <p:cNvSpPr>
            <a:spLocks noGrp="1"/>
          </p:cNvSpPr>
          <p:nvPr>
            <p:ph type="sldNum" sz="quarter" idx="12"/>
          </p:nvPr>
        </p:nvSpPr>
        <p:spPr>
          <a:xfrm>
            <a:off x="4914900" y="4793096"/>
            <a:ext cx="342900" cy="253746"/>
          </a:xfrm>
        </p:spPr>
        <p:txBody>
          <a:bodyPr/>
          <a:lstStyle>
            <a:lvl1pPr>
              <a:defRPr>
                <a:solidFill>
                  <a:schemeClr val="tx1"/>
                </a:solidFill>
                <a:effectLst/>
              </a:defRPr>
            </a:lvl1pPr>
          </a:lstStyle>
          <a:p>
            <a:fld id="{C8116806-1FD2-4A57-B5EA-7014AB76383B}" type="slidenum">
              <a:rPr lang="en-US" smtClean="0"/>
              <a:t>‹#›</a:t>
            </a:fld>
            <a:endParaRPr lang="en-US"/>
          </a:p>
        </p:txBody>
      </p:sp>
      <p:sp>
        <p:nvSpPr>
          <p:cNvPr id="4" name="Picture Placeholder 3">
            <a:extLst>
              <a:ext uri="{FF2B5EF4-FFF2-40B4-BE49-F238E27FC236}">
                <a16:creationId xmlns:a16="http://schemas.microsoft.com/office/drawing/2014/main" id="{7F11DC52-D1FD-A255-1A04-7A15A9DE3C8F}"/>
              </a:ext>
            </a:extLst>
          </p:cNvPr>
          <p:cNvSpPr>
            <a:spLocks noGrp="1"/>
          </p:cNvSpPr>
          <p:nvPr>
            <p:ph type="pic" sz="quarter" idx="13" hasCustomPrompt="1"/>
          </p:nvPr>
        </p:nvSpPr>
        <p:spPr>
          <a:xfrm>
            <a:off x="5629275" y="200025"/>
            <a:ext cx="3314700" cy="4743450"/>
          </a:xfrm>
          <a:custGeom>
            <a:avLst/>
            <a:gdLst>
              <a:gd name="connsiteX0" fmla="*/ 293171 w 4495799"/>
              <a:gd name="connsiteY0" fmla="*/ 0 h 6172200"/>
              <a:gd name="connsiteX1" fmla="*/ 4202628 w 4495799"/>
              <a:gd name="connsiteY1" fmla="*/ 0 h 6172200"/>
              <a:gd name="connsiteX2" fmla="*/ 4495799 w 4495799"/>
              <a:gd name="connsiteY2" fmla="*/ 293171 h 6172200"/>
              <a:gd name="connsiteX3" fmla="*/ 4495799 w 4495799"/>
              <a:gd name="connsiteY3" fmla="*/ 5879029 h 6172200"/>
              <a:gd name="connsiteX4" fmla="*/ 4202628 w 4495799"/>
              <a:gd name="connsiteY4" fmla="*/ 6172200 h 6172200"/>
              <a:gd name="connsiteX5" fmla="*/ 293171 w 4495799"/>
              <a:gd name="connsiteY5" fmla="*/ 6172200 h 6172200"/>
              <a:gd name="connsiteX6" fmla="*/ 0 w 4495799"/>
              <a:gd name="connsiteY6" fmla="*/ 5879029 h 6172200"/>
              <a:gd name="connsiteX7" fmla="*/ 0 w 4495799"/>
              <a:gd name="connsiteY7" fmla="*/ 293171 h 6172200"/>
              <a:gd name="connsiteX8" fmla="*/ 293171 w 4495799"/>
              <a:gd name="connsiteY8" fmla="*/ 0 h 61722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4495799" h="6172200">
                <a:moveTo>
                  <a:pt x="293171" y="0"/>
                </a:moveTo>
                <a:lnTo>
                  <a:pt x="4202628" y="0"/>
                </a:lnTo>
                <a:cubicBezTo>
                  <a:pt x="4364542" y="0"/>
                  <a:pt x="4495799" y="131257"/>
                  <a:pt x="4495799" y="293171"/>
                </a:cubicBezTo>
                <a:lnTo>
                  <a:pt x="4495799" y="5879029"/>
                </a:lnTo>
                <a:cubicBezTo>
                  <a:pt x="4495799" y="6040943"/>
                  <a:pt x="4364542" y="6172200"/>
                  <a:pt x="4202628" y="6172200"/>
                </a:cubicBezTo>
                <a:lnTo>
                  <a:pt x="293171" y="6172200"/>
                </a:lnTo>
                <a:cubicBezTo>
                  <a:pt x="131257" y="6172200"/>
                  <a:pt x="0" y="6040943"/>
                  <a:pt x="0" y="5879029"/>
                </a:cubicBezTo>
                <a:lnTo>
                  <a:pt x="0" y="293171"/>
                </a:lnTo>
                <a:cubicBezTo>
                  <a:pt x="0" y="131257"/>
                  <a:pt x="131257" y="0"/>
                  <a:pt x="293171" y="0"/>
                </a:cubicBezTo>
                <a:close/>
              </a:path>
            </a:pathLst>
          </a:custGeom>
          <a:blipFill dpi="0" rotWithShape="1">
            <a:blip r:embed="rId2">
              <a:alphaModFix amt="60000"/>
            </a:blip>
            <a:srcRect/>
            <a:stretch>
              <a:fillRect/>
            </a:stretch>
          </a:blipFill>
        </p:spPr>
        <p:txBody>
          <a:bodyPr wrap="square">
            <a:noAutofit/>
          </a:bodyPr>
          <a:lstStyle>
            <a:lvl1pPr marL="0" indent="0">
              <a:buNone/>
              <a:defRPr/>
            </a:lvl1pPr>
          </a:lstStyle>
          <a:p>
            <a:r>
              <a:rPr lang="en-US"/>
              <a:t> </a:t>
            </a:r>
          </a:p>
        </p:txBody>
      </p:sp>
    </p:spTree>
    <p:extLst>
      <p:ext uri="{BB962C8B-B14F-4D97-AF65-F5344CB8AC3E}">
        <p14:creationId xmlns:p14="http://schemas.microsoft.com/office/powerpoint/2010/main" val="2440143523"/>
      </p:ext>
    </p:extLst>
  </p:cSld>
  <p:clrMapOvr>
    <a:masterClrMapping/>
  </p:clrMapOvr>
</p:sldLayout>
</file>

<file path=ppt/slideLayouts/slideLayout26.xml><?xml version="1.0" encoding="utf-8"?>
<p:sldLayout xmlns:a="http://schemas.openxmlformats.org/drawingml/2006/main" xmlns:r="http://schemas.openxmlformats.org/officeDocument/2006/relationships" xmlns:p="http://schemas.openxmlformats.org/presentationml/2006/main">
  <p:cSld name="2_Section Header">
    <p:bg>
      <p:bgPr>
        <a:solidFill>
          <a:schemeClr val="accent1"/>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892EA34-13CC-54C1-DE3D-4F1D5D55C9A7}"/>
              </a:ext>
            </a:extLst>
          </p:cNvPr>
          <p:cNvSpPr>
            <a:spLocks noGrp="1"/>
          </p:cNvSpPr>
          <p:nvPr>
            <p:ph type="title"/>
          </p:nvPr>
        </p:nvSpPr>
        <p:spPr>
          <a:xfrm>
            <a:off x="118297" y="2400300"/>
            <a:ext cx="6752171" cy="2686638"/>
          </a:xfrm>
        </p:spPr>
        <p:txBody>
          <a:bodyPr anchor="b">
            <a:normAutofit/>
          </a:bodyPr>
          <a:lstStyle>
            <a:lvl1pPr>
              <a:defRPr sz="5175">
                <a:solidFill>
                  <a:schemeClr val="tx2"/>
                </a:solidFill>
              </a:defRPr>
            </a:lvl1pPr>
          </a:lstStyle>
          <a:p>
            <a:r>
              <a:rPr lang="en-US"/>
              <a:t>Click to edit Master title style</a:t>
            </a:r>
          </a:p>
        </p:txBody>
      </p:sp>
      <p:sp>
        <p:nvSpPr>
          <p:cNvPr id="5" name="Footer Placeholder 4">
            <a:extLst>
              <a:ext uri="{FF2B5EF4-FFF2-40B4-BE49-F238E27FC236}">
                <a16:creationId xmlns:a16="http://schemas.microsoft.com/office/drawing/2014/main" id="{9F1849E7-8E94-3B02-239C-AAB481596BFD}"/>
              </a:ext>
            </a:extLst>
          </p:cNvPr>
          <p:cNvSpPr>
            <a:spLocks noGrp="1"/>
          </p:cNvSpPr>
          <p:nvPr>
            <p:ph type="ftr" sz="quarter" idx="11"/>
          </p:nvPr>
        </p:nvSpPr>
        <p:spPr>
          <a:xfrm>
            <a:off x="134028" y="105912"/>
            <a:ext cx="2027833" cy="253746"/>
          </a:xfrm>
        </p:spPr>
        <p:txBody>
          <a:bodyPr/>
          <a:lstStyle>
            <a:lvl1pPr>
              <a:defRPr>
                <a:solidFill>
                  <a:schemeClr val="tx2"/>
                </a:solidFill>
              </a:defRPr>
            </a:lvl1pPr>
          </a:lstStyle>
          <a:p>
            <a:r>
              <a:rPr lang="en-US"/>
              <a:t>Sample Footer Text</a:t>
            </a:r>
          </a:p>
        </p:txBody>
      </p:sp>
      <p:sp>
        <p:nvSpPr>
          <p:cNvPr id="4" name="Date Placeholder 3">
            <a:extLst>
              <a:ext uri="{FF2B5EF4-FFF2-40B4-BE49-F238E27FC236}">
                <a16:creationId xmlns:a16="http://schemas.microsoft.com/office/drawing/2014/main" id="{8F845713-EE4C-7615-B812-531C14CF0CA2}"/>
              </a:ext>
            </a:extLst>
          </p:cNvPr>
          <p:cNvSpPr>
            <a:spLocks noGrp="1"/>
          </p:cNvSpPr>
          <p:nvPr>
            <p:ph type="dt" sz="half" idx="10"/>
          </p:nvPr>
        </p:nvSpPr>
        <p:spPr>
          <a:xfrm>
            <a:off x="7858125" y="105912"/>
            <a:ext cx="774063" cy="253746"/>
          </a:xfrm>
        </p:spPr>
        <p:txBody>
          <a:bodyPr/>
          <a:lstStyle>
            <a:lvl1pPr>
              <a:defRPr>
                <a:solidFill>
                  <a:schemeClr val="tx2"/>
                </a:solidFill>
              </a:defRPr>
            </a:lvl1pPr>
          </a:lstStyle>
          <a:p>
            <a:fld id="{7E2CC31D-7501-40A7-9D1B-8AC69C4CFF73}" type="datetime1">
              <a:rPr lang="en-US" smtClean="0"/>
              <a:t>7/9/26</a:t>
            </a:fld>
            <a:endParaRPr lang="en-US"/>
          </a:p>
        </p:txBody>
      </p:sp>
      <p:sp>
        <p:nvSpPr>
          <p:cNvPr id="6" name="Slide Number Placeholder 5">
            <a:extLst>
              <a:ext uri="{FF2B5EF4-FFF2-40B4-BE49-F238E27FC236}">
                <a16:creationId xmlns:a16="http://schemas.microsoft.com/office/drawing/2014/main" id="{70644BD7-C050-D052-8408-65ADAAF674FF}"/>
              </a:ext>
            </a:extLst>
          </p:cNvPr>
          <p:cNvSpPr>
            <a:spLocks noGrp="1"/>
          </p:cNvSpPr>
          <p:nvPr>
            <p:ph type="sldNum" sz="quarter" idx="12"/>
          </p:nvPr>
        </p:nvSpPr>
        <p:spPr>
          <a:xfrm>
            <a:off x="8632188" y="105912"/>
            <a:ext cx="342900" cy="253746"/>
          </a:xfrm>
        </p:spPr>
        <p:txBody>
          <a:bodyPr/>
          <a:lstStyle>
            <a:lvl1pPr>
              <a:defRPr>
                <a:solidFill>
                  <a:schemeClr val="tx2"/>
                </a:solidFill>
              </a:defRPr>
            </a:lvl1pPr>
          </a:lstStyle>
          <a:p>
            <a:fld id="{C8116806-1FD2-4A57-B5EA-7014AB76383B}" type="slidenum">
              <a:rPr lang="en-US" smtClean="0"/>
              <a:t>‹#›</a:t>
            </a:fld>
            <a:endParaRPr lang="en-US"/>
          </a:p>
        </p:txBody>
      </p:sp>
      <p:sp>
        <p:nvSpPr>
          <p:cNvPr id="10" name="Rectangle 9">
            <a:extLst>
              <a:ext uri="{FF2B5EF4-FFF2-40B4-BE49-F238E27FC236}">
                <a16:creationId xmlns:a16="http://schemas.microsoft.com/office/drawing/2014/main" id="{28B733B7-4A89-38D3-D0F4-3813FE0C01AB}"/>
              </a:ext>
            </a:extLst>
          </p:cNvPr>
          <p:cNvSpPr/>
          <p:nvPr userDrawn="1"/>
        </p:nvSpPr>
        <p:spPr>
          <a:xfrm>
            <a:off x="0" y="0"/>
            <a:ext cx="9144000" cy="5143500"/>
          </a:xfrm>
          <a:prstGeom prst="rect">
            <a:avLst/>
          </a:prstGeom>
          <a:solidFill>
            <a:srgbClr val="C8102E"/>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350"/>
          </a:p>
        </p:txBody>
      </p:sp>
    </p:spTree>
    <p:extLst>
      <p:ext uri="{BB962C8B-B14F-4D97-AF65-F5344CB8AC3E}">
        <p14:creationId xmlns:p14="http://schemas.microsoft.com/office/powerpoint/2010/main" val="2683827298"/>
      </p:ext>
    </p:extLst>
  </p:cSld>
  <p:clrMapOvr>
    <a:overrideClrMapping bg1="dk1" tx1="lt1" bg2="dk2" tx2="lt2" accent1="accent1" accent2="accent2" accent3="accent3" accent4="accent4" accent5="accent5" accent6="accent6" hlink="hlink" folHlink="folHlink"/>
  </p:clrMapOvr>
</p:sldLayout>
</file>

<file path=ppt/slideLayouts/slideLayout27.xml><?xml version="1.0" encoding="utf-8"?>
<p:sldLayout xmlns:a="http://schemas.openxmlformats.org/drawingml/2006/main" xmlns:r="http://schemas.openxmlformats.org/officeDocument/2006/relationships" xmlns:p="http://schemas.openxmlformats.org/presentationml/2006/main">
  <p:cSld name="3_Section Header">
    <p:bg>
      <p:bgPr>
        <a:solidFill>
          <a:schemeClr val="accent1"/>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892EA34-13CC-54C1-DE3D-4F1D5D55C9A7}"/>
              </a:ext>
            </a:extLst>
          </p:cNvPr>
          <p:cNvSpPr>
            <a:spLocks noGrp="1"/>
          </p:cNvSpPr>
          <p:nvPr>
            <p:ph type="title"/>
          </p:nvPr>
        </p:nvSpPr>
        <p:spPr>
          <a:xfrm>
            <a:off x="118297" y="2400300"/>
            <a:ext cx="6752171" cy="2686638"/>
          </a:xfrm>
        </p:spPr>
        <p:txBody>
          <a:bodyPr anchor="b">
            <a:normAutofit/>
          </a:bodyPr>
          <a:lstStyle>
            <a:lvl1pPr>
              <a:defRPr sz="5175">
                <a:solidFill>
                  <a:schemeClr val="tx2"/>
                </a:solidFill>
              </a:defRPr>
            </a:lvl1pPr>
          </a:lstStyle>
          <a:p>
            <a:r>
              <a:rPr lang="en-US"/>
              <a:t>Click to edit Master title style</a:t>
            </a:r>
          </a:p>
        </p:txBody>
      </p:sp>
      <p:sp>
        <p:nvSpPr>
          <p:cNvPr id="5" name="Footer Placeholder 4">
            <a:extLst>
              <a:ext uri="{FF2B5EF4-FFF2-40B4-BE49-F238E27FC236}">
                <a16:creationId xmlns:a16="http://schemas.microsoft.com/office/drawing/2014/main" id="{9F1849E7-8E94-3B02-239C-AAB481596BFD}"/>
              </a:ext>
            </a:extLst>
          </p:cNvPr>
          <p:cNvSpPr>
            <a:spLocks noGrp="1"/>
          </p:cNvSpPr>
          <p:nvPr>
            <p:ph type="ftr" sz="quarter" idx="11"/>
          </p:nvPr>
        </p:nvSpPr>
        <p:spPr>
          <a:xfrm>
            <a:off x="134028" y="105912"/>
            <a:ext cx="2027833" cy="253746"/>
          </a:xfrm>
        </p:spPr>
        <p:txBody>
          <a:bodyPr/>
          <a:lstStyle>
            <a:lvl1pPr>
              <a:defRPr>
                <a:solidFill>
                  <a:schemeClr val="tx2"/>
                </a:solidFill>
              </a:defRPr>
            </a:lvl1pPr>
          </a:lstStyle>
          <a:p>
            <a:r>
              <a:rPr lang="en-US"/>
              <a:t>Sample Footer Text</a:t>
            </a:r>
          </a:p>
        </p:txBody>
      </p:sp>
      <p:sp>
        <p:nvSpPr>
          <p:cNvPr id="4" name="Date Placeholder 3">
            <a:extLst>
              <a:ext uri="{FF2B5EF4-FFF2-40B4-BE49-F238E27FC236}">
                <a16:creationId xmlns:a16="http://schemas.microsoft.com/office/drawing/2014/main" id="{8F845713-EE4C-7615-B812-531C14CF0CA2}"/>
              </a:ext>
            </a:extLst>
          </p:cNvPr>
          <p:cNvSpPr>
            <a:spLocks noGrp="1"/>
          </p:cNvSpPr>
          <p:nvPr>
            <p:ph type="dt" sz="half" idx="10"/>
          </p:nvPr>
        </p:nvSpPr>
        <p:spPr>
          <a:xfrm>
            <a:off x="7858125" y="105912"/>
            <a:ext cx="774063" cy="253746"/>
          </a:xfrm>
        </p:spPr>
        <p:txBody>
          <a:bodyPr/>
          <a:lstStyle>
            <a:lvl1pPr>
              <a:defRPr>
                <a:solidFill>
                  <a:schemeClr val="tx2"/>
                </a:solidFill>
              </a:defRPr>
            </a:lvl1pPr>
          </a:lstStyle>
          <a:p>
            <a:fld id="{7E2CC31D-7501-40A7-9D1B-8AC69C4CFF73}" type="datetime1">
              <a:rPr lang="en-US" smtClean="0"/>
              <a:t>7/9/26</a:t>
            </a:fld>
            <a:endParaRPr lang="en-US"/>
          </a:p>
        </p:txBody>
      </p:sp>
      <p:sp>
        <p:nvSpPr>
          <p:cNvPr id="6" name="Slide Number Placeholder 5">
            <a:extLst>
              <a:ext uri="{FF2B5EF4-FFF2-40B4-BE49-F238E27FC236}">
                <a16:creationId xmlns:a16="http://schemas.microsoft.com/office/drawing/2014/main" id="{70644BD7-C050-D052-8408-65ADAAF674FF}"/>
              </a:ext>
            </a:extLst>
          </p:cNvPr>
          <p:cNvSpPr>
            <a:spLocks noGrp="1"/>
          </p:cNvSpPr>
          <p:nvPr>
            <p:ph type="sldNum" sz="quarter" idx="12"/>
          </p:nvPr>
        </p:nvSpPr>
        <p:spPr>
          <a:xfrm>
            <a:off x="8632188" y="105912"/>
            <a:ext cx="342900" cy="253746"/>
          </a:xfrm>
        </p:spPr>
        <p:txBody>
          <a:bodyPr/>
          <a:lstStyle>
            <a:lvl1pPr>
              <a:defRPr>
                <a:solidFill>
                  <a:schemeClr val="tx2"/>
                </a:solidFill>
              </a:defRPr>
            </a:lvl1pPr>
          </a:lstStyle>
          <a:p>
            <a:fld id="{C8116806-1FD2-4A57-B5EA-7014AB76383B}" type="slidenum">
              <a:rPr lang="en-US" smtClean="0"/>
              <a:t>‹#›</a:t>
            </a:fld>
            <a:endParaRPr lang="en-US"/>
          </a:p>
        </p:txBody>
      </p:sp>
      <p:sp>
        <p:nvSpPr>
          <p:cNvPr id="10" name="Rectangle 9">
            <a:extLst>
              <a:ext uri="{FF2B5EF4-FFF2-40B4-BE49-F238E27FC236}">
                <a16:creationId xmlns:a16="http://schemas.microsoft.com/office/drawing/2014/main" id="{28B733B7-4A89-38D3-D0F4-3813FE0C01AB}"/>
              </a:ext>
            </a:extLst>
          </p:cNvPr>
          <p:cNvSpPr/>
          <p:nvPr userDrawn="1"/>
        </p:nvSpPr>
        <p:spPr>
          <a:xfrm>
            <a:off x="0" y="0"/>
            <a:ext cx="9144000" cy="5143500"/>
          </a:xfrm>
          <a:prstGeom prst="rect">
            <a:avLst/>
          </a:prstGeom>
          <a:solidFill>
            <a:srgbClr val="C8102E"/>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350"/>
          </a:p>
        </p:txBody>
      </p:sp>
    </p:spTree>
    <p:extLst>
      <p:ext uri="{BB962C8B-B14F-4D97-AF65-F5344CB8AC3E}">
        <p14:creationId xmlns:p14="http://schemas.microsoft.com/office/powerpoint/2010/main" val="792456371"/>
      </p:ext>
    </p:extLst>
  </p:cSld>
  <p:clrMapOvr>
    <a:overrideClrMapping bg1="dk1" tx1="lt1" bg2="dk2" tx2="lt2" accent1="accent1" accent2="accent2" accent3="accent3" accent4="accent4" accent5="accent5" accent6="accent6" hlink="hlink" folHlink="folHlink"/>
  </p:clrMapOvr>
</p:sldLayout>
</file>

<file path=ppt/slideLayouts/slideLayout28.xml><?xml version="1.0" encoding="utf-8"?>
<p:sldLayout xmlns:a="http://schemas.openxmlformats.org/drawingml/2006/main" xmlns:r="http://schemas.openxmlformats.org/officeDocument/2006/relationships" xmlns:p="http://schemas.openxmlformats.org/presentationml/2006/main">
  <p:cSld name="4_Section Header">
    <p:bg>
      <p:bgPr>
        <a:solidFill>
          <a:schemeClr val="accent1"/>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892EA34-13CC-54C1-DE3D-4F1D5D55C9A7}"/>
              </a:ext>
            </a:extLst>
          </p:cNvPr>
          <p:cNvSpPr>
            <a:spLocks noGrp="1"/>
          </p:cNvSpPr>
          <p:nvPr>
            <p:ph type="title"/>
          </p:nvPr>
        </p:nvSpPr>
        <p:spPr>
          <a:xfrm>
            <a:off x="118297" y="2400300"/>
            <a:ext cx="6752171" cy="2686638"/>
          </a:xfrm>
        </p:spPr>
        <p:txBody>
          <a:bodyPr anchor="b">
            <a:normAutofit/>
          </a:bodyPr>
          <a:lstStyle>
            <a:lvl1pPr>
              <a:defRPr sz="5175">
                <a:solidFill>
                  <a:schemeClr val="tx2"/>
                </a:solidFill>
              </a:defRPr>
            </a:lvl1pPr>
          </a:lstStyle>
          <a:p>
            <a:r>
              <a:rPr lang="en-US"/>
              <a:t>Click to edit Master title style</a:t>
            </a:r>
          </a:p>
        </p:txBody>
      </p:sp>
      <p:sp>
        <p:nvSpPr>
          <p:cNvPr id="5" name="Footer Placeholder 4">
            <a:extLst>
              <a:ext uri="{FF2B5EF4-FFF2-40B4-BE49-F238E27FC236}">
                <a16:creationId xmlns:a16="http://schemas.microsoft.com/office/drawing/2014/main" id="{9F1849E7-8E94-3B02-239C-AAB481596BFD}"/>
              </a:ext>
            </a:extLst>
          </p:cNvPr>
          <p:cNvSpPr>
            <a:spLocks noGrp="1"/>
          </p:cNvSpPr>
          <p:nvPr>
            <p:ph type="ftr" sz="quarter" idx="11"/>
          </p:nvPr>
        </p:nvSpPr>
        <p:spPr>
          <a:xfrm>
            <a:off x="134028" y="105912"/>
            <a:ext cx="2027833" cy="253746"/>
          </a:xfrm>
        </p:spPr>
        <p:txBody>
          <a:bodyPr/>
          <a:lstStyle>
            <a:lvl1pPr>
              <a:defRPr>
                <a:solidFill>
                  <a:schemeClr val="tx2"/>
                </a:solidFill>
              </a:defRPr>
            </a:lvl1pPr>
          </a:lstStyle>
          <a:p>
            <a:r>
              <a:rPr lang="en-US"/>
              <a:t>Sample Footer Text</a:t>
            </a:r>
          </a:p>
        </p:txBody>
      </p:sp>
      <p:sp>
        <p:nvSpPr>
          <p:cNvPr id="4" name="Date Placeholder 3">
            <a:extLst>
              <a:ext uri="{FF2B5EF4-FFF2-40B4-BE49-F238E27FC236}">
                <a16:creationId xmlns:a16="http://schemas.microsoft.com/office/drawing/2014/main" id="{8F845713-EE4C-7615-B812-531C14CF0CA2}"/>
              </a:ext>
            </a:extLst>
          </p:cNvPr>
          <p:cNvSpPr>
            <a:spLocks noGrp="1"/>
          </p:cNvSpPr>
          <p:nvPr>
            <p:ph type="dt" sz="half" idx="10"/>
          </p:nvPr>
        </p:nvSpPr>
        <p:spPr>
          <a:xfrm>
            <a:off x="7858125" y="105912"/>
            <a:ext cx="774063" cy="253746"/>
          </a:xfrm>
        </p:spPr>
        <p:txBody>
          <a:bodyPr/>
          <a:lstStyle>
            <a:lvl1pPr>
              <a:defRPr>
                <a:solidFill>
                  <a:schemeClr val="tx2"/>
                </a:solidFill>
              </a:defRPr>
            </a:lvl1pPr>
          </a:lstStyle>
          <a:p>
            <a:fld id="{7E2CC31D-7501-40A7-9D1B-8AC69C4CFF73}" type="datetime1">
              <a:rPr lang="en-US" smtClean="0"/>
              <a:t>7/9/26</a:t>
            </a:fld>
            <a:endParaRPr lang="en-US"/>
          </a:p>
        </p:txBody>
      </p:sp>
      <p:sp>
        <p:nvSpPr>
          <p:cNvPr id="6" name="Slide Number Placeholder 5">
            <a:extLst>
              <a:ext uri="{FF2B5EF4-FFF2-40B4-BE49-F238E27FC236}">
                <a16:creationId xmlns:a16="http://schemas.microsoft.com/office/drawing/2014/main" id="{70644BD7-C050-D052-8408-65ADAAF674FF}"/>
              </a:ext>
            </a:extLst>
          </p:cNvPr>
          <p:cNvSpPr>
            <a:spLocks noGrp="1"/>
          </p:cNvSpPr>
          <p:nvPr>
            <p:ph type="sldNum" sz="quarter" idx="12"/>
          </p:nvPr>
        </p:nvSpPr>
        <p:spPr>
          <a:xfrm>
            <a:off x="8632188" y="105912"/>
            <a:ext cx="342900" cy="253746"/>
          </a:xfrm>
        </p:spPr>
        <p:txBody>
          <a:bodyPr/>
          <a:lstStyle>
            <a:lvl1pPr>
              <a:defRPr>
                <a:solidFill>
                  <a:schemeClr val="tx2"/>
                </a:solidFill>
              </a:defRPr>
            </a:lvl1pPr>
          </a:lstStyle>
          <a:p>
            <a:fld id="{C8116806-1FD2-4A57-B5EA-7014AB76383B}" type="slidenum">
              <a:rPr lang="en-US" smtClean="0"/>
              <a:t>‹#›</a:t>
            </a:fld>
            <a:endParaRPr lang="en-US"/>
          </a:p>
        </p:txBody>
      </p:sp>
      <p:sp>
        <p:nvSpPr>
          <p:cNvPr id="10" name="Rectangle 9">
            <a:extLst>
              <a:ext uri="{FF2B5EF4-FFF2-40B4-BE49-F238E27FC236}">
                <a16:creationId xmlns:a16="http://schemas.microsoft.com/office/drawing/2014/main" id="{28B733B7-4A89-38D3-D0F4-3813FE0C01AB}"/>
              </a:ext>
            </a:extLst>
          </p:cNvPr>
          <p:cNvSpPr/>
          <p:nvPr userDrawn="1"/>
        </p:nvSpPr>
        <p:spPr>
          <a:xfrm>
            <a:off x="0" y="0"/>
            <a:ext cx="9144000" cy="5143500"/>
          </a:xfrm>
          <a:prstGeom prst="rect">
            <a:avLst/>
          </a:prstGeom>
          <a:solidFill>
            <a:srgbClr val="C8102E"/>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350"/>
          </a:p>
        </p:txBody>
      </p:sp>
    </p:spTree>
    <p:extLst>
      <p:ext uri="{BB962C8B-B14F-4D97-AF65-F5344CB8AC3E}">
        <p14:creationId xmlns:p14="http://schemas.microsoft.com/office/powerpoint/2010/main" val="3855401420"/>
      </p:ext>
    </p:extLst>
  </p:cSld>
  <p:clrMapOvr>
    <a:overrideClrMapping bg1="dk1" tx1="lt1" bg2="dk2" tx2="lt2" accent1="accent1" accent2="accent2" accent3="accent3" accent4="accent4" accent5="accent5" accent6="accent6" hlink="hlink" folHlink="folHlink"/>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slideLayout" Target="../slideLayouts/slideLayout12.xml"/><Relationship Id="rId13" Type="http://schemas.openxmlformats.org/officeDocument/2006/relationships/slideLayout" Target="../slideLayouts/slideLayout13.xml"/><Relationship Id="rId14" Type="http://schemas.openxmlformats.org/officeDocument/2006/relationships/slideLayout" Target="../slideLayouts/slideLayout14.xml"/><Relationship Id="rId15" Type="http://schemas.openxmlformats.org/officeDocument/2006/relationships/slideLayout" Target="../slideLayouts/slideLayout15.xml"/><Relationship Id="rId16" Type="http://schemas.openxmlformats.org/officeDocument/2006/relationships/slideLayout" Target="../slideLayouts/slideLayout16.xml"/><Relationship Id="rId17" Type="http://schemas.openxmlformats.org/officeDocument/2006/relationships/slideLayout" Target="../slideLayouts/slideLayout17.xml"/><Relationship Id="rId18" Type="http://schemas.openxmlformats.org/officeDocument/2006/relationships/slideLayout" Target="../slideLayouts/slideLayout18.xml"/><Relationship Id="rId19" Type="http://schemas.openxmlformats.org/officeDocument/2006/relationships/slideLayout" Target="../slideLayouts/slideLayout19.xml"/><Relationship Id="rId20" Type="http://schemas.openxmlformats.org/officeDocument/2006/relationships/slideLayout" Target="../slideLayouts/slideLayout20.xml"/><Relationship Id="rId21" Type="http://schemas.openxmlformats.org/officeDocument/2006/relationships/slideLayout" Target="../slideLayouts/slideLayout21.xml"/><Relationship Id="rId22" Type="http://schemas.openxmlformats.org/officeDocument/2006/relationships/slideLayout" Target="../slideLayouts/slideLayout22.xml"/><Relationship Id="rId23" Type="http://schemas.openxmlformats.org/officeDocument/2006/relationships/slideLayout" Target="../slideLayouts/slideLayout23.xml"/><Relationship Id="rId24" Type="http://schemas.openxmlformats.org/officeDocument/2006/relationships/slideLayout" Target="../slideLayouts/slideLayout24.xml"/><Relationship Id="rId25" Type="http://schemas.openxmlformats.org/officeDocument/2006/relationships/slideLayout" Target="../slideLayouts/slideLayout25.xml"/><Relationship Id="rId26" Type="http://schemas.openxmlformats.org/officeDocument/2006/relationships/slideLayout" Target="../slideLayouts/slideLayout26.xml"/><Relationship Id="rId27" Type="http://schemas.openxmlformats.org/officeDocument/2006/relationships/slideLayout" Target="../slideLayouts/slideLayout27.xml"/><Relationship Id="rId28" Type="http://schemas.openxmlformats.org/officeDocument/2006/relationships/slideLayout" Target="../slideLayouts/slideLayout28.xml"/><Relationship Id="rId29"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7" name="Rectangle 6">
            <a:extLst>
              <a:ext uri="{FF2B5EF4-FFF2-40B4-BE49-F238E27FC236}">
                <a16:creationId xmlns:a16="http://schemas.microsoft.com/office/drawing/2014/main" id="{034A0A91-9D96-D54D-B84B-F260D12E8F25}"/>
              </a:ext>
            </a:extLst>
          </p:cNvPr>
          <p:cNvSpPr/>
          <p:nvPr userDrawn="1"/>
        </p:nvSpPr>
        <p:spPr>
          <a:xfrm>
            <a:off x="182880" y="182880"/>
            <a:ext cx="182880" cy="182880"/>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 name="Rectangle 10">
            <a:extLst>
              <a:ext uri="{FF2B5EF4-FFF2-40B4-BE49-F238E27FC236}">
                <a16:creationId xmlns:a16="http://schemas.microsoft.com/office/drawing/2014/main" id="{48779B04-50E5-9440-B8D9-1C7405D5C07D}"/>
              </a:ext>
            </a:extLst>
          </p:cNvPr>
          <p:cNvSpPr/>
          <p:nvPr userDrawn="1"/>
        </p:nvSpPr>
        <p:spPr>
          <a:xfrm>
            <a:off x="365760" y="0"/>
            <a:ext cx="8778240" cy="182880"/>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 name="Rectangle 12"/>
          <p:cNvSpPr/>
          <p:nvPr/>
        </p:nvSpPr>
        <p:spPr bwMode="gray">
          <a:xfrm>
            <a:off x="0" y="4965192"/>
            <a:ext cx="9144000" cy="182880"/>
          </a:xfrm>
          <a:prstGeom prst="rect">
            <a:avLst/>
          </a:prstGeom>
          <a:solidFill>
            <a:srgbClr val="C8C8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2" name="Title Placeholder 1"/>
          <p:cNvSpPr>
            <a:spLocks noGrp="1"/>
          </p:cNvSpPr>
          <p:nvPr>
            <p:ph type="title"/>
          </p:nvPr>
        </p:nvSpPr>
        <p:spPr bwMode="gray">
          <a:xfrm>
            <a:off x="548640" y="310896"/>
            <a:ext cx="6510528" cy="685800"/>
          </a:xfrm>
          <a:prstGeom prst="rect">
            <a:avLst/>
          </a:prstGeom>
        </p:spPr>
        <p:txBody>
          <a:bodyPr vert="horz" lIns="0" tIns="0" rIns="0" bIns="0" rtlCol="0" anchor="ctr">
            <a:noAutofit/>
          </a:bodyPr>
          <a:lstStyle/>
          <a:p>
            <a:r>
              <a:rPr lang="en-US"/>
              <a:t>Click to edit Master title style</a:t>
            </a:r>
            <a:endParaRPr lang="en-US" dirty="0"/>
          </a:p>
        </p:txBody>
      </p:sp>
      <p:sp>
        <p:nvSpPr>
          <p:cNvPr id="3" name="Text Placeholder 2"/>
          <p:cNvSpPr>
            <a:spLocks noGrp="1"/>
          </p:cNvSpPr>
          <p:nvPr>
            <p:ph type="body" idx="1"/>
          </p:nvPr>
        </p:nvSpPr>
        <p:spPr bwMode="gray">
          <a:xfrm>
            <a:off x="548640" y="1188720"/>
            <a:ext cx="6510528" cy="3474720"/>
          </a:xfrm>
          <a:prstGeom prst="rect">
            <a:avLst/>
          </a:prstGeom>
        </p:spPr>
        <p:txBody>
          <a:bodyPr vert="horz" lIns="0" tIns="0" rIns="0" bIns="0" rtlCol="0">
            <a:no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2"/>
          </p:nvPr>
        </p:nvSpPr>
        <p:spPr bwMode="gray">
          <a:xfrm>
            <a:off x="7088744" y="4965192"/>
            <a:ext cx="1143000" cy="182880"/>
          </a:xfrm>
          <a:prstGeom prst="rect">
            <a:avLst/>
          </a:prstGeom>
        </p:spPr>
        <p:txBody>
          <a:bodyPr vert="horz" lIns="0" tIns="0" rIns="0" bIns="0" rtlCol="0" anchor="ctr"/>
          <a:lstStyle>
            <a:lvl1pPr algn="r">
              <a:defRPr sz="700">
                <a:solidFill>
                  <a:schemeClr val="accent6"/>
                </a:solidFill>
              </a:defRPr>
            </a:lvl1pPr>
          </a:lstStyle>
          <a:p>
            <a:r>
              <a:rPr lang="en-US" dirty="0"/>
              <a:t>Month 00, 0000</a:t>
            </a:r>
          </a:p>
        </p:txBody>
      </p:sp>
      <p:sp>
        <p:nvSpPr>
          <p:cNvPr id="5" name="Footer Placeholder 4"/>
          <p:cNvSpPr>
            <a:spLocks noGrp="1"/>
          </p:cNvSpPr>
          <p:nvPr>
            <p:ph type="ftr" sz="quarter" idx="3"/>
          </p:nvPr>
        </p:nvSpPr>
        <p:spPr bwMode="gray">
          <a:xfrm>
            <a:off x="548640" y="4965192"/>
            <a:ext cx="6540104" cy="182880"/>
          </a:xfrm>
          <a:prstGeom prst="rect">
            <a:avLst/>
          </a:prstGeom>
        </p:spPr>
        <p:txBody>
          <a:bodyPr vert="horz" lIns="0" tIns="0" rIns="0" bIns="0" rtlCol="0" anchor="ctr"/>
          <a:lstStyle>
            <a:lvl1pPr algn="l">
              <a:defRPr sz="700">
                <a:solidFill>
                  <a:schemeClr val="accent6"/>
                </a:solidFill>
              </a:defRPr>
            </a:lvl1pPr>
          </a:lstStyle>
          <a:p>
            <a:endParaRPr lang="en-US" dirty="0"/>
          </a:p>
        </p:txBody>
      </p:sp>
      <p:sp>
        <p:nvSpPr>
          <p:cNvPr id="6" name="Slide Number Placeholder 5"/>
          <p:cNvSpPr>
            <a:spLocks noGrp="1"/>
          </p:cNvSpPr>
          <p:nvPr>
            <p:ph type="sldNum" sz="quarter" idx="4"/>
          </p:nvPr>
        </p:nvSpPr>
        <p:spPr bwMode="gray">
          <a:xfrm>
            <a:off x="8229198" y="4965192"/>
            <a:ext cx="365760" cy="182880"/>
          </a:xfrm>
          <a:prstGeom prst="rect">
            <a:avLst/>
          </a:prstGeom>
        </p:spPr>
        <p:txBody>
          <a:bodyPr vert="horz" lIns="0" tIns="0" rIns="0" bIns="0" rtlCol="0" anchor="ctr"/>
          <a:lstStyle>
            <a:lvl1pPr algn="r">
              <a:defRPr sz="700">
                <a:solidFill>
                  <a:schemeClr val="accent6"/>
                </a:solidFill>
              </a:defRPr>
            </a:lvl1pPr>
          </a:lstStyle>
          <a:p>
            <a:fld id="{CDBA9528-BCFE-1E43-A37D-912FF3C527A6}" type="slidenum">
              <a:rPr lang="en-US" smtClean="0"/>
              <a:pPr/>
              <a:t>‹#›</a:t>
            </a:fld>
            <a:endParaRPr lang="en-US" dirty="0"/>
          </a:p>
        </p:txBody>
      </p:sp>
      <p:sp>
        <p:nvSpPr>
          <p:cNvPr id="21" name="Freeform 9" title="Edwards Lifesciences"/>
          <p:cNvSpPr>
            <a:spLocks noEditPoints="1"/>
          </p:cNvSpPr>
          <p:nvPr/>
        </p:nvSpPr>
        <p:spPr bwMode="gray">
          <a:xfrm>
            <a:off x="7633334" y="46188"/>
            <a:ext cx="960120" cy="87162"/>
          </a:xfrm>
          <a:custGeom>
            <a:avLst/>
            <a:gdLst>
              <a:gd name="T0" fmla="*/ 172 w 11328"/>
              <a:gd name="T1" fmla="*/ 190 h 939"/>
              <a:gd name="T2" fmla="*/ 172 w 11328"/>
              <a:gd name="T3" fmla="*/ 820 h 939"/>
              <a:gd name="T4" fmla="*/ 1003 w 11328"/>
              <a:gd name="T5" fmla="*/ 867 h 939"/>
              <a:gd name="T6" fmla="*/ 998 w 11328"/>
              <a:gd name="T7" fmla="*/ 0 h 939"/>
              <a:gd name="T8" fmla="*/ 934 w 11328"/>
              <a:gd name="T9" fmla="*/ 395 h 939"/>
              <a:gd name="T10" fmla="*/ 2038 w 11328"/>
              <a:gd name="T11" fmla="*/ 929 h 939"/>
              <a:gd name="T12" fmla="*/ 1632 w 11328"/>
              <a:gd name="T13" fmla="*/ 929 h 939"/>
              <a:gd name="T14" fmla="*/ 1558 w 11328"/>
              <a:gd name="T15" fmla="*/ 799 h 939"/>
              <a:gd name="T16" fmla="*/ 1972 w 11328"/>
              <a:gd name="T17" fmla="*/ 801 h 939"/>
              <a:gd name="T18" fmla="*/ 2634 w 11328"/>
              <a:gd name="T19" fmla="*/ 929 h 939"/>
              <a:gd name="T20" fmla="*/ 2546 w 11328"/>
              <a:gd name="T21" fmla="*/ 568 h 939"/>
              <a:gd name="T22" fmla="*/ 2376 w 11328"/>
              <a:gd name="T23" fmla="*/ 431 h 939"/>
              <a:gd name="T24" fmla="*/ 2792 w 11328"/>
              <a:gd name="T25" fmla="*/ 929 h 939"/>
              <a:gd name="T26" fmla="*/ 2451 w 11328"/>
              <a:gd name="T27" fmla="*/ 748 h 939"/>
              <a:gd name="T28" fmla="*/ 3225 w 11328"/>
              <a:gd name="T29" fmla="*/ 425 h 939"/>
              <a:gd name="T30" fmla="*/ 3130 w 11328"/>
              <a:gd name="T31" fmla="*/ 315 h 939"/>
              <a:gd name="T32" fmla="*/ 3826 w 11328"/>
              <a:gd name="T33" fmla="*/ 929 h 939"/>
              <a:gd name="T34" fmla="*/ 3821 w 11328"/>
              <a:gd name="T35" fmla="*/ 331 h 939"/>
              <a:gd name="T36" fmla="*/ 3821 w 11328"/>
              <a:gd name="T37" fmla="*/ 403 h 939"/>
              <a:gd name="T38" fmla="*/ 3821 w 11328"/>
              <a:gd name="T39" fmla="*/ 403 h 939"/>
              <a:gd name="T40" fmla="*/ 4397 w 11328"/>
              <a:gd name="T41" fmla="*/ 772 h 939"/>
              <a:gd name="T42" fmla="*/ 4536 w 11328"/>
              <a:gd name="T43" fmla="*/ 335 h 939"/>
              <a:gd name="T44" fmla="*/ 4434 w 11328"/>
              <a:gd name="T45" fmla="*/ 579 h 939"/>
              <a:gd name="T46" fmla="*/ 5124 w 11328"/>
              <a:gd name="T47" fmla="*/ 82 h 939"/>
              <a:gd name="T48" fmla="*/ 5605 w 11328"/>
              <a:gd name="T49" fmla="*/ 227 h 939"/>
              <a:gd name="T50" fmla="*/ 5523 w 11328"/>
              <a:gd name="T51" fmla="*/ 929 h 939"/>
              <a:gd name="T52" fmla="*/ 6217 w 11328"/>
              <a:gd name="T53" fmla="*/ 112 h 939"/>
              <a:gd name="T54" fmla="*/ 6196 w 11328"/>
              <a:gd name="T55" fmla="*/ 316 h 939"/>
              <a:gd name="T56" fmla="*/ 5905 w 11328"/>
              <a:gd name="T57" fmla="*/ 407 h 939"/>
              <a:gd name="T58" fmla="*/ 5917 w 11328"/>
              <a:gd name="T59" fmla="*/ 131 h 939"/>
              <a:gd name="T60" fmla="*/ 6430 w 11328"/>
              <a:gd name="T61" fmla="*/ 645 h 939"/>
              <a:gd name="T62" fmla="*/ 6260 w 11328"/>
              <a:gd name="T63" fmla="*/ 623 h 939"/>
              <a:gd name="T64" fmla="*/ 6430 w 11328"/>
              <a:gd name="T65" fmla="*/ 633 h 939"/>
              <a:gd name="T66" fmla="*/ 6646 w 11328"/>
              <a:gd name="T67" fmla="*/ 547 h 939"/>
              <a:gd name="T68" fmla="*/ 7083 w 11328"/>
              <a:gd name="T69" fmla="*/ 840 h 939"/>
              <a:gd name="T70" fmla="*/ 7136 w 11328"/>
              <a:gd name="T71" fmla="*/ 303 h 939"/>
              <a:gd name="T72" fmla="*/ 7135 w 11328"/>
              <a:gd name="T73" fmla="*/ 534 h 939"/>
              <a:gd name="T74" fmla="*/ 7780 w 11328"/>
              <a:gd name="T75" fmla="*/ 402 h 939"/>
              <a:gd name="T76" fmla="*/ 7732 w 11328"/>
              <a:gd name="T77" fmla="*/ 939 h 939"/>
              <a:gd name="T78" fmla="*/ 7890 w 11328"/>
              <a:gd name="T79" fmla="*/ 431 h 939"/>
              <a:gd name="T80" fmla="*/ 8114 w 11328"/>
              <a:gd name="T81" fmla="*/ 227 h 939"/>
              <a:gd name="T82" fmla="*/ 8032 w 11328"/>
              <a:gd name="T83" fmla="*/ 929 h 939"/>
              <a:gd name="T84" fmla="*/ 8862 w 11328"/>
              <a:gd name="T85" fmla="*/ 903 h 939"/>
              <a:gd name="T86" fmla="*/ 8885 w 11328"/>
              <a:gd name="T87" fmla="*/ 623 h 939"/>
              <a:gd name="T88" fmla="*/ 8511 w 11328"/>
              <a:gd name="T89" fmla="*/ 475 h 939"/>
              <a:gd name="T90" fmla="*/ 9398 w 11328"/>
              <a:gd name="T91" fmla="*/ 577 h 939"/>
              <a:gd name="T92" fmla="*/ 9018 w 11328"/>
              <a:gd name="T93" fmla="*/ 929 h 939"/>
              <a:gd name="T94" fmla="*/ 9558 w 11328"/>
              <a:gd name="T95" fmla="*/ 438 h 939"/>
              <a:gd name="T96" fmla="*/ 10046 w 11328"/>
              <a:gd name="T97" fmla="*/ 402 h 939"/>
              <a:gd name="T98" fmla="*/ 9998 w 11328"/>
              <a:gd name="T99" fmla="*/ 939 h 939"/>
              <a:gd name="T100" fmla="*/ 10157 w 11328"/>
              <a:gd name="T101" fmla="*/ 431 h 939"/>
              <a:gd name="T102" fmla="*/ 10781 w 11328"/>
              <a:gd name="T103" fmla="*/ 903 h 939"/>
              <a:gd name="T104" fmla="*/ 10804 w 11328"/>
              <a:gd name="T105" fmla="*/ 623 h 939"/>
              <a:gd name="T106" fmla="*/ 10429 w 11328"/>
              <a:gd name="T107" fmla="*/ 475 h 939"/>
              <a:gd name="T108" fmla="*/ 10884 w 11328"/>
              <a:gd name="T109" fmla="*/ 903 h 939"/>
              <a:gd name="T110" fmla="*/ 11028 w 11328"/>
              <a:gd name="T111" fmla="*/ 653 h 939"/>
              <a:gd name="T112" fmla="*/ 11148 w 11328"/>
              <a:gd name="T113" fmla="*/ 399 h 939"/>
              <a:gd name="T114" fmla="*/ 11092 w 11328"/>
              <a:gd name="T115" fmla="*/ 939 h 93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Lst>
            <a:rect l="0" t="0" r="r" b="b"/>
            <a:pathLst>
              <a:path w="11328" h="939">
                <a:moveTo>
                  <a:pt x="0" y="929"/>
                </a:moveTo>
                <a:cubicBezTo>
                  <a:pt x="0" y="82"/>
                  <a:pt x="0" y="82"/>
                  <a:pt x="0" y="82"/>
                </a:cubicBezTo>
                <a:cubicBezTo>
                  <a:pt x="457" y="82"/>
                  <a:pt x="457" y="82"/>
                  <a:pt x="457" y="82"/>
                </a:cubicBezTo>
                <a:cubicBezTo>
                  <a:pt x="457" y="190"/>
                  <a:pt x="457" y="190"/>
                  <a:pt x="457" y="190"/>
                </a:cubicBezTo>
                <a:cubicBezTo>
                  <a:pt x="172" y="190"/>
                  <a:pt x="172" y="190"/>
                  <a:pt x="172" y="190"/>
                </a:cubicBezTo>
                <a:cubicBezTo>
                  <a:pt x="172" y="436"/>
                  <a:pt x="172" y="436"/>
                  <a:pt x="172" y="436"/>
                </a:cubicBezTo>
                <a:cubicBezTo>
                  <a:pt x="425" y="436"/>
                  <a:pt x="425" y="436"/>
                  <a:pt x="425" y="436"/>
                </a:cubicBezTo>
                <a:cubicBezTo>
                  <a:pt x="425" y="545"/>
                  <a:pt x="425" y="545"/>
                  <a:pt x="425" y="545"/>
                </a:cubicBezTo>
                <a:cubicBezTo>
                  <a:pt x="172" y="545"/>
                  <a:pt x="172" y="545"/>
                  <a:pt x="172" y="545"/>
                </a:cubicBezTo>
                <a:cubicBezTo>
                  <a:pt x="172" y="820"/>
                  <a:pt x="172" y="820"/>
                  <a:pt x="172" y="820"/>
                </a:cubicBezTo>
                <a:cubicBezTo>
                  <a:pt x="472" y="820"/>
                  <a:pt x="472" y="820"/>
                  <a:pt x="472" y="820"/>
                </a:cubicBezTo>
                <a:cubicBezTo>
                  <a:pt x="472" y="929"/>
                  <a:pt x="472" y="929"/>
                  <a:pt x="472" y="929"/>
                </a:cubicBezTo>
                <a:lnTo>
                  <a:pt x="0" y="929"/>
                </a:lnTo>
                <a:close/>
                <a:moveTo>
                  <a:pt x="1003" y="929"/>
                </a:moveTo>
                <a:cubicBezTo>
                  <a:pt x="1003" y="867"/>
                  <a:pt x="1003" y="867"/>
                  <a:pt x="1003" y="867"/>
                </a:cubicBezTo>
                <a:cubicBezTo>
                  <a:pt x="1003" y="867"/>
                  <a:pt x="959" y="937"/>
                  <a:pt x="834" y="937"/>
                </a:cubicBezTo>
                <a:cubicBezTo>
                  <a:pt x="682" y="937"/>
                  <a:pt x="582" y="833"/>
                  <a:pt x="582" y="634"/>
                </a:cubicBezTo>
                <a:cubicBezTo>
                  <a:pt x="582" y="430"/>
                  <a:pt x="707" y="305"/>
                  <a:pt x="871" y="305"/>
                </a:cubicBezTo>
                <a:cubicBezTo>
                  <a:pt x="962" y="305"/>
                  <a:pt x="998" y="331"/>
                  <a:pt x="998" y="331"/>
                </a:cubicBezTo>
                <a:cubicBezTo>
                  <a:pt x="998" y="0"/>
                  <a:pt x="998" y="0"/>
                  <a:pt x="998" y="0"/>
                </a:cubicBezTo>
                <a:cubicBezTo>
                  <a:pt x="1166" y="0"/>
                  <a:pt x="1166" y="0"/>
                  <a:pt x="1166" y="0"/>
                </a:cubicBezTo>
                <a:cubicBezTo>
                  <a:pt x="1166" y="929"/>
                  <a:pt x="1166" y="929"/>
                  <a:pt x="1166" y="929"/>
                </a:cubicBezTo>
                <a:lnTo>
                  <a:pt x="1003" y="929"/>
                </a:lnTo>
                <a:close/>
                <a:moveTo>
                  <a:pt x="998" y="403"/>
                </a:moveTo>
                <a:cubicBezTo>
                  <a:pt x="998" y="403"/>
                  <a:pt x="973" y="395"/>
                  <a:pt x="934" y="395"/>
                </a:cubicBezTo>
                <a:cubicBezTo>
                  <a:pt x="798" y="395"/>
                  <a:pt x="756" y="492"/>
                  <a:pt x="756" y="622"/>
                </a:cubicBezTo>
                <a:cubicBezTo>
                  <a:pt x="756" y="748"/>
                  <a:pt x="808" y="831"/>
                  <a:pt x="912" y="831"/>
                </a:cubicBezTo>
                <a:cubicBezTo>
                  <a:pt x="966" y="831"/>
                  <a:pt x="998" y="813"/>
                  <a:pt x="998" y="813"/>
                </a:cubicBezTo>
                <a:lnTo>
                  <a:pt x="998" y="403"/>
                </a:lnTo>
                <a:close/>
                <a:moveTo>
                  <a:pt x="2038" y="929"/>
                </a:moveTo>
                <a:cubicBezTo>
                  <a:pt x="1870" y="929"/>
                  <a:pt x="1870" y="929"/>
                  <a:pt x="1870" y="929"/>
                </a:cubicBezTo>
                <a:cubicBezTo>
                  <a:pt x="1766" y="528"/>
                  <a:pt x="1766" y="528"/>
                  <a:pt x="1766" y="528"/>
                </a:cubicBezTo>
                <a:cubicBezTo>
                  <a:pt x="1751" y="468"/>
                  <a:pt x="1751" y="448"/>
                  <a:pt x="1751" y="448"/>
                </a:cubicBezTo>
                <a:cubicBezTo>
                  <a:pt x="1751" y="448"/>
                  <a:pt x="1751" y="473"/>
                  <a:pt x="1736" y="527"/>
                </a:cubicBezTo>
                <a:cubicBezTo>
                  <a:pt x="1632" y="929"/>
                  <a:pt x="1632" y="929"/>
                  <a:pt x="1632" y="929"/>
                </a:cubicBezTo>
                <a:cubicBezTo>
                  <a:pt x="1459" y="929"/>
                  <a:pt x="1459" y="929"/>
                  <a:pt x="1459" y="929"/>
                </a:cubicBezTo>
                <a:cubicBezTo>
                  <a:pt x="1270" y="315"/>
                  <a:pt x="1270" y="315"/>
                  <a:pt x="1270" y="315"/>
                </a:cubicBezTo>
                <a:cubicBezTo>
                  <a:pt x="1440" y="315"/>
                  <a:pt x="1440" y="315"/>
                  <a:pt x="1440" y="315"/>
                </a:cubicBezTo>
                <a:cubicBezTo>
                  <a:pt x="1536" y="688"/>
                  <a:pt x="1536" y="688"/>
                  <a:pt x="1536" y="688"/>
                </a:cubicBezTo>
                <a:cubicBezTo>
                  <a:pt x="1556" y="767"/>
                  <a:pt x="1558" y="799"/>
                  <a:pt x="1558" y="799"/>
                </a:cubicBezTo>
                <a:cubicBezTo>
                  <a:pt x="1558" y="799"/>
                  <a:pt x="1559" y="774"/>
                  <a:pt x="1577" y="703"/>
                </a:cubicBezTo>
                <a:cubicBezTo>
                  <a:pt x="1678" y="315"/>
                  <a:pt x="1678" y="315"/>
                  <a:pt x="1678" y="315"/>
                </a:cubicBezTo>
                <a:cubicBezTo>
                  <a:pt x="1849" y="315"/>
                  <a:pt x="1849" y="315"/>
                  <a:pt x="1849" y="315"/>
                </a:cubicBezTo>
                <a:cubicBezTo>
                  <a:pt x="1954" y="708"/>
                  <a:pt x="1954" y="708"/>
                  <a:pt x="1954" y="708"/>
                </a:cubicBezTo>
                <a:cubicBezTo>
                  <a:pt x="1972" y="778"/>
                  <a:pt x="1972" y="801"/>
                  <a:pt x="1972" y="801"/>
                </a:cubicBezTo>
                <a:cubicBezTo>
                  <a:pt x="1972" y="801"/>
                  <a:pt x="1974" y="763"/>
                  <a:pt x="1993" y="688"/>
                </a:cubicBezTo>
                <a:cubicBezTo>
                  <a:pt x="2088" y="315"/>
                  <a:pt x="2088" y="315"/>
                  <a:pt x="2088" y="315"/>
                </a:cubicBezTo>
                <a:cubicBezTo>
                  <a:pt x="2234" y="315"/>
                  <a:pt x="2234" y="315"/>
                  <a:pt x="2234" y="315"/>
                </a:cubicBezTo>
                <a:lnTo>
                  <a:pt x="2038" y="929"/>
                </a:lnTo>
                <a:close/>
                <a:moveTo>
                  <a:pt x="2634" y="929"/>
                </a:moveTo>
                <a:cubicBezTo>
                  <a:pt x="2634" y="874"/>
                  <a:pt x="2634" y="874"/>
                  <a:pt x="2634" y="874"/>
                </a:cubicBezTo>
                <a:cubicBezTo>
                  <a:pt x="2634" y="874"/>
                  <a:pt x="2589" y="937"/>
                  <a:pt x="2477" y="937"/>
                </a:cubicBezTo>
                <a:cubicBezTo>
                  <a:pt x="2361" y="937"/>
                  <a:pt x="2285" y="869"/>
                  <a:pt x="2285" y="757"/>
                </a:cubicBezTo>
                <a:cubicBezTo>
                  <a:pt x="2285" y="690"/>
                  <a:pt x="2309" y="642"/>
                  <a:pt x="2354" y="610"/>
                </a:cubicBezTo>
                <a:cubicBezTo>
                  <a:pt x="2405" y="573"/>
                  <a:pt x="2474" y="568"/>
                  <a:pt x="2546" y="568"/>
                </a:cubicBezTo>
                <a:cubicBezTo>
                  <a:pt x="2586" y="568"/>
                  <a:pt x="2631" y="571"/>
                  <a:pt x="2631" y="571"/>
                </a:cubicBezTo>
                <a:cubicBezTo>
                  <a:pt x="2631" y="532"/>
                  <a:pt x="2631" y="532"/>
                  <a:pt x="2631" y="532"/>
                </a:cubicBezTo>
                <a:cubicBezTo>
                  <a:pt x="2631" y="502"/>
                  <a:pt x="2628" y="473"/>
                  <a:pt x="2621" y="454"/>
                </a:cubicBezTo>
                <a:cubicBezTo>
                  <a:pt x="2606" y="413"/>
                  <a:pt x="2568" y="400"/>
                  <a:pt x="2516" y="400"/>
                </a:cubicBezTo>
                <a:cubicBezTo>
                  <a:pt x="2432" y="400"/>
                  <a:pt x="2376" y="431"/>
                  <a:pt x="2376" y="431"/>
                </a:cubicBezTo>
                <a:cubicBezTo>
                  <a:pt x="2343" y="336"/>
                  <a:pt x="2343" y="336"/>
                  <a:pt x="2343" y="336"/>
                </a:cubicBezTo>
                <a:cubicBezTo>
                  <a:pt x="2343" y="336"/>
                  <a:pt x="2421" y="301"/>
                  <a:pt x="2559" y="301"/>
                </a:cubicBezTo>
                <a:cubicBezTo>
                  <a:pt x="2718" y="301"/>
                  <a:pt x="2763" y="369"/>
                  <a:pt x="2780" y="415"/>
                </a:cubicBezTo>
                <a:cubicBezTo>
                  <a:pt x="2793" y="453"/>
                  <a:pt x="2792" y="520"/>
                  <a:pt x="2792" y="562"/>
                </a:cubicBezTo>
                <a:cubicBezTo>
                  <a:pt x="2792" y="929"/>
                  <a:pt x="2792" y="929"/>
                  <a:pt x="2792" y="929"/>
                </a:cubicBezTo>
                <a:lnTo>
                  <a:pt x="2634" y="929"/>
                </a:lnTo>
                <a:close/>
                <a:moveTo>
                  <a:pt x="2631" y="646"/>
                </a:moveTo>
                <a:cubicBezTo>
                  <a:pt x="2631" y="646"/>
                  <a:pt x="2620" y="645"/>
                  <a:pt x="2574" y="645"/>
                </a:cubicBezTo>
                <a:cubicBezTo>
                  <a:pt x="2537" y="645"/>
                  <a:pt x="2507" y="651"/>
                  <a:pt x="2483" y="670"/>
                </a:cubicBezTo>
                <a:cubicBezTo>
                  <a:pt x="2459" y="689"/>
                  <a:pt x="2451" y="721"/>
                  <a:pt x="2451" y="748"/>
                </a:cubicBezTo>
                <a:cubicBezTo>
                  <a:pt x="2451" y="823"/>
                  <a:pt x="2506" y="843"/>
                  <a:pt x="2556" y="843"/>
                </a:cubicBezTo>
                <a:cubicBezTo>
                  <a:pt x="2606" y="843"/>
                  <a:pt x="2631" y="829"/>
                  <a:pt x="2631" y="829"/>
                </a:cubicBezTo>
                <a:lnTo>
                  <a:pt x="2631" y="646"/>
                </a:lnTo>
                <a:close/>
                <a:moveTo>
                  <a:pt x="3324" y="455"/>
                </a:moveTo>
                <a:cubicBezTo>
                  <a:pt x="3315" y="448"/>
                  <a:pt x="3280" y="425"/>
                  <a:pt x="3225" y="425"/>
                </a:cubicBezTo>
                <a:cubicBezTo>
                  <a:pt x="3167" y="425"/>
                  <a:pt x="3135" y="447"/>
                  <a:pt x="3135" y="447"/>
                </a:cubicBezTo>
                <a:cubicBezTo>
                  <a:pt x="3135" y="929"/>
                  <a:pt x="3135" y="929"/>
                  <a:pt x="3135" y="929"/>
                </a:cubicBezTo>
                <a:cubicBezTo>
                  <a:pt x="2967" y="929"/>
                  <a:pt x="2967" y="929"/>
                  <a:pt x="2967" y="929"/>
                </a:cubicBezTo>
                <a:cubicBezTo>
                  <a:pt x="2967" y="315"/>
                  <a:pt x="2967" y="315"/>
                  <a:pt x="2967" y="315"/>
                </a:cubicBezTo>
                <a:cubicBezTo>
                  <a:pt x="3130" y="315"/>
                  <a:pt x="3130" y="315"/>
                  <a:pt x="3130" y="315"/>
                </a:cubicBezTo>
                <a:cubicBezTo>
                  <a:pt x="3130" y="396"/>
                  <a:pt x="3130" y="396"/>
                  <a:pt x="3130" y="396"/>
                </a:cubicBezTo>
                <a:cubicBezTo>
                  <a:pt x="3130" y="396"/>
                  <a:pt x="3173" y="305"/>
                  <a:pt x="3278" y="305"/>
                </a:cubicBezTo>
                <a:cubicBezTo>
                  <a:pt x="3316" y="305"/>
                  <a:pt x="3340" y="313"/>
                  <a:pt x="3358" y="321"/>
                </a:cubicBezTo>
                <a:lnTo>
                  <a:pt x="3324" y="455"/>
                </a:lnTo>
                <a:close/>
                <a:moveTo>
                  <a:pt x="3826" y="929"/>
                </a:moveTo>
                <a:cubicBezTo>
                  <a:pt x="3826" y="867"/>
                  <a:pt x="3826" y="867"/>
                  <a:pt x="3826" y="867"/>
                </a:cubicBezTo>
                <a:cubicBezTo>
                  <a:pt x="3826" y="867"/>
                  <a:pt x="3781" y="937"/>
                  <a:pt x="3657" y="937"/>
                </a:cubicBezTo>
                <a:cubicBezTo>
                  <a:pt x="3504" y="937"/>
                  <a:pt x="3405" y="833"/>
                  <a:pt x="3405" y="634"/>
                </a:cubicBezTo>
                <a:cubicBezTo>
                  <a:pt x="3405" y="430"/>
                  <a:pt x="3529" y="305"/>
                  <a:pt x="3694" y="305"/>
                </a:cubicBezTo>
                <a:cubicBezTo>
                  <a:pt x="3785" y="305"/>
                  <a:pt x="3821" y="331"/>
                  <a:pt x="3821" y="331"/>
                </a:cubicBezTo>
                <a:cubicBezTo>
                  <a:pt x="3821" y="0"/>
                  <a:pt x="3821" y="0"/>
                  <a:pt x="3821" y="0"/>
                </a:cubicBezTo>
                <a:cubicBezTo>
                  <a:pt x="3989" y="0"/>
                  <a:pt x="3989" y="0"/>
                  <a:pt x="3989" y="0"/>
                </a:cubicBezTo>
                <a:cubicBezTo>
                  <a:pt x="3989" y="929"/>
                  <a:pt x="3989" y="929"/>
                  <a:pt x="3989" y="929"/>
                </a:cubicBezTo>
                <a:lnTo>
                  <a:pt x="3826" y="929"/>
                </a:lnTo>
                <a:close/>
                <a:moveTo>
                  <a:pt x="3821" y="403"/>
                </a:moveTo>
                <a:cubicBezTo>
                  <a:pt x="3821" y="403"/>
                  <a:pt x="3796" y="395"/>
                  <a:pt x="3756" y="395"/>
                </a:cubicBezTo>
                <a:cubicBezTo>
                  <a:pt x="3621" y="395"/>
                  <a:pt x="3579" y="492"/>
                  <a:pt x="3579" y="622"/>
                </a:cubicBezTo>
                <a:cubicBezTo>
                  <a:pt x="3579" y="748"/>
                  <a:pt x="3630" y="831"/>
                  <a:pt x="3735" y="831"/>
                </a:cubicBezTo>
                <a:cubicBezTo>
                  <a:pt x="3789" y="831"/>
                  <a:pt x="3821" y="813"/>
                  <a:pt x="3821" y="813"/>
                </a:cubicBezTo>
                <a:lnTo>
                  <a:pt x="3821" y="403"/>
                </a:lnTo>
                <a:close/>
                <a:moveTo>
                  <a:pt x="4313" y="939"/>
                </a:moveTo>
                <a:cubicBezTo>
                  <a:pt x="4171" y="939"/>
                  <a:pt x="4105" y="903"/>
                  <a:pt x="4105" y="903"/>
                </a:cubicBezTo>
                <a:cubicBezTo>
                  <a:pt x="4139" y="807"/>
                  <a:pt x="4139" y="807"/>
                  <a:pt x="4139" y="807"/>
                </a:cubicBezTo>
                <a:cubicBezTo>
                  <a:pt x="4139" y="807"/>
                  <a:pt x="4194" y="840"/>
                  <a:pt x="4295" y="840"/>
                </a:cubicBezTo>
                <a:cubicBezTo>
                  <a:pt x="4361" y="840"/>
                  <a:pt x="4397" y="817"/>
                  <a:pt x="4397" y="772"/>
                </a:cubicBezTo>
                <a:cubicBezTo>
                  <a:pt x="4397" y="736"/>
                  <a:pt x="4380" y="725"/>
                  <a:pt x="4339" y="702"/>
                </a:cubicBezTo>
                <a:cubicBezTo>
                  <a:pt x="4249" y="653"/>
                  <a:pt x="4249" y="653"/>
                  <a:pt x="4249" y="653"/>
                </a:cubicBezTo>
                <a:cubicBezTo>
                  <a:pt x="4169" y="609"/>
                  <a:pt x="4127" y="564"/>
                  <a:pt x="4127" y="478"/>
                </a:cubicBezTo>
                <a:cubicBezTo>
                  <a:pt x="4127" y="361"/>
                  <a:pt x="4211" y="303"/>
                  <a:pt x="4348" y="303"/>
                </a:cubicBezTo>
                <a:cubicBezTo>
                  <a:pt x="4469" y="303"/>
                  <a:pt x="4536" y="335"/>
                  <a:pt x="4536" y="335"/>
                </a:cubicBezTo>
                <a:cubicBezTo>
                  <a:pt x="4503" y="431"/>
                  <a:pt x="4503" y="431"/>
                  <a:pt x="4503" y="431"/>
                </a:cubicBezTo>
                <a:cubicBezTo>
                  <a:pt x="4503" y="431"/>
                  <a:pt x="4446" y="399"/>
                  <a:pt x="4369" y="399"/>
                </a:cubicBezTo>
                <a:cubicBezTo>
                  <a:pt x="4319" y="399"/>
                  <a:pt x="4275" y="412"/>
                  <a:pt x="4275" y="459"/>
                </a:cubicBezTo>
                <a:cubicBezTo>
                  <a:pt x="4275" y="497"/>
                  <a:pt x="4297" y="509"/>
                  <a:pt x="4347" y="534"/>
                </a:cubicBezTo>
                <a:cubicBezTo>
                  <a:pt x="4434" y="579"/>
                  <a:pt x="4434" y="579"/>
                  <a:pt x="4434" y="579"/>
                </a:cubicBezTo>
                <a:cubicBezTo>
                  <a:pt x="4509" y="617"/>
                  <a:pt x="4549" y="664"/>
                  <a:pt x="4549" y="747"/>
                </a:cubicBezTo>
                <a:cubicBezTo>
                  <a:pt x="4549" y="887"/>
                  <a:pt x="4440" y="939"/>
                  <a:pt x="4313" y="939"/>
                </a:cubicBezTo>
                <a:close/>
                <a:moveTo>
                  <a:pt x="4953" y="929"/>
                </a:moveTo>
                <a:cubicBezTo>
                  <a:pt x="4953" y="82"/>
                  <a:pt x="4953" y="82"/>
                  <a:pt x="4953" y="82"/>
                </a:cubicBezTo>
                <a:cubicBezTo>
                  <a:pt x="5124" y="82"/>
                  <a:pt x="5124" y="82"/>
                  <a:pt x="5124" y="82"/>
                </a:cubicBezTo>
                <a:cubicBezTo>
                  <a:pt x="5124" y="820"/>
                  <a:pt x="5124" y="820"/>
                  <a:pt x="5124" y="820"/>
                </a:cubicBezTo>
                <a:cubicBezTo>
                  <a:pt x="5421" y="820"/>
                  <a:pt x="5421" y="820"/>
                  <a:pt x="5421" y="820"/>
                </a:cubicBezTo>
                <a:cubicBezTo>
                  <a:pt x="5421" y="929"/>
                  <a:pt x="5421" y="929"/>
                  <a:pt x="5421" y="929"/>
                </a:cubicBezTo>
                <a:lnTo>
                  <a:pt x="4953" y="929"/>
                </a:lnTo>
                <a:close/>
                <a:moveTo>
                  <a:pt x="5605" y="227"/>
                </a:moveTo>
                <a:cubicBezTo>
                  <a:pt x="5547" y="227"/>
                  <a:pt x="5509" y="192"/>
                  <a:pt x="5509" y="141"/>
                </a:cubicBezTo>
                <a:cubicBezTo>
                  <a:pt x="5509" y="85"/>
                  <a:pt x="5547" y="51"/>
                  <a:pt x="5608" y="51"/>
                </a:cubicBezTo>
                <a:cubicBezTo>
                  <a:pt x="5666" y="51"/>
                  <a:pt x="5704" y="85"/>
                  <a:pt x="5704" y="137"/>
                </a:cubicBezTo>
                <a:cubicBezTo>
                  <a:pt x="5704" y="192"/>
                  <a:pt x="5666" y="227"/>
                  <a:pt x="5605" y="227"/>
                </a:cubicBezTo>
                <a:close/>
                <a:moveTo>
                  <a:pt x="5523" y="929"/>
                </a:moveTo>
                <a:cubicBezTo>
                  <a:pt x="5523" y="315"/>
                  <a:pt x="5523" y="315"/>
                  <a:pt x="5523" y="315"/>
                </a:cubicBezTo>
                <a:cubicBezTo>
                  <a:pt x="5691" y="315"/>
                  <a:pt x="5691" y="315"/>
                  <a:pt x="5691" y="315"/>
                </a:cubicBezTo>
                <a:cubicBezTo>
                  <a:pt x="5691" y="929"/>
                  <a:pt x="5691" y="929"/>
                  <a:pt x="5691" y="929"/>
                </a:cubicBezTo>
                <a:lnTo>
                  <a:pt x="5523" y="929"/>
                </a:lnTo>
                <a:close/>
                <a:moveTo>
                  <a:pt x="6217" y="112"/>
                </a:moveTo>
                <a:cubicBezTo>
                  <a:pt x="6217" y="112"/>
                  <a:pt x="6194" y="96"/>
                  <a:pt x="6154" y="96"/>
                </a:cubicBezTo>
                <a:cubicBezTo>
                  <a:pt x="6115" y="96"/>
                  <a:pt x="6094" y="111"/>
                  <a:pt x="6082" y="132"/>
                </a:cubicBezTo>
                <a:cubicBezTo>
                  <a:pt x="6071" y="151"/>
                  <a:pt x="6070" y="181"/>
                  <a:pt x="6070" y="227"/>
                </a:cubicBezTo>
                <a:cubicBezTo>
                  <a:pt x="6070" y="316"/>
                  <a:pt x="6070" y="316"/>
                  <a:pt x="6070" y="316"/>
                </a:cubicBezTo>
                <a:cubicBezTo>
                  <a:pt x="6196" y="316"/>
                  <a:pt x="6196" y="316"/>
                  <a:pt x="6196" y="316"/>
                </a:cubicBezTo>
                <a:cubicBezTo>
                  <a:pt x="6196" y="407"/>
                  <a:pt x="6196" y="407"/>
                  <a:pt x="6196" y="407"/>
                </a:cubicBezTo>
                <a:cubicBezTo>
                  <a:pt x="6070" y="407"/>
                  <a:pt x="6070" y="407"/>
                  <a:pt x="6070" y="407"/>
                </a:cubicBezTo>
                <a:cubicBezTo>
                  <a:pt x="6070" y="929"/>
                  <a:pt x="6070" y="929"/>
                  <a:pt x="6070" y="929"/>
                </a:cubicBezTo>
                <a:cubicBezTo>
                  <a:pt x="5905" y="929"/>
                  <a:pt x="5905" y="929"/>
                  <a:pt x="5905" y="929"/>
                </a:cubicBezTo>
                <a:cubicBezTo>
                  <a:pt x="5905" y="407"/>
                  <a:pt x="5905" y="407"/>
                  <a:pt x="5905" y="407"/>
                </a:cubicBezTo>
                <a:cubicBezTo>
                  <a:pt x="5828" y="407"/>
                  <a:pt x="5828" y="407"/>
                  <a:pt x="5828" y="407"/>
                </a:cubicBezTo>
                <a:cubicBezTo>
                  <a:pt x="5828" y="316"/>
                  <a:pt x="5828" y="316"/>
                  <a:pt x="5828" y="316"/>
                </a:cubicBezTo>
                <a:cubicBezTo>
                  <a:pt x="5905" y="316"/>
                  <a:pt x="5905" y="316"/>
                  <a:pt x="5905" y="316"/>
                </a:cubicBezTo>
                <a:cubicBezTo>
                  <a:pt x="5905" y="283"/>
                  <a:pt x="5905" y="283"/>
                  <a:pt x="5905" y="283"/>
                </a:cubicBezTo>
                <a:cubicBezTo>
                  <a:pt x="5905" y="249"/>
                  <a:pt x="5903" y="174"/>
                  <a:pt x="5917" y="131"/>
                </a:cubicBezTo>
                <a:cubicBezTo>
                  <a:pt x="5943" y="46"/>
                  <a:pt x="6005" y="0"/>
                  <a:pt x="6121" y="0"/>
                </a:cubicBezTo>
                <a:cubicBezTo>
                  <a:pt x="6203" y="0"/>
                  <a:pt x="6245" y="21"/>
                  <a:pt x="6245" y="21"/>
                </a:cubicBezTo>
                <a:lnTo>
                  <a:pt x="6217" y="112"/>
                </a:lnTo>
                <a:close/>
                <a:moveTo>
                  <a:pt x="6430" y="633"/>
                </a:moveTo>
                <a:cubicBezTo>
                  <a:pt x="6430" y="636"/>
                  <a:pt x="6430" y="645"/>
                  <a:pt x="6430" y="645"/>
                </a:cubicBezTo>
                <a:cubicBezTo>
                  <a:pt x="6430" y="765"/>
                  <a:pt x="6508" y="838"/>
                  <a:pt x="6627" y="838"/>
                </a:cubicBezTo>
                <a:cubicBezTo>
                  <a:pt x="6711" y="838"/>
                  <a:pt x="6758" y="810"/>
                  <a:pt x="6758" y="810"/>
                </a:cubicBezTo>
                <a:cubicBezTo>
                  <a:pt x="6790" y="903"/>
                  <a:pt x="6790" y="903"/>
                  <a:pt x="6790" y="903"/>
                </a:cubicBezTo>
                <a:cubicBezTo>
                  <a:pt x="6790" y="903"/>
                  <a:pt x="6723" y="939"/>
                  <a:pt x="6579" y="939"/>
                </a:cubicBezTo>
                <a:cubicBezTo>
                  <a:pt x="6411" y="939"/>
                  <a:pt x="6260" y="869"/>
                  <a:pt x="6260" y="623"/>
                </a:cubicBezTo>
                <a:cubicBezTo>
                  <a:pt x="6260" y="508"/>
                  <a:pt x="6303" y="303"/>
                  <a:pt x="6553" y="303"/>
                </a:cubicBezTo>
                <a:cubicBezTo>
                  <a:pt x="6674" y="303"/>
                  <a:pt x="6737" y="347"/>
                  <a:pt x="6776" y="414"/>
                </a:cubicBezTo>
                <a:cubicBezTo>
                  <a:pt x="6809" y="474"/>
                  <a:pt x="6813" y="556"/>
                  <a:pt x="6813" y="623"/>
                </a:cubicBezTo>
                <a:cubicBezTo>
                  <a:pt x="6813" y="624"/>
                  <a:pt x="6813" y="630"/>
                  <a:pt x="6813" y="633"/>
                </a:cubicBezTo>
                <a:lnTo>
                  <a:pt x="6430" y="633"/>
                </a:lnTo>
                <a:close/>
                <a:moveTo>
                  <a:pt x="6646" y="521"/>
                </a:moveTo>
                <a:cubicBezTo>
                  <a:pt x="6646" y="430"/>
                  <a:pt x="6613" y="384"/>
                  <a:pt x="6541" y="384"/>
                </a:cubicBezTo>
                <a:cubicBezTo>
                  <a:pt x="6481" y="384"/>
                  <a:pt x="6452" y="420"/>
                  <a:pt x="6439" y="475"/>
                </a:cubicBezTo>
                <a:cubicBezTo>
                  <a:pt x="6431" y="505"/>
                  <a:pt x="6431" y="537"/>
                  <a:pt x="6431" y="547"/>
                </a:cubicBezTo>
                <a:cubicBezTo>
                  <a:pt x="6646" y="547"/>
                  <a:pt x="6646" y="547"/>
                  <a:pt x="6646" y="547"/>
                </a:cubicBezTo>
                <a:lnTo>
                  <a:pt x="6646" y="521"/>
                </a:lnTo>
                <a:close/>
                <a:moveTo>
                  <a:pt x="7101" y="939"/>
                </a:moveTo>
                <a:cubicBezTo>
                  <a:pt x="6959" y="939"/>
                  <a:pt x="6893" y="903"/>
                  <a:pt x="6893" y="903"/>
                </a:cubicBezTo>
                <a:cubicBezTo>
                  <a:pt x="6927" y="807"/>
                  <a:pt x="6927" y="807"/>
                  <a:pt x="6927" y="807"/>
                </a:cubicBezTo>
                <a:cubicBezTo>
                  <a:pt x="6927" y="807"/>
                  <a:pt x="6982" y="840"/>
                  <a:pt x="7083" y="840"/>
                </a:cubicBezTo>
                <a:cubicBezTo>
                  <a:pt x="7149" y="840"/>
                  <a:pt x="7185" y="817"/>
                  <a:pt x="7185" y="772"/>
                </a:cubicBezTo>
                <a:cubicBezTo>
                  <a:pt x="7185" y="736"/>
                  <a:pt x="7168" y="725"/>
                  <a:pt x="7127" y="702"/>
                </a:cubicBezTo>
                <a:cubicBezTo>
                  <a:pt x="7037" y="653"/>
                  <a:pt x="7037" y="653"/>
                  <a:pt x="7037" y="653"/>
                </a:cubicBezTo>
                <a:cubicBezTo>
                  <a:pt x="6957" y="609"/>
                  <a:pt x="6915" y="564"/>
                  <a:pt x="6915" y="478"/>
                </a:cubicBezTo>
                <a:cubicBezTo>
                  <a:pt x="6915" y="361"/>
                  <a:pt x="6999" y="303"/>
                  <a:pt x="7136" y="303"/>
                </a:cubicBezTo>
                <a:cubicBezTo>
                  <a:pt x="7257" y="303"/>
                  <a:pt x="7324" y="335"/>
                  <a:pt x="7324" y="335"/>
                </a:cubicBezTo>
                <a:cubicBezTo>
                  <a:pt x="7291" y="431"/>
                  <a:pt x="7291" y="431"/>
                  <a:pt x="7291" y="431"/>
                </a:cubicBezTo>
                <a:cubicBezTo>
                  <a:pt x="7291" y="431"/>
                  <a:pt x="7234" y="399"/>
                  <a:pt x="7157" y="399"/>
                </a:cubicBezTo>
                <a:cubicBezTo>
                  <a:pt x="7107" y="399"/>
                  <a:pt x="7063" y="412"/>
                  <a:pt x="7063" y="459"/>
                </a:cubicBezTo>
                <a:cubicBezTo>
                  <a:pt x="7063" y="497"/>
                  <a:pt x="7085" y="509"/>
                  <a:pt x="7135" y="534"/>
                </a:cubicBezTo>
                <a:cubicBezTo>
                  <a:pt x="7222" y="579"/>
                  <a:pt x="7222" y="579"/>
                  <a:pt x="7222" y="579"/>
                </a:cubicBezTo>
                <a:cubicBezTo>
                  <a:pt x="7297" y="617"/>
                  <a:pt x="7337" y="664"/>
                  <a:pt x="7337" y="747"/>
                </a:cubicBezTo>
                <a:cubicBezTo>
                  <a:pt x="7337" y="887"/>
                  <a:pt x="7228" y="939"/>
                  <a:pt x="7101" y="939"/>
                </a:cubicBezTo>
                <a:close/>
                <a:moveTo>
                  <a:pt x="7890" y="431"/>
                </a:moveTo>
                <a:cubicBezTo>
                  <a:pt x="7890" y="431"/>
                  <a:pt x="7850" y="402"/>
                  <a:pt x="7780" y="402"/>
                </a:cubicBezTo>
                <a:cubicBezTo>
                  <a:pt x="7656" y="402"/>
                  <a:pt x="7604" y="475"/>
                  <a:pt x="7604" y="619"/>
                </a:cubicBezTo>
                <a:cubicBezTo>
                  <a:pt x="7604" y="718"/>
                  <a:pt x="7639" y="838"/>
                  <a:pt x="7778" y="838"/>
                </a:cubicBezTo>
                <a:cubicBezTo>
                  <a:pt x="7829" y="838"/>
                  <a:pt x="7871" y="821"/>
                  <a:pt x="7891" y="810"/>
                </a:cubicBezTo>
                <a:cubicBezTo>
                  <a:pt x="7922" y="903"/>
                  <a:pt x="7922" y="903"/>
                  <a:pt x="7922" y="903"/>
                </a:cubicBezTo>
                <a:cubicBezTo>
                  <a:pt x="7922" y="903"/>
                  <a:pt x="7864" y="939"/>
                  <a:pt x="7732" y="939"/>
                </a:cubicBezTo>
                <a:cubicBezTo>
                  <a:pt x="7529" y="939"/>
                  <a:pt x="7432" y="809"/>
                  <a:pt x="7432" y="634"/>
                </a:cubicBezTo>
                <a:cubicBezTo>
                  <a:pt x="7432" y="561"/>
                  <a:pt x="7448" y="491"/>
                  <a:pt x="7484" y="435"/>
                </a:cubicBezTo>
                <a:cubicBezTo>
                  <a:pt x="7534" y="358"/>
                  <a:pt x="7620" y="303"/>
                  <a:pt x="7758" y="303"/>
                </a:cubicBezTo>
                <a:cubicBezTo>
                  <a:pt x="7860" y="303"/>
                  <a:pt x="7924" y="335"/>
                  <a:pt x="7924" y="335"/>
                </a:cubicBezTo>
                <a:lnTo>
                  <a:pt x="7890" y="431"/>
                </a:lnTo>
                <a:close/>
                <a:moveTo>
                  <a:pt x="8114" y="227"/>
                </a:moveTo>
                <a:cubicBezTo>
                  <a:pt x="8056" y="227"/>
                  <a:pt x="8017" y="192"/>
                  <a:pt x="8017" y="141"/>
                </a:cubicBezTo>
                <a:cubicBezTo>
                  <a:pt x="8017" y="85"/>
                  <a:pt x="8056" y="51"/>
                  <a:pt x="8117" y="51"/>
                </a:cubicBezTo>
                <a:cubicBezTo>
                  <a:pt x="8175" y="51"/>
                  <a:pt x="8213" y="85"/>
                  <a:pt x="8213" y="137"/>
                </a:cubicBezTo>
                <a:cubicBezTo>
                  <a:pt x="8213" y="192"/>
                  <a:pt x="8175" y="227"/>
                  <a:pt x="8114" y="227"/>
                </a:cubicBezTo>
                <a:close/>
                <a:moveTo>
                  <a:pt x="8032" y="929"/>
                </a:moveTo>
                <a:cubicBezTo>
                  <a:pt x="8032" y="315"/>
                  <a:pt x="8032" y="315"/>
                  <a:pt x="8032" y="315"/>
                </a:cubicBezTo>
                <a:cubicBezTo>
                  <a:pt x="8200" y="315"/>
                  <a:pt x="8200" y="315"/>
                  <a:pt x="8200" y="315"/>
                </a:cubicBezTo>
                <a:cubicBezTo>
                  <a:pt x="8200" y="929"/>
                  <a:pt x="8200" y="929"/>
                  <a:pt x="8200" y="929"/>
                </a:cubicBezTo>
                <a:lnTo>
                  <a:pt x="8032" y="929"/>
                </a:lnTo>
                <a:close/>
                <a:moveTo>
                  <a:pt x="8502" y="633"/>
                </a:moveTo>
                <a:cubicBezTo>
                  <a:pt x="8502" y="636"/>
                  <a:pt x="8502" y="645"/>
                  <a:pt x="8502" y="645"/>
                </a:cubicBezTo>
                <a:cubicBezTo>
                  <a:pt x="8502" y="765"/>
                  <a:pt x="8580" y="838"/>
                  <a:pt x="8699" y="838"/>
                </a:cubicBezTo>
                <a:cubicBezTo>
                  <a:pt x="8783" y="838"/>
                  <a:pt x="8830" y="810"/>
                  <a:pt x="8830" y="810"/>
                </a:cubicBezTo>
                <a:cubicBezTo>
                  <a:pt x="8862" y="903"/>
                  <a:pt x="8862" y="903"/>
                  <a:pt x="8862" y="903"/>
                </a:cubicBezTo>
                <a:cubicBezTo>
                  <a:pt x="8862" y="903"/>
                  <a:pt x="8795" y="939"/>
                  <a:pt x="8651" y="939"/>
                </a:cubicBezTo>
                <a:cubicBezTo>
                  <a:pt x="8483" y="939"/>
                  <a:pt x="8332" y="869"/>
                  <a:pt x="8332" y="623"/>
                </a:cubicBezTo>
                <a:cubicBezTo>
                  <a:pt x="8332" y="508"/>
                  <a:pt x="8375" y="303"/>
                  <a:pt x="8625" y="303"/>
                </a:cubicBezTo>
                <a:cubicBezTo>
                  <a:pt x="8746" y="303"/>
                  <a:pt x="8809" y="347"/>
                  <a:pt x="8848" y="414"/>
                </a:cubicBezTo>
                <a:cubicBezTo>
                  <a:pt x="8881" y="474"/>
                  <a:pt x="8885" y="556"/>
                  <a:pt x="8885" y="623"/>
                </a:cubicBezTo>
                <a:cubicBezTo>
                  <a:pt x="8885" y="624"/>
                  <a:pt x="8885" y="630"/>
                  <a:pt x="8885" y="633"/>
                </a:cubicBezTo>
                <a:lnTo>
                  <a:pt x="8502" y="633"/>
                </a:lnTo>
                <a:close/>
                <a:moveTo>
                  <a:pt x="8718" y="521"/>
                </a:moveTo>
                <a:cubicBezTo>
                  <a:pt x="8718" y="430"/>
                  <a:pt x="8685" y="384"/>
                  <a:pt x="8613" y="384"/>
                </a:cubicBezTo>
                <a:cubicBezTo>
                  <a:pt x="8553" y="384"/>
                  <a:pt x="8524" y="420"/>
                  <a:pt x="8511" y="475"/>
                </a:cubicBezTo>
                <a:cubicBezTo>
                  <a:pt x="8503" y="505"/>
                  <a:pt x="8503" y="537"/>
                  <a:pt x="8503" y="547"/>
                </a:cubicBezTo>
                <a:cubicBezTo>
                  <a:pt x="8718" y="547"/>
                  <a:pt x="8718" y="547"/>
                  <a:pt x="8718" y="547"/>
                </a:cubicBezTo>
                <a:lnTo>
                  <a:pt x="8718" y="521"/>
                </a:lnTo>
                <a:close/>
                <a:moveTo>
                  <a:pt x="9398" y="929"/>
                </a:moveTo>
                <a:cubicBezTo>
                  <a:pt x="9398" y="577"/>
                  <a:pt x="9398" y="577"/>
                  <a:pt x="9398" y="577"/>
                </a:cubicBezTo>
                <a:cubicBezTo>
                  <a:pt x="9398" y="546"/>
                  <a:pt x="9398" y="514"/>
                  <a:pt x="9394" y="491"/>
                </a:cubicBezTo>
                <a:cubicBezTo>
                  <a:pt x="9382" y="433"/>
                  <a:pt x="9341" y="409"/>
                  <a:pt x="9278" y="409"/>
                </a:cubicBezTo>
                <a:cubicBezTo>
                  <a:pt x="9224" y="409"/>
                  <a:pt x="9186" y="430"/>
                  <a:pt x="9186" y="430"/>
                </a:cubicBezTo>
                <a:cubicBezTo>
                  <a:pt x="9186" y="929"/>
                  <a:pt x="9186" y="929"/>
                  <a:pt x="9186" y="929"/>
                </a:cubicBezTo>
                <a:cubicBezTo>
                  <a:pt x="9018" y="929"/>
                  <a:pt x="9018" y="929"/>
                  <a:pt x="9018" y="929"/>
                </a:cubicBezTo>
                <a:cubicBezTo>
                  <a:pt x="9018" y="315"/>
                  <a:pt x="9018" y="315"/>
                  <a:pt x="9018" y="315"/>
                </a:cubicBezTo>
                <a:cubicBezTo>
                  <a:pt x="9181" y="315"/>
                  <a:pt x="9181" y="315"/>
                  <a:pt x="9181" y="315"/>
                </a:cubicBezTo>
                <a:cubicBezTo>
                  <a:pt x="9181" y="377"/>
                  <a:pt x="9181" y="377"/>
                  <a:pt x="9181" y="377"/>
                </a:cubicBezTo>
                <a:cubicBezTo>
                  <a:pt x="9181" y="377"/>
                  <a:pt x="9234" y="301"/>
                  <a:pt x="9365" y="301"/>
                </a:cubicBezTo>
                <a:cubicBezTo>
                  <a:pt x="9493" y="301"/>
                  <a:pt x="9544" y="376"/>
                  <a:pt x="9558" y="438"/>
                </a:cubicBezTo>
                <a:cubicBezTo>
                  <a:pt x="9568" y="481"/>
                  <a:pt x="9568" y="531"/>
                  <a:pt x="9568" y="558"/>
                </a:cubicBezTo>
                <a:cubicBezTo>
                  <a:pt x="9568" y="929"/>
                  <a:pt x="9568" y="929"/>
                  <a:pt x="9568" y="929"/>
                </a:cubicBezTo>
                <a:lnTo>
                  <a:pt x="9398" y="929"/>
                </a:lnTo>
                <a:close/>
                <a:moveTo>
                  <a:pt x="10157" y="431"/>
                </a:moveTo>
                <a:cubicBezTo>
                  <a:pt x="10157" y="431"/>
                  <a:pt x="10117" y="402"/>
                  <a:pt x="10046" y="402"/>
                </a:cubicBezTo>
                <a:cubicBezTo>
                  <a:pt x="9923" y="402"/>
                  <a:pt x="9871" y="475"/>
                  <a:pt x="9871" y="619"/>
                </a:cubicBezTo>
                <a:cubicBezTo>
                  <a:pt x="9871" y="718"/>
                  <a:pt x="9906" y="838"/>
                  <a:pt x="10045" y="838"/>
                </a:cubicBezTo>
                <a:cubicBezTo>
                  <a:pt x="10096" y="838"/>
                  <a:pt x="10138" y="821"/>
                  <a:pt x="10158" y="810"/>
                </a:cubicBezTo>
                <a:cubicBezTo>
                  <a:pt x="10189" y="903"/>
                  <a:pt x="10189" y="903"/>
                  <a:pt x="10189" y="903"/>
                </a:cubicBezTo>
                <a:cubicBezTo>
                  <a:pt x="10189" y="903"/>
                  <a:pt x="10130" y="939"/>
                  <a:pt x="9998" y="939"/>
                </a:cubicBezTo>
                <a:cubicBezTo>
                  <a:pt x="9796" y="939"/>
                  <a:pt x="9698" y="809"/>
                  <a:pt x="9698" y="634"/>
                </a:cubicBezTo>
                <a:cubicBezTo>
                  <a:pt x="9698" y="561"/>
                  <a:pt x="9715" y="491"/>
                  <a:pt x="9751" y="435"/>
                </a:cubicBezTo>
                <a:cubicBezTo>
                  <a:pt x="9800" y="358"/>
                  <a:pt x="9887" y="303"/>
                  <a:pt x="10025" y="303"/>
                </a:cubicBezTo>
                <a:cubicBezTo>
                  <a:pt x="10127" y="303"/>
                  <a:pt x="10190" y="335"/>
                  <a:pt x="10190" y="335"/>
                </a:cubicBezTo>
                <a:lnTo>
                  <a:pt x="10157" y="431"/>
                </a:lnTo>
                <a:close/>
                <a:moveTo>
                  <a:pt x="10421" y="633"/>
                </a:moveTo>
                <a:cubicBezTo>
                  <a:pt x="10421" y="636"/>
                  <a:pt x="10421" y="645"/>
                  <a:pt x="10421" y="645"/>
                </a:cubicBezTo>
                <a:cubicBezTo>
                  <a:pt x="10421" y="765"/>
                  <a:pt x="10499" y="838"/>
                  <a:pt x="10618" y="838"/>
                </a:cubicBezTo>
                <a:cubicBezTo>
                  <a:pt x="10702" y="838"/>
                  <a:pt x="10748" y="810"/>
                  <a:pt x="10748" y="810"/>
                </a:cubicBezTo>
                <a:cubicBezTo>
                  <a:pt x="10781" y="903"/>
                  <a:pt x="10781" y="903"/>
                  <a:pt x="10781" y="903"/>
                </a:cubicBezTo>
                <a:cubicBezTo>
                  <a:pt x="10781" y="903"/>
                  <a:pt x="10714" y="939"/>
                  <a:pt x="10570" y="939"/>
                </a:cubicBezTo>
                <a:cubicBezTo>
                  <a:pt x="10402" y="939"/>
                  <a:pt x="10250" y="869"/>
                  <a:pt x="10250" y="623"/>
                </a:cubicBezTo>
                <a:cubicBezTo>
                  <a:pt x="10250" y="508"/>
                  <a:pt x="10294" y="303"/>
                  <a:pt x="10543" y="303"/>
                </a:cubicBezTo>
                <a:cubicBezTo>
                  <a:pt x="10664" y="303"/>
                  <a:pt x="10728" y="347"/>
                  <a:pt x="10766" y="414"/>
                </a:cubicBezTo>
                <a:cubicBezTo>
                  <a:pt x="10800" y="474"/>
                  <a:pt x="10804" y="556"/>
                  <a:pt x="10804" y="623"/>
                </a:cubicBezTo>
                <a:cubicBezTo>
                  <a:pt x="10804" y="624"/>
                  <a:pt x="10804" y="630"/>
                  <a:pt x="10804" y="633"/>
                </a:cubicBezTo>
                <a:lnTo>
                  <a:pt x="10421" y="633"/>
                </a:lnTo>
                <a:close/>
                <a:moveTo>
                  <a:pt x="10637" y="521"/>
                </a:moveTo>
                <a:cubicBezTo>
                  <a:pt x="10637" y="430"/>
                  <a:pt x="10603" y="384"/>
                  <a:pt x="10531" y="384"/>
                </a:cubicBezTo>
                <a:cubicBezTo>
                  <a:pt x="10471" y="384"/>
                  <a:pt x="10442" y="420"/>
                  <a:pt x="10429" y="475"/>
                </a:cubicBezTo>
                <a:cubicBezTo>
                  <a:pt x="10422" y="505"/>
                  <a:pt x="10422" y="537"/>
                  <a:pt x="10422" y="547"/>
                </a:cubicBezTo>
                <a:cubicBezTo>
                  <a:pt x="10637" y="547"/>
                  <a:pt x="10637" y="547"/>
                  <a:pt x="10637" y="547"/>
                </a:cubicBezTo>
                <a:lnTo>
                  <a:pt x="10637" y="521"/>
                </a:lnTo>
                <a:close/>
                <a:moveTo>
                  <a:pt x="11092" y="939"/>
                </a:moveTo>
                <a:cubicBezTo>
                  <a:pt x="10950" y="939"/>
                  <a:pt x="10884" y="903"/>
                  <a:pt x="10884" y="903"/>
                </a:cubicBezTo>
                <a:cubicBezTo>
                  <a:pt x="10918" y="807"/>
                  <a:pt x="10918" y="807"/>
                  <a:pt x="10918" y="807"/>
                </a:cubicBezTo>
                <a:cubicBezTo>
                  <a:pt x="10918" y="807"/>
                  <a:pt x="10973" y="840"/>
                  <a:pt x="11074" y="840"/>
                </a:cubicBezTo>
                <a:cubicBezTo>
                  <a:pt x="11140" y="840"/>
                  <a:pt x="11176" y="817"/>
                  <a:pt x="11176" y="772"/>
                </a:cubicBezTo>
                <a:cubicBezTo>
                  <a:pt x="11176" y="736"/>
                  <a:pt x="11159" y="725"/>
                  <a:pt x="11118" y="702"/>
                </a:cubicBezTo>
                <a:cubicBezTo>
                  <a:pt x="11028" y="653"/>
                  <a:pt x="11028" y="653"/>
                  <a:pt x="11028" y="653"/>
                </a:cubicBezTo>
                <a:cubicBezTo>
                  <a:pt x="10948" y="609"/>
                  <a:pt x="10906" y="564"/>
                  <a:pt x="10906" y="478"/>
                </a:cubicBezTo>
                <a:cubicBezTo>
                  <a:pt x="10906" y="361"/>
                  <a:pt x="10990" y="303"/>
                  <a:pt x="11126" y="303"/>
                </a:cubicBezTo>
                <a:cubicBezTo>
                  <a:pt x="11248" y="303"/>
                  <a:pt x="11315" y="335"/>
                  <a:pt x="11315" y="335"/>
                </a:cubicBezTo>
                <a:cubicBezTo>
                  <a:pt x="11281" y="431"/>
                  <a:pt x="11281" y="431"/>
                  <a:pt x="11281" y="431"/>
                </a:cubicBezTo>
                <a:cubicBezTo>
                  <a:pt x="11281" y="431"/>
                  <a:pt x="11225" y="399"/>
                  <a:pt x="11148" y="399"/>
                </a:cubicBezTo>
                <a:cubicBezTo>
                  <a:pt x="11098" y="399"/>
                  <a:pt x="11053" y="412"/>
                  <a:pt x="11053" y="459"/>
                </a:cubicBezTo>
                <a:cubicBezTo>
                  <a:pt x="11053" y="497"/>
                  <a:pt x="11076" y="509"/>
                  <a:pt x="11125" y="534"/>
                </a:cubicBezTo>
                <a:cubicBezTo>
                  <a:pt x="11213" y="579"/>
                  <a:pt x="11213" y="579"/>
                  <a:pt x="11213" y="579"/>
                </a:cubicBezTo>
                <a:cubicBezTo>
                  <a:pt x="11287" y="617"/>
                  <a:pt x="11328" y="664"/>
                  <a:pt x="11328" y="747"/>
                </a:cubicBezTo>
                <a:cubicBezTo>
                  <a:pt x="11328" y="887"/>
                  <a:pt x="11219" y="939"/>
                  <a:pt x="11092" y="939"/>
                </a:cubicBez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a:p>
        </p:txBody>
      </p:sp>
    </p:spTree>
    <p:extLst>
      <p:ext uri="{BB962C8B-B14F-4D97-AF65-F5344CB8AC3E}">
        <p14:creationId xmlns:p14="http://schemas.microsoft.com/office/powerpoint/2010/main" val="2847249521"/>
      </p:ext>
    </p:extLst>
  </p:cSld>
  <p:clrMap bg1="lt1" tx1="dk1" bg2="lt2" tx2="dk2" accent1="accent1" accent2="accent2" accent3="accent3" accent4="accent4" accent5="accent5" accent6="accent6" hlink="hlink" folHlink="folHlink"/>
  <p:sldLayoutIdLst>
    <p:sldLayoutId id="2147483671" r:id="rId1"/>
    <p:sldLayoutId id="2147483669" r:id="rId2"/>
    <p:sldLayoutId id="2147483672" r:id="rId3"/>
    <p:sldLayoutId id="2147483673" r:id="rId4"/>
    <p:sldLayoutId id="2147483675" r:id="rId5"/>
    <p:sldLayoutId id="2147483674" r:id="rId6"/>
    <p:sldLayoutId id="2147483676" r:id="rId7"/>
    <p:sldLayoutId id="2147483678" r:id="rId8"/>
    <p:sldLayoutId id="2147483680" r:id="rId9"/>
    <p:sldLayoutId id="2147483677" r:id="rId10"/>
    <p:sldLayoutId id="2147483679" r:id="rId11"/>
    <p:sldLayoutId id="2147483681" r:id="rId12"/>
    <p:sldLayoutId id="2147483650" r:id="rId13"/>
    <p:sldLayoutId id="2147483652" r:id="rId14"/>
    <p:sldLayoutId id="2147483653" r:id="rId15"/>
    <p:sldLayoutId id="2147483654" r:id="rId16"/>
    <p:sldLayoutId id="2147483655" r:id="rId17"/>
    <p:sldLayoutId id="2147483651" r:id="rId18"/>
    <p:sldLayoutId id="2147483665" r:id="rId19"/>
    <p:sldLayoutId id="2147483666" r:id="rId20"/>
    <p:sldLayoutId id="2147483662" r:id="rId21"/>
    <p:sldLayoutId id="2147483664" r:id="rId22"/>
    <p:sldLayoutId id="2147483670" r:id="rId23"/>
    <p:sldLayoutId id="2147483682" r:id="rId24"/>
    <p:sldLayoutId id="2147483683" r:id="rId25"/>
    <p:sldLayoutId id="2147483684" r:id="rId26"/>
    <p:sldLayoutId id="2147483685" r:id="rId27"/>
    <p:sldLayoutId id="2147483686" r:id="rId28"/>
  </p:sldLayoutIdLst>
  <p:hf hdr="0" ftr="0" dt="0"/>
  <p:txStyles>
    <p:titleStyle>
      <a:lvl1pPr algn="l" defTabSz="457200" rtl="0" eaLnBrk="1" latinLnBrk="0" hangingPunct="1">
        <a:lnSpc>
          <a:spcPct val="90000"/>
        </a:lnSpc>
        <a:spcBef>
          <a:spcPct val="0"/>
        </a:spcBef>
        <a:buNone/>
        <a:defRPr sz="2000" b="1" kern="1200">
          <a:solidFill>
            <a:schemeClr val="accent1"/>
          </a:solidFill>
          <a:latin typeface="+mj-lt"/>
          <a:ea typeface="+mj-ea"/>
          <a:cs typeface="+mj-cs"/>
        </a:defRPr>
      </a:lvl1pPr>
    </p:titleStyle>
    <p:bodyStyle>
      <a:lvl1pPr marL="173038" indent="-173038" algn="l" defTabSz="457200" rtl="0" eaLnBrk="1" latinLnBrk="0" hangingPunct="1">
        <a:lnSpc>
          <a:spcPct val="100000"/>
        </a:lnSpc>
        <a:spcBef>
          <a:spcPts val="600"/>
        </a:spcBef>
        <a:buClr>
          <a:schemeClr val="accent1"/>
        </a:buClr>
        <a:buSzPct val="110000"/>
        <a:buFont typeface="Wingdings" charset="2"/>
        <a:buChar char="§"/>
        <a:defRPr sz="1400" kern="1200" baseline="0">
          <a:solidFill>
            <a:schemeClr val="tx1"/>
          </a:solidFill>
          <a:latin typeface="+mn-lt"/>
          <a:ea typeface="+mn-ea"/>
          <a:cs typeface="+mn-cs"/>
        </a:defRPr>
      </a:lvl1pPr>
      <a:lvl2pPr marL="339725" indent="-166688" algn="l" defTabSz="457200" rtl="0" eaLnBrk="1" latinLnBrk="0" hangingPunct="1">
        <a:lnSpc>
          <a:spcPct val="100000"/>
        </a:lnSpc>
        <a:spcBef>
          <a:spcPts val="600"/>
        </a:spcBef>
        <a:buClr>
          <a:schemeClr val="accent1"/>
        </a:buClr>
        <a:buFont typeface="Arial"/>
        <a:buChar char="–"/>
        <a:defRPr sz="1400" kern="1200" baseline="0">
          <a:solidFill>
            <a:schemeClr val="tx1"/>
          </a:solidFill>
          <a:latin typeface="+mn-lt"/>
          <a:ea typeface="+mn-ea"/>
          <a:cs typeface="+mn-cs"/>
        </a:defRPr>
      </a:lvl2pPr>
      <a:lvl3pPr marL="512763" indent="-173038" algn="l" defTabSz="457200" rtl="0" eaLnBrk="1" latinLnBrk="0" hangingPunct="1">
        <a:lnSpc>
          <a:spcPct val="100000"/>
        </a:lnSpc>
        <a:spcBef>
          <a:spcPts val="600"/>
        </a:spcBef>
        <a:buClr>
          <a:schemeClr val="accent1"/>
        </a:buClr>
        <a:buSzPct val="110000"/>
        <a:buFont typeface="Wingdings" charset="2"/>
        <a:buChar char="§"/>
        <a:defRPr sz="1400" kern="1200" baseline="0">
          <a:solidFill>
            <a:schemeClr val="tx1"/>
          </a:solidFill>
          <a:latin typeface="+mn-lt"/>
          <a:ea typeface="+mn-ea"/>
          <a:cs typeface="+mn-cs"/>
        </a:defRPr>
      </a:lvl3pPr>
      <a:lvl4pPr marL="685800" indent="-173038" algn="l" defTabSz="457200" rtl="0" eaLnBrk="1" latinLnBrk="0" hangingPunct="1">
        <a:lnSpc>
          <a:spcPct val="100000"/>
        </a:lnSpc>
        <a:spcBef>
          <a:spcPts val="600"/>
        </a:spcBef>
        <a:buClr>
          <a:schemeClr val="accent1"/>
        </a:buClr>
        <a:buFont typeface="Arial"/>
        <a:buChar char="–"/>
        <a:defRPr sz="1400" kern="1200" baseline="0">
          <a:solidFill>
            <a:schemeClr val="tx1"/>
          </a:solidFill>
          <a:latin typeface="+mn-lt"/>
          <a:ea typeface="+mn-ea"/>
          <a:cs typeface="+mn-cs"/>
        </a:defRPr>
      </a:lvl4pPr>
      <a:lvl5pPr marL="858838" indent="-173038" algn="l" defTabSz="457200" rtl="0" eaLnBrk="1" latinLnBrk="0" hangingPunct="1">
        <a:lnSpc>
          <a:spcPct val="100000"/>
        </a:lnSpc>
        <a:spcBef>
          <a:spcPts val="600"/>
        </a:spcBef>
        <a:buClr>
          <a:schemeClr val="accent1"/>
        </a:buClr>
        <a:buSzPct val="110000"/>
        <a:buFont typeface="Wingdings" charset="2"/>
        <a:buChar char="§"/>
        <a:defRPr sz="1400" kern="1200" baseline="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4.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4.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4.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image" Target="../media/image14.png"/><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image" Target="../media/image15.png"/><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4.xml"/><Relationship Id="rId2" Type="http://schemas.openxmlformats.org/officeDocument/2006/relationships/notesSlide" Target="../notesSlides/notesSlide19.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notesSlide" Target="../notesSlides/notesSlide20.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image" Target="../media/image16.png"/><Relationship Id="rId3" Type="http://schemas.openxmlformats.org/officeDocument/2006/relationships/image" Target="../media/image17.png"/><Relationship Id="rId4" Type="http://schemas.openxmlformats.org/officeDocument/2006/relationships/notesSlide" Target="../notesSlides/notesSlide21.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image" Target="../media/image18.png"/><Relationship Id="rId3" Type="http://schemas.openxmlformats.org/officeDocument/2006/relationships/notesSlide" Target="../notesSlides/notesSlide22.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image" Target="../media/image19.png"/><Relationship Id="rId3" Type="http://schemas.openxmlformats.org/officeDocument/2006/relationships/notesSlide" Target="../notesSlides/notesSlide23.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image" Target="../media/image20.png"/><Relationship Id="rId3" Type="http://schemas.openxmlformats.org/officeDocument/2006/relationships/notesSlide" Target="../notesSlides/notesSlide24.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image" Target="../media/image21.png"/><Relationship Id="rId3" Type="http://schemas.openxmlformats.org/officeDocument/2006/relationships/notesSlide" Target="../notesSlides/notesSlide25.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notesSlide" Target="../notesSlides/notesSlide16.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notesSlide" Target="../notesSlides/notesSlide17.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4.xml"/><Relationship Id="rId2" Type="http://schemas.openxmlformats.org/officeDocument/2006/relationships/notesSlide" Target="../notesSlides/notesSlide18.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image" Target="../media/image22.png"/><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image" Target="../media/image23.png"/><Relationship Id="rId3" Type="http://schemas.openxmlformats.org/officeDocument/2006/relationships/notesSlide" Target="../notesSlides/notesSlide2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ctrTitle"/>
          </p:nvPr>
        </p:nvSpPr>
        <p:spPr/>
        <p:txBody>
          <a:bodyPr/>
          <a:lstStyle/>
          <a:p>
            <a:r>
              <a:rPr b="1">
                <a:latin typeface="Arial"/>
              </a:rPr>
              <a:t>Understanding the</a:t>
            </a:r>
          </a:p>
          <a:p>
            <a:r>
              <a:rPr b="1">
                <a:latin typeface="Arial"/>
              </a:rPr>
              <a:t>Challenge Scoring Metric</a:t>
            </a:r>
          </a:p>
        </p:txBody>
      </p:sp>
      <p:sp>
        <p:nvSpPr>
          <p:cNvPr id="3" name="Subtitle 2"/>
          <p:cNvSpPr>
            <a:spLocks noGrp="1"/>
          </p:cNvSpPr>
          <p:nvPr>
            <p:ph type="subTitle" idx="1"/>
          </p:nvPr>
        </p:nvSpPr>
        <p:spPr/>
        <p:txBody>
          <a:bodyPr/>
          <a:lstStyle/>
          <a:p>
            <a:r>
              <a:rPr>
                <a:latin typeface="Arial"/>
              </a:rPr>
              <a:t>George B. Moody PhysioNet Challenge 2026</a:t>
            </a:r>
          </a:p>
          <a:p>
            <a:r>
              <a:rPr sz="1200">
                <a:solidFill>
                  <a:srgbClr val="505759"/>
                </a:solidFill>
                <a:latin typeface="Arial"/>
              </a:rPr>
              <a:t>How submissions are ranked — and what it means for our model</a:t>
            </a:r>
          </a:p>
        </p:txBody>
      </p:sp>
      <p:sp>
        <p:nvSpPr>
          <p:cNvPr id="4" name="TextBox 3"/>
          <p:cNvSpPr txBox="1"/>
          <p:nvPr/>
        </p:nvSpPr>
        <p:spPr>
          <a:xfrm>
            <a:off x="1005840" y="4160520"/>
            <a:ext cx="5029200" cy="548640"/>
          </a:xfrm>
          <a:prstGeom prst="rect">
            <a:avLst/>
          </a:prstGeom>
          <a:noFill/>
        </p:spPr>
        <p:txBody>
          <a:bodyPr wrap="square" anchor="t" lIns="45720" rIns="45720" tIns="18288" bIns="18288">
            <a:spAutoFit/>
          </a:bodyPr>
          <a:lstStyle/>
          <a:p>
            <a:pPr algn="l">
              <a:spcBef>
                <a:spcPts val="0"/>
              </a:spcBef>
              <a:spcAft>
                <a:spcPts val="200"/>
              </a:spcAft>
              <a:buNone/>
            </a:pPr>
            <a:r>
              <a:rPr sz="1200" b="1" i="0">
                <a:solidFill>
                  <a:srgbClr val="2A2E30"/>
                </a:solidFill>
                <a:latin typeface="Arial"/>
              </a:rPr>
              <a:t>Arshia Ilaty  ·  SDG</a:t>
            </a:r>
          </a:p>
          <a:p>
            <a:pPr algn="l">
              <a:spcBef>
                <a:spcPts val="0"/>
              </a:spcBef>
              <a:spcAft>
                <a:spcPts val="0"/>
              </a:spcAft>
              <a:buNone/>
            </a:pPr>
            <a:r>
              <a:rPr sz="1100" b="0" i="0">
                <a:solidFill>
                  <a:srgbClr val="898D8D"/>
                </a:solidFill>
                <a:latin typeface="Arial"/>
              </a:rPr>
              <a:t>July 13, 2026</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b="1">
                <a:latin typeface="Arial"/>
              </a:rPr>
              <a:t>What we'll cover</a:t>
            </a:r>
          </a:p>
        </p:txBody>
      </p:sp>
      <p:sp>
        <p:nvSpPr>
          <p:cNvPr id="3" name="Content Placeholder 2"/>
          <p:cNvSpPr>
            <a:spLocks noGrp="1"/>
          </p:cNvSpPr>
          <p:nvPr>
            <p:ph idx="1"/>
          </p:nvPr>
        </p:nvSpPr>
        <p:spPr/>
        <p:txBody>
          <a:bodyPr/>
          <a:lstStyle/>
          <a:p/>
        </p:txBody>
      </p:sp>
      <p:sp>
        <p:nvSpPr>
          <p:cNvPr id="4" name="TextBox 3"/>
          <p:cNvSpPr txBox="1"/>
          <p:nvPr/>
        </p:nvSpPr>
        <p:spPr>
          <a:xfrm>
            <a:off x="548640" y="1024128"/>
            <a:ext cx="6446520" cy="274320"/>
          </a:xfrm>
          <a:prstGeom prst="rect">
            <a:avLst/>
          </a:prstGeom>
          <a:noFill/>
        </p:spPr>
        <p:txBody>
          <a:bodyPr wrap="square" anchor="t" lIns="45720" rIns="45720" tIns="18288" bIns="18288">
            <a:spAutoFit/>
          </a:bodyPr>
          <a:lstStyle/>
          <a:p>
            <a:pPr algn="l">
              <a:spcBef>
                <a:spcPts val="0"/>
              </a:spcBef>
              <a:spcAft>
                <a:spcPts val="0"/>
              </a:spcAft>
              <a:buNone/>
            </a:pPr>
            <a:r>
              <a:rPr sz="1100" b="1" i="0">
                <a:solidFill>
                  <a:srgbClr val="C8102E"/>
                </a:solidFill>
                <a:latin typeface="Arial"/>
              </a:rPr>
              <a:t>AGENDA</a:t>
            </a:r>
          </a:p>
        </p:txBody>
      </p:sp>
      <p:sp>
        <p:nvSpPr>
          <p:cNvPr id="5" name="Rounded Rectangle 4"/>
          <p:cNvSpPr/>
          <p:nvPr/>
        </p:nvSpPr>
        <p:spPr>
          <a:xfrm>
            <a:off x="548640" y="1417320"/>
            <a:ext cx="457200" cy="502920"/>
          </a:xfrm>
          <a:prstGeom prst="roundRect">
            <a:avLst>
              <a:gd name="adj" fmla="val 25000"/>
            </a:avLst>
          </a:prstGeom>
          <a:solidFill>
            <a:srgbClr val="C8102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b="1" sz="1600">
                <a:solidFill>
                  <a:srgbClr val="FFFFFF"/>
                </a:solidFill>
                <a:latin typeface="Arial"/>
              </a:rPr>
              <a:t>1</a:t>
            </a:r>
          </a:p>
        </p:txBody>
      </p:sp>
      <p:sp>
        <p:nvSpPr>
          <p:cNvPr id="6" name="TextBox 5"/>
          <p:cNvSpPr txBox="1"/>
          <p:nvPr/>
        </p:nvSpPr>
        <p:spPr>
          <a:xfrm>
            <a:off x="1143000" y="1417320"/>
            <a:ext cx="5760720" cy="502920"/>
          </a:xfrm>
          <a:prstGeom prst="rect">
            <a:avLst/>
          </a:prstGeom>
          <a:noFill/>
        </p:spPr>
        <p:txBody>
          <a:bodyPr wrap="square" anchor="ctr" lIns="45720" rIns="45720" tIns="18288" bIns="18288">
            <a:spAutoFit/>
          </a:bodyPr>
          <a:lstStyle/>
          <a:p>
            <a:pPr>
              <a:spcBef>
                <a:spcPts val="0"/>
              </a:spcBef>
              <a:spcAft>
                <a:spcPts val="0"/>
              </a:spcAft>
              <a:buNone/>
            </a:pPr>
            <a:r>
              <a:rPr sz="1300" b="1">
                <a:solidFill>
                  <a:srgbClr val="2A2E30"/>
                </a:solidFill>
                <a:latin typeface="Arial"/>
              </a:rPr>
              <a:t>The prediction task  </a:t>
            </a:r>
            <a:r>
              <a:rPr sz="1300" b="0">
                <a:solidFill>
                  <a:srgbClr val="505759"/>
                </a:solidFill>
                <a:latin typeface="Arial"/>
              </a:rPr>
              <a:t>What the challenge asks our model to output</a:t>
            </a:r>
          </a:p>
        </p:txBody>
      </p:sp>
      <p:sp>
        <p:nvSpPr>
          <p:cNvPr id="7" name="Rounded Rectangle 6"/>
          <p:cNvSpPr/>
          <p:nvPr/>
        </p:nvSpPr>
        <p:spPr>
          <a:xfrm>
            <a:off x="548640" y="1892807"/>
            <a:ext cx="457200" cy="502920"/>
          </a:xfrm>
          <a:prstGeom prst="roundRect">
            <a:avLst>
              <a:gd name="adj" fmla="val 25000"/>
            </a:avLst>
          </a:prstGeom>
          <a:solidFill>
            <a:srgbClr val="C8102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b="1" sz="1600">
                <a:solidFill>
                  <a:srgbClr val="FFFFFF"/>
                </a:solidFill>
                <a:latin typeface="Arial"/>
              </a:rPr>
              <a:t>2</a:t>
            </a:r>
          </a:p>
        </p:txBody>
      </p:sp>
      <p:sp>
        <p:nvSpPr>
          <p:cNvPr id="8" name="TextBox 7"/>
          <p:cNvSpPr txBox="1"/>
          <p:nvPr/>
        </p:nvSpPr>
        <p:spPr>
          <a:xfrm>
            <a:off x="1143000" y="1892807"/>
            <a:ext cx="5760720" cy="502920"/>
          </a:xfrm>
          <a:prstGeom prst="rect">
            <a:avLst/>
          </a:prstGeom>
          <a:noFill/>
        </p:spPr>
        <p:txBody>
          <a:bodyPr wrap="square" anchor="ctr" lIns="45720" rIns="45720" tIns="18288" bIns="18288">
            <a:spAutoFit/>
          </a:bodyPr>
          <a:lstStyle/>
          <a:p>
            <a:pPr>
              <a:spcBef>
                <a:spcPts val="0"/>
              </a:spcBef>
              <a:spcAft>
                <a:spcPts val="0"/>
              </a:spcAft>
              <a:buNone/>
            </a:pPr>
            <a:r>
              <a:rPr sz="1300" b="1">
                <a:solidFill>
                  <a:srgbClr val="2A2E30"/>
                </a:solidFill>
                <a:latin typeface="Arial"/>
              </a:rPr>
              <a:t>Why a custom metric  </a:t>
            </a:r>
            <a:r>
              <a:rPr sz="1300" b="0">
                <a:solidFill>
                  <a:srgbClr val="505759"/>
                </a:solidFill>
                <a:latin typeface="Arial"/>
              </a:rPr>
              <a:t>Class imbalance and age act as confounders</a:t>
            </a:r>
          </a:p>
        </p:txBody>
      </p:sp>
      <p:sp>
        <p:nvSpPr>
          <p:cNvPr id="9" name="Rounded Rectangle 8"/>
          <p:cNvSpPr/>
          <p:nvPr/>
        </p:nvSpPr>
        <p:spPr>
          <a:xfrm>
            <a:off x="548640" y="2368296"/>
            <a:ext cx="457200" cy="502920"/>
          </a:xfrm>
          <a:prstGeom prst="roundRect">
            <a:avLst>
              <a:gd name="adj" fmla="val 25000"/>
            </a:avLst>
          </a:prstGeom>
          <a:solidFill>
            <a:srgbClr val="C8102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b="1" sz="1600">
                <a:solidFill>
                  <a:srgbClr val="FFFFFF"/>
                </a:solidFill>
                <a:latin typeface="Arial"/>
              </a:rPr>
              <a:t>3</a:t>
            </a:r>
          </a:p>
        </p:txBody>
      </p:sp>
      <p:sp>
        <p:nvSpPr>
          <p:cNvPr id="10" name="TextBox 9"/>
          <p:cNvSpPr txBox="1"/>
          <p:nvPr/>
        </p:nvSpPr>
        <p:spPr>
          <a:xfrm>
            <a:off x="1143000" y="2368296"/>
            <a:ext cx="5760720" cy="502920"/>
          </a:xfrm>
          <a:prstGeom prst="rect">
            <a:avLst/>
          </a:prstGeom>
          <a:noFill/>
        </p:spPr>
        <p:txBody>
          <a:bodyPr wrap="square" anchor="ctr" lIns="45720" rIns="45720" tIns="18288" bIns="18288">
            <a:spAutoFit/>
          </a:bodyPr>
          <a:lstStyle/>
          <a:p>
            <a:pPr>
              <a:spcBef>
                <a:spcPts val="0"/>
              </a:spcBef>
              <a:spcAft>
                <a:spcPts val="0"/>
              </a:spcAft>
              <a:buNone/>
            </a:pPr>
            <a:r>
              <a:rPr sz="1300" b="1">
                <a:solidFill>
                  <a:srgbClr val="2A2E30"/>
                </a:solidFill>
                <a:latin typeface="Arial"/>
              </a:rPr>
              <a:t>The seven scores  </a:t>
            </a:r>
            <a:r>
              <a:rPr sz="1300" b="0">
                <a:solidFill>
                  <a:srgbClr val="505759"/>
                </a:solidFill>
                <a:latin typeface="Arial"/>
              </a:rPr>
              <a:t>One primary ranking metric, six diagnostics</a:t>
            </a:r>
          </a:p>
        </p:txBody>
      </p:sp>
      <p:sp>
        <p:nvSpPr>
          <p:cNvPr id="11" name="Rounded Rectangle 10"/>
          <p:cNvSpPr/>
          <p:nvPr/>
        </p:nvSpPr>
        <p:spPr>
          <a:xfrm>
            <a:off x="548640" y="2843784"/>
            <a:ext cx="457200" cy="502920"/>
          </a:xfrm>
          <a:prstGeom prst="roundRect">
            <a:avLst>
              <a:gd name="adj" fmla="val 25000"/>
            </a:avLst>
          </a:prstGeom>
          <a:solidFill>
            <a:srgbClr val="C8102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b="1" sz="1600">
                <a:solidFill>
                  <a:srgbClr val="FFFFFF"/>
                </a:solidFill>
                <a:latin typeface="Arial"/>
              </a:rPr>
              <a:t>4</a:t>
            </a:r>
          </a:p>
        </p:txBody>
      </p:sp>
      <p:sp>
        <p:nvSpPr>
          <p:cNvPr id="12" name="TextBox 11"/>
          <p:cNvSpPr txBox="1"/>
          <p:nvPr/>
        </p:nvSpPr>
        <p:spPr>
          <a:xfrm>
            <a:off x="1143000" y="2843784"/>
            <a:ext cx="5760720" cy="502920"/>
          </a:xfrm>
          <a:prstGeom prst="rect">
            <a:avLst/>
          </a:prstGeom>
          <a:noFill/>
        </p:spPr>
        <p:txBody>
          <a:bodyPr wrap="square" anchor="ctr" lIns="45720" rIns="45720" tIns="18288" bIns="18288">
            <a:spAutoFit/>
          </a:bodyPr>
          <a:lstStyle/>
          <a:p>
            <a:pPr>
              <a:spcBef>
                <a:spcPts val="0"/>
              </a:spcBef>
              <a:spcAft>
                <a:spcPts val="0"/>
              </a:spcAft>
              <a:buNone/>
            </a:pPr>
            <a:r>
              <a:rPr sz="1300" b="1">
                <a:solidFill>
                  <a:srgbClr val="2A2E30"/>
                </a:solidFill>
                <a:latin typeface="Arial"/>
              </a:rPr>
              <a:t>The Reward metric  </a:t>
            </a:r>
            <a:r>
              <a:rPr sz="1300" b="0">
                <a:solidFill>
                  <a:srgbClr val="505759"/>
                </a:solidFill>
                <a:latin typeface="Arial"/>
              </a:rPr>
              <a:t>Prevalence-weighted payoff — the metric that ranks us</a:t>
            </a:r>
          </a:p>
        </p:txBody>
      </p:sp>
      <p:sp>
        <p:nvSpPr>
          <p:cNvPr id="13" name="Rounded Rectangle 12"/>
          <p:cNvSpPr/>
          <p:nvPr/>
        </p:nvSpPr>
        <p:spPr>
          <a:xfrm>
            <a:off x="548640" y="3319272"/>
            <a:ext cx="457200" cy="502920"/>
          </a:xfrm>
          <a:prstGeom prst="roundRect">
            <a:avLst>
              <a:gd name="adj" fmla="val 25000"/>
            </a:avLst>
          </a:prstGeom>
          <a:solidFill>
            <a:srgbClr val="C8102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b="1" sz="1600">
                <a:solidFill>
                  <a:srgbClr val="FFFFFF"/>
                </a:solidFill>
                <a:latin typeface="Arial"/>
              </a:rPr>
              <a:t>5</a:t>
            </a:r>
          </a:p>
        </p:txBody>
      </p:sp>
      <p:sp>
        <p:nvSpPr>
          <p:cNvPr id="14" name="TextBox 13"/>
          <p:cNvSpPr txBox="1"/>
          <p:nvPr/>
        </p:nvSpPr>
        <p:spPr>
          <a:xfrm>
            <a:off x="1143000" y="3319272"/>
            <a:ext cx="5760720" cy="502920"/>
          </a:xfrm>
          <a:prstGeom prst="rect">
            <a:avLst/>
          </a:prstGeom>
          <a:noFill/>
        </p:spPr>
        <p:txBody>
          <a:bodyPr wrap="square" anchor="ctr" lIns="45720" rIns="45720" tIns="18288" bIns="18288">
            <a:spAutoFit/>
          </a:bodyPr>
          <a:lstStyle/>
          <a:p>
            <a:pPr>
              <a:spcBef>
                <a:spcPts val="0"/>
              </a:spcBef>
              <a:spcAft>
                <a:spcPts val="0"/>
              </a:spcAft>
              <a:buNone/>
            </a:pPr>
            <a:r>
              <a:rPr sz="1300" b="1">
                <a:solidFill>
                  <a:srgbClr val="2A2E30"/>
                </a:solidFill>
                <a:latin typeface="Arial"/>
              </a:rPr>
              <a:t>Age-aware AUROC  </a:t>
            </a:r>
            <a:r>
              <a:rPr sz="1300" b="0">
                <a:solidFill>
                  <a:srgbClr val="505759"/>
                </a:solidFill>
                <a:latin typeface="Arial"/>
              </a:rPr>
              <a:t>Conditioned and age-weighted variants</a:t>
            </a:r>
          </a:p>
        </p:txBody>
      </p:sp>
      <p:sp>
        <p:nvSpPr>
          <p:cNvPr id="15" name="Rounded Rectangle 14"/>
          <p:cNvSpPr/>
          <p:nvPr/>
        </p:nvSpPr>
        <p:spPr>
          <a:xfrm>
            <a:off x="548640" y="4270248"/>
            <a:ext cx="457200" cy="502920"/>
          </a:xfrm>
          <a:prstGeom prst="roundRect">
            <a:avLst>
              <a:gd name="adj" fmla="val 25000"/>
            </a:avLst>
          </a:prstGeom>
          <a:solidFill>
            <a:srgbClr val="C8102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b="1" sz="1600">
                <a:solidFill>
                  <a:srgbClr val="FFFFFF"/>
                </a:solidFill>
                <a:latin typeface="Arial"/>
              </a:rPr>
              <a:t>7</a:t>
            </a:r>
          </a:p>
        </p:txBody>
      </p:sp>
      <p:sp>
        <p:nvSpPr>
          <p:cNvPr id="16" name="TextBox 15"/>
          <p:cNvSpPr txBox="1"/>
          <p:nvPr/>
        </p:nvSpPr>
        <p:spPr>
          <a:xfrm>
            <a:off x="1143000" y="4270248"/>
            <a:ext cx="5760720" cy="502920"/>
          </a:xfrm>
          <a:prstGeom prst="rect">
            <a:avLst/>
          </a:prstGeom>
          <a:noFill/>
        </p:spPr>
        <p:txBody>
          <a:bodyPr wrap="square" anchor="ctr" lIns="45720" rIns="45720" tIns="18288" bIns="18288">
            <a:spAutoFit/>
          </a:bodyPr>
          <a:lstStyle/>
          <a:p>
            <a:pPr>
              <a:spcBef>
                <a:spcPts val="0"/>
              </a:spcBef>
              <a:spcAft>
                <a:spcPts val="0"/>
              </a:spcAft>
              <a:buNone/>
            </a:pPr>
            <a:r>
              <a:rPr sz="1300" b="1">
                <a:solidFill>
                  <a:srgbClr val="2A2E30"/>
                </a:solidFill>
                <a:latin typeface="Arial"/>
              </a:rPr>
              <a:t>What it means for us  </a:t>
            </a:r>
            <a:r>
              <a:rPr sz="1300" b="0">
                <a:solidFill>
                  <a:srgbClr val="505759"/>
                </a:solidFill>
                <a:latin typeface="Arial"/>
              </a:rPr>
              <a:t>How we tune and validate against the metric</a:t>
            </a:r>
          </a:p>
        </p:txBody>
      </p:sp>
      <p:sp>
        <p:nvSpPr>
          <p:cNvPr id="17" name="TextBox 16"/>
          <p:cNvSpPr txBox="1"/>
          <p:nvPr/>
        </p:nvSpPr>
        <p:spPr>
          <a:xfrm>
            <a:off x="548640" y="4828032"/>
            <a:ext cx="6035040" cy="228600"/>
          </a:xfrm>
          <a:prstGeom prst="rect">
            <a:avLst/>
          </a:prstGeom>
          <a:noFill/>
        </p:spPr>
        <p:txBody>
          <a:bodyPr wrap="square" anchor="t" lIns="45720" rIns="45720" tIns="18288" bIns="18288">
            <a:spAutoFit/>
          </a:bodyPr>
          <a:lstStyle/>
          <a:p>
            <a:pPr algn="l">
              <a:spcBef>
                <a:spcPts val="0"/>
              </a:spcBef>
              <a:spcAft>
                <a:spcPts val="0"/>
              </a:spcAft>
              <a:buNone/>
            </a:pPr>
            <a:r>
              <a:rPr sz="800" b="0" i="0">
                <a:solidFill>
                  <a:srgbClr val="898D8D"/>
                </a:solidFill>
                <a:latin typeface="Arial"/>
              </a:rPr>
              <a:t>PhysioNet Challenge 2026  ·  Scoring Metrics</a:t>
            </a:r>
          </a:p>
        </p:txBody>
      </p:sp>
      <p:sp>
        <p:nvSpPr>
          <p:cNvPr id="18" name="Rounded Rectangle 17"/>
          <p:cNvSpPr/>
          <p:nvPr/>
        </p:nvSpPr>
        <p:spPr>
          <a:xfrm>
            <a:off x="548640" y="3794760"/>
            <a:ext cx="457200" cy="502920"/>
          </a:xfrm>
          <a:prstGeom prst="roundRect">
            <a:avLst>
              <a:gd name="adj" fmla="val 25000"/>
            </a:avLst>
          </a:prstGeom>
          <a:solidFill>
            <a:srgbClr val="C8102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r>
              <a:rPr sz="1600" b="1">
                <a:solidFill>
                  <a:srgbClr val="FFFFFF"/>
                </a:solidFill>
                <a:latin typeface="Arial"/>
              </a:rPr>
              <a:t>6</a:t>
            </a:r>
          </a:p>
        </p:txBody>
      </p:sp>
      <p:sp>
        <p:nvSpPr>
          <p:cNvPr id="19" name="TextBox 18"/>
          <p:cNvSpPr txBox="1"/>
          <p:nvPr/>
        </p:nvSpPr>
        <p:spPr>
          <a:xfrm>
            <a:off x="1143000" y="3794760"/>
            <a:ext cx="5760720" cy="502920"/>
          </a:xfrm>
          <a:prstGeom prst="rect">
            <a:avLst/>
          </a:prstGeom>
          <a:noFill/>
        </p:spPr>
        <p:txBody>
          <a:bodyPr wrap="square">
            <a:spAutoFit/>
          </a:bodyPr>
          <a:lstStyle/>
          <a:p>
            <a:pPr algn="l"/>
            <a:r>
              <a:rPr sz="1300" b="1">
                <a:solidFill>
                  <a:srgbClr val="2A2E30"/>
                </a:solidFill>
                <a:latin typeface="Arial"/>
              </a:rPr>
              <a:t>The dataset behind the metric  </a:t>
            </a:r>
            <a:r>
              <a:rPr sz="1300" b="0">
                <a:solidFill>
                  <a:srgbClr val="505759"/>
                </a:solidFill>
                <a:latin typeface="Arial"/>
              </a:rPr>
              <a:t>The cohort the model actually sees — and the confounders it must beat</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b="1">
                <a:solidFill>
                  <a:srgbClr val="FFFFFF"/>
                </a:solidFill>
                <a:latin typeface="Arial"/>
              </a:rPr>
              <a:t>The prediction task</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b="1">
                <a:latin typeface="Arial"/>
              </a:rPr>
              <a:t>What the model must predict</a:t>
            </a:r>
          </a:p>
        </p:txBody>
      </p:sp>
      <p:sp>
        <p:nvSpPr>
          <p:cNvPr id="3" name="Content Placeholder 2"/>
          <p:cNvSpPr>
            <a:spLocks noGrp="1"/>
          </p:cNvSpPr>
          <p:nvPr>
            <p:ph idx="1"/>
          </p:nvPr>
        </p:nvSpPr>
        <p:spPr/>
        <p:txBody>
          <a:bodyPr/>
          <a:lstStyle/>
          <a:p/>
        </p:txBody>
      </p:sp>
      <p:sp>
        <p:nvSpPr>
          <p:cNvPr id="4" name="TextBox 3"/>
          <p:cNvSpPr txBox="1"/>
          <p:nvPr/>
        </p:nvSpPr>
        <p:spPr>
          <a:xfrm>
            <a:off x="548640" y="1024128"/>
            <a:ext cx="6446520" cy="274320"/>
          </a:xfrm>
          <a:prstGeom prst="rect">
            <a:avLst/>
          </a:prstGeom>
          <a:noFill/>
        </p:spPr>
        <p:txBody>
          <a:bodyPr wrap="square" anchor="t" lIns="45720" rIns="45720" tIns="18288" bIns="18288">
            <a:spAutoFit/>
          </a:bodyPr>
          <a:lstStyle/>
          <a:p>
            <a:pPr algn="l">
              <a:spcBef>
                <a:spcPts val="0"/>
              </a:spcBef>
              <a:spcAft>
                <a:spcPts val="0"/>
              </a:spcAft>
              <a:buNone/>
            </a:pPr>
            <a:r>
              <a:rPr sz="1100" b="1" i="0">
                <a:solidFill>
                  <a:srgbClr val="C8102E"/>
                </a:solidFill>
                <a:latin typeface="Arial"/>
              </a:rPr>
              <a:t>THE TASK</a:t>
            </a:r>
          </a:p>
        </p:txBody>
      </p:sp>
      <p:sp>
        <p:nvSpPr>
          <p:cNvPr id="5" name="TextBox 4"/>
          <p:cNvSpPr txBox="1"/>
          <p:nvPr/>
        </p:nvSpPr>
        <p:spPr>
          <a:xfrm>
            <a:off x="548640" y="1371600"/>
            <a:ext cx="6446520" cy="685800"/>
          </a:xfrm>
          <a:prstGeom prst="rect">
            <a:avLst/>
          </a:prstGeom>
          <a:noFill/>
        </p:spPr>
        <p:txBody>
          <a:bodyPr wrap="square" anchor="t" lIns="45720" rIns="45720" tIns="18288" bIns="18288">
            <a:spAutoFit/>
          </a:bodyPr>
          <a:lstStyle/>
          <a:p>
            <a:pPr>
              <a:spcBef>
                <a:spcPts val="0"/>
              </a:spcBef>
              <a:spcAft>
                <a:spcPts val="0"/>
              </a:spcAft>
              <a:buNone/>
            </a:pPr>
            <a:r>
              <a:rPr sz="1500" b="0">
                <a:solidFill>
                  <a:srgbClr val="2A2E30"/>
                </a:solidFill>
                <a:latin typeface="Arial"/>
              </a:rPr>
              <a:t>From overnight sleep / physiological recordings, predict whether a patient has </a:t>
            </a:r>
            <a:r>
              <a:rPr sz="1500" b="1">
                <a:solidFill>
                  <a:srgbClr val="C8102E"/>
                </a:solidFill>
                <a:latin typeface="Arial"/>
              </a:rPr>
              <a:t>cognitive impairment</a:t>
            </a:r>
            <a:r>
              <a:rPr sz="1500" b="0">
                <a:solidFill>
                  <a:srgbClr val="2A2E30"/>
                </a:solidFill>
                <a:latin typeface="Arial"/>
              </a:rPr>
              <a:t>.</a:t>
            </a:r>
          </a:p>
        </p:txBody>
      </p:sp>
      <p:sp>
        <p:nvSpPr>
          <p:cNvPr id="6" name="Rounded Rectangle 5"/>
          <p:cNvSpPr/>
          <p:nvPr/>
        </p:nvSpPr>
        <p:spPr>
          <a:xfrm>
            <a:off x="548640" y="2148840"/>
            <a:ext cx="3127248" cy="1463040"/>
          </a:xfrm>
          <a:prstGeom prst="roundRect">
            <a:avLst>
              <a:gd name="adj" fmla="val 6000"/>
            </a:avLst>
          </a:prstGeom>
          <a:solidFill>
            <a:srgbClr val="F2F4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31520" y="2286000"/>
            <a:ext cx="2788920" cy="1234440"/>
          </a:xfrm>
          <a:prstGeom prst="rect">
            <a:avLst/>
          </a:prstGeom>
          <a:noFill/>
        </p:spPr>
        <p:txBody>
          <a:bodyPr wrap="square" anchor="t" lIns="45720" rIns="45720" tIns="18288" bIns="18288">
            <a:spAutoFit/>
          </a:bodyPr>
          <a:lstStyle/>
          <a:p>
            <a:pPr algn="l">
              <a:spcBef>
                <a:spcPts val="0"/>
              </a:spcBef>
              <a:spcAft>
                <a:spcPts val="200"/>
              </a:spcAft>
              <a:buNone/>
            </a:pPr>
            <a:r>
              <a:rPr sz="1000" b="1" i="0">
                <a:solidFill>
                  <a:srgbClr val="C8102E"/>
                </a:solidFill>
                <a:latin typeface="Arial"/>
              </a:rPr>
              <a:t>OUTPUT 1 — BINARY</a:t>
            </a:r>
          </a:p>
          <a:p>
            <a:pPr algn="l">
              <a:spcBef>
                <a:spcPts val="0"/>
              </a:spcBef>
              <a:spcAft>
                <a:spcPts val="200"/>
              </a:spcAft>
              <a:buNone/>
            </a:pPr>
            <a:r>
              <a:rPr sz="1300" b="1" i="0">
                <a:solidFill>
                  <a:srgbClr val="2A2E30"/>
                </a:solidFill>
                <a:latin typeface="Arial"/>
              </a:rPr>
              <a:t>Cognitive_Impairment</a:t>
            </a:r>
          </a:p>
          <a:p>
            <a:pPr algn="l">
              <a:spcBef>
                <a:spcPts val="0"/>
              </a:spcBef>
              <a:spcAft>
                <a:spcPts val="0"/>
              </a:spcAft>
              <a:buNone/>
            </a:pPr>
            <a:r>
              <a:rPr sz="1100" b="0" i="0">
                <a:solidFill>
                  <a:srgbClr val="505759"/>
                </a:solidFill>
                <a:latin typeface="Arial"/>
              </a:rPr>
              <a:t>0 or 1 per patient. Scored by the Reward metric.</a:t>
            </a:r>
          </a:p>
        </p:txBody>
      </p:sp>
      <p:sp>
        <p:nvSpPr>
          <p:cNvPr id="8" name="Rounded Rectangle 7"/>
          <p:cNvSpPr/>
          <p:nvPr/>
        </p:nvSpPr>
        <p:spPr>
          <a:xfrm>
            <a:off x="3867912" y="2148840"/>
            <a:ext cx="3127248" cy="1463040"/>
          </a:xfrm>
          <a:prstGeom prst="roundRect">
            <a:avLst>
              <a:gd name="adj" fmla="val 6000"/>
            </a:avLst>
          </a:prstGeom>
          <a:solidFill>
            <a:srgbClr val="F2F4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050791" y="2286000"/>
            <a:ext cx="2788920" cy="1234440"/>
          </a:xfrm>
          <a:prstGeom prst="rect">
            <a:avLst/>
          </a:prstGeom>
          <a:noFill/>
        </p:spPr>
        <p:txBody>
          <a:bodyPr wrap="square" anchor="t" lIns="45720" rIns="45720" tIns="18288" bIns="18288">
            <a:spAutoFit/>
          </a:bodyPr>
          <a:lstStyle/>
          <a:p>
            <a:pPr algn="l">
              <a:spcBef>
                <a:spcPts val="0"/>
              </a:spcBef>
              <a:spcAft>
                <a:spcPts val="200"/>
              </a:spcAft>
              <a:buNone/>
            </a:pPr>
            <a:r>
              <a:rPr sz="1000" b="1" i="0">
                <a:solidFill>
                  <a:srgbClr val="346583"/>
                </a:solidFill>
                <a:latin typeface="Arial"/>
              </a:rPr>
              <a:t>OUTPUT 2 — PROBABILITY</a:t>
            </a:r>
          </a:p>
          <a:p>
            <a:pPr algn="l">
              <a:spcBef>
                <a:spcPts val="0"/>
              </a:spcBef>
              <a:spcAft>
                <a:spcPts val="200"/>
              </a:spcAft>
              <a:buNone/>
            </a:pPr>
            <a:r>
              <a:rPr sz="1200" b="1" i="0">
                <a:solidFill>
                  <a:srgbClr val="2A2E30"/>
                </a:solidFill>
                <a:latin typeface="Arial"/>
              </a:rPr>
              <a:t>Cognitive_Impairment_Probability</a:t>
            </a:r>
          </a:p>
          <a:p>
            <a:pPr algn="l">
              <a:spcBef>
                <a:spcPts val="0"/>
              </a:spcBef>
              <a:spcAft>
                <a:spcPts val="0"/>
              </a:spcAft>
              <a:buNone/>
            </a:pPr>
            <a:r>
              <a:rPr sz="1100" b="0" i="0">
                <a:solidFill>
                  <a:srgbClr val="505759"/>
                </a:solidFill>
                <a:latin typeface="Arial"/>
              </a:rPr>
              <a:t>Continuous score in [0,1]. Scored by the AUROC / AUPRC metrics.</a:t>
            </a:r>
          </a:p>
        </p:txBody>
      </p:sp>
      <p:sp>
        <p:nvSpPr>
          <p:cNvPr id="10" name="TextBox 9"/>
          <p:cNvSpPr txBox="1"/>
          <p:nvPr/>
        </p:nvSpPr>
        <p:spPr>
          <a:xfrm>
            <a:off x="548640" y="3840480"/>
            <a:ext cx="6446520" cy="822960"/>
          </a:xfrm>
          <a:prstGeom prst="rect">
            <a:avLst/>
          </a:prstGeom>
          <a:noFill/>
        </p:spPr>
        <p:txBody>
          <a:bodyPr wrap="square" anchor="t" lIns="45720" rIns="45720" tIns="18288" bIns="18288">
            <a:spAutoFit/>
          </a:bodyPr>
          <a:lstStyle/>
          <a:p>
            <a:pPr>
              <a:spcBef>
                <a:spcPts val="0"/>
              </a:spcBef>
              <a:spcAft>
                <a:spcPts val="0"/>
              </a:spcAft>
              <a:buNone/>
            </a:pPr>
            <a:r>
              <a:rPr sz="1200" b="1">
                <a:solidFill>
                  <a:srgbClr val="2A2E30"/>
                </a:solidFill>
                <a:latin typeface="Arial"/>
              </a:rPr>
              <a:t>Evaluated per patient</a:t>
            </a:r>
            <a:r>
              <a:rPr sz="1200" b="0">
                <a:solidFill>
                  <a:srgbClr val="505759"/>
                </a:solidFill>
                <a:latin typeface="Arial"/>
              </a:rPr>
              <a:t>, keyed by SiteID + BDSPPatientID. Each patient also carries an </a:t>
            </a:r>
            <a:r>
              <a:rPr sz="1200" b="1">
                <a:solidFill>
                  <a:srgbClr val="2A2E30"/>
                </a:solidFill>
                <a:latin typeface="Arial"/>
              </a:rPr>
              <a:t>Age</a:t>
            </a:r>
            <a:r>
              <a:rPr sz="1200" b="0">
                <a:solidFill>
                  <a:srgbClr val="505759"/>
                </a:solidFill>
                <a:latin typeface="Arial"/>
              </a:rPr>
              <a:t>, which the metric uses to set expectations — see the next section.</a:t>
            </a:r>
          </a:p>
        </p:txBody>
      </p:sp>
      <p:sp>
        <p:nvSpPr>
          <p:cNvPr id="11" name="TextBox 10"/>
          <p:cNvSpPr txBox="1"/>
          <p:nvPr/>
        </p:nvSpPr>
        <p:spPr>
          <a:xfrm>
            <a:off x="548640" y="4828032"/>
            <a:ext cx="6035040" cy="228600"/>
          </a:xfrm>
          <a:prstGeom prst="rect">
            <a:avLst/>
          </a:prstGeom>
          <a:noFill/>
        </p:spPr>
        <p:txBody>
          <a:bodyPr wrap="square" anchor="t" lIns="45720" rIns="45720" tIns="18288" bIns="18288">
            <a:spAutoFit/>
          </a:bodyPr>
          <a:lstStyle/>
          <a:p>
            <a:pPr algn="l">
              <a:spcBef>
                <a:spcPts val="0"/>
              </a:spcBef>
              <a:spcAft>
                <a:spcPts val="0"/>
              </a:spcAft>
              <a:buNone/>
            </a:pPr>
            <a:r>
              <a:rPr sz="800" b="0" i="0">
                <a:solidFill>
                  <a:srgbClr val="898D8D"/>
                </a:solidFill>
                <a:latin typeface="Arial"/>
              </a:rPr>
              <a:t>PhysioNet Challenge 2026  ·  Scoring Metrics</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b="1">
                <a:solidFill>
                  <a:srgbClr val="FFFFFF"/>
                </a:solidFill>
                <a:latin typeface="Arial"/>
              </a:rPr>
              <a:t>Why a custom metric?</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b="1">
                <a:latin typeface="Arial"/>
              </a:rPr>
              <a:t>Two problems plain accuracy can't handle</a:t>
            </a:r>
          </a:p>
        </p:txBody>
      </p:sp>
      <p:sp>
        <p:nvSpPr>
          <p:cNvPr id="3" name="Content Placeholder 2"/>
          <p:cNvSpPr>
            <a:spLocks noGrp="1"/>
          </p:cNvSpPr>
          <p:nvPr>
            <p:ph idx="1"/>
          </p:nvPr>
        </p:nvSpPr>
        <p:spPr/>
        <p:txBody>
          <a:bodyPr/>
          <a:lstStyle/>
          <a:p/>
        </p:txBody>
      </p:sp>
      <p:sp>
        <p:nvSpPr>
          <p:cNvPr id="4" name="TextBox 3"/>
          <p:cNvSpPr txBox="1"/>
          <p:nvPr/>
        </p:nvSpPr>
        <p:spPr>
          <a:xfrm>
            <a:off x="548640" y="1024128"/>
            <a:ext cx="6446520" cy="274320"/>
          </a:xfrm>
          <a:prstGeom prst="rect">
            <a:avLst/>
          </a:prstGeom>
          <a:noFill/>
        </p:spPr>
        <p:txBody>
          <a:bodyPr wrap="square" anchor="t" lIns="45720" rIns="45720" tIns="18288" bIns="18288">
            <a:spAutoFit/>
          </a:bodyPr>
          <a:lstStyle/>
          <a:p>
            <a:pPr algn="l">
              <a:spcBef>
                <a:spcPts val="0"/>
              </a:spcBef>
              <a:spcAft>
                <a:spcPts val="0"/>
              </a:spcAft>
              <a:buNone/>
            </a:pPr>
            <a:r>
              <a:rPr sz="1100" b="1" i="0">
                <a:solidFill>
                  <a:srgbClr val="C8102E"/>
                </a:solidFill>
                <a:latin typeface="Arial"/>
              </a:rPr>
              <a:t>MOTIVATION</a:t>
            </a:r>
          </a:p>
        </p:txBody>
      </p:sp>
      <p:sp>
        <p:nvSpPr>
          <p:cNvPr id="5" name="Rounded Rectangle 4"/>
          <p:cNvSpPr/>
          <p:nvPr/>
        </p:nvSpPr>
        <p:spPr>
          <a:xfrm>
            <a:off x="548640" y="1417320"/>
            <a:ext cx="3127248" cy="3063240"/>
          </a:xfrm>
          <a:prstGeom prst="roundRect">
            <a:avLst>
              <a:gd name="adj" fmla="val 6000"/>
            </a:avLst>
          </a:prstGeom>
          <a:solidFill>
            <a:srgbClr val="F2F4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48640" y="1417320"/>
            <a:ext cx="3127248" cy="457200"/>
          </a:xfrm>
          <a:prstGeom prst="rect">
            <a:avLst/>
          </a:prstGeom>
          <a:solidFill>
            <a:srgbClr val="C810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85800" y="1417320"/>
            <a:ext cx="2852928" cy="457200"/>
          </a:xfrm>
          <a:prstGeom prst="rect">
            <a:avLst/>
          </a:prstGeom>
          <a:noFill/>
        </p:spPr>
        <p:txBody>
          <a:bodyPr wrap="square" anchor="ctr" lIns="45720" rIns="45720" tIns="18288" bIns="18288">
            <a:spAutoFit/>
          </a:bodyPr>
          <a:lstStyle/>
          <a:p>
            <a:pPr algn="l">
              <a:spcBef>
                <a:spcPts val="0"/>
              </a:spcBef>
              <a:spcAft>
                <a:spcPts val="0"/>
              </a:spcAft>
              <a:buNone/>
            </a:pPr>
            <a:r>
              <a:rPr sz="1300" b="1" i="0">
                <a:solidFill>
                  <a:srgbClr val="FFFFFF"/>
                </a:solidFill>
                <a:latin typeface="Arial"/>
              </a:rPr>
              <a:t>1 · Class imbalance</a:t>
            </a:r>
          </a:p>
        </p:txBody>
      </p:sp>
      <p:sp>
        <p:nvSpPr>
          <p:cNvPr id="8" name="TextBox 7"/>
          <p:cNvSpPr txBox="1"/>
          <p:nvPr/>
        </p:nvSpPr>
        <p:spPr>
          <a:xfrm>
            <a:off x="713232" y="2011680"/>
            <a:ext cx="2788920" cy="2377440"/>
          </a:xfrm>
          <a:prstGeom prst="rect">
            <a:avLst/>
          </a:prstGeom>
          <a:noFill/>
        </p:spPr>
        <p:txBody>
          <a:bodyPr wrap="square" anchor="t" lIns="45720" rIns="45720" tIns="18288" bIns="18288">
            <a:spAutoFit/>
          </a:bodyPr>
          <a:lstStyle/>
          <a:p>
            <a:pPr algn="l">
              <a:spcBef>
                <a:spcPts val="0"/>
              </a:spcBef>
              <a:spcAft>
                <a:spcPts val="400"/>
              </a:spcAft>
              <a:buNone/>
            </a:pPr>
            <a:r>
              <a:rPr sz="1300" b="1" i="0">
                <a:solidFill>
                  <a:srgbClr val="2A2E30"/>
                </a:solidFill>
                <a:latin typeface="Arial"/>
              </a:rPr>
              <a:t>Impairment is the rare class.</a:t>
            </a:r>
          </a:p>
          <a:p>
            <a:pPr algn="l">
              <a:spcBef>
                <a:spcPts val="0"/>
              </a:spcBef>
              <a:spcAft>
                <a:spcPts val="600"/>
              </a:spcAft>
              <a:buNone/>
            </a:pPr>
            <a:r>
              <a:rPr sz="1200" b="0" i="0">
                <a:solidFill>
                  <a:srgbClr val="505759"/>
                </a:solidFill>
                <a:latin typeface="Arial"/>
              </a:rPr>
              <a:t>A model that predicts “nobody is impaired” can score high accuracy while being clinically useless.</a:t>
            </a:r>
          </a:p>
          <a:p>
            <a:pPr algn="l">
              <a:spcBef>
                <a:spcPts val="0"/>
              </a:spcBef>
              <a:spcAft>
                <a:spcPts val="0"/>
              </a:spcAft>
              <a:buNone/>
            </a:pPr>
            <a:r>
              <a:rPr sz="1200" b="0" i="0">
                <a:solidFill>
                  <a:srgbClr val="505759"/>
                </a:solidFill>
                <a:latin typeface="Arial"/>
              </a:rPr>
              <a:t>The metric must reward finding rare positives and give no free credit for trivial guessing.</a:t>
            </a:r>
          </a:p>
        </p:txBody>
      </p:sp>
      <p:sp>
        <p:nvSpPr>
          <p:cNvPr id="9" name="Rounded Rectangle 8"/>
          <p:cNvSpPr/>
          <p:nvPr/>
        </p:nvSpPr>
        <p:spPr>
          <a:xfrm>
            <a:off x="3867912" y="1417320"/>
            <a:ext cx="3127248" cy="3063240"/>
          </a:xfrm>
          <a:prstGeom prst="roundRect">
            <a:avLst>
              <a:gd name="adj" fmla="val 6000"/>
            </a:avLst>
          </a:prstGeom>
          <a:solidFill>
            <a:srgbClr val="F2F4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3867912" y="1417320"/>
            <a:ext cx="3127248" cy="457200"/>
          </a:xfrm>
          <a:prstGeom prst="rect">
            <a:avLst/>
          </a:prstGeom>
          <a:solidFill>
            <a:srgbClr val="34658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005072" y="1417320"/>
            <a:ext cx="2852928" cy="457200"/>
          </a:xfrm>
          <a:prstGeom prst="rect">
            <a:avLst/>
          </a:prstGeom>
          <a:noFill/>
        </p:spPr>
        <p:txBody>
          <a:bodyPr wrap="square" anchor="ctr" lIns="45720" rIns="45720" tIns="18288" bIns="18288">
            <a:spAutoFit/>
          </a:bodyPr>
          <a:lstStyle/>
          <a:p>
            <a:pPr algn="l">
              <a:spcBef>
                <a:spcPts val="0"/>
              </a:spcBef>
              <a:spcAft>
                <a:spcPts val="0"/>
              </a:spcAft>
              <a:buNone/>
            </a:pPr>
            <a:r>
              <a:rPr sz="1300" b="1" i="0">
                <a:solidFill>
                  <a:srgbClr val="FFFFFF"/>
                </a:solidFill>
                <a:latin typeface="Arial"/>
              </a:rPr>
              <a:t>2 · Age confounding</a:t>
            </a:r>
          </a:p>
        </p:txBody>
      </p:sp>
      <p:sp>
        <p:nvSpPr>
          <p:cNvPr id="12" name="TextBox 11"/>
          <p:cNvSpPr txBox="1"/>
          <p:nvPr/>
        </p:nvSpPr>
        <p:spPr>
          <a:xfrm>
            <a:off x="4032504" y="2011680"/>
            <a:ext cx="2788920" cy="2377440"/>
          </a:xfrm>
          <a:prstGeom prst="rect">
            <a:avLst/>
          </a:prstGeom>
          <a:noFill/>
        </p:spPr>
        <p:txBody>
          <a:bodyPr wrap="square" anchor="t" lIns="45720" rIns="45720" tIns="18288" bIns="18288">
            <a:spAutoFit/>
          </a:bodyPr>
          <a:lstStyle/>
          <a:p>
            <a:pPr algn="l">
              <a:spcBef>
                <a:spcPts val="0"/>
              </a:spcBef>
              <a:spcAft>
                <a:spcPts val="400"/>
              </a:spcAft>
              <a:buNone/>
            </a:pPr>
            <a:r>
              <a:rPr sz="1300" b="1" i="0">
                <a:solidFill>
                  <a:srgbClr val="2A2E30"/>
                </a:solidFill>
                <a:latin typeface="Arial"/>
              </a:rPr>
              <a:t>Risk rises steeply with age.</a:t>
            </a:r>
          </a:p>
          <a:p>
            <a:pPr algn="l">
              <a:spcBef>
                <a:spcPts val="0"/>
              </a:spcBef>
              <a:spcAft>
                <a:spcPts val="600"/>
              </a:spcAft>
              <a:buNone/>
            </a:pPr>
            <a:r>
              <a:rPr sz="1200" b="0" i="0">
                <a:solidFill>
                  <a:srgbClr val="505759"/>
                </a:solidFill>
                <a:latin typeface="Arial"/>
              </a:rPr>
              <a:t>A model could look accurate just by learning “older = higher risk” — not real physiology.</a:t>
            </a:r>
          </a:p>
          <a:p>
            <a:pPr algn="l">
              <a:spcBef>
                <a:spcPts val="0"/>
              </a:spcBef>
              <a:spcAft>
                <a:spcPts val="0"/>
              </a:spcAft>
              <a:buNone/>
            </a:pPr>
            <a:r>
              <a:rPr sz="1200" b="0" i="0">
                <a:solidFill>
                  <a:srgbClr val="505759"/>
                </a:solidFill>
                <a:latin typeface="Arial"/>
              </a:rPr>
              <a:t>The metric must compare patients of similar age, so age alone can't inflate the score.</a:t>
            </a:r>
          </a:p>
        </p:txBody>
      </p:sp>
      <p:sp>
        <p:nvSpPr>
          <p:cNvPr id="13" name="TextBox 12"/>
          <p:cNvSpPr txBox="1"/>
          <p:nvPr/>
        </p:nvSpPr>
        <p:spPr>
          <a:xfrm>
            <a:off x="548640" y="4828032"/>
            <a:ext cx="6035040" cy="228600"/>
          </a:xfrm>
          <a:prstGeom prst="rect">
            <a:avLst/>
          </a:prstGeom>
          <a:noFill/>
        </p:spPr>
        <p:txBody>
          <a:bodyPr wrap="square" anchor="t" lIns="45720" rIns="45720" tIns="18288" bIns="18288">
            <a:spAutoFit/>
          </a:bodyPr>
          <a:lstStyle/>
          <a:p>
            <a:pPr algn="l">
              <a:spcBef>
                <a:spcPts val="0"/>
              </a:spcBef>
              <a:spcAft>
                <a:spcPts val="0"/>
              </a:spcAft>
              <a:buNone/>
            </a:pPr>
            <a:r>
              <a:rPr sz="800" b="0" i="0">
                <a:solidFill>
                  <a:srgbClr val="898D8D"/>
                </a:solidFill>
                <a:latin typeface="Arial"/>
              </a:rPr>
              <a:t>PhysioNet Challenge 2026  ·  Scoring Metrics</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b="1">
                <a:latin typeface="Arial"/>
              </a:rPr>
              <a:t>Seven scores — one decides the ranking</a:t>
            </a:r>
          </a:p>
        </p:txBody>
      </p:sp>
      <p:sp>
        <p:nvSpPr>
          <p:cNvPr id="3" name="Content Placeholder 2"/>
          <p:cNvSpPr>
            <a:spLocks noGrp="1"/>
          </p:cNvSpPr>
          <p:nvPr>
            <p:ph idx="1"/>
          </p:nvPr>
        </p:nvSpPr>
        <p:spPr/>
        <p:txBody>
          <a:bodyPr/>
          <a:lstStyle/>
          <a:p/>
        </p:txBody>
      </p:sp>
      <p:sp>
        <p:nvSpPr>
          <p:cNvPr id="4" name="TextBox 3"/>
          <p:cNvSpPr txBox="1"/>
          <p:nvPr/>
        </p:nvSpPr>
        <p:spPr>
          <a:xfrm>
            <a:off x="548640" y="1024128"/>
            <a:ext cx="6446520" cy="274320"/>
          </a:xfrm>
          <a:prstGeom prst="rect">
            <a:avLst/>
          </a:prstGeom>
          <a:noFill/>
        </p:spPr>
        <p:txBody>
          <a:bodyPr wrap="square" anchor="t" lIns="45720" rIns="45720" tIns="18288" bIns="18288">
            <a:spAutoFit/>
          </a:bodyPr>
          <a:lstStyle/>
          <a:p>
            <a:pPr algn="l">
              <a:spcBef>
                <a:spcPts val="0"/>
              </a:spcBef>
              <a:spcAft>
                <a:spcPts val="0"/>
              </a:spcAft>
              <a:buNone/>
            </a:pPr>
            <a:r>
              <a:rPr sz="1100" b="1" i="0">
                <a:solidFill>
                  <a:srgbClr val="C8102E"/>
                </a:solidFill>
                <a:latin typeface="Arial"/>
              </a:rPr>
              <a:t>OVERVIEW</a:t>
            </a:r>
          </a:p>
        </p:txBody>
      </p:sp>
      <p:graphicFrame>
        <p:nvGraphicFramePr>
          <p:cNvPr id="5" name="Table 4"/>
          <p:cNvGraphicFramePr>
            <a:graphicFrameLocks noGrp="1"/>
          </p:cNvGraphicFramePr>
          <p:nvPr/>
        </p:nvGraphicFramePr>
        <p:xfrm>
          <a:off x="548640" y="1417320"/>
          <a:ext cx="6446519" cy="2743200"/>
        </p:xfrm>
        <a:graphic>
          <a:graphicData uri="http://schemas.openxmlformats.org/drawingml/2006/table">
            <a:tbl>
              <a:tblPr firstRow="0" bandRow="0">
                <a:tableStyleId>{5C22544A-7EE6-4342-B048-85BDC9FD1C3A}</a:tableStyleId>
              </a:tblPr>
              <a:tblGrid>
                <a:gridCol w="2331720"/>
                <a:gridCol w="1874519"/>
                <a:gridCol w="2240280"/>
              </a:tblGrid>
              <a:tr h="342900">
                <a:tc>
                  <a:txBody>
                    <a:bodyPr wrap="square"/>
                    <a:lstStyle/>
                    <a:p>
                      <a:pPr algn="l"/>
                      <a:r>
                        <a:rPr sz="1100" b="1">
                          <a:solidFill>
                            <a:srgbClr val="FFFFFF"/>
                          </a:solidFill>
                          <a:latin typeface="Arial"/>
                        </a:rPr>
                        <a:t>Metric</a:t>
                      </a:r>
                    </a:p>
                  </a:txBody>
                  <a:tcPr anchor="ctr" marL="73152" marR="54864" marT="27432" marB="27432">
                    <a:solidFill>
                      <a:srgbClr val="505759"/>
                    </a:solidFill>
                  </a:tcPr>
                </a:tc>
                <a:tc>
                  <a:txBody>
                    <a:bodyPr wrap="square"/>
                    <a:lstStyle/>
                    <a:p>
                      <a:pPr algn="l"/>
                      <a:r>
                        <a:rPr sz="1100" b="1">
                          <a:solidFill>
                            <a:srgbClr val="FFFFFF"/>
                          </a:solidFill>
                          <a:latin typeface="Arial"/>
                        </a:rPr>
                        <a:t>Uses</a:t>
                      </a:r>
                    </a:p>
                  </a:txBody>
                  <a:tcPr anchor="ctr" marL="73152" marR="54864" marT="27432" marB="27432">
                    <a:solidFill>
                      <a:srgbClr val="505759"/>
                    </a:solidFill>
                  </a:tcPr>
                </a:tc>
                <a:tc>
                  <a:txBody>
                    <a:bodyPr wrap="square"/>
                    <a:lstStyle/>
                    <a:p>
                      <a:pPr algn="l"/>
                      <a:r>
                        <a:rPr sz="1100" b="1">
                          <a:solidFill>
                            <a:srgbClr val="FFFFFF"/>
                          </a:solidFill>
                          <a:latin typeface="Arial"/>
                        </a:rPr>
                        <a:t>Role</a:t>
                      </a:r>
                    </a:p>
                  </a:txBody>
                  <a:tcPr anchor="ctr" marL="73152" marR="54864" marT="27432" marB="27432">
                    <a:solidFill>
                      <a:srgbClr val="505759"/>
                    </a:solidFill>
                  </a:tcPr>
                </a:tc>
              </a:tr>
              <a:tr h="342900">
                <a:tc>
                  <a:txBody>
                    <a:bodyPr wrap="square"/>
                    <a:lstStyle/>
                    <a:p>
                      <a:pPr algn="l"/>
                      <a:r>
                        <a:rPr sz="1100" b="1">
                          <a:solidFill>
                            <a:srgbClr val="C8102E"/>
                          </a:solidFill>
                          <a:latin typeface="Arial"/>
                        </a:rPr>
                        <a:t>Reward</a:t>
                      </a:r>
                    </a:p>
                  </a:txBody>
                  <a:tcPr anchor="ctr" marL="73152" marR="54864" marT="27432" marB="27432">
                    <a:solidFill>
                      <a:srgbClr val="FBE9EC"/>
                    </a:solidFill>
                  </a:tcPr>
                </a:tc>
                <a:tc>
                  <a:txBody>
                    <a:bodyPr wrap="square"/>
                    <a:lstStyle/>
                    <a:p>
                      <a:pPr algn="l"/>
                      <a:r>
                        <a:rPr sz="1100" b="0">
                          <a:solidFill>
                            <a:srgbClr val="2A2E30"/>
                          </a:solidFill>
                          <a:latin typeface="Arial"/>
                        </a:rPr>
                        <a:t>Binary prediction</a:t>
                      </a:r>
                    </a:p>
                  </a:txBody>
                  <a:tcPr anchor="ctr" marL="73152" marR="54864" marT="27432" marB="27432">
                    <a:solidFill>
                      <a:srgbClr val="FBE9EC"/>
                    </a:solidFill>
                  </a:tcPr>
                </a:tc>
                <a:tc>
                  <a:txBody>
                    <a:bodyPr wrap="square"/>
                    <a:lstStyle/>
                    <a:p>
                      <a:pPr algn="l"/>
                      <a:r>
                        <a:rPr sz="1100" b="1">
                          <a:solidFill>
                            <a:srgbClr val="C8102E"/>
                          </a:solidFill>
                          <a:latin typeface="Arial"/>
                        </a:rPr>
                        <a:t>PRIMARY — ranks all teams</a:t>
                      </a:r>
                    </a:p>
                  </a:txBody>
                  <a:tcPr anchor="ctr" marL="73152" marR="54864" marT="27432" marB="27432">
                    <a:solidFill>
                      <a:srgbClr val="FBE9EC"/>
                    </a:solidFill>
                  </a:tcPr>
                </a:tc>
              </a:tr>
              <a:tr h="342900">
                <a:tc>
                  <a:txBody>
                    <a:bodyPr wrap="square"/>
                    <a:lstStyle/>
                    <a:p>
                      <a:pPr algn="l"/>
                      <a:r>
                        <a:rPr sz="1100" b="0">
                          <a:solidFill>
                            <a:srgbClr val="2A2E30"/>
                          </a:solidFill>
                          <a:latin typeface="Arial"/>
                        </a:rPr>
                        <a:t>Age-conditioned AUROC</a:t>
                      </a:r>
                    </a:p>
                  </a:txBody>
                  <a:tcPr anchor="ctr" marL="73152" marR="54864" marT="27432" marB="27432">
                    <a:solidFill>
                      <a:srgbClr val="F2F4F4"/>
                    </a:solidFill>
                  </a:tcPr>
                </a:tc>
                <a:tc>
                  <a:txBody>
                    <a:bodyPr wrap="square"/>
                    <a:lstStyle/>
                    <a:p>
                      <a:pPr algn="l"/>
                      <a:r>
                        <a:rPr sz="1100" b="0">
                          <a:solidFill>
                            <a:srgbClr val="2A2E30"/>
                          </a:solidFill>
                          <a:latin typeface="Arial"/>
                        </a:rPr>
                        <a:t>Probability</a:t>
                      </a:r>
                    </a:p>
                  </a:txBody>
                  <a:tcPr anchor="ctr" marL="73152" marR="54864" marT="27432" marB="27432">
                    <a:solidFill>
                      <a:srgbClr val="F2F4F4"/>
                    </a:solidFill>
                  </a:tcPr>
                </a:tc>
                <a:tc>
                  <a:txBody>
                    <a:bodyPr wrap="square"/>
                    <a:lstStyle/>
                    <a:p>
                      <a:pPr algn="l"/>
                      <a:r>
                        <a:rPr sz="1100" b="0">
                          <a:solidFill>
                            <a:srgbClr val="2A2E30"/>
                          </a:solidFill>
                          <a:latin typeface="Arial"/>
                        </a:rPr>
                        <a:t>Diagnostic</a:t>
                      </a:r>
                    </a:p>
                  </a:txBody>
                  <a:tcPr anchor="ctr" marL="73152" marR="54864" marT="27432" marB="27432">
                    <a:solidFill>
                      <a:srgbClr val="F2F4F4"/>
                    </a:solidFill>
                  </a:tcPr>
                </a:tc>
              </a:tr>
              <a:tr h="342900">
                <a:tc>
                  <a:txBody>
                    <a:bodyPr wrap="square"/>
                    <a:lstStyle/>
                    <a:p>
                      <a:pPr algn="l"/>
                      <a:r>
                        <a:rPr sz="1100" b="0">
                          <a:solidFill>
                            <a:srgbClr val="2A2E30"/>
                          </a:solidFill>
                          <a:latin typeface="Arial"/>
                        </a:rPr>
                        <a:t>Age-weighted AUROC</a:t>
                      </a:r>
                    </a:p>
                  </a:txBody>
                  <a:tcPr anchor="ctr" marL="73152" marR="54864" marT="27432" marB="27432">
                    <a:solidFill>
                      <a:srgbClr val="FFFFFF"/>
                    </a:solidFill>
                  </a:tcPr>
                </a:tc>
                <a:tc>
                  <a:txBody>
                    <a:bodyPr wrap="square"/>
                    <a:lstStyle/>
                    <a:p>
                      <a:pPr algn="l"/>
                      <a:r>
                        <a:rPr sz="1100" b="0">
                          <a:solidFill>
                            <a:srgbClr val="2A2E30"/>
                          </a:solidFill>
                          <a:latin typeface="Arial"/>
                        </a:rPr>
                        <a:t>Probability</a:t>
                      </a:r>
                    </a:p>
                  </a:txBody>
                  <a:tcPr anchor="ctr" marL="73152" marR="54864" marT="27432" marB="27432">
                    <a:solidFill>
                      <a:srgbClr val="FFFFFF"/>
                    </a:solidFill>
                  </a:tcPr>
                </a:tc>
                <a:tc>
                  <a:txBody>
                    <a:bodyPr wrap="square"/>
                    <a:lstStyle/>
                    <a:p>
                      <a:pPr algn="l"/>
                      <a:r>
                        <a:rPr sz="1100" b="0">
                          <a:solidFill>
                            <a:srgbClr val="2A2E30"/>
                          </a:solidFill>
                          <a:latin typeface="Arial"/>
                        </a:rPr>
                        <a:t>Diagnostic</a:t>
                      </a:r>
                    </a:p>
                  </a:txBody>
                  <a:tcPr anchor="ctr" marL="73152" marR="54864" marT="27432" marB="27432">
                    <a:solidFill>
                      <a:srgbClr val="FFFFFF"/>
                    </a:solidFill>
                  </a:tcPr>
                </a:tc>
              </a:tr>
              <a:tr h="342900">
                <a:tc>
                  <a:txBody>
                    <a:bodyPr wrap="square"/>
                    <a:lstStyle/>
                    <a:p>
                      <a:pPr algn="l"/>
                      <a:r>
                        <a:rPr sz="1100" b="0">
                          <a:solidFill>
                            <a:srgbClr val="2A2E30"/>
                          </a:solidFill>
                          <a:latin typeface="Arial"/>
                        </a:rPr>
                        <a:t>AUROC</a:t>
                      </a:r>
                    </a:p>
                  </a:txBody>
                  <a:tcPr anchor="ctr" marL="73152" marR="54864" marT="27432" marB="27432">
                    <a:solidFill>
                      <a:srgbClr val="F2F4F4"/>
                    </a:solidFill>
                  </a:tcPr>
                </a:tc>
                <a:tc>
                  <a:txBody>
                    <a:bodyPr wrap="square"/>
                    <a:lstStyle/>
                    <a:p>
                      <a:pPr algn="l"/>
                      <a:r>
                        <a:rPr sz="1100" b="0">
                          <a:solidFill>
                            <a:srgbClr val="2A2E30"/>
                          </a:solidFill>
                          <a:latin typeface="Arial"/>
                        </a:rPr>
                        <a:t>Probability</a:t>
                      </a:r>
                    </a:p>
                  </a:txBody>
                  <a:tcPr anchor="ctr" marL="73152" marR="54864" marT="27432" marB="27432">
                    <a:solidFill>
                      <a:srgbClr val="F2F4F4"/>
                    </a:solidFill>
                  </a:tcPr>
                </a:tc>
                <a:tc>
                  <a:txBody>
                    <a:bodyPr wrap="square"/>
                    <a:lstStyle/>
                    <a:p>
                      <a:pPr algn="l"/>
                      <a:r>
                        <a:rPr sz="1100" b="0">
                          <a:solidFill>
                            <a:srgbClr val="2A2E30"/>
                          </a:solidFill>
                          <a:latin typeface="Arial"/>
                        </a:rPr>
                        <a:t>Diagnostic</a:t>
                      </a:r>
                    </a:p>
                  </a:txBody>
                  <a:tcPr anchor="ctr" marL="73152" marR="54864" marT="27432" marB="27432">
                    <a:solidFill>
                      <a:srgbClr val="F2F4F4"/>
                    </a:solidFill>
                  </a:tcPr>
                </a:tc>
              </a:tr>
              <a:tr h="342900">
                <a:tc>
                  <a:txBody>
                    <a:bodyPr wrap="square"/>
                    <a:lstStyle/>
                    <a:p>
                      <a:pPr algn="l"/>
                      <a:r>
                        <a:rPr sz="1100" b="0">
                          <a:solidFill>
                            <a:srgbClr val="2A2E30"/>
                          </a:solidFill>
                          <a:latin typeface="Arial"/>
                        </a:rPr>
                        <a:t>AUPRC</a:t>
                      </a:r>
                    </a:p>
                  </a:txBody>
                  <a:tcPr anchor="ctr" marL="73152" marR="54864" marT="27432" marB="27432">
                    <a:solidFill>
                      <a:srgbClr val="FFFFFF"/>
                    </a:solidFill>
                  </a:tcPr>
                </a:tc>
                <a:tc>
                  <a:txBody>
                    <a:bodyPr wrap="square"/>
                    <a:lstStyle/>
                    <a:p>
                      <a:pPr algn="l"/>
                      <a:r>
                        <a:rPr sz="1100" b="0">
                          <a:solidFill>
                            <a:srgbClr val="2A2E30"/>
                          </a:solidFill>
                          <a:latin typeface="Arial"/>
                        </a:rPr>
                        <a:t>Probability</a:t>
                      </a:r>
                    </a:p>
                  </a:txBody>
                  <a:tcPr anchor="ctr" marL="73152" marR="54864" marT="27432" marB="27432">
                    <a:solidFill>
                      <a:srgbClr val="FFFFFF"/>
                    </a:solidFill>
                  </a:tcPr>
                </a:tc>
                <a:tc>
                  <a:txBody>
                    <a:bodyPr wrap="square"/>
                    <a:lstStyle/>
                    <a:p>
                      <a:pPr algn="l"/>
                      <a:r>
                        <a:rPr sz="1100" b="0">
                          <a:solidFill>
                            <a:srgbClr val="2A2E30"/>
                          </a:solidFill>
                          <a:latin typeface="Arial"/>
                        </a:rPr>
                        <a:t>Diagnostic</a:t>
                      </a:r>
                    </a:p>
                  </a:txBody>
                  <a:tcPr anchor="ctr" marL="73152" marR="54864" marT="27432" marB="27432">
                    <a:solidFill>
                      <a:srgbClr val="FFFFFF"/>
                    </a:solidFill>
                  </a:tcPr>
                </a:tc>
              </a:tr>
              <a:tr h="342900">
                <a:tc>
                  <a:txBody>
                    <a:bodyPr wrap="square"/>
                    <a:lstStyle/>
                    <a:p>
                      <a:pPr algn="l"/>
                      <a:r>
                        <a:rPr sz="1100" b="0">
                          <a:solidFill>
                            <a:srgbClr val="2A2E30"/>
                          </a:solidFill>
                          <a:latin typeface="Arial"/>
                        </a:rPr>
                        <a:t>Accuracy</a:t>
                      </a:r>
                    </a:p>
                  </a:txBody>
                  <a:tcPr anchor="ctr" marL="73152" marR="54864" marT="27432" marB="27432">
                    <a:solidFill>
                      <a:srgbClr val="F2F4F4"/>
                    </a:solidFill>
                  </a:tcPr>
                </a:tc>
                <a:tc>
                  <a:txBody>
                    <a:bodyPr wrap="square"/>
                    <a:lstStyle/>
                    <a:p>
                      <a:pPr algn="l"/>
                      <a:r>
                        <a:rPr sz="1100" b="0">
                          <a:solidFill>
                            <a:srgbClr val="2A2E30"/>
                          </a:solidFill>
                          <a:latin typeface="Arial"/>
                        </a:rPr>
                        <a:t>Binary prediction</a:t>
                      </a:r>
                    </a:p>
                  </a:txBody>
                  <a:tcPr anchor="ctr" marL="73152" marR="54864" marT="27432" marB="27432">
                    <a:solidFill>
                      <a:srgbClr val="F2F4F4"/>
                    </a:solidFill>
                  </a:tcPr>
                </a:tc>
                <a:tc>
                  <a:txBody>
                    <a:bodyPr wrap="square"/>
                    <a:lstStyle/>
                    <a:p>
                      <a:pPr algn="l"/>
                      <a:r>
                        <a:rPr sz="1100" b="0">
                          <a:solidFill>
                            <a:srgbClr val="2A2E30"/>
                          </a:solidFill>
                          <a:latin typeface="Arial"/>
                        </a:rPr>
                        <a:t>Diagnostic</a:t>
                      </a:r>
                    </a:p>
                  </a:txBody>
                  <a:tcPr anchor="ctr" marL="73152" marR="54864" marT="27432" marB="27432">
                    <a:solidFill>
                      <a:srgbClr val="F2F4F4"/>
                    </a:solidFill>
                  </a:tcPr>
                </a:tc>
              </a:tr>
              <a:tr h="342900">
                <a:tc>
                  <a:txBody>
                    <a:bodyPr wrap="square"/>
                    <a:lstStyle/>
                    <a:p>
                      <a:pPr algn="l"/>
                      <a:r>
                        <a:rPr sz="1100" b="0">
                          <a:solidFill>
                            <a:srgbClr val="2A2E30"/>
                          </a:solidFill>
                          <a:latin typeface="Arial"/>
                        </a:rPr>
                        <a:t>F-measure</a:t>
                      </a:r>
                    </a:p>
                  </a:txBody>
                  <a:tcPr anchor="ctr" marL="73152" marR="54864" marT="27432" marB="27432">
                    <a:solidFill>
                      <a:srgbClr val="FFFFFF"/>
                    </a:solidFill>
                  </a:tcPr>
                </a:tc>
                <a:tc>
                  <a:txBody>
                    <a:bodyPr wrap="square"/>
                    <a:lstStyle/>
                    <a:p>
                      <a:pPr algn="l"/>
                      <a:r>
                        <a:rPr sz="1100" b="0">
                          <a:solidFill>
                            <a:srgbClr val="2A2E30"/>
                          </a:solidFill>
                          <a:latin typeface="Arial"/>
                        </a:rPr>
                        <a:t>Binary prediction</a:t>
                      </a:r>
                    </a:p>
                  </a:txBody>
                  <a:tcPr anchor="ctr" marL="73152" marR="54864" marT="27432" marB="27432">
                    <a:solidFill>
                      <a:srgbClr val="FFFFFF"/>
                    </a:solidFill>
                  </a:tcPr>
                </a:tc>
                <a:tc>
                  <a:txBody>
                    <a:bodyPr wrap="square"/>
                    <a:lstStyle/>
                    <a:p>
                      <a:pPr algn="l"/>
                      <a:r>
                        <a:rPr sz="1100" b="0">
                          <a:solidFill>
                            <a:srgbClr val="2A2E30"/>
                          </a:solidFill>
                          <a:latin typeface="Arial"/>
                        </a:rPr>
                        <a:t>Diagnostic</a:t>
                      </a:r>
                    </a:p>
                  </a:txBody>
                  <a:tcPr anchor="ctr" marL="73152" marR="54864" marT="27432" marB="27432">
                    <a:solidFill>
                      <a:srgbClr val="FFFFFF"/>
                    </a:solidFill>
                  </a:tcPr>
                </a:tc>
              </a:tr>
            </a:tbl>
          </a:graphicData>
        </a:graphic>
      </p:graphicFrame>
      <p:sp>
        <p:nvSpPr>
          <p:cNvPr id="6" name="TextBox 5"/>
          <p:cNvSpPr txBox="1"/>
          <p:nvPr/>
        </p:nvSpPr>
        <p:spPr>
          <a:xfrm>
            <a:off x="548640" y="4343400"/>
            <a:ext cx="6446520" cy="457200"/>
          </a:xfrm>
          <a:prstGeom prst="rect">
            <a:avLst/>
          </a:prstGeom>
          <a:noFill/>
        </p:spPr>
        <p:txBody>
          <a:bodyPr wrap="square" anchor="t" lIns="45720" rIns="45720" tIns="18288" bIns="18288">
            <a:spAutoFit/>
          </a:bodyPr>
          <a:lstStyle/>
          <a:p>
            <a:pPr>
              <a:spcBef>
                <a:spcPts val="0"/>
              </a:spcBef>
              <a:spcAft>
                <a:spcPts val="0"/>
              </a:spcAft>
              <a:buNone/>
            </a:pPr>
            <a:r>
              <a:rPr sz="1100" b="0">
                <a:solidFill>
                  <a:srgbClr val="505759"/>
                </a:solidFill>
                <a:latin typeface="Arial"/>
              </a:rPr>
              <a:t>The </a:t>
            </a:r>
            <a:r>
              <a:rPr sz="1100" b="1">
                <a:solidFill>
                  <a:srgbClr val="C8102E"/>
                </a:solidFill>
                <a:latin typeface="Arial"/>
              </a:rPr>
              <a:t>Reward</a:t>
            </a:r>
            <a:r>
              <a:rPr sz="1100" b="0">
                <a:solidFill>
                  <a:srgbClr val="505759"/>
                </a:solidFill>
                <a:latin typeface="Arial"/>
              </a:rPr>
              <a:t> determines the leaderboard. The other six help us understand </a:t>
            </a:r>
            <a:r>
              <a:rPr sz="1100" b="1">
                <a:solidFill>
                  <a:srgbClr val="2A2E30"/>
                </a:solidFill>
                <a:latin typeface="Arial"/>
              </a:rPr>
              <a:t>why</a:t>
            </a:r>
            <a:r>
              <a:rPr sz="1100" b="0">
                <a:solidFill>
                  <a:srgbClr val="505759"/>
                </a:solidFill>
                <a:latin typeface="Arial"/>
              </a:rPr>
              <a:t> a model scores as it does.</a:t>
            </a:r>
          </a:p>
        </p:txBody>
      </p:sp>
      <p:sp>
        <p:nvSpPr>
          <p:cNvPr id="7" name="TextBox 6"/>
          <p:cNvSpPr txBox="1"/>
          <p:nvPr/>
        </p:nvSpPr>
        <p:spPr>
          <a:xfrm>
            <a:off x="548640" y="4828032"/>
            <a:ext cx="6035040" cy="228600"/>
          </a:xfrm>
          <a:prstGeom prst="rect">
            <a:avLst/>
          </a:prstGeom>
          <a:noFill/>
        </p:spPr>
        <p:txBody>
          <a:bodyPr wrap="square" anchor="t" lIns="45720" rIns="45720" tIns="18288" bIns="18288">
            <a:spAutoFit/>
          </a:bodyPr>
          <a:lstStyle/>
          <a:p>
            <a:pPr algn="l">
              <a:spcBef>
                <a:spcPts val="0"/>
              </a:spcBef>
              <a:spcAft>
                <a:spcPts val="0"/>
              </a:spcAft>
              <a:buNone/>
            </a:pPr>
            <a:r>
              <a:rPr sz="800" b="0" i="0">
                <a:solidFill>
                  <a:srgbClr val="898D8D"/>
                </a:solidFill>
                <a:latin typeface="Arial"/>
              </a:rPr>
              <a:t>PhysioNet Challenge 2026  ·  Scoring Metrics</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b="1">
                <a:solidFill>
                  <a:srgbClr val="FFFFFF"/>
                </a:solidFill>
                <a:latin typeface="Arial"/>
              </a:rPr>
              <a:t>The Reward metric</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b="1">
                <a:latin typeface="Arial"/>
              </a:rPr>
              <a:t>The Reward: a prevalence-weighted payoff</a:t>
            </a:r>
          </a:p>
        </p:txBody>
      </p:sp>
      <p:sp>
        <p:nvSpPr>
          <p:cNvPr id="3" name="Content Placeholder 2"/>
          <p:cNvSpPr>
            <a:spLocks noGrp="1"/>
          </p:cNvSpPr>
          <p:nvPr>
            <p:ph idx="1"/>
          </p:nvPr>
        </p:nvSpPr>
        <p:spPr/>
        <p:txBody>
          <a:bodyPr/>
          <a:lstStyle/>
          <a:p/>
        </p:txBody>
      </p:sp>
      <p:sp>
        <p:nvSpPr>
          <p:cNvPr id="4" name="TextBox 3"/>
          <p:cNvSpPr txBox="1"/>
          <p:nvPr/>
        </p:nvSpPr>
        <p:spPr>
          <a:xfrm>
            <a:off x="548640" y="1024128"/>
            <a:ext cx="6446520" cy="274320"/>
          </a:xfrm>
          <a:prstGeom prst="rect">
            <a:avLst/>
          </a:prstGeom>
          <a:noFill/>
        </p:spPr>
        <p:txBody>
          <a:bodyPr wrap="square" anchor="t" lIns="45720" rIns="45720" tIns="18288" bIns="18288">
            <a:spAutoFit/>
          </a:bodyPr>
          <a:lstStyle/>
          <a:p>
            <a:pPr algn="l">
              <a:spcBef>
                <a:spcPts val="0"/>
              </a:spcBef>
              <a:spcAft>
                <a:spcPts val="0"/>
              </a:spcAft>
              <a:buNone/>
            </a:pPr>
            <a:r>
              <a:rPr sz="1100" b="1" i="0">
                <a:solidFill>
                  <a:srgbClr val="C8102E"/>
                </a:solidFill>
                <a:latin typeface="Arial"/>
              </a:rPr>
              <a:t>PRIMARY METRIC · INTUITION</a:t>
            </a:r>
          </a:p>
        </p:txBody>
      </p:sp>
      <p:sp>
        <p:nvSpPr>
          <p:cNvPr id="5" name="TextBox 4"/>
          <p:cNvSpPr txBox="1"/>
          <p:nvPr/>
        </p:nvSpPr>
        <p:spPr>
          <a:xfrm>
            <a:off x="548640" y="1371600"/>
            <a:ext cx="6446520" cy="640080"/>
          </a:xfrm>
          <a:prstGeom prst="rect">
            <a:avLst/>
          </a:prstGeom>
          <a:noFill/>
        </p:spPr>
        <p:txBody>
          <a:bodyPr wrap="square" anchor="t" lIns="45720" rIns="45720" tIns="18288" bIns="18288">
            <a:spAutoFit/>
          </a:bodyPr>
          <a:lstStyle/>
          <a:p>
            <a:pPr>
              <a:spcBef>
                <a:spcPts val="0"/>
              </a:spcBef>
              <a:spcAft>
                <a:spcPts val="0"/>
              </a:spcAft>
              <a:buNone/>
            </a:pPr>
            <a:r>
              <a:rPr sz="1400" b="0">
                <a:solidFill>
                  <a:srgbClr val="2A2E30"/>
                </a:solidFill>
                <a:latin typeface="Arial"/>
              </a:rPr>
              <a:t>Every patient earns points. Correct calls on </a:t>
            </a:r>
            <a:r>
              <a:rPr sz="1400" b="1">
                <a:solidFill>
                  <a:srgbClr val="C8102E"/>
                </a:solidFill>
                <a:latin typeface="Arial"/>
              </a:rPr>
              <a:t>rare</a:t>
            </a:r>
            <a:r>
              <a:rPr sz="1400" b="0">
                <a:solidFill>
                  <a:srgbClr val="2A2E30"/>
                </a:solidFill>
                <a:latin typeface="Arial"/>
              </a:rPr>
              <a:t> outcomes pay the most; each mistake costs </a:t>
            </a:r>
            <a:r>
              <a:rPr sz="1400" b="1">
                <a:solidFill>
                  <a:srgbClr val="2A2E30"/>
                </a:solidFill>
                <a:latin typeface="Arial"/>
              </a:rPr>
              <a:t>−1</a:t>
            </a:r>
            <a:r>
              <a:rPr sz="1400" b="0">
                <a:solidFill>
                  <a:srgbClr val="2A2E30"/>
                </a:solidFill>
                <a:latin typeface="Arial"/>
              </a:rPr>
              <a:t>. The score is the average over patients.</a:t>
            </a:r>
          </a:p>
        </p:txBody>
      </p:sp>
      <p:sp>
        <p:nvSpPr>
          <p:cNvPr id="6" name="Rounded Rectangle 5"/>
          <p:cNvSpPr/>
          <p:nvPr/>
        </p:nvSpPr>
        <p:spPr>
          <a:xfrm>
            <a:off x="548640" y="2057400"/>
            <a:ext cx="6446520" cy="960120"/>
          </a:xfrm>
          <a:prstGeom prst="roundRect">
            <a:avLst>
              <a:gd name="adj" fmla="val 6000"/>
            </a:avLst>
          </a:prstGeom>
          <a:solidFill>
            <a:srgbClr val="E9EE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31520" y="2121408"/>
            <a:ext cx="6035040" cy="868680"/>
          </a:xfrm>
          <a:prstGeom prst="rect">
            <a:avLst/>
          </a:prstGeom>
          <a:noFill/>
        </p:spPr>
        <p:txBody>
          <a:bodyPr wrap="square" anchor="ctr" lIns="45720" rIns="45720" tIns="18288" bIns="18288">
            <a:spAutoFit/>
          </a:bodyPr>
          <a:lstStyle/>
          <a:p>
            <a:pPr>
              <a:spcBef>
                <a:spcPts val="0"/>
              </a:spcBef>
              <a:spcAft>
                <a:spcPts val="300"/>
              </a:spcAft>
              <a:buNone/>
            </a:pPr>
            <a:r>
              <a:rPr sz="1300" b="1">
                <a:solidFill>
                  <a:srgbClr val="346583"/>
                </a:solidFill>
                <a:latin typeface="Arial"/>
              </a:rPr>
              <a:t>p</a:t>
            </a:r>
            <a:r>
              <a:rPr sz="1300" b="0">
                <a:solidFill>
                  <a:srgbClr val="505759"/>
                </a:solidFill>
                <a:latin typeface="Arial"/>
              </a:rPr>
              <a:t>  =  age-specific prevalence of impairment (the </a:t>
            </a:r>
            <a:r>
              <a:rPr sz="1300" b="1">
                <a:solidFill>
                  <a:srgbClr val="2A2E30"/>
                </a:solidFill>
                <a:latin typeface="Arial"/>
              </a:rPr>
              <a:t>base rate</a:t>
            </a:r>
            <a:r>
              <a:rPr sz="1300" b="0">
                <a:solidFill>
                  <a:srgbClr val="505759"/>
                </a:solidFill>
                <a:latin typeface="Arial"/>
              </a:rPr>
              <a:t> expected at that patient's age)</a:t>
            </a:r>
          </a:p>
          <a:p>
            <a:pPr>
              <a:spcBef>
                <a:spcPts val="300"/>
              </a:spcBef>
              <a:spcAft>
                <a:spcPts val="0"/>
              </a:spcAft>
              <a:buNone/>
            </a:pPr>
            <a:r>
              <a:rPr sz="1300" b="1">
                <a:solidFill>
                  <a:srgbClr val="C8102E"/>
                </a:solidFill>
                <a:latin typeface="Arial"/>
              </a:rPr>
              <a:t>Reward</a:t>
            </a:r>
            <a:r>
              <a:rPr sz="1300" b="0">
                <a:solidFill>
                  <a:srgbClr val="505759"/>
                </a:solidFill>
                <a:latin typeface="Arial"/>
              </a:rPr>
              <a:t>  =  </a:t>
            </a:r>
            <a:r>
              <a:rPr sz="1300" b="1">
                <a:solidFill>
                  <a:srgbClr val="2A2E30"/>
                </a:solidFill>
                <a:latin typeface="Arial"/>
              </a:rPr>
              <a:t>(1/N) · Σ  pointsᵢ</a:t>
            </a:r>
            <a:r>
              <a:rPr sz="1300" b="0">
                <a:solidFill>
                  <a:srgbClr val="505759"/>
                </a:solidFill>
                <a:latin typeface="Arial"/>
              </a:rPr>
              <a:t>      averaged across all N scored patients</a:t>
            </a:r>
          </a:p>
        </p:txBody>
      </p:sp>
      <p:sp>
        <p:nvSpPr>
          <p:cNvPr id="8" name="TextBox 7"/>
          <p:cNvSpPr txBox="1"/>
          <p:nvPr/>
        </p:nvSpPr>
        <p:spPr>
          <a:xfrm>
            <a:off x="548640" y="3246120"/>
            <a:ext cx="6446520" cy="1463040"/>
          </a:xfrm>
          <a:prstGeom prst="rect">
            <a:avLst/>
          </a:prstGeom>
          <a:noFill/>
        </p:spPr>
        <p:txBody>
          <a:bodyPr wrap="square" anchor="t" lIns="45720" rIns="45720" tIns="18288" bIns="18288">
            <a:spAutoFit/>
          </a:bodyPr>
          <a:lstStyle/>
          <a:p>
            <a:pPr algn="l">
              <a:spcBef>
                <a:spcPts val="200"/>
              </a:spcBef>
              <a:spcAft>
                <a:spcPts val="600"/>
              </a:spcAft>
              <a:buClr>
                <a:srgbClr val="C8102E"/>
              </a:buClr>
              <a:buFont typeface="Arial"/>
              <a:buSzPct val="70000"/>
              <a:buChar char="▪"/>
            </a:pPr>
            <a:r>
              <a:rPr sz="1300" b="0" i="0">
                <a:solidFill>
                  <a:srgbClr val="2A2E30"/>
                </a:solidFill>
                <a:latin typeface="Arial"/>
              </a:rPr>
              <a:t>Correctly flagging a rare case is worth much more than one common correct call.</a:t>
            </a:r>
          </a:p>
          <a:p>
            <a:pPr algn="l">
              <a:spcBef>
                <a:spcPts val="200"/>
              </a:spcBef>
              <a:spcAft>
                <a:spcPts val="600"/>
              </a:spcAft>
              <a:buClr>
                <a:srgbClr val="C8102E"/>
              </a:buClr>
              <a:buFont typeface="Arial"/>
              <a:buSzPct val="70000"/>
              <a:buChar char="▪"/>
            </a:pPr>
            <a:r>
              <a:rPr sz="1300" b="0" i="0">
                <a:solidFill>
                  <a:srgbClr val="2A2E30"/>
                </a:solidFill>
                <a:latin typeface="Arial"/>
              </a:rPr>
              <a:t>Every error — false alarm or miss — costs the same −1, so over-predicting is not a free win.</a:t>
            </a:r>
          </a:p>
          <a:p>
            <a:pPr algn="l">
              <a:spcBef>
                <a:spcPts val="200"/>
              </a:spcBef>
              <a:spcAft>
                <a:spcPts val="0"/>
              </a:spcAft>
              <a:buClr>
                <a:srgbClr val="C8102E"/>
              </a:buClr>
              <a:buFont typeface="Arial"/>
              <a:buSzPct val="70000"/>
              <a:buChar char="▪"/>
            </a:pPr>
            <a:r>
              <a:rPr sz="1300" b="0" i="0">
                <a:solidFill>
                  <a:srgbClr val="2A2E30"/>
                </a:solidFill>
                <a:latin typeface="Arial"/>
              </a:rPr>
              <a:t>Because payoffs scale with 1/p, the metric self-normalizes: skill shows, guessing doesn't.</a:t>
            </a:r>
          </a:p>
        </p:txBody>
      </p:sp>
      <p:sp>
        <p:nvSpPr>
          <p:cNvPr id="9" name="TextBox 8"/>
          <p:cNvSpPr txBox="1"/>
          <p:nvPr/>
        </p:nvSpPr>
        <p:spPr>
          <a:xfrm>
            <a:off x="548640" y="4828032"/>
            <a:ext cx="6035040" cy="228600"/>
          </a:xfrm>
          <a:prstGeom prst="rect">
            <a:avLst/>
          </a:prstGeom>
          <a:noFill/>
        </p:spPr>
        <p:txBody>
          <a:bodyPr wrap="square" anchor="t" lIns="45720" rIns="45720" tIns="18288" bIns="18288">
            <a:spAutoFit/>
          </a:bodyPr>
          <a:lstStyle/>
          <a:p>
            <a:pPr algn="l">
              <a:spcBef>
                <a:spcPts val="0"/>
              </a:spcBef>
              <a:spcAft>
                <a:spcPts val="0"/>
              </a:spcAft>
              <a:buNone/>
            </a:pPr>
            <a:r>
              <a:rPr sz="800" b="0" i="0">
                <a:solidFill>
                  <a:srgbClr val="898D8D"/>
                </a:solidFill>
                <a:latin typeface="Arial"/>
              </a:rPr>
              <a:t>PhysioNet Challenge 2026  ·  Scoring Metrics</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b="1">
                <a:latin typeface="Arial"/>
              </a:rPr>
              <a:t>How each prediction scores</a:t>
            </a:r>
          </a:p>
        </p:txBody>
      </p:sp>
      <p:sp>
        <p:nvSpPr>
          <p:cNvPr id="3" name="Content Placeholder 2"/>
          <p:cNvSpPr>
            <a:spLocks noGrp="1"/>
          </p:cNvSpPr>
          <p:nvPr>
            <p:ph idx="1"/>
          </p:nvPr>
        </p:nvSpPr>
        <p:spPr/>
        <p:txBody>
          <a:bodyPr/>
          <a:lstStyle/>
          <a:p/>
        </p:txBody>
      </p:sp>
      <p:sp>
        <p:nvSpPr>
          <p:cNvPr id="4" name="TextBox 3"/>
          <p:cNvSpPr txBox="1"/>
          <p:nvPr/>
        </p:nvSpPr>
        <p:spPr>
          <a:xfrm>
            <a:off x="548640" y="1024128"/>
            <a:ext cx="6446520" cy="274320"/>
          </a:xfrm>
          <a:prstGeom prst="rect">
            <a:avLst/>
          </a:prstGeom>
          <a:noFill/>
        </p:spPr>
        <p:txBody>
          <a:bodyPr wrap="square" anchor="t" lIns="45720" rIns="45720" tIns="18288" bIns="18288">
            <a:spAutoFit/>
          </a:bodyPr>
          <a:lstStyle/>
          <a:p>
            <a:pPr algn="l">
              <a:spcBef>
                <a:spcPts val="0"/>
              </a:spcBef>
              <a:spcAft>
                <a:spcPts val="0"/>
              </a:spcAft>
              <a:buNone/>
            </a:pPr>
            <a:r>
              <a:rPr sz="1100" b="1" i="0">
                <a:solidFill>
                  <a:srgbClr val="C8102E"/>
                </a:solidFill>
                <a:latin typeface="Arial"/>
              </a:rPr>
              <a:t>PRIMARY METRIC · PAYOFF</a:t>
            </a:r>
          </a:p>
        </p:txBody>
      </p:sp>
      <p:graphicFrame>
        <p:nvGraphicFramePr>
          <p:cNvPr id="5" name="Table 4"/>
          <p:cNvGraphicFramePr>
            <a:graphicFrameLocks noGrp="1"/>
          </p:cNvGraphicFramePr>
          <p:nvPr/>
        </p:nvGraphicFramePr>
        <p:xfrm>
          <a:off x="548640" y="1463040"/>
          <a:ext cx="4160520" cy="1965960"/>
        </p:xfrm>
        <a:graphic>
          <a:graphicData uri="http://schemas.openxmlformats.org/drawingml/2006/table">
            <a:tbl>
              <a:tblPr firstRow="0" bandRow="0">
                <a:tableStyleId>{5C22544A-7EE6-4342-B048-85BDC9FD1C3A}</a:tableStyleId>
              </a:tblPr>
              <a:tblGrid>
                <a:gridCol w="1417320"/>
                <a:gridCol w="1371600"/>
                <a:gridCol w="1371600"/>
              </a:tblGrid>
              <a:tr h="655320">
                <a:tc>
                  <a:txBody>
                    <a:bodyPr wrap="square"/>
                    <a:lstStyle/>
                    <a:p>
                      <a:pPr algn="ctr"/>
                      <a:r>
                        <a:rPr sz="1200" b="0">
                          <a:solidFill>
                            <a:srgbClr val="FFFFFF"/>
                          </a:solidFill>
                          <a:latin typeface="Arial"/>
                        </a:rPr>
                        <a:t/>
                      </a:r>
                    </a:p>
                  </a:txBody>
                  <a:tcPr anchor="ctr" marL="73152" marR="54864" marT="27432" marB="27432">
                    <a:solidFill>
                      <a:srgbClr val="FFFFFF"/>
                    </a:solidFill>
                  </a:tcPr>
                </a:tc>
                <a:tc>
                  <a:txBody>
                    <a:bodyPr wrap="square"/>
                    <a:lstStyle/>
                    <a:p>
                      <a:pPr algn="ctr"/>
                      <a:r>
                        <a:rPr sz="1200" b="1">
                          <a:solidFill>
                            <a:srgbClr val="FFFFFF"/>
                          </a:solidFill>
                          <a:latin typeface="Arial"/>
                        </a:rPr>
                        <a:t>Predicted +</a:t>
                      </a:r>
                    </a:p>
                  </a:txBody>
                  <a:tcPr anchor="ctr" marL="73152" marR="54864" marT="27432" marB="27432">
                    <a:solidFill>
                      <a:srgbClr val="505759"/>
                    </a:solidFill>
                  </a:tcPr>
                </a:tc>
                <a:tc>
                  <a:txBody>
                    <a:bodyPr wrap="square"/>
                    <a:lstStyle/>
                    <a:p>
                      <a:pPr algn="ctr"/>
                      <a:r>
                        <a:rPr sz="1200" b="1">
                          <a:solidFill>
                            <a:srgbClr val="FFFFFF"/>
                          </a:solidFill>
                          <a:latin typeface="Arial"/>
                        </a:rPr>
                        <a:t>Predicted −</a:t>
                      </a:r>
                    </a:p>
                  </a:txBody>
                  <a:tcPr anchor="ctr" marL="73152" marR="54864" marT="27432" marB="27432">
                    <a:solidFill>
                      <a:srgbClr val="505759"/>
                    </a:solidFill>
                  </a:tcPr>
                </a:tc>
              </a:tr>
              <a:tr h="655320">
                <a:tc>
                  <a:txBody>
                    <a:bodyPr wrap="square"/>
                    <a:lstStyle/>
                    <a:p>
                      <a:pPr algn="ctr"/>
                      <a:r>
                        <a:rPr sz="1200" b="1">
                          <a:solidFill>
                            <a:srgbClr val="FFFFFF"/>
                          </a:solidFill>
                          <a:latin typeface="Arial"/>
                        </a:rPr>
                        <a:t>Actual +</a:t>
                      </a:r>
                    </a:p>
                  </a:txBody>
                  <a:tcPr anchor="ctr" marL="73152" marR="54864" marT="27432" marB="27432">
                    <a:solidFill>
                      <a:srgbClr val="505759"/>
                    </a:solidFill>
                  </a:tcPr>
                </a:tc>
                <a:tc>
                  <a:txBody>
                    <a:bodyPr wrap="square"/>
                    <a:lstStyle/>
                    <a:p>
                      <a:pPr algn="ctr"/>
                      <a:r>
                        <a:rPr sz="1200" b="1">
                          <a:solidFill>
                            <a:srgbClr val="C8102E"/>
                          </a:solidFill>
                          <a:latin typeface="Arial"/>
                        </a:rPr>
                        <a:t>+ (1/p − 1)</a:t>
                      </a:r>
                    </a:p>
                  </a:txBody>
                  <a:tcPr anchor="ctr" marL="73152" marR="54864" marT="27432" marB="27432">
                    <a:solidFill>
                      <a:srgbClr val="FBE9EC"/>
                    </a:solidFill>
                  </a:tcPr>
                </a:tc>
                <a:tc>
                  <a:txBody>
                    <a:bodyPr wrap="square"/>
                    <a:lstStyle/>
                    <a:p>
                      <a:pPr algn="ctr"/>
                      <a:r>
                        <a:rPr sz="1200" b="0">
                          <a:solidFill>
                            <a:srgbClr val="505759"/>
                          </a:solidFill>
                          <a:latin typeface="Arial"/>
                        </a:rPr>
                        <a:t>−1  (miss)</a:t>
                      </a:r>
                    </a:p>
                  </a:txBody>
                  <a:tcPr anchor="ctr" marL="73152" marR="54864" marT="27432" marB="27432">
                    <a:solidFill>
                      <a:srgbClr val="FFFFFF"/>
                    </a:solidFill>
                  </a:tcPr>
                </a:tc>
              </a:tr>
              <a:tr h="655320">
                <a:tc>
                  <a:txBody>
                    <a:bodyPr wrap="square"/>
                    <a:lstStyle/>
                    <a:p>
                      <a:pPr algn="ctr"/>
                      <a:r>
                        <a:rPr sz="1200" b="1">
                          <a:solidFill>
                            <a:srgbClr val="FFFFFF"/>
                          </a:solidFill>
                          <a:latin typeface="Arial"/>
                        </a:rPr>
                        <a:t>Actual −</a:t>
                      </a:r>
                    </a:p>
                  </a:txBody>
                  <a:tcPr anchor="ctr" marL="73152" marR="54864" marT="27432" marB="27432">
                    <a:solidFill>
                      <a:srgbClr val="505759"/>
                    </a:solidFill>
                  </a:tcPr>
                </a:tc>
                <a:tc>
                  <a:txBody>
                    <a:bodyPr wrap="square"/>
                    <a:lstStyle/>
                    <a:p>
                      <a:pPr algn="ctr"/>
                      <a:r>
                        <a:rPr sz="1200" b="0">
                          <a:solidFill>
                            <a:srgbClr val="505759"/>
                          </a:solidFill>
                          <a:latin typeface="Arial"/>
                        </a:rPr>
                        <a:t>−1  (false alarm)</a:t>
                      </a:r>
                    </a:p>
                  </a:txBody>
                  <a:tcPr anchor="ctr" marL="73152" marR="54864" marT="27432" marB="27432">
                    <a:solidFill>
                      <a:srgbClr val="FFFFFF"/>
                    </a:solidFill>
                  </a:tcPr>
                </a:tc>
                <a:tc>
                  <a:txBody>
                    <a:bodyPr wrap="square"/>
                    <a:lstStyle/>
                    <a:p>
                      <a:pPr algn="ctr"/>
                      <a:r>
                        <a:rPr sz="1200" b="1">
                          <a:solidFill>
                            <a:srgbClr val="346583"/>
                          </a:solidFill>
                          <a:latin typeface="Arial"/>
                        </a:rPr>
                        <a:t>+ (1/(1−p) − 1)</a:t>
                      </a:r>
                    </a:p>
                  </a:txBody>
                  <a:tcPr anchor="ctr" marL="73152" marR="54864" marT="27432" marB="27432">
                    <a:solidFill>
                      <a:srgbClr val="F2F4F4"/>
                    </a:solidFill>
                  </a:tcPr>
                </a:tc>
              </a:tr>
            </a:tbl>
          </a:graphicData>
        </a:graphic>
      </p:graphicFrame>
      <p:sp>
        <p:nvSpPr>
          <p:cNvPr id="6" name="TextBox 5"/>
          <p:cNvSpPr txBox="1"/>
          <p:nvPr/>
        </p:nvSpPr>
        <p:spPr>
          <a:xfrm>
            <a:off x="4892040" y="1463040"/>
            <a:ext cx="2103120" cy="2926080"/>
          </a:xfrm>
          <a:prstGeom prst="rect">
            <a:avLst/>
          </a:prstGeom>
          <a:noFill/>
        </p:spPr>
        <p:txBody>
          <a:bodyPr wrap="square" anchor="t" lIns="45720" rIns="45720" tIns="18288" bIns="18288">
            <a:spAutoFit/>
          </a:bodyPr>
          <a:lstStyle/>
          <a:p>
            <a:pPr algn="l">
              <a:spcBef>
                <a:spcPts val="0"/>
              </a:spcBef>
              <a:spcAft>
                <a:spcPts val="600"/>
              </a:spcAft>
              <a:buNone/>
            </a:pPr>
            <a:r>
              <a:rPr sz="1100" b="1" i="0">
                <a:solidFill>
                  <a:srgbClr val="C8102E"/>
                </a:solidFill>
                <a:latin typeface="Arial"/>
              </a:rPr>
              <a:t>Reading it</a:t>
            </a:r>
          </a:p>
          <a:p>
            <a:pPr algn="l">
              <a:spcBef>
                <a:spcPts val="0"/>
              </a:spcBef>
              <a:spcAft>
                <a:spcPts val="600"/>
              </a:spcAft>
              <a:buClr>
                <a:srgbClr val="C8102E"/>
              </a:buClr>
              <a:buFont typeface="Arial"/>
              <a:buSzPct val="70000"/>
              <a:buChar char="▪"/>
            </a:pPr>
            <a:r>
              <a:rPr sz="1100" b="0" i="0">
                <a:solidFill>
                  <a:srgbClr val="505759"/>
                </a:solidFill>
                <a:latin typeface="Arial"/>
              </a:rPr>
              <a:t>Hits on the rare (positive) class pay 1/p − 1 — large when p is small.</a:t>
            </a:r>
          </a:p>
          <a:p>
            <a:pPr algn="l">
              <a:spcBef>
                <a:spcPts val="0"/>
              </a:spcBef>
              <a:spcAft>
                <a:spcPts val="600"/>
              </a:spcAft>
              <a:buClr>
                <a:srgbClr val="C8102E"/>
              </a:buClr>
              <a:buFont typeface="Arial"/>
              <a:buSzPct val="70000"/>
              <a:buChar char="▪"/>
            </a:pPr>
            <a:r>
              <a:rPr sz="1100" b="0" i="0">
                <a:solidFill>
                  <a:srgbClr val="505759"/>
                </a:solidFill>
                <a:latin typeface="Arial"/>
              </a:rPr>
              <a:t>Correct negatives pay a small amount, 1/(1−p) − 1.</a:t>
            </a:r>
          </a:p>
          <a:p>
            <a:pPr algn="l">
              <a:spcBef>
                <a:spcPts val="0"/>
              </a:spcBef>
              <a:spcAft>
                <a:spcPts val="0"/>
              </a:spcAft>
              <a:buClr>
                <a:srgbClr val="C8102E"/>
              </a:buClr>
              <a:buFont typeface="Arial"/>
              <a:buSzPct val="70000"/>
              <a:buChar char="▪"/>
            </a:pPr>
            <a:r>
              <a:rPr sz="1100" b="0" i="0">
                <a:solidFill>
                  <a:srgbClr val="505759"/>
                </a:solidFill>
                <a:latin typeface="Arial"/>
              </a:rPr>
              <a:t>Any error costs a flat −1.</a:t>
            </a:r>
          </a:p>
        </p:txBody>
      </p:sp>
      <p:sp>
        <p:nvSpPr>
          <p:cNvPr id="7" name="TextBox 6"/>
          <p:cNvSpPr txBox="1"/>
          <p:nvPr/>
        </p:nvSpPr>
        <p:spPr>
          <a:xfrm>
            <a:off x="548640" y="3977639"/>
            <a:ext cx="6446520" cy="640080"/>
          </a:xfrm>
          <a:prstGeom prst="rect">
            <a:avLst/>
          </a:prstGeom>
          <a:noFill/>
        </p:spPr>
        <p:txBody>
          <a:bodyPr wrap="square" anchor="t" lIns="45720" rIns="45720" tIns="18288" bIns="18288">
            <a:spAutoFit/>
          </a:bodyPr>
          <a:lstStyle/>
          <a:p>
            <a:pPr>
              <a:spcBef>
                <a:spcPts val="0"/>
              </a:spcBef>
              <a:spcAft>
                <a:spcPts val="0"/>
              </a:spcAft>
              <a:buNone/>
            </a:pPr>
            <a:r>
              <a:rPr sz="1200" b="0">
                <a:solidFill>
                  <a:srgbClr val="505759"/>
                </a:solidFill>
                <a:latin typeface="Arial"/>
              </a:rPr>
              <a:t>Worked example at </a:t>
            </a:r>
            <a:r>
              <a:rPr sz="1200" b="1">
                <a:solidFill>
                  <a:srgbClr val="2A2E30"/>
                </a:solidFill>
                <a:latin typeface="Arial"/>
              </a:rPr>
              <a:t>p = 0.15</a:t>
            </a:r>
            <a:r>
              <a:rPr sz="1200" b="0">
                <a:solidFill>
                  <a:srgbClr val="505759"/>
                </a:solidFill>
                <a:latin typeface="Arial"/>
              </a:rPr>
              <a:t>:  a correct positive = </a:t>
            </a:r>
            <a:r>
              <a:rPr sz="1200" b="1">
                <a:solidFill>
                  <a:srgbClr val="C8102E"/>
                </a:solidFill>
                <a:latin typeface="Arial"/>
              </a:rPr>
              <a:t>+5.7</a:t>
            </a:r>
            <a:r>
              <a:rPr sz="1200" b="0">
                <a:solidFill>
                  <a:srgbClr val="505759"/>
                </a:solidFill>
                <a:latin typeface="Arial"/>
              </a:rPr>
              <a:t>,  a correct negative = </a:t>
            </a:r>
            <a:r>
              <a:rPr sz="1200" b="1">
                <a:solidFill>
                  <a:srgbClr val="346583"/>
                </a:solidFill>
                <a:latin typeface="Arial"/>
              </a:rPr>
              <a:t>+0.18</a:t>
            </a:r>
            <a:r>
              <a:rPr sz="1200" b="0">
                <a:solidFill>
                  <a:srgbClr val="505759"/>
                </a:solidFill>
                <a:latin typeface="Arial"/>
              </a:rPr>
              <a:t>,  any error = </a:t>
            </a:r>
            <a:r>
              <a:rPr sz="1200" b="1">
                <a:solidFill>
                  <a:srgbClr val="2A2E30"/>
                </a:solidFill>
                <a:latin typeface="Arial"/>
              </a:rPr>
              <a:t>−1</a:t>
            </a:r>
            <a:r>
              <a:rPr sz="1200" b="0">
                <a:solidFill>
                  <a:srgbClr val="505759"/>
                </a:solidFill>
                <a:latin typeface="Arial"/>
              </a:rPr>
              <a:t>.</a:t>
            </a:r>
          </a:p>
        </p:txBody>
      </p:sp>
      <p:sp>
        <p:nvSpPr>
          <p:cNvPr id="8" name="TextBox 7"/>
          <p:cNvSpPr txBox="1"/>
          <p:nvPr/>
        </p:nvSpPr>
        <p:spPr>
          <a:xfrm>
            <a:off x="548640" y="4828032"/>
            <a:ext cx="6035040" cy="228600"/>
          </a:xfrm>
          <a:prstGeom prst="rect">
            <a:avLst/>
          </a:prstGeom>
          <a:noFill/>
        </p:spPr>
        <p:txBody>
          <a:bodyPr wrap="square" anchor="t" lIns="45720" rIns="45720" tIns="18288" bIns="18288">
            <a:spAutoFit/>
          </a:bodyPr>
          <a:lstStyle/>
          <a:p>
            <a:pPr algn="l">
              <a:spcBef>
                <a:spcPts val="0"/>
              </a:spcBef>
              <a:spcAft>
                <a:spcPts val="0"/>
              </a:spcAft>
              <a:buNone/>
            </a:pPr>
            <a:r>
              <a:rPr sz="800" b="0" i="0">
                <a:solidFill>
                  <a:srgbClr val="898D8D"/>
                </a:solidFill>
                <a:latin typeface="Arial"/>
              </a:rPr>
              <a:t>PhysioNet Challenge 2026  ·  Scoring Metrics</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b="1">
                <a:latin typeface="Arial"/>
              </a:rPr>
              <a:t>Trivial strategies score zero — by design</a:t>
            </a:r>
          </a:p>
        </p:txBody>
      </p:sp>
      <p:sp>
        <p:nvSpPr>
          <p:cNvPr id="3" name="Content Placeholder 2"/>
          <p:cNvSpPr>
            <a:spLocks noGrp="1"/>
          </p:cNvSpPr>
          <p:nvPr>
            <p:ph idx="1"/>
          </p:nvPr>
        </p:nvSpPr>
        <p:spPr/>
        <p:txBody>
          <a:bodyPr/>
          <a:lstStyle/>
          <a:p/>
        </p:txBody>
      </p:sp>
      <p:sp>
        <p:nvSpPr>
          <p:cNvPr id="4" name="TextBox 3"/>
          <p:cNvSpPr txBox="1"/>
          <p:nvPr/>
        </p:nvSpPr>
        <p:spPr>
          <a:xfrm>
            <a:off x="548640" y="1024128"/>
            <a:ext cx="6446520" cy="274320"/>
          </a:xfrm>
          <a:prstGeom prst="rect">
            <a:avLst/>
          </a:prstGeom>
          <a:noFill/>
        </p:spPr>
        <p:txBody>
          <a:bodyPr wrap="square" anchor="t" lIns="45720" rIns="45720" tIns="18288" bIns="18288">
            <a:spAutoFit/>
          </a:bodyPr>
          <a:lstStyle/>
          <a:p>
            <a:pPr algn="l">
              <a:spcBef>
                <a:spcPts val="0"/>
              </a:spcBef>
              <a:spcAft>
                <a:spcPts val="0"/>
              </a:spcAft>
              <a:buNone/>
            </a:pPr>
            <a:r>
              <a:rPr sz="1100" b="1" i="0">
                <a:solidFill>
                  <a:srgbClr val="C8102E"/>
                </a:solidFill>
                <a:latin typeface="Arial"/>
              </a:rPr>
              <a:t>PRIMARY METRIC · WHY IT WORKS</a:t>
            </a:r>
          </a:p>
        </p:txBody>
      </p:sp>
      <p:pic>
        <p:nvPicPr>
          <p:cNvPr id="5" name="Picture 4" descr="chart_normalization.png"/>
          <p:cNvPicPr>
            <a:picLocks noChangeAspect="1"/>
          </p:cNvPicPr>
          <p:nvPr/>
        </p:nvPicPr>
        <p:blipFill>
          <a:blip r:embed="rId2"/>
          <a:stretch>
            <a:fillRect/>
          </a:stretch>
        </p:blipFill>
        <p:spPr>
          <a:xfrm>
            <a:off x="548640" y="1371600"/>
            <a:ext cx="5212080" cy="2707282"/>
          </a:xfrm>
          <a:prstGeom prst="rect">
            <a:avLst/>
          </a:prstGeom>
        </p:spPr>
      </p:pic>
      <p:sp>
        <p:nvSpPr>
          <p:cNvPr id="6" name="TextBox 5"/>
          <p:cNvSpPr txBox="1"/>
          <p:nvPr/>
        </p:nvSpPr>
        <p:spPr>
          <a:xfrm>
            <a:off x="548640" y="4343400"/>
            <a:ext cx="6446520" cy="502920"/>
          </a:xfrm>
          <a:prstGeom prst="rect">
            <a:avLst/>
          </a:prstGeom>
          <a:noFill/>
        </p:spPr>
        <p:txBody>
          <a:bodyPr wrap="square" anchor="t" lIns="45720" rIns="45720" tIns="18288" bIns="18288">
            <a:spAutoFit/>
          </a:bodyPr>
          <a:lstStyle/>
          <a:p>
            <a:pPr>
              <a:spcBef>
                <a:spcPts val="0"/>
              </a:spcBef>
              <a:spcAft>
                <a:spcPts val="0"/>
              </a:spcAft>
              <a:buNone/>
            </a:pPr>
            <a:r>
              <a:rPr sz="1100" b="0">
                <a:solidFill>
                  <a:srgbClr val="505759"/>
                </a:solidFill>
                <a:latin typeface="Arial"/>
              </a:rPr>
              <a:t>Verified in simulation: a </a:t>
            </a:r>
            <a:r>
              <a:rPr sz="1100" b="1">
                <a:solidFill>
                  <a:srgbClr val="C8102E"/>
                </a:solidFill>
                <a:latin typeface="Arial"/>
              </a:rPr>
              <a:t>perfect model ≈ +1.0</a:t>
            </a:r>
            <a:r>
              <a:rPr sz="1100" b="0">
                <a:solidFill>
                  <a:srgbClr val="505759"/>
                </a:solidFill>
                <a:latin typeface="Arial"/>
              </a:rPr>
              <a:t>; all-negative, all-positive, and random each </a:t>
            </a:r>
            <a:r>
              <a:rPr sz="1100" b="1">
                <a:solidFill>
                  <a:srgbClr val="2A2E30"/>
                </a:solidFill>
                <a:latin typeface="Arial"/>
              </a:rPr>
              <a:t>≈ 0</a:t>
            </a:r>
            <a:r>
              <a:rPr sz="1100" b="0">
                <a:solidFill>
                  <a:srgbClr val="505759"/>
                </a:solidFill>
                <a:latin typeface="Arial"/>
              </a:rPr>
              <a:t>, at any prevalence.</a:t>
            </a:r>
          </a:p>
        </p:txBody>
      </p:sp>
      <p:sp>
        <p:nvSpPr>
          <p:cNvPr id="7" name="TextBox 6"/>
          <p:cNvSpPr txBox="1"/>
          <p:nvPr/>
        </p:nvSpPr>
        <p:spPr>
          <a:xfrm>
            <a:off x="548640" y="4828032"/>
            <a:ext cx="6035040" cy="228600"/>
          </a:xfrm>
          <a:prstGeom prst="rect">
            <a:avLst/>
          </a:prstGeom>
          <a:noFill/>
        </p:spPr>
        <p:txBody>
          <a:bodyPr wrap="square" anchor="t" lIns="45720" rIns="45720" tIns="18288" bIns="18288">
            <a:spAutoFit/>
          </a:bodyPr>
          <a:lstStyle/>
          <a:p>
            <a:pPr algn="l">
              <a:spcBef>
                <a:spcPts val="0"/>
              </a:spcBef>
              <a:spcAft>
                <a:spcPts val="0"/>
              </a:spcAft>
              <a:buNone/>
            </a:pPr>
            <a:r>
              <a:rPr sz="800" b="0" i="0">
                <a:solidFill>
                  <a:srgbClr val="898D8D"/>
                </a:solidFill>
                <a:latin typeface="Arial"/>
              </a:rPr>
              <a:t>PhysioNet Challenge 2026  ·  Scoring Metrics</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b="1">
                <a:latin typeface="Arial"/>
              </a:rPr>
              <a:t>The rarer the case, the bigger the payoff</a:t>
            </a:r>
          </a:p>
        </p:txBody>
      </p:sp>
      <p:sp>
        <p:nvSpPr>
          <p:cNvPr id="3" name="Content Placeholder 2"/>
          <p:cNvSpPr>
            <a:spLocks noGrp="1"/>
          </p:cNvSpPr>
          <p:nvPr>
            <p:ph idx="1"/>
          </p:nvPr>
        </p:nvSpPr>
        <p:spPr/>
        <p:txBody>
          <a:bodyPr/>
          <a:lstStyle/>
          <a:p/>
        </p:txBody>
      </p:sp>
      <p:sp>
        <p:nvSpPr>
          <p:cNvPr id="4" name="TextBox 3"/>
          <p:cNvSpPr txBox="1"/>
          <p:nvPr/>
        </p:nvSpPr>
        <p:spPr>
          <a:xfrm>
            <a:off x="548640" y="1024128"/>
            <a:ext cx="6446520" cy="274320"/>
          </a:xfrm>
          <a:prstGeom prst="rect">
            <a:avLst/>
          </a:prstGeom>
          <a:noFill/>
        </p:spPr>
        <p:txBody>
          <a:bodyPr wrap="square" anchor="t" lIns="45720" rIns="45720" tIns="18288" bIns="18288">
            <a:spAutoFit/>
          </a:bodyPr>
          <a:lstStyle/>
          <a:p>
            <a:pPr algn="l">
              <a:spcBef>
                <a:spcPts val="0"/>
              </a:spcBef>
              <a:spcAft>
                <a:spcPts val="0"/>
              </a:spcAft>
              <a:buNone/>
            </a:pPr>
            <a:r>
              <a:rPr sz="1100" b="1" i="0">
                <a:solidFill>
                  <a:srgbClr val="C8102E"/>
                </a:solidFill>
                <a:latin typeface="Arial"/>
              </a:rPr>
              <a:t>PRIMARY METRIC · WHY IT WORKS</a:t>
            </a:r>
          </a:p>
        </p:txBody>
      </p:sp>
      <p:pic>
        <p:nvPicPr>
          <p:cNvPr id="5" name="Picture 4" descr="chart_rare_pays.png"/>
          <p:cNvPicPr>
            <a:picLocks noChangeAspect="1"/>
          </p:cNvPicPr>
          <p:nvPr/>
        </p:nvPicPr>
        <p:blipFill>
          <a:blip r:embed="rId2"/>
          <a:stretch>
            <a:fillRect/>
          </a:stretch>
        </p:blipFill>
        <p:spPr>
          <a:xfrm>
            <a:off x="548640" y="1371600"/>
            <a:ext cx="5394960" cy="2658813"/>
          </a:xfrm>
          <a:prstGeom prst="rect">
            <a:avLst/>
          </a:prstGeom>
        </p:spPr>
      </p:pic>
      <p:sp>
        <p:nvSpPr>
          <p:cNvPr id="6" name="TextBox 5"/>
          <p:cNvSpPr txBox="1"/>
          <p:nvPr/>
        </p:nvSpPr>
        <p:spPr>
          <a:xfrm>
            <a:off x="548640" y="4343400"/>
            <a:ext cx="6446520" cy="502920"/>
          </a:xfrm>
          <a:prstGeom prst="rect">
            <a:avLst/>
          </a:prstGeom>
          <a:noFill/>
        </p:spPr>
        <p:txBody>
          <a:bodyPr wrap="square" anchor="t" lIns="45720" rIns="45720" tIns="18288" bIns="18288">
            <a:spAutoFit/>
          </a:bodyPr>
          <a:lstStyle/>
          <a:p>
            <a:pPr>
              <a:spcBef>
                <a:spcPts val="0"/>
              </a:spcBef>
              <a:spcAft>
                <a:spcPts val="0"/>
              </a:spcAft>
              <a:buNone/>
            </a:pPr>
            <a:r>
              <a:rPr sz="1100" b="0">
                <a:solidFill>
                  <a:srgbClr val="505759"/>
                </a:solidFill>
                <a:latin typeface="Arial"/>
              </a:rPr>
              <a:t>This is what makes the metric </a:t>
            </a:r>
            <a:r>
              <a:rPr sz="1100" b="1">
                <a:solidFill>
                  <a:srgbClr val="C8102E"/>
                </a:solidFill>
                <a:latin typeface="Arial"/>
              </a:rPr>
              <a:t>clinically aligned</a:t>
            </a:r>
            <a:r>
              <a:rPr sz="1100" b="0">
                <a:solidFill>
                  <a:srgbClr val="505759"/>
                </a:solidFill>
                <a:latin typeface="Arial"/>
              </a:rPr>
              <a:t>: it pushes the model to catch impairment even when it is uncommon.</a:t>
            </a:r>
          </a:p>
        </p:txBody>
      </p:sp>
      <p:sp>
        <p:nvSpPr>
          <p:cNvPr id="7" name="TextBox 6"/>
          <p:cNvSpPr txBox="1"/>
          <p:nvPr/>
        </p:nvSpPr>
        <p:spPr>
          <a:xfrm>
            <a:off x="548640" y="4828032"/>
            <a:ext cx="6035040" cy="228600"/>
          </a:xfrm>
          <a:prstGeom prst="rect">
            <a:avLst/>
          </a:prstGeom>
          <a:noFill/>
        </p:spPr>
        <p:txBody>
          <a:bodyPr wrap="square" anchor="t" lIns="45720" rIns="45720" tIns="18288" bIns="18288">
            <a:spAutoFit/>
          </a:bodyPr>
          <a:lstStyle/>
          <a:p>
            <a:pPr algn="l">
              <a:spcBef>
                <a:spcPts val="0"/>
              </a:spcBef>
              <a:spcAft>
                <a:spcPts val="0"/>
              </a:spcAft>
              <a:buNone/>
            </a:pPr>
            <a:r>
              <a:rPr sz="800" b="0" i="0">
                <a:solidFill>
                  <a:srgbClr val="898D8D"/>
                </a:solidFill>
                <a:latin typeface="Arial"/>
              </a:rPr>
              <a:t>PhysioNet Challenge 2026  ·  Scoring Metrics</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b="1">
                <a:latin typeface="Arial"/>
              </a:rPr>
              <a:t>Age-conditioned AUROC</a:t>
            </a:r>
          </a:p>
        </p:txBody>
      </p:sp>
      <p:sp>
        <p:nvSpPr>
          <p:cNvPr id="3" name="Content Placeholder 2"/>
          <p:cNvSpPr>
            <a:spLocks noGrp="1"/>
          </p:cNvSpPr>
          <p:nvPr>
            <p:ph idx="1"/>
          </p:nvPr>
        </p:nvSpPr>
        <p:spPr/>
        <p:txBody>
          <a:bodyPr/>
          <a:lstStyle/>
          <a:p/>
        </p:txBody>
      </p:sp>
      <p:sp>
        <p:nvSpPr>
          <p:cNvPr id="4" name="TextBox 3"/>
          <p:cNvSpPr txBox="1"/>
          <p:nvPr/>
        </p:nvSpPr>
        <p:spPr>
          <a:xfrm>
            <a:off x="548640" y="1024128"/>
            <a:ext cx="6446520" cy="274320"/>
          </a:xfrm>
          <a:prstGeom prst="rect">
            <a:avLst/>
          </a:prstGeom>
          <a:noFill/>
        </p:spPr>
        <p:txBody>
          <a:bodyPr wrap="square" anchor="t" lIns="45720" rIns="45720" tIns="18288" bIns="18288">
            <a:spAutoFit/>
          </a:bodyPr>
          <a:lstStyle/>
          <a:p>
            <a:pPr algn="l">
              <a:spcBef>
                <a:spcPts val="0"/>
              </a:spcBef>
              <a:spcAft>
                <a:spcPts val="0"/>
              </a:spcAft>
              <a:buNone/>
            </a:pPr>
            <a:r>
              <a:rPr sz="1100" b="1" i="0">
                <a:solidFill>
                  <a:srgbClr val="C8102E"/>
                </a:solidFill>
                <a:latin typeface="Arial"/>
              </a:rPr>
              <a:t>DIAGNOSTIC METRIC</a:t>
            </a:r>
          </a:p>
        </p:txBody>
      </p:sp>
      <p:sp>
        <p:nvSpPr>
          <p:cNvPr id="5" name="TextBox 4"/>
          <p:cNvSpPr txBox="1"/>
          <p:nvPr/>
        </p:nvSpPr>
        <p:spPr>
          <a:xfrm>
            <a:off x="548640" y="1371600"/>
            <a:ext cx="6446520" cy="914400"/>
          </a:xfrm>
          <a:prstGeom prst="rect">
            <a:avLst/>
          </a:prstGeom>
          <a:noFill/>
        </p:spPr>
        <p:txBody>
          <a:bodyPr wrap="square" anchor="t" lIns="45720" rIns="45720" tIns="18288" bIns="18288">
            <a:spAutoFit/>
          </a:bodyPr>
          <a:lstStyle/>
          <a:p>
            <a:pPr>
              <a:spcBef>
                <a:spcPts val="0"/>
              </a:spcBef>
              <a:spcAft>
                <a:spcPts val="400"/>
              </a:spcAft>
              <a:buNone/>
            </a:pPr>
            <a:r>
              <a:rPr sz="1400" b="0">
                <a:solidFill>
                  <a:srgbClr val="2A2E30"/>
                </a:solidFill>
                <a:latin typeface="Arial"/>
              </a:rPr>
              <a:t>Standard AUROC asks: given a random positive and a random negative, does the model </a:t>
            </a:r>
            <a:r>
              <a:rPr sz="1400" b="1">
                <a:solidFill>
                  <a:srgbClr val="2A2E30"/>
                </a:solidFill>
                <a:latin typeface="Arial"/>
              </a:rPr>
              <a:t>rank the positive higher?</a:t>
            </a:r>
          </a:p>
          <a:p>
            <a:pPr>
              <a:spcBef>
                <a:spcPts val="0"/>
              </a:spcBef>
              <a:spcAft>
                <a:spcPts val="0"/>
              </a:spcAft>
              <a:buNone/>
            </a:pPr>
            <a:r>
              <a:rPr sz="1400" b="0">
                <a:solidFill>
                  <a:srgbClr val="2A2E30"/>
                </a:solidFill>
                <a:latin typeface="Arial"/>
              </a:rPr>
              <a:t>The age-conditioned version only compares pairs of patients of </a:t>
            </a:r>
            <a:r>
              <a:rPr sz="1400" b="1">
                <a:solidFill>
                  <a:srgbClr val="C8102E"/>
                </a:solidFill>
                <a:latin typeface="Arial"/>
              </a:rPr>
              <a:t>similar age</a:t>
            </a:r>
            <a:r>
              <a:rPr sz="1400" b="0">
                <a:solidFill>
                  <a:srgbClr val="2A2E30"/>
                </a:solidFill>
                <a:latin typeface="Arial"/>
              </a:rPr>
              <a:t> (within ±2 years).</a:t>
            </a:r>
          </a:p>
        </p:txBody>
      </p:sp>
      <p:sp>
        <p:nvSpPr>
          <p:cNvPr id="6" name="Rounded Rectangle 5"/>
          <p:cNvSpPr/>
          <p:nvPr/>
        </p:nvSpPr>
        <p:spPr>
          <a:xfrm>
            <a:off x="548640" y="2514600"/>
            <a:ext cx="6446520" cy="1371600"/>
          </a:xfrm>
          <a:prstGeom prst="roundRect">
            <a:avLst>
              <a:gd name="adj" fmla="val 6000"/>
            </a:avLst>
          </a:prstGeom>
          <a:solidFill>
            <a:srgbClr val="F2F4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2651760"/>
            <a:ext cx="5943600" cy="1143000"/>
          </a:xfrm>
          <a:prstGeom prst="rect">
            <a:avLst/>
          </a:prstGeom>
          <a:noFill/>
        </p:spPr>
        <p:txBody>
          <a:bodyPr wrap="square" anchor="t" lIns="45720" rIns="45720" tIns="18288" bIns="18288">
            <a:spAutoFit/>
          </a:bodyPr>
          <a:lstStyle/>
          <a:p>
            <a:pPr algn="l">
              <a:spcBef>
                <a:spcPts val="0"/>
              </a:spcBef>
              <a:spcAft>
                <a:spcPts val="500"/>
              </a:spcAft>
              <a:buNone/>
            </a:pPr>
            <a:r>
              <a:rPr sz="1100" b="1" i="0">
                <a:solidFill>
                  <a:srgbClr val="C8102E"/>
                </a:solidFill>
                <a:latin typeface="Arial"/>
              </a:rPr>
              <a:t>Why it matters</a:t>
            </a:r>
          </a:p>
          <a:p>
            <a:pPr algn="l">
              <a:spcBef>
                <a:spcPts val="0"/>
              </a:spcBef>
              <a:spcAft>
                <a:spcPts val="0"/>
              </a:spcAft>
              <a:buNone/>
            </a:pPr>
            <a:r>
              <a:rPr sz="1300" b="0" i="0">
                <a:solidFill>
                  <a:srgbClr val="2A2E30"/>
                </a:solidFill>
                <a:latin typeface="Arial"/>
              </a:rPr>
              <a:t>A model can't win just by learning “older patients are higher-risk.” Within a narrow age band, age is held roughly constant — so the score reflects real physiological signal, not the age–risk correlation.</a:t>
            </a:r>
          </a:p>
        </p:txBody>
      </p:sp>
      <p:sp>
        <p:nvSpPr>
          <p:cNvPr id="8" name="TextBox 7"/>
          <p:cNvSpPr txBox="1"/>
          <p:nvPr/>
        </p:nvSpPr>
        <p:spPr>
          <a:xfrm>
            <a:off x="548640" y="4114800"/>
            <a:ext cx="6446520" cy="548640"/>
          </a:xfrm>
          <a:prstGeom prst="rect">
            <a:avLst/>
          </a:prstGeom>
          <a:noFill/>
        </p:spPr>
        <p:txBody>
          <a:bodyPr wrap="square" anchor="t" lIns="45720" rIns="45720" tIns="18288" bIns="18288">
            <a:spAutoFit/>
          </a:bodyPr>
          <a:lstStyle/>
          <a:p>
            <a:pPr>
              <a:spcBef>
                <a:spcPts val="0"/>
              </a:spcBef>
              <a:spcAft>
                <a:spcPts val="0"/>
              </a:spcAft>
              <a:buNone/>
            </a:pPr>
            <a:r>
              <a:rPr sz="1100" b="1">
                <a:solidFill>
                  <a:srgbClr val="505759"/>
                </a:solidFill>
                <a:latin typeface="Arial"/>
              </a:rPr>
              <a:t>0.5 = no better than chance</a:t>
            </a:r>
            <a:r>
              <a:rPr sz="1100" b="0">
                <a:solidFill>
                  <a:srgbClr val="898D8D"/>
                </a:solidFill>
                <a:latin typeface="Arial"/>
              </a:rPr>
              <a:t>   ·   </a:t>
            </a:r>
            <a:r>
              <a:rPr sz="1100" b="1">
                <a:solidFill>
                  <a:srgbClr val="2A2E30"/>
                </a:solidFill>
                <a:latin typeface="Arial"/>
              </a:rPr>
              <a:t>1.0 = perfect ranking</a:t>
            </a:r>
            <a:r>
              <a:rPr sz="1100" b="0">
                <a:solidFill>
                  <a:srgbClr val="505759"/>
                </a:solidFill>
                <a:latin typeface="Arial"/>
              </a:rPr>
              <a:t>   within each age neighborhood.</a:t>
            </a:r>
          </a:p>
        </p:txBody>
      </p:sp>
      <p:sp>
        <p:nvSpPr>
          <p:cNvPr id="9" name="TextBox 8"/>
          <p:cNvSpPr txBox="1"/>
          <p:nvPr/>
        </p:nvSpPr>
        <p:spPr>
          <a:xfrm>
            <a:off x="548640" y="4828032"/>
            <a:ext cx="6035040" cy="228600"/>
          </a:xfrm>
          <a:prstGeom prst="rect">
            <a:avLst/>
          </a:prstGeom>
          <a:noFill/>
        </p:spPr>
        <p:txBody>
          <a:bodyPr wrap="square" anchor="t" lIns="45720" rIns="45720" tIns="18288" bIns="18288">
            <a:spAutoFit/>
          </a:bodyPr>
          <a:lstStyle/>
          <a:p>
            <a:pPr algn="l">
              <a:spcBef>
                <a:spcPts val="0"/>
              </a:spcBef>
              <a:spcAft>
                <a:spcPts val="0"/>
              </a:spcAft>
              <a:buNone/>
            </a:pPr>
            <a:r>
              <a:rPr sz="800" b="0" i="0">
                <a:solidFill>
                  <a:srgbClr val="898D8D"/>
                </a:solidFill>
                <a:latin typeface="Arial"/>
              </a:rPr>
              <a:t>PhysioNet Challenge 2026  ·  Scoring Metrics</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b="1">
                <a:latin typeface="Arial"/>
              </a:rPr>
              <a:t>Age-weighted AUROC</a:t>
            </a:r>
          </a:p>
        </p:txBody>
      </p:sp>
      <p:sp>
        <p:nvSpPr>
          <p:cNvPr id="3" name="Content Placeholder 2"/>
          <p:cNvSpPr>
            <a:spLocks noGrp="1"/>
          </p:cNvSpPr>
          <p:nvPr>
            <p:ph idx="1"/>
          </p:nvPr>
        </p:nvSpPr>
        <p:spPr/>
        <p:txBody>
          <a:bodyPr/>
          <a:lstStyle/>
          <a:p/>
        </p:txBody>
      </p:sp>
      <p:sp>
        <p:nvSpPr>
          <p:cNvPr id="4" name="TextBox 3"/>
          <p:cNvSpPr txBox="1"/>
          <p:nvPr/>
        </p:nvSpPr>
        <p:spPr>
          <a:xfrm>
            <a:off x="548640" y="1024128"/>
            <a:ext cx="6446520" cy="274320"/>
          </a:xfrm>
          <a:prstGeom prst="rect">
            <a:avLst/>
          </a:prstGeom>
          <a:noFill/>
        </p:spPr>
        <p:txBody>
          <a:bodyPr wrap="square" anchor="t" lIns="45720" rIns="45720" tIns="18288" bIns="18288">
            <a:spAutoFit/>
          </a:bodyPr>
          <a:lstStyle/>
          <a:p>
            <a:pPr algn="l">
              <a:spcBef>
                <a:spcPts val="0"/>
              </a:spcBef>
              <a:spcAft>
                <a:spcPts val="0"/>
              </a:spcAft>
              <a:buNone/>
            </a:pPr>
            <a:r>
              <a:rPr sz="1100" b="1" i="0">
                <a:solidFill>
                  <a:srgbClr val="C8102E"/>
                </a:solidFill>
                <a:latin typeface="Arial"/>
              </a:rPr>
              <a:t>DIAGNOSTIC METRIC</a:t>
            </a:r>
          </a:p>
        </p:txBody>
      </p:sp>
      <p:sp>
        <p:nvSpPr>
          <p:cNvPr id="5" name="TextBox 4"/>
          <p:cNvSpPr txBox="1"/>
          <p:nvPr/>
        </p:nvSpPr>
        <p:spPr>
          <a:xfrm>
            <a:off x="548640" y="1371600"/>
            <a:ext cx="6446520" cy="914400"/>
          </a:xfrm>
          <a:prstGeom prst="rect">
            <a:avLst/>
          </a:prstGeom>
          <a:noFill/>
        </p:spPr>
        <p:txBody>
          <a:bodyPr wrap="square" anchor="t" lIns="45720" rIns="45720" tIns="18288" bIns="18288">
            <a:spAutoFit/>
          </a:bodyPr>
          <a:lstStyle/>
          <a:p>
            <a:pPr>
              <a:spcBef>
                <a:spcPts val="0"/>
              </a:spcBef>
              <a:spcAft>
                <a:spcPts val="0"/>
              </a:spcAft>
              <a:buNone/>
            </a:pPr>
            <a:r>
              <a:rPr sz="1400" b="0">
                <a:solidFill>
                  <a:srgbClr val="2A2E30"/>
                </a:solidFill>
                <a:latin typeface="Arial"/>
              </a:rPr>
              <a:t>Computes an AUROC </a:t>
            </a:r>
            <a:r>
              <a:rPr sz="1400" b="1">
                <a:solidFill>
                  <a:srgbClr val="C8102E"/>
                </a:solidFill>
                <a:latin typeface="Arial"/>
              </a:rPr>
              <a:t>within each age</a:t>
            </a:r>
            <a:r>
              <a:rPr sz="1400" b="0">
                <a:solidFill>
                  <a:srgbClr val="2A2E30"/>
                </a:solidFill>
                <a:latin typeface="Arial"/>
              </a:rPr>
              <a:t>, then averages them — weighting each age by how many patients fall there.</a:t>
            </a:r>
          </a:p>
        </p:txBody>
      </p:sp>
      <p:sp>
        <p:nvSpPr>
          <p:cNvPr id="6" name="Rounded Rectangle 5"/>
          <p:cNvSpPr/>
          <p:nvPr/>
        </p:nvSpPr>
        <p:spPr>
          <a:xfrm>
            <a:off x="548640" y="2286000"/>
            <a:ext cx="3127248" cy="1737360"/>
          </a:xfrm>
          <a:prstGeom prst="roundRect">
            <a:avLst>
              <a:gd name="adj" fmla="val 6000"/>
            </a:avLst>
          </a:prstGeom>
          <a:solidFill>
            <a:srgbClr val="F2F4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2395728"/>
            <a:ext cx="2788920" cy="1554480"/>
          </a:xfrm>
          <a:prstGeom prst="rect">
            <a:avLst/>
          </a:prstGeom>
          <a:noFill/>
        </p:spPr>
        <p:txBody>
          <a:bodyPr wrap="square" anchor="t" lIns="45720" rIns="45720" tIns="18288" bIns="18288">
            <a:spAutoFit/>
          </a:bodyPr>
          <a:lstStyle/>
          <a:p>
            <a:pPr algn="l">
              <a:spcBef>
                <a:spcPts val="0"/>
              </a:spcBef>
              <a:spcAft>
                <a:spcPts val="400"/>
              </a:spcAft>
              <a:buNone/>
            </a:pPr>
            <a:r>
              <a:rPr sz="1100" b="1" i="0">
                <a:solidFill>
                  <a:srgbClr val="346583"/>
                </a:solidFill>
                <a:latin typeface="Arial"/>
              </a:rPr>
              <a:t>Age-CONDITIONED</a:t>
            </a:r>
          </a:p>
          <a:p>
            <a:pPr algn="l">
              <a:spcBef>
                <a:spcPts val="0"/>
              </a:spcBef>
              <a:spcAft>
                <a:spcPts val="0"/>
              </a:spcAft>
              <a:buNone/>
            </a:pPr>
            <a:r>
              <a:rPr sz="1200" b="0" i="0">
                <a:solidFill>
                  <a:srgbClr val="505759"/>
                </a:solidFill>
                <a:latin typeface="Arial"/>
              </a:rPr>
              <a:t>One pooled score over all similar-age pairs. Answers: “across the board, does it separate cases within age?”</a:t>
            </a:r>
          </a:p>
        </p:txBody>
      </p:sp>
      <p:sp>
        <p:nvSpPr>
          <p:cNvPr id="8" name="Rounded Rectangle 7"/>
          <p:cNvSpPr/>
          <p:nvPr/>
        </p:nvSpPr>
        <p:spPr>
          <a:xfrm>
            <a:off x="3867912" y="2286000"/>
            <a:ext cx="3127248" cy="1737360"/>
          </a:xfrm>
          <a:prstGeom prst="roundRect">
            <a:avLst>
              <a:gd name="adj" fmla="val 6000"/>
            </a:avLst>
          </a:prstGeom>
          <a:solidFill>
            <a:srgbClr val="F2F4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032504" y="2395728"/>
            <a:ext cx="2788920" cy="1554480"/>
          </a:xfrm>
          <a:prstGeom prst="rect">
            <a:avLst/>
          </a:prstGeom>
          <a:noFill/>
        </p:spPr>
        <p:txBody>
          <a:bodyPr wrap="square" anchor="t" lIns="45720" rIns="45720" tIns="18288" bIns="18288">
            <a:spAutoFit/>
          </a:bodyPr>
          <a:lstStyle/>
          <a:p>
            <a:pPr algn="l">
              <a:spcBef>
                <a:spcPts val="0"/>
              </a:spcBef>
              <a:spcAft>
                <a:spcPts val="400"/>
              </a:spcAft>
              <a:buNone/>
            </a:pPr>
            <a:r>
              <a:rPr sz="1100" b="1" i="0">
                <a:solidFill>
                  <a:srgbClr val="C8102E"/>
                </a:solidFill>
                <a:latin typeface="Arial"/>
              </a:rPr>
              <a:t>Age-WEIGHTED</a:t>
            </a:r>
          </a:p>
          <a:p>
            <a:pPr algn="l">
              <a:spcBef>
                <a:spcPts val="0"/>
              </a:spcBef>
              <a:spcAft>
                <a:spcPts val="0"/>
              </a:spcAft>
              <a:buNone/>
            </a:pPr>
            <a:r>
              <a:rPr sz="1200" b="0" i="0">
                <a:solidFill>
                  <a:srgbClr val="505759"/>
                </a:solidFill>
                <a:latin typeface="Arial"/>
              </a:rPr>
              <a:t>Per-age scores averaged by population. Answers: “how well does it work at a typical patient's age?”</a:t>
            </a:r>
          </a:p>
        </p:txBody>
      </p:sp>
      <p:sp>
        <p:nvSpPr>
          <p:cNvPr id="10" name="TextBox 9"/>
          <p:cNvSpPr txBox="1"/>
          <p:nvPr/>
        </p:nvSpPr>
        <p:spPr>
          <a:xfrm>
            <a:off x="548640" y="4206240"/>
            <a:ext cx="6446520" cy="457200"/>
          </a:xfrm>
          <a:prstGeom prst="rect">
            <a:avLst/>
          </a:prstGeom>
          <a:noFill/>
        </p:spPr>
        <p:txBody>
          <a:bodyPr wrap="square" anchor="t" lIns="45720" rIns="45720" tIns="18288" bIns="18288">
            <a:spAutoFit/>
          </a:bodyPr>
          <a:lstStyle/>
          <a:p>
            <a:pPr algn="l">
              <a:spcBef>
                <a:spcPts val="0"/>
              </a:spcBef>
              <a:spcAft>
                <a:spcPts val="0"/>
              </a:spcAft>
              <a:buNone/>
            </a:pPr>
            <a:r>
              <a:rPr sz="1100" b="0" i="1">
                <a:solidFill>
                  <a:srgbClr val="505759"/>
                </a:solidFill>
                <a:latin typeface="Arial"/>
              </a:rPr>
              <a:t>Both remove age as a shortcut; together they show consistency across the age range.</a:t>
            </a:r>
          </a:p>
        </p:txBody>
      </p:sp>
      <p:sp>
        <p:nvSpPr>
          <p:cNvPr id="11" name="TextBox 10"/>
          <p:cNvSpPr txBox="1"/>
          <p:nvPr/>
        </p:nvSpPr>
        <p:spPr>
          <a:xfrm>
            <a:off x="548640" y="4828032"/>
            <a:ext cx="6035040" cy="228600"/>
          </a:xfrm>
          <a:prstGeom prst="rect">
            <a:avLst/>
          </a:prstGeom>
          <a:noFill/>
        </p:spPr>
        <p:txBody>
          <a:bodyPr wrap="square" anchor="t" lIns="45720" rIns="45720" tIns="18288" bIns="18288">
            <a:spAutoFit/>
          </a:bodyPr>
          <a:lstStyle/>
          <a:p>
            <a:pPr algn="l">
              <a:spcBef>
                <a:spcPts val="0"/>
              </a:spcBef>
              <a:spcAft>
                <a:spcPts val="0"/>
              </a:spcAft>
              <a:buNone/>
            </a:pPr>
            <a:r>
              <a:rPr sz="800" b="0" i="0">
                <a:solidFill>
                  <a:srgbClr val="898D8D"/>
                </a:solidFill>
                <a:latin typeface="Arial"/>
              </a:rPr>
              <a:t>PhysioNet Challenge 2026  ·  Scoring Metrics</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b="1">
                <a:latin typeface="Arial"/>
              </a:rPr>
              <a:t>The familiar four — context, not ranking</a:t>
            </a:r>
          </a:p>
        </p:txBody>
      </p:sp>
      <p:sp>
        <p:nvSpPr>
          <p:cNvPr id="3" name="Content Placeholder 2"/>
          <p:cNvSpPr>
            <a:spLocks noGrp="1"/>
          </p:cNvSpPr>
          <p:nvPr>
            <p:ph idx="1"/>
          </p:nvPr>
        </p:nvSpPr>
        <p:spPr/>
        <p:txBody>
          <a:bodyPr/>
          <a:lstStyle/>
          <a:p/>
        </p:txBody>
      </p:sp>
      <p:sp>
        <p:nvSpPr>
          <p:cNvPr id="4" name="TextBox 3"/>
          <p:cNvSpPr txBox="1"/>
          <p:nvPr/>
        </p:nvSpPr>
        <p:spPr>
          <a:xfrm>
            <a:off x="548640" y="1024128"/>
            <a:ext cx="6446520" cy="274320"/>
          </a:xfrm>
          <a:prstGeom prst="rect">
            <a:avLst/>
          </a:prstGeom>
          <a:noFill/>
        </p:spPr>
        <p:txBody>
          <a:bodyPr wrap="square" anchor="t" lIns="45720" rIns="45720" tIns="18288" bIns="18288">
            <a:spAutoFit/>
          </a:bodyPr>
          <a:lstStyle/>
          <a:p>
            <a:pPr algn="l">
              <a:spcBef>
                <a:spcPts val="0"/>
              </a:spcBef>
              <a:spcAft>
                <a:spcPts val="0"/>
              </a:spcAft>
              <a:buNone/>
            </a:pPr>
            <a:r>
              <a:rPr sz="1100" b="1" i="0">
                <a:solidFill>
                  <a:srgbClr val="C8102E"/>
                </a:solidFill>
                <a:latin typeface="Arial"/>
              </a:rPr>
              <a:t>DIAGNOSTIC METRICS</a:t>
            </a:r>
          </a:p>
        </p:txBody>
      </p:sp>
      <p:sp>
        <p:nvSpPr>
          <p:cNvPr id="5" name="Rounded Rectangle 4"/>
          <p:cNvSpPr/>
          <p:nvPr/>
        </p:nvSpPr>
        <p:spPr>
          <a:xfrm>
            <a:off x="548640" y="1417320"/>
            <a:ext cx="6446520" cy="713232"/>
          </a:xfrm>
          <a:prstGeom prst="roundRect">
            <a:avLst>
              <a:gd name="adj" fmla="val 6000"/>
            </a:avLst>
          </a:prstGeom>
          <a:solidFill>
            <a:srgbClr val="F2F4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48640" y="1417320"/>
            <a:ext cx="82296" cy="713232"/>
          </a:xfrm>
          <a:prstGeom prst="rect">
            <a:avLst/>
          </a:prstGeom>
          <a:solidFill>
            <a:srgbClr val="34658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417320"/>
            <a:ext cx="1554480" cy="713232"/>
          </a:xfrm>
          <a:prstGeom prst="rect">
            <a:avLst/>
          </a:prstGeom>
          <a:noFill/>
        </p:spPr>
        <p:txBody>
          <a:bodyPr wrap="square" anchor="ctr" lIns="45720" rIns="45720" tIns="18288" bIns="18288">
            <a:spAutoFit/>
          </a:bodyPr>
          <a:lstStyle/>
          <a:p>
            <a:pPr algn="l">
              <a:spcBef>
                <a:spcPts val="0"/>
              </a:spcBef>
              <a:spcAft>
                <a:spcPts val="100"/>
              </a:spcAft>
              <a:buNone/>
            </a:pPr>
            <a:r>
              <a:rPr sz="1300" b="1" i="0">
                <a:solidFill>
                  <a:srgbClr val="2A2E30"/>
                </a:solidFill>
                <a:latin typeface="Arial"/>
              </a:rPr>
              <a:t>AUROC</a:t>
            </a:r>
          </a:p>
          <a:p>
            <a:pPr algn="l">
              <a:spcBef>
                <a:spcPts val="0"/>
              </a:spcBef>
              <a:spcAft>
                <a:spcPts val="0"/>
              </a:spcAft>
              <a:buNone/>
            </a:pPr>
            <a:r>
              <a:rPr sz="900" b="0" i="0">
                <a:solidFill>
                  <a:srgbClr val="898D8D"/>
                </a:solidFill>
                <a:latin typeface="Arial"/>
              </a:rPr>
              <a:t>Probability</a:t>
            </a:r>
          </a:p>
        </p:txBody>
      </p:sp>
      <p:sp>
        <p:nvSpPr>
          <p:cNvPr id="8" name="TextBox 7"/>
          <p:cNvSpPr txBox="1"/>
          <p:nvPr/>
        </p:nvSpPr>
        <p:spPr>
          <a:xfrm>
            <a:off x="2377440" y="1417320"/>
            <a:ext cx="1828800" cy="713232"/>
          </a:xfrm>
          <a:prstGeom prst="rect">
            <a:avLst/>
          </a:prstGeom>
          <a:noFill/>
        </p:spPr>
        <p:txBody>
          <a:bodyPr wrap="square" anchor="ctr" lIns="45720" rIns="45720" tIns="18288" bIns="18288">
            <a:spAutoFit/>
          </a:bodyPr>
          <a:lstStyle/>
          <a:p>
            <a:pPr algn="l">
              <a:spcBef>
                <a:spcPts val="0"/>
              </a:spcBef>
              <a:spcAft>
                <a:spcPts val="0"/>
              </a:spcAft>
              <a:buNone/>
            </a:pPr>
            <a:r>
              <a:rPr sz="1100" b="1" i="0">
                <a:solidFill>
                  <a:srgbClr val="505759"/>
                </a:solidFill>
                <a:latin typeface="Arial"/>
              </a:rPr>
              <a:t>Ranking quality overall</a:t>
            </a:r>
          </a:p>
        </p:txBody>
      </p:sp>
      <p:sp>
        <p:nvSpPr>
          <p:cNvPr id="9" name="TextBox 8"/>
          <p:cNvSpPr txBox="1"/>
          <p:nvPr/>
        </p:nvSpPr>
        <p:spPr>
          <a:xfrm>
            <a:off x="4251960" y="1417320"/>
            <a:ext cx="2651760" cy="713232"/>
          </a:xfrm>
          <a:prstGeom prst="rect">
            <a:avLst/>
          </a:prstGeom>
          <a:noFill/>
        </p:spPr>
        <p:txBody>
          <a:bodyPr wrap="square" anchor="ctr" lIns="45720" rIns="45720" tIns="18288" bIns="18288">
            <a:spAutoFit/>
          </a:bodyPr>
          <a:lstStyle/>
          <a:p>
            <a:pPr algn="l">
              <a:spcBef>
                <a:spcPts val="0"/>
              </a:spcBef>
              <a:spcAft>
                <a:spcPts val="0"/>
              </a:spcAft>
              <a:buNone/>
            </a:pPr>
            <a:r>
              <a:rPr sz="1000" b="0" i="0">
                <a:solidFill>
                  <a:srgbClr val="505759"/>
                </a:solidFill>
                <a:latin typeface="Arial"/>
              </a:rPr>
              <a:t>Ignores prevalence — optimistic on imbalanced data</a:t>
            </a:r>
          </a:p>
        </p:txBody>
      </p:sp>
      <p:sp>
        <p:nvSpPr>
          <p:cNvPr id="10" name="Rounded Rectangle 9"/>
          <p:cNvSpPr/>
          <p:nvPr/>
        </p:nvSpPr>
        <p:spPr>
          <a:xfrm>
            <a:off x="548640" y="2203704"/>
            <a:ext cx="6446520" cy="713232"/>
          </a:xfrm>
          <a:prstGeom prst="roundRect">
            <a:avLst>
              <a:gd name="adj" fmla="val 6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548640" y="2203704"/>
            <a:ext cx="82296" cy="713232"/>
          </a:xfrm>
          <a:prstGeom prst="rect">
            <a:avLst/>
          </a:prstGeom>
          <a:solidFill>
            <a:srgbClr val="34658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77240" y="2203704"/>
            <a:ext cx="1554480" cy="713232"/>
          </a:xfrm>
          <a:prstGeom prst="rect">
            <a:avLst/>
          </a:prstGeom>
          <a:noFill/>
        </p:spPr>
        <p:txBody>
          <a:bodyPr wrap="square" anchor="ctr" lIns="45720" rIns="45720" tIns="18288" bIns="18288">
            <a:spAutoFit/>
          </a:bodyPr>
          <a:lstStyle/>
          <a:p>
            <a:pPr algn="l">
              <a:spcBef>
                <a:spcPts val="0"/>
              </a:spcBef>
              <a:spcAft>
                <a:spcPts val="100"/>
              </a:spcAft>
              <a:buNone/>
            </a:pPr>
            <a:r>
              <a:rPr sz="1300" b="1" i="0">
                <a:solidFill>
                  <a:srgbClr val="2A2E30"/>
                </a:solidFill>
                <a:latin typeface="Arial"/>
              </a:rPr>
              <a:t>AUPRC</a:t>
            </a:r>
          </a:p>
          <a:p>
            <a:pPr algn="l">
              <a:spcBef>
                <a:spcPts val="0"/>
              </a:spcBef>
              <a:spcAft>
                <a:spcPts val="0"/>
              </a:spcAft>
              <a:buNone/>
            </a:pPr>
            <a:r>
              <a:rPr sz="900" b="0" i="0">
                <a:solidFill>
                  <a:srgbClr val="898D8D"/>
                </a:solidFill>
                <a:latin typeface="Arial"/>
              </a:rPr>
              <a:t>Probability</a:t>
            </a:r>
          </a:p>
        </p:txBody>
      </p:sp>
      <p:sp>
        <p:nvSpPr>
          <p:cNvPr id="13" name="TextBox 12"/>
          <p:cNvSpPr txBox="1"/>
          <p:nvPr/>
        </p:nvSpPr>
        <p:spPr>
          <a:xfrm>
            <a:off x="2377440" y="2203704"/>
            <a:ext cx="1828800" cy="713232"/>
          </a:xfrm>
          <a:prstGeom prst="rect">
            <a:avLst/>
          </a:prstGeom>
          <a:noFill/>
        </p:spPr>
        <p:txBody>
          <a:bodyPr wrap="square" anchor="ctr" lIns="45720" rIns="45720" tIns="18288" bIns="18288">
            <a:spAutoFit/>
          </a:bodyPr>
          <a:lstStyle/>
          <a:p>
            <a:pPr algn="l">
              <a:spcBef>
                <a:spcPts val="0"/>
              </a:spcBef>
              <a:spcAft>
                <a:spcPts val="0"/>
              </a:spcAft>
              <a:buNone/>
            </a:pPr>
            <a:r>
              <a:rPr sz="1100" b="1" i="0">
                <a:solidFill>
                  <a:srgbClr val="505759"/>
                </a:solidFill>
                <a:latin typeface="Arial"/>
              </a:rPr>
              <a:t>Focus on the positive class</a:t>
            </a:r>
          </a:p>
        </p:txBody>
      </p:sp>
      <p:sp>
        <p:nvSpPr>
          <p:cNvPr id="14" name="TextBox 13"/>
          <p:cNvSpPr txBox="1"/>
          <p:nvPr/>
        </p:nvSpPr>
        <p:spPr>
          <a:xfrm>
            <a:off x="4251960" y="2203704"/>
            <a:ext cx="2651760" cy="713232"/>
          </a:xfrm>
          <a:prstGeom prst="rect">
            <a:avLst/>
          </a:prstGeom>
          <a:noFill/>
        </p:spPr>
        <p:txBody>
          <a:bodyPr wrap="square" anchor="ctr" lIns="45720" rIns="45720" tIns="18288" bIns="18288">
            <a:spAutoFit/>
          </a:bodyPr>
          <a:lstStyle/>
          <a:p>
            <a:pPr algn="l">
              <a:spcBef>
                <a:spcPts val="0"/>
              </a:spcBef>
              <a:spcAft>
                <a:spcPts val="0"/>
              </a:spcAft>
              <a:buNone/>
            </a:pPr>
            <a:r>
              <a:rPr sz="1000" b="0" i="0">
                <a:solidFill>
                  <a:srgbClr val="505759"/>
                </a:solidFill>
                <a:latin typeface="Arial"/>
              </a:rPr>
              <a:t>More honest than AUROC when positives are rare</a:t>
            </a:r>
          </a:p>
        </p:txBody>
      </p:sp>
      <p:sp>
        <p:nvSpPr>
          <p:cNvPr id="15" name="Rounded Rectangle 14"/>
          <p:cNvSpPr/>
          <p:nvPr/>
        </p:nvSpPr>
        <p:spPr>
          <a:xfrm>
            <a:off x="548640" y="2990088"/>
            <a:ext cx="6446520" cy="713232"/>
          </a:xfrm>
          <a:prstGeom prst="roundRect">
            <a:avLst>
              <a:gd name="adj" fmla="val 6000"/>
            </a:avLst>
          </a:prstGeom>
          <a:solidFill>
            <a:srgbClr val="F2F4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548640" y="2990088"/>
            <a:ext cx="82296" cy="713232"/>
          </a:xfrm>
          <a:prstGeom prst="rect">
            <a:avLst/>
          </a:prstGeom>
          <a:solidFill>
            <a:srgbClr val="898D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77240" y="2990088"/>
            <a:ext cx="1554480" cy="713232"/>
          </a:xfrm>
          <a:prstGeom prst="rect">
            <a:avLst/>
          </a:prstGeom>
          <a:noFill/>
        </p:spPr>
        <p:txBody>
          <a:bodyPr wrap="square" anchor="ctr" lIns="45720" rIns="45720" tIns="18288" bIns="18288">
            <a:spAutoFit/>
          </a:bodyPr>
          <a:lstStyle/>
          <a:p>
            <a:pPr algn="l">
              <a:spcBef>
                <a:spcPts val="0"/>
              </a:spcBef>
              <a:spcAft>
                <a:spcPts val="100"/>
              </a:spcAft>
              <a:buNone/>
            </a:pPr>
            <a:r>
              <a:rPr sz="1300" b="1" i="0">
                <a:solidFill>
                  <a:srgbClr val="2A2E30"/>
                </a:solidFill>
                <a:latin typeface="Arial"/>
              </a:rPr>
              <a:t>Accuracy</a:t>
            </a:r>
          </a:p>
          <a:p>
            <a:pPr algn="l">
              <a:spcBef>
                <a:spcPts val="0"/>
              </a:spcBef>
              <a:spcAft>
                <a:spcPts val="0"/>
              </a:spcAft>
              <a:buNone/>
            </a:pPr>
            <a:r>
              <a:rPr sz="900" b="0" i="0">
                <a:solidFill>
                  <a:srgbClr val="898D8D"/>
                </a:solidFill>
                <a:latin typeface="Arial"/>
              </a:rPr>
              <a:t>Binary</a:t>
            </a:r>
          </a:p>
        </p:txBody>
      </p:sp>
      <p:sp>
        <p:nvSpPr>
          <p:cNvPr id="18" name="TextBox 17"/>
          <p:cNvSpPr txBox="1"/>
          <p:nvPr/>
        </p:nvSpPr>
        <p:spPr>
          <a:xfrm>
            <a:off x="2377440" y="2990088"/>
            <a:ext cx="1828800" cy="713232"/>
          </a:xfrm>
          <a:prstGeom prst="rect">
            <a:avLst/>
          </a:prstGeom>
          <a:noFill/>
        </p:spPr>
        <p:txBody>
          <a:bodyPr wrap="square" anchor="ctr" lIns="45720" rIns="45720" tIns="18288" bIns="18288">
            <a:spAutoFit/>
          </a:bodyPr>
          <a:lstStyle/>
          <a:p>
            <a:pPr algn="l">
              <a:spcBef>
                <a:spcPts val="0"/>
              </a:spcBef>
              <a:spcAft>
                <a:spcPts val="0"/>
              </a:spcAft>
              <a:buNone/>
            </a:pPr>
            <a:r>
              <a:rPr sz="1100" b="1" i="0">
                <a:solidFill>
                  <a:srgbClr val="505759"/>
                </a:solidFill>
                <a:latin typeface="Arial"/>
              </a:rPr>
              <a:t>% of correct calls</a:t>
            </a:r>
          </a:p>
        </p:txBody>
      </p:sp>
      <p:sp>
        <p:nvSpPr>
          <p:cNvPr id="19" name="TextBox 18"/>
          <p:cNvSpPr txBox="1"/>
          <p:nvPr/>
        </p:nvSpPr>
        <p:spPr>
          <a:xfrm>
            <a:off x="4251960" y="2990088"/>
            <a:ext cx="2651760" cy="713232"/>
          </a:xfrm>
          <a:prstGeom prst="rect">
            <a:avLst/>
          </a:prstGeom>
          <a:noFill/>
        </p:spPr>
        <p:txBody>
          <a:bodyPr wrap="square" anchor="ctr" lIns="45720" rIns="45720" tIns="18288" bIns="18288">
            <a:spAutoFit/>
          </a:bodyPr>
          <a:lstStyle/>
          <a:p>
            <a:pPr algn="l">
              <a:spcBef>
                <a:spcPts val="0"/>
              </a:spcBef>
              <a:spcAft>
                <a:spcPts val="0"/>
              </a:spcAft>
              <a:buNone/>
            </a:pPr>
            <a:r>
              <a:rPr sz="1000" b="0" i="0">
                <a:solidFill>
                  <a:srgbClr val="505759"/>
                </a:solidFill>
                <a:latin typeface="Arial"/>
              </a:rPr>
              <a:t>Misleading under imbalance — shown for reference</a:t>
            </a:r>
          </a:p>
        </p:txBody>
      </p:sp>
      <p:sp>
        <p:nvSpPr>
          <p:cNvPr id="20" name="Rounded Rectangle 19"/>
          <p:cNvSpPr/>
          <p:nvPr/>
        </p:nvSpPr>
        <p:spPr>
          <a:xfrm>
            <a:off x="548640" y="3776472"/>
            <a:ext cx="6446520" cy="713232"/>
          </a:xfrm>
          <a:prstGeom prst="roundRect">
            <a:avLst>
              <a:gd name="adj" fmla="val 6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548640" y="3776472"/>
            <a:ext cx="82296" cy="713232"/>
          </a:xfrm>
          <a:prstGeom prst="rect">
            <a:avLst/>
          </a:prstGeom>
          <a:solidFill>
            <a:srgbClr val="898D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777240" y="3776472"/>
            <a:ext cx="1554480" cy="713232"/>
          </a:xfrm>
          <a:prstGeom prst="rect">
            <a:avLst/>
          </a:prstGeom>
          <a:noFill/>
        </p:spPr>
        <p:txBody>
          <a:bodyPr wrap="square" anchor="ctr" lIns="45720" rIns="45720" tIns="18288" bIns="18288">
            <a:spAutoFit/>
          </a:bodyPr>
          <a:lstStyle/>
          <a:p>
            <a:pPr algn="l">
              <a:spcBef>
                <a:spcPts val="0"/>
              </a:spcBef>
              <a:spcAft>
                <a:spcPts val="100"/>
              </a:spcAft>
              <a:buNone/>
            </a:pPr>
            <a:r>
              <a:rPr sz="1300" b="1" i="0">
                <a:solidFill>
                  <a:srgbClr val="2A2E30"/>
                </a:solidFill>
                <a:latin typeface="Arial"/>
              </a:rPr>
              <a:t>F-measure</a:t>
            </a:r>
          </a:p>
          <a:p>
            <a:pPr algn="l">
              <a:spcBef>
                <a:spcPts val="0"/>
              </a:spcBef>
              <a:spcAft>
                <a:spcPts val="0"/>
              </a:spcAft>
              <a:buNone/>
            </a:pPr>
            <a:r>
              <a:rPr sz="900" b="0" i="0">
                <a:solidFill>
                  <a:srgbClr val="898D8D"/>
                </a:solidFill>
                <a:latin typeface="Arial"/>
              </a:rPr>
              <a:t>Binary</a:t>
            </a:r>
          </a:p>
        </p:txBody>
      </p:sp>
      <p:sp>
        <p:nvSpPr>
          <p:cNvPr id="23" name="TextBox 22"/>
          <p:cNvSpPr txBox="1"/>
          <p:nvPr/>
        </p:nvSpPr>
        <p:spPr>
          <a:xfrm>
            <a:off x="2377440" y="3776472"/>
            <a:ext cx="1828800" cy="713232"/>
          </a:xfrm>
          <a:prstGeom prst="rect">
            <a:avLst/>
          </a:prstGeom>
          <a:noFill/>
        </p:spPr>
        <p:txBody>
          <a:bodyPr wrap="square" anchor="ctr" lIns="45720" rIns="45720" tIns="18288" bIns="18288">
            <a:spAutoFit/>
          </a:bodyPr>
          <a:lstStyle/>
          <a:p>
            <a:pPr algn="l">
              <a:spcBef>
                <a:spcPts val="0"/>
              </a:spcBef>
              <a:spcAft>
                <a:spcPts val="0"/>
              </a:spcAft>
              <a:buNone/>
            </a:pPr>
            <a:r>
              <a:rPr sz="1100" b="1" i="0">
                <a:solidFill>
                  <a:srgbClr val="505759"/>
                </a:solidFill>
                <a:latin typeface="Arial"/>
              </a:rPr>
              <a:t>Balance of precision &amp; recall</a:t>
            </a:r>
          </a:p>
        </p:txBody>
      </p:sp>
      <p:sp>
        <p:nvSpPr>
          <p:cNvPr id="24" name="TextBox 23"/>
          <p:cNvSpPr txBox="1"/>
          <p:nvPr/>
        </p:nvSpPr>
        <p:spPr>
          <a:xfrm>
            <a:off x="4251960" y="3776472"/>
            <a:ext cx="2651760" cy="713232"/>
          </a:xfrm>
          <a:prstGeom prst="rect">
            <a:avLst/>
          </a:prstGeom>
          <a:noFill/>
        </p:spPr>
        <p:txBody>
          <a:bodyPr wrap="square" anchor="ctr" lIns="45720" rIns="45720" tIns="18288" bIns="18288">
            <a:spAutoFit/>
          </a:bodyPr>
          <a:lstStyle/>
          <a:p>
            <a:pPr algn="l">
              <a:spcBef>
                <a:spcPts val="0"/>
              </a:spcBef>
              <a:spcAft>
                <a:spcPts val="0"/>
              </a:spcAft>
              <a:buNone/>
            </a:pPr>
            <a:r>
              <a:rPr sz="1000" b="0" i="0">
                <a:solidFill>
                  <a:srgbClr val="505759"/>
                </a:solidFill>
                <a:latin typeface="Arial"/>
              </a:rPr>
              <a:t>Threshold-dependent summary of the binary output</a:t>
            </a:r>
          </a:p>
        </p:txBody>
      </p:sp>
      <p:sp>
        <p:nvSpPr>
          <p:cNvPr id="25" name="TextBox 24"/>
          <p:cNvSpPr txBox="1"/>
          <p:nvPr/>
        </p:nvSpPr>
        <p:spPr>
          <a:xfrm>
            <a:off x="548640" y="4828032"/>
            <a:ext cx="6035040" cy="228600"/>
          </a:xfrm>
          <a:prstGeom prst="rect">
            <a:avLst/>
          </a:prstGeom>
          <a:noFill/>
        </p:spPr>
        <p:txBody>
          <a:bodyPr wrap="square" anchor="t" lIns="45720" rIns="45720" tIns="18288" bIns="18288">
            <a:spAutoFit/>
          </a:bodyPr>
          <a:lstStyle/>
          <a:p>
            <a:pPr algn="l">
              <a:spcBef>
                <a:spcPts val="0"/>
              </a:spcBef>
              <a:spcAft>
                <a:spcPts val="0"/>
              </a:spcAft>
              <a:buNone/>
            </a:pPr>
            <a:r>
              <a:rPr sz="800" b="0" i="0">
                <a:solidFill>
                  <a:srgbClr val="898D8D"/>
                </a:solidFill>
                <a:latin typeface="Arial"/>
              </a:rPr>
              <a:t>PhysioNet Challenge 2026  ·  Scoring Metrics</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The dataset behind the metric</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1,103 recordings across three clinical sites</a:t>
            </a:r>
          </a:p>
        </p:txBody>
      </p:sp>
      <p:sp>
        <p:nvSpPr>
          <p:cNvPr id="3" name="Content Placeholder 2"/>
          <p:cNvSpPr>
            <a:spLocks noGrp="1"/>
          </p:cNvSpPr>
          <p:nvPr>
            <p:ph idx="1"/>
          </p:nvPr>
        </p:nvSpPr>
        <p:spPr/>
        <p:txBody>
          <a:bodyPr/>
          <a:lstStyle/>
          <a:p/>
        </p:txBody>
      </p:sp>
      <p:sp>
        <p:nvSpPr>
          <p:cNvPr id="4" name="TextBox 3"/>
          <p:cNvSpPr txBox="1"/>
          <p:nvPr/>
        </p:nvSpPr>
        <p:spPr>
          <a:xfrm>
            <a:off x="548640" y="1024128"/>
            <a:ext cx="6446520" cy="274320"/>
          </a:xfrm>
          <a:prstGeom prst="rect">
            <a:avLst/>
          </a:prstGeom>
          <a:noFill/>
        </p:spPr>
        <p:txBody>
          <a:bodyPr wrap="square">
            <a:spAutoFit/>
          </a:bodyPr>
          <a:lstStyle/>
          <a:p>
            <a:pPr algn="l"/>
            <a:r>
              <a:rPr sz="1100" b="1">
                <a:solidFill>
                  <a:srgbClr val="C8102E"/>
                </a:solidFill>
                <a:latin typeface="Arial"/>
              </a:rPr>
              <a:t>DATASET · COHORT AT A GLANCE</a:t>
            </a:r>
          </a:p>
        </p:txBody>
      </p:sp>
      <p:sp>
        <p:nvSpPr>
          <p:cNvPr id="5" name="Rounded Rectangle 4"/>
          <p:cNvSpPr/>
          <p:nvPr/>
        </p:nvSpPr>
        <p:spPr>
          <a:xfrm>
            <a:off x="548640" y="1481328"/>
            <a:ext cx="1517904" cy="868680"/>
          </a:xfrm>
          <a:prstGeom prst="roundRect">
            <a:avLst>
              <a:gd name="adj" fmla="val 6000"/>
            </a:avLst>
          </a:prstGeom>
          <a:solidFill>
            <a:srgbClr val="F2F4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58368" y="1572768"/>
            <a:ext cx="1298448" cy="685800"/>
          </a:xfrm>
          <a:prstGeom prst="rect">
            <a:avLst/>
          </a:prstGeom>
          <a:noFill/>
        </p:spPr>
        <p:txBody>
          <a:bodyPr wrap="square">
            <a:spAutoFit/>
          </a:bodyPr>
          <a:lstStyle/>
          <a:p>
            <a:pPr algn="l"/>
            <a:r>
              <a:rPr sz="2100" b="1">
                <a:solidFill>
                  <a:srgbClr val="2A2E30"/>
                </a:solidFill>
                <a:latin typeface="Arial"/>
              </a:rPr>
              <a:t>1,103</a:t>
            </a:r>
          </a:p>
          <a:p>
            <a:pPr algn="l"/>
            <a:r>
              <a:rPr sz="950" b="0">
                <a:solidFill>
                  <a:srgbClr val="505759"/>
                </a:solidFill>
                <a:latin typeface="Arial"/>
              </a:rPr>
              <a:t>patients · one overnight session each</a:t>
            </a:r>
          </a:p>
        </p:txBody>
      </p:sp>
      <p:sp>
        <p:nvSpPr>
          <p:cNvPr id="7" name="Rounded Rectangle 6"/>
          <p:cNvSpPr/>
          <p:nvPr/>
        </p:nvSpPr>
        <p:spPr>
          <a:xfrm>
            <a:off x="2194560" y="1481328"/>
            <a:ext cx="1517904" cy="868680"/>
          </a:xfrm>
          <a:prstGeom prst="roundRect">
            <a:avLst>
              <a:gd name="adj" fmla="val 6000"/>
            </a:avLst>
          </a:prstGeom>
          <a:solidFill>
            <a:srgbClr val="F2F4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2304288" y="1572768"/>
            <a:ext cx="1298448" cy="685800"/>
          </a:xfrm>
          <a:prstGeom prst="rect">
            <a:avLst/>
          </a:prstGeom>
          <a:noFill/>
        </p:spPr>
        <p:txBody>
          <a:bodyPr wrap="square">
            <a:spAutoFit/>
          </a:bodyPr>
          <a:lstStyle/>
          <a:p>
            <a:pPr algn="l"/>
            <a:r>
              <a:rPr sz="2100" b="1">
                <a:solidFill>
                  <a:srgbClr val="C8102E"/>
                </a:solidFill>
                <a:latin typeface="Arial"/>
              </a:rPr>
              <a:t>7.6%</a:t>
            </a:r>
          </a:p>
          <a:p>
            <a:pPr algn="l"/>
            <a:r>
              <a:rPr sz="950" b="0">
                <a:solidFill>
                  <a:srgbClr val="505759"/>
                </a:solidFill>
                <a:latin typeface="Arial"/>
              </a:rPr>
              <a:t>impairment prevalence · 84 positive</a:t>
            </a:r>
          </a:p>
        </p:txBody>
      </p:sp>
      <p:sp>
        <p:nvSpPr>
          <p:cNvPr id="9" name="Rounded Rectangle 8"/>
          <p:cNvSpPr/>
          <p:nvPr/>
        </p:nvSpPr>
        <p:spPr>
          <a:xfrm>
            <a:off x="548640" y="2478024"/>
            <a:ext cx="1517904" cy="868680"/>
          </a:xfrm>
          <a:prstGeom prst="roundRect">
            <a:avLst>
              <a:gd name="adj" fmla="val 6000"/>
            </a:avLst>
          </a:prstGeom>
          <a:solidFill>
            <a:srgbClr val="F2F4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58368" y="2569464"/>
            <a:ext cx="1298448" cy="685800"/>
          </a:xfrm>
          <a:prstGeom prst="rect">
            <a:avLst/>
          </a:prstGeom>
          <a:noFill/>
        </p:spPr>
        <p:txBody>
          <a:bodyPr wrap="square">
            <a:spAutoFit/>
          </a:bodyPr>
          <a:lstStyle/>
          <a:p>
            <a:pPr algn="l"/>
            <a:r>
              <a:rPr sz="2100" b="1">
                <a:solidFill>
                  <a:srgbClr val="346583"/>
                </a:solidFill>
                <a:latin typeface="Arial"/>
              </a:rPr>
              <a:t>62 ± 8.5</a:t>
            </a:r>
          </a:p>
          <a:p>
            <a:pPr algn="l"/>
            <a:r>
              <a:rPr sz="950" b="0">
                <a:solidFill>
                  <a:srgbClr val="505759"/>
                </a:solidFill>
                <a:latin typeface="Arial"/>
              </a:rPr>
              <a:t>age (yr) · range 50–88</a:t>
            </a:r>
          </a:p>
        </p:txBody>
      </p:sp>
      <p:sp>
        <p:nvSpPr>
          <p:cNvPr id="11" name="Rounded Rectangle 10"/>
          <p:cNvSpPr/>
          <p:nvPr/>
        </p:nvSpPr>
        <p:spPr>
          <a:xfrm>
            <a:off x="2194560" y="2478024"/>
            <a:ext cx="1517904" cy="868680"/>
          </a:xfrm>
          <a:prstGeom prst="roundRect">
            <a:avLst>
              <a:gd name="adj" fmla="val 6000"/>
            </a:avLst>
          </a:prstGeom>
          <a:solidFill>
            <a:srgbClr val="F2F4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2304288" y="2569464"/>
            <a:ext cx="1298448" cy="685800"/>
          </a:xfrm>
          <a:prstGeom prst="rect">
            <a:avLst/>
          </a:prstGeom>
          <a:noFill/>
        </p:spPr>
        <p:txBody>
          <a:bodyPr wrap="square">
            <a:spAutoFit/>
          </a:bodyPr>
          <a:lstStyle/>
          <a:p>
            <a:pPr algn="l"/>
            <a:r>
              <a:rPr sz="2100" b="1">
                <a:solidFill>
                  <a:srgbClr val="2A2E30"/>
                </a:solidFill>
                <a:latin typeface="Arial"/>
              </a:rPr>
              <a:t>3</a:t>
            </a:r>
          </a:p>
          <a:p>
            <a:pPr algn="l"/>
            <a:r>
              <a:rPr sz="950" b="0">
                <a:solidFill>
                  <a:srgbClr val="505759"/>
                </a:solidFill>
                <a:latin typeface="Arial"/>
              </a:rPr>
              <a:t>clinical sites · BIDMC · Kaiser · Emory</a:t>
            </a:r>
          </a:p>
        </p:txBody>
      </p:sp>
      <p:graphicFrame>
        <p:nvGraphicFramePr>
          <p:cNvPr id="13" name="Table 12"/>
          <p:cNvGraphicFramePr>
            <a:graphicFrameLocks noGrp="1"/>
          </p:cNvGraphicFramePr>
          <p:nvPr/>
        </p:nvGraphicFramePr>
        <p:xfrm>
          <a:off x="3977639" y="1481328"/>
          <a:ext cx="3017520" cy="1481328"/>
        </p:xfrm>
        <a:graphic>
          <a:graphicData uri="http://schemas.openxmlformats.org/drawingml/2006/table">
            <a:tbl>
              <a:tblPr>
                <a:tableStyleId>{5C22544A-7EE6-4342-B048-85BDC9FD1C3A}</a:tableStyleId>
              </a:tblPr>
              <a:tblGrid>
                <a:gridCol w="1188720"/>
                <a:gridCol w="914400"/>
                <a:gridCol w="914400"/>
              </a:tblGrid>
              <a:tr h="310896">
                <a:tc>
                  <a:txBody>
                    <a:bodyPr wrap="square"/>
                    <a:lstStyle/>
                    <a:p>
                      <a:pPr algn="l"/>
                      <a:r>
                        <a:rPr sz="1050" b="1">
                          <a:solidFill>
                            <a:srgbClr val="FFFFFF"/>
                          </a:solidFill>
                          <a:latin typeface="Arial"/>
                        </a:rPr>
                        <a:t>Site</a:t>
                      </a:r>
                    </a:p>
                  </a:txBody>
                  <a:tcPr marL="54864" marR="54864" marT="18288" marB="18288" anchor="ctr">
                    <a:solidFill>
                      <a:srgbClr val="505759"/>
                    </a:solidFill>
                  </a:tcPr>
                </a:tc>
                <a:tc>
                  <a:txBody>
                    <a:bodyPr wrap="square"/>
                    <a:lstStyle/>
                    <a:p>
                      <a:pPr algn="r"/>
                      <a:r>
                        <a:rPr sz="1050" b="1">
                          <a:solidFill>
                            <a:srgbClr val="FFFFFF"/>
                          </a:solidFill>
                          <a:latin typeface="Arial"/>
                        </a:rPr>
                        <a:t>Patients</a:t>
                      </a:r>
                    </a:p>
                  </a:txBody>
                  <a:tcPr marL="54864" marR="54864" marT="18288" marB="18288" anchor="ctr">
                    <a:solidFill>
                      <a:srgbClr val="505759"/>
                    </a:solidFill>
                  </a:tcPr>
                </a:tc>
                <a:tc>
                  <a:txBody>
                    <a:bodyPr wrap="square"/>
                    <a:lstStyle/>
                    <a:p>
                      <a:pPr algn="r"/>
                      <a:r>
                        <a:rPr sz="1050" b="1">
                          <a:solidFill>
                            <a:srgbClr val="FFFFFF"/>
                          </a:solidFill>
                          <a:latin typeface="Arial"/>
                        </a:rPr>
                        <a:t>Prevalence</a:t>
                      </a:r>
                    </a:p>
                  </a:txBody>
                  <a:tcPr marL="54864" marR="54864" marT="18288" marB="18288" anchor="ctr">
                    <a:solidFill>
                      <a:srgbClr val="505759"/>
                    </a:solidFill>
                  </a:tcPr>
                </a:tc>
              </a:tr>
              <a:tr h="292608">
                <a:tc>
                  <a:txBody>
                    <a:bodyPr wrap="square"/>
                    <a:lstStyle/>
                    <a:p>
                      <a:pPr algn="l"/>
                      <a:r>
                        <a:rPr sz="1050" b="0">
                          <a:solidFill>
                            <a:srgbClr val="2A2E30"/>
                          </a:solidFill>
                          <a:latin typeface="Arial"/>
                        </a:rPr>
                        <a:t>BIDMC</a:t>
                      </a:r>
                    </a:p>
                  </a:txBody>
                  <a:tcPr marL="54864" marR="54864" marT="18288" marB="18288" anchor="ctr">
                    <a:solidFill>
                      <a:srgbClr val="FFFFFF"/>
                    </a:solidFill>
                  </a:tcPr>
                </a:tc>
                <a:tc>
                  <a:txBody>
                    <a:bodyPr wrap="square"/>
                    <a:lstStyle/>
                    <a:p>
                      <a:pPr algn="r"/>
                      <a:r>
                        <a:rPr sz="1050" b="0">
                          <a:solidFill>
                            <a:srgbClr val="2A2E30"/>
                          </a:solidFill>
                          <a:latin typeface="Arial"/>
                        </a:rPr>
                        <a:t>857</a:t>
                      </a:r>
                    </a:p>
                  </a:txBody>
                  <a:tcPr marL="54864" marR="54864" marT="18288" marB="18288" anchor="ctr">
                    <a:solidFill>
                      <a:srgbClr val="FFFFFF"/>
                    </a:solidFill>
                  </a:tcPr>
                </a:tc>
                <a:tc>
                  <a:txBody>
                    <a:bodyPr wrap="square"/>
                    <a:lstStyle/>
                    <a:p>
                      <a:pPr algn="r"/>
                      <a:r>
                        <a:rPr sz="1050" b="0">
                          <a:solidFill>
                            <a:srgbClr val="2A2E30"/>
                          </a:solidFill>
                          <a:latin typeface="Arial"/>
                        </a:rPr>
                        <a:t>6.5%</a:t>
                      </a:r>
                    </a:p>
                  </a:txBody>
                  <a:tcPr marL="54864" marR="54864" marT="18288" marB="18288" anchor="ctr">
                    <a:solidFill>
                      <a:srgbClr val="FFFFFF"/>
                    </a:solidFill>
                  </a:tcPr>
                </a:tc>
              </a:tr>
              <a:tr h="292608">
                <a:tc>
                  <a:txBody>
                    <a:bodyPr wrap="square"/>
                    <a:lstStyle/>
                    <a:p>
                      <a:pPr algn="l"/>
                      <a:r>
                        <a:rPr sz="1050" b="0">
                          <a:solidFill>
                            <a:srgbClr val="2A2E30"/>
                          </a:solidFill>
                          <a:latin typeface="Arial"/>
                        </a:rPr>
                        <a:t>Kaiser</a:t>
                      </a:r>
                    </a:p>
                  </a:txBody>
                  <a:tcPr marL="54864" marR="54864" marT="18288" marB="18288" anchor="ctr">
                    <a:solidFill>
                      <a:srgbClr val="F7F8F8"/>
                    </a:solidFill>
                  </a:tcPr>
                </a:tc>
                <a:tc>
                  <a:txBody>
                    <a:bodyPr wrap="square"/>
                    <a:lstStyle/>
                    <a:p>
                      <a:pPr algn="r"/>
                      <a:r>
                        <a:rPr sz="1050" b="0">
                          <a:solidFill>
                            <a:srgbClr val="2A2E30"/>
                          </a:solidFill>
                          <a:latin typeface="Arial"/>
                        </a:rPr>
                        <a:t>192</a:t>
                      </a:r>
                    </a:p>
                  </a:txBody>
                  <a:tcPr marL="54864" marR="54864" marT="18288" marB="18288" anchor="ctr">
                    <a:solidFill>
                      <a:srgbClr val="F7F8F8"/>
                    </a:solidFill>
                  </a:tcPr>
                </a:tc>
                <a:tc>
                  <a:txBody>
                    <a:bodyPr wrap="square"/>
                    <a:lstStyle/>
                    <a:p>
                      <a:pPr algn="r"/>
                      <a:r>
                        <a:rPr sz="1050" b="0">
                          <a:solidFill>
                            <a:srgbClr val="2A2E30"/>
                          </a:solidFill>
                          <a:latin typeface="Arial"/>
                        </a:rPr>
                        <a:t>10.4%</a:t>
                      </a:r>
                    </a:p>
                  </a:txBody>
                  <a:tcPr marL="54864" marR="54864" marT="18288" marB="18288" anchor="ctr">
                    <a:solidFill>
                      <a:srgbClr val="F7F8F8"/>
                    </a:solidFill>
                  </a:tcPr>
                </a:tc>
              </a:tr>
              <a:tr h="292608">
                <a:tc>
                  <a:txBody>
                    <a:bodyPr wrap="square"/>
                    <a:lstStyle/>
                    <a:p>
                      <a:pPr algn="l"/>
                      <a:r>
                        <a:rPr sz="1050" b="0">
                          <a:solidFill>
                            <a:srgbClr val="2A2E30"/>
                          </a:solidFill>
                          <a:latin typeface="Arial"/>
                        </a:rPr>
                        <a:t>Emory</a:t>
                      </a:r>
                    </a:p>
                  </a:txBody>
                  <a:tcPr marL="54864" marR="54864" marT="18288" marB="18288" anchor="ctr">
                    <a:solidFill>
                      <a:srgbClr val="FFFFFF"/>
                    </a:solidFill>
                  </a:tcPr>
                </a:tc>
                <a:tc>
                  <a:txBody>
                    <a:bodyPr wrap="square"/>
                    <a:lstStyle/>
                    <a:p>
                      <a:pPr algn="r"/>
                      <a:r>
                        <a:rPr sz="1050" b="0">
                          <a:solidFill>
                            <a:srgbClr val="2A2E30"/>
                          </a:solidFill>
                          <a:latin typeface="Arial"/>
                        </a:rPr>
                        <a:t>54</a:t>
                      </a:r>
                    </a:p>
                  </a:txBody>
                  <a:tcPr marL="54864" marR="54864" marT="18288" marB="18288" anchor="ctr">
                    <a:solidFill>
                      <a:srgbClr val="FFFFFF"/>
                    </a:solidFill>
                  </a:tcPr>
                </a:tc>
                <a:tc>
                  <a:txBody>
                    <a:bodyPr wrap="square"/>
                    <a:lstStyle/>
                    <a:p>
                      <a:pPr algn="r"/>
                      <a:r>
                        <a:rPr sz="1050" b="0">
                          <a:solidFill>
                            <a:srgbClr val="2A2E30"/>
                          </a:solidFill>
                          <a:latin typeface="Arial"/>
                        </a:rPr>
                        <a:t>14.8%</a:t>
                      </a:r>
                    </a:p>
                  </a:txBody>
                  <a:tcPr marL="54864" marR="54864" marT="18288" marB="18288" anchor="ctr">
                    <a:solidFill>
                      <a:srgbClr val="FFFFFF"/>
                    </a:solidFill>
                  </a:tcPr>
                </a:tc>
              </a:tr>
              <a:tr h="292608">
                <a:tc>
                  <a:txBody>
                    <a:bodyPr wrap="square"/>
                    <a:lstStyle/>
                    <a:p>
                      <a:pPr algn="l"/>
                      <a:r>
                        <a:rPr sz="1050" b="0">
                          <a:solidFill>
                            <a:srgbClr val="2A2E30"/>
                          </a:solidFill>
                          <a:latin typeface="Arial"/>
                        </a:rPr>
                        <a:t>Cohort</a:t>
                      </a:r>
                    </a:p>
                  </a:txBody>
                  <a:tcPr marL="54864" marR="54864" marT="18288" marB="18288" anchor="ctr">
                    <a:solidFill>
                      <a:srgbClr val="F7F8F8"/>
                    </a:solidFill>
                  </a:tcPr>
                </a:tc>
                <a:tc>
                  <a:txBody>
                    <a:bodyPr wrap="square"/>
                    <a:lstStyle/>
                    <a:p>
                      <a:pPr algn="r"/>
                      <a:r>
                        <a:rPr sz="1050" b="0">
                          <a:solidFill>
                            <a:srgbClr val="2A2E30"/>
                          </a:solidFill>
                          <a:latin typeface="Arial"/>
                        </a:rPr>
                        <a:t>1,103</a:t>
                      </a:r>
                    </a:p>
                  </a:txBody>
                  <a:tcPr marL="54864" marR="54864" marT="18288" marB="18288" anchor="ctr">
                    <a:solidFill>
                      <a:srgbClr val="F7F8F8"/>
                    </a:solidFill>
                  </a:tcPr>
                </a:tc>
                <a:tc>
                  <a:txBody>
                    <a:bodyPr wrap="square"/>
                    <a:lstStyle/>
                    <a:p>
                      <a:pPr algn="r"/>
                      <a:r>
                        <a:rPr sz="1050" b="0">
                          <a:solidFill>
                            <a:srgbClr val="2A2E30"/>
                          </a:solidFill>
                          <a:latin typeface="Arial"/>
                        </a:rPr>
                        <a:t>7.6%</a:t>
                      </a:r>
                    </a:p>
                  </a:txBody>
                  <a:tcPr marL="54864" marR="54864" marT="18288" marB="18288" anchor="ctr">
                    <a:solidFill>
                      <a:srgbClr val="F7F8F8"/>
                    </a:solidFill>
                  </a:tcPr>
                </a:tc>
              </a:tr>
            </a:tbl>
          </a:graphicData>
        </a:graphic>
      </p:graphicFrame>
      <p:sp>
        <p:nvSpPr>
          <p:cNvPr id="14" name="TextBox 13"/>
          <p:cNvSpPr txBox="1"/>
          <p:nvPr/>
        </p:nvSpPr>
        <p:spPr>
          <a:xfrm>
            <a:off x="3977639" y="3383280"/>
            <a:ext cx="3017520" cy="548640"/>
          </a:xfrm>
          <a:prstGeom prst="rect">
            <a:avLst/>
          </a:prstGeom>
          <a:noFill/>
        </p:spPr>
        <p:txBody>
          <a:bodyPr wrap="square">
            <a:spAutoFit/>
          </a:bodyPr>
          <a:lstStyle/>
          <a:p>
            <a:pPr algn="l"/>
            <a:r>
              <a:rPr sz="1050" b="0">
                <a:solidFill>
                  <a:srgbClr val="505759"/>
                </a:solidFill>
                <a:latin typeface="Arial"/>
              </a:rPr>
              <a:t>Prevalence rises 6.5% → 14.8% across sites — a source of distribution shift for leave-one-site-out validation.</a:t>
            </a:r>
          </a:p>
        </p:txBody>
      </p:sp>
      <p:sp>
        <p:nvSpPr>
          <p:cNvPr id="15" name="TextBox 14"/>
          <p:cNvSpPr txBox="1"/>
          <p:nvPr/>
        </p:nvSpPr>
        <p:spPr>
          <a:xfrm>
            <a:off x="548640" y="3364992"/>
            <a:ext cx="3200400" cy="822960"/>
          </a:xfrm>
          <a:prstGeom prst="rect">
            <a:avLst/>
          </a:prstGeom>
          <a:noFill/>
        </p:spPr>
        <p:txBody>
          <a:bodyPr wrap="square">
            <a:spAutoFit/>
          </a:bodyPr>
          <a:lstStyle/>
          <a:p>
            <a:pPr algn="l"/>
            <a:r>
              <a:rPr sz="1200" b="1">
                <a:solidFill>
                  <a:srgbClr val="2A2E30"/>
                </a:solidFill>
                <a:latin typeface="Arial"/>
              </a:rPr>
              <a:t>Label</a:t>
            </a:r>
            <a:r>
              <a:rPr sz="1200" b="0">
                <a:solidFill>
                  <a:srgbClr val="505759"/>
                </a:solidFill>
                <a:latin typeface="Arial"/>
              </a:rPr>
              <a:t> = </a:t>
            </a:r>
            <a:r>
              <a:rPr sz="1200" b="1">
                <a:solidFill>
                  <a:srgbClr val="2A2E30"/>
                </a:solidFill>
                <a:latin typeface="Arial"/>
              </a:rPr>
              <a:t>Cognitive_Impairment</a:t>
            </a:r>
            <a:r>
              <a:rPr sz="1200" b="0">
                <a:solidFill>
                  <a:srgbClr val="505759"/>
                </a:solidFill>
                <a:latin typeface="Arial"/>
              </a:rPr>
              <a:t>  ·  84 positive / 1,019 negative, 0 missing.</a:t>
            </a:r>
          </a:p>
        </p:txBody>
      </p:sp>
      <p:sp>
        <p:nvSpPr>
          <p:cNvPr id="16" name="TextBox 15"/>
          <p:cNvSpPr txBox="1"/>
          <p:nvPr/>
        </p:nvSpPr>
        <p:spPr>
          <a:xfrm>
            <a:off x="548640" y="4828032"/>
            <a:ext cx="6035040" cy="228600"/>
          </a:xfrm>
          <a:prstGeom prst="rect">
            <a:avLst/>
          </a:prstGeom>
          <a:noFill/>
        </p:spPr>
        <p:txBody>
          <a:bodyPr wrap="square">
            <a:spAutoFit/>
          </a:bodyPr>
          <a:lstStyle/>
          <a:p>
            <a:pPr algn="l"/>
            <a:r>
              <a:rPr sz="800" b="0">
                <a:solidFill>
                  <a:srgbClr val="898D8D"/>
                </a:solidFill>
                <a:latin typeface="Arial"/>
              </a:rPr>
              <a:t>PhysioNet Challenge 2026  ·  Scoring Metrics</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Both problems the metric fixes are visible in our data</a:t>
            </a:r>
          </a:p>
        </p:txBody>
      </p:sp>
      <p:sp>
        <p:nvSpPr>
          <p:cNvPr id="3" name="Content Placeholder 2"/>
          <p:cNvSpPr>
            <a:spLocks noGrp="1"/>
          </p:cNvSpPr>
          <p:nvPr>
            <p:ph idx="1"/>
          </p:nvPr>
        </p:nvSpPr>
        <p:spPr/>
        <p:txBody>
          <a:bodyPr/>
          <a:lstStyle/>
          <a:p/>
        </p:txBody>
      </p:sp>
      <p:sp>
        <p:nvSpPr>
          <p:cNvPr id="4" name="TextBox 3"/>
          <p:cNvSpPr txBox="1"/>
          <p:nvPr/>
        </p:nvSpPr>
        <p:spPr>
          <a:xfrm>
            <a:off x="548640" y="1024128"/>
            <a:ext cx="6446520" cy="274320"/>
          </a:xfrm>
          <a:prstGeom prst="rect">
            <a:avLst/>
          </a:prstGeom>
          <a:noFill/>
        </p:spPr>
        <p:txBody>
          <a:bodyPr wrap="square">
            <a:spAutoFit/>
          </a:bodyPr>
          <a:lstStyle/>
          <a:p>
            <a:pPr algn="l"/>
            <a:r>
              <a:rPr sz="1100" b="1">
                <a:solidFill>
                  <a:srgbClr val="C8102E"/>
                </a:solidFill>
                <a:latin typeface="Arial"/>
              </a:rPr>
              <a:t>DATASET · WHY THE METRIC IS BUILT THIS WAY</a:t>
            </a:r>
          </a:p>
        </p:txBody>
      </p:sp>
      <p:pic>
        <p:nvPicPr>
          <p:cNvPr id="5" name="Picture 4" descr="fig1_age_prevalence.png"/>
          <p:cNvPicPr>
            <a:picLocks noChangeAspect="1"/>
          </p:cNvPicPr>
          <p:nvPr/>
        </p:nvPicPr>
        <p:blipFill>
          <a:blip r:embed="rId2"/>
          <a:stretch>
            <a:fillRect/>
          </a:stretch>
        </p:blipFill>
        <p:spPr>
          <a:xfrm>
            <a:off x="502920" y="1867764"/>
            <a:ext cx="3246120" cy="2345230"/>
          </a:xfrm>
          <a:prstGeom prst="rect">
            <a:avLst/>
          </a:prstGeom>
        </p:spPr>
      </p:pic>
      <p:pic>
        <p:nvPicPr>
          <p:cNvPr id="6" name="Picture 5" descr="fig2_site_prevalence.png"/>
          <p:cNvPicPr>
            <a:picLocks noChangeAspect="1"/>
          </p:cNvPicPr>
          <p:nvPr/>
        </p:nvPicPr>
        <p:blipFill>
          <a:blip r:embed="rId3"/>
          <a:stretch>
            <a:fillRect/>
          </a:stretch>
        </p:blipFill>
        <p:spPr>
          <a:xfrm>
            <a:off x="3794760" y="1885879"/>
            <a:ext cx="3200400" cy="2309000"/>
          </a:xfrm>
          <a:prstGeom prst="rect">
            <a:avLst/>
          </a:prstGeom>
        </p:spPr>
      </p:pic>
      <p:sp>
        <p:nvSpPr>
          <p:cNvPr id="7" name="TextBox 6"/>
          <p:cNvSpPr txBox="1"/>
          <p:nvPr/>
        </p:nvSpPr>
        <p:spPr>
          <a:xfrm>
            <a:off x="548640" y="4526280"/>
            <a:ext cx="6492240" cy="457200"/>
          </a:xfrm>
          <a:prstGeom prst="rect">
            <a:avLst/>
          </a:prstGeom>
          <a:noFill/>
        </p:spPr>
        <p:txBody>
          <a:bodyPr wrap="square">
            <a:spAutoFit/>
          </a:bodyPr>
          <a:lstStyle/>
          <a:p>
            <a:pPr algn="l"/>
            <a:r>
              <a:rPr sz="1150" b="1">
                <a:solidFill>
                  <a:srgbClr val="C8102E"/>
                </a:solidFill>
                <a:latin typeface="Arial"/>
              </a:rPr>
              <a:t>Prevalence climbs 2% → 36% across age bands</a:t>
            </a:r>
            <a:r>
              <a:rPr sz="1150" b="0">
                <a:solidFill>
                  <a:srgbClr val="505759"/>
                </a:solidFill>
                <a:latin typeface="Arial"/>
              </a:rPr>
              <a:t> (→ age-conditioned AUROC) and shifts by site </a:t>
            </a:r>
            <a:r>
              <a:rPr sz="1150" b="1">
                <a:solidFill>
                  <a:srgbClr val="2A2E30"/>
                </a:solidFill>
                <a:latin typeface="Arial"/>
              </a:rPr>
              <a:t>6.5% → 14.8%</a:t>
            </a:r>
            <a:r>
              <a:rPr sz="1150" b="0">
                <a:solidFill>
                  <a:srgbClr val="505759"/>
                </a:solidFill>
                <a:latin typeface="Arial"/>
              </a:rPr>
              <a:t> (→ leave-one-site-out validation).</a:t>
            </a:r>
          </a:p>
        </p:txBody>
      </p:sp>
      <p:sp>
        <p:nvSpPr>
          <p:cNvPr id="8" name="TextBox 7"/>
          <p:cNvSpPr txBox="1"/>
          <p:nvPr/>
        </p:nvSpPr>
        <p:spPr>
          <a:xfrm>
            <a:off x="548640" y="4828032"/>
            <a:ext cx="6035040" cy="228600"/>
          </a:xfrm>
          <a:prstGeom prst="rect">
            <a:avLst/>
          </a:prstGeom>
          <a:noFill/>
        </p:spPr>
        <p:txBody>
          <a:bodyPr wrap="square">
            <a:spAutoFit/>
          </a:bodyPr>
          <a:lstStyle/>
          <a:p>
            <a:pPr algn="l"/>
            <a:r>
              <a:rPr sz="800" b="0">
                <a:solidFill>
                  <a:srgbClr val="898D8D"/>
                </a:solidFill>
                <a:latin typeface="Arial"/>
              </a:rPr>
              <a:t>PhysioNet Challenge 2026  ·  Scoring Metrics</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Rich signals, but wildly heterogeneous montages</a:t>
            </a:r>
          </a:p>
        </p:txBody>
      </p:sp>
      <p:sp>
        <p:nvSpPr>
          <p:cNvPr id="3" name="Content Placeholder 2"/>
          <p:cNvSpPr>
            <a:spLocks noGrp="1"/>
          </p:cNvSpPr>
          <p:nvPr>
            <p:ph idx="1"/>
          </p:nvPr>
        </p:nvSpPr>
        <p:spPr/>
        <p:txBody>
          <a:bodyPr/>
          <a:lstStyle/>
          <a:p/>
        </p:txBody>
      </p:sp>
      <p:sp>
        <p:nvSpPr>
          <p:cNvPr id="4" name="TextBox 3"/>
          <p:cNvSpPr txBox="1"/>
          <p:nvPr/>
        </p:nvSpPr>
        <p:spPr>
          <a:xfrm>
            <a:off x="548640" y="1024128"/>
            <a:ext cx="6446520" cy="274320"/>
          </a:xfrm>
          <a:prstGeom prst="rect">
            <a:avLst/>
          </a:prstGeom>
          <a:noFill/>
        </p:spPr>
        <p:txBody>
          <a:bodyPr wrap="square">
            <a:spAutoFit/>
          </a:bodyPr>
          <a:lstStyle/>
          <a:p>
            <a:pPr algn="l"/>
            <a:r>
              <a:rPr sz="1100" b="1">
                <a:solidFill>
                  <a:srgbClr val="C8102E"/>
                </a:solidFill>
                <a:latin typeface="Arial"/>
              </a:rPr>
              <a:t>DATASET · BIOSIGNALS (header scan of 1,103 EDFs)</a:t>
            </a:r>
          </a:p>
        </p:txBody>
      </p:sp>
      <p:pic>
        <p:nvPicPr>
          <p:cNvPr id="5" name="Picture 4" descr="fig5_montage_heterogeneity.png"/>
          <p:cNvPicPr>
            <a:picLocks noChangeAspect="1"/>
          </p:cNvPicPr>
          <p:nvPr/>
        </p:nvPicPr>
        <p:blipFill>
          <a:blip r:embed="rId2"/>
          <a:stretch>
            <a:fillRect/>
          </a:stretch>
        </p:blipFill>
        <p:spPr>
          <a:xfrm>
            <a:off x="502920" y="1842691"/>
            <a:ext cx="3566160" cy="2441096"/>
          </a:xfrm>
          <a:prstGeom prst="rect">
            <a:avLst/>
          </a:prstGeom>
        </p:spPr>
      </p:pic>
      <p:sp>
        <p:nvSpPr>
          <p:cNvPr id="6" name="TextBox 5"/>
          <p:cNvSpPr txBox="1"/>
          <p:nvPr/>
        </p:nvSpPr>
        <p:spPr>
          <a:xfrm>
            <a:off x="4251960" y="1600200"/>
            <a:ext cx="2743200" cy="731520"/>
          </a:xfrm>
          <a:prstGeom prst="rect">
            <a:avLst/>
          </a:prstGeom>
          <a:noFill/>
        </p:spPr>
        <p:txBody>
          <a:bodyPr wrap="square">
            <a:spAutoFit/>
          </a:bodyPr>
          <a:lstStyle/>
          <a:p>
            <a:pPr algn="l"/>
            <a:r>
              <a:rPr sz="1200" b="1">
                <a:solidFill>
                  <a:srgbClr val="2A2E30"/>
                </a:solidFill>
                <a:latin typeface="Arial"/>
              </a:rPr>
              <a:t>EKG present in 98.9%</a:t>
            </a:r>
            <a:r>
              <a:rPr sz="1200" b="0">
                <a:solidFill>
                  <a:srgbClr val="505759"/>
                </a:solidFill>
                <a:latin typeface="Arial"/>
              </a:rPr>
              <a:t> of recordings; core EEG (F3/C3/O1…) and SaO₂ in ~81%.</a:t>
            </a:r>
          </a:p>
        </p:txBody>
      </p:sp>
      <p:sp>
        <p:nvSpPr>
          <p:cNvPr id="7" name="TextBox 6"/>
          <p:cNvSpPr txBox="1"/>
          <p:nvPr/>
        </p:nvSpPr>
        <p:spPr>
          <a:xfrm>
            <a:off x="4251960" y="2203704"/>
            <a:ext cx="2743200" cy="731520"/>
          </a:xfrm>
          <a:prstGeom prst="rect">
            <a:avLst/>
          </a:prstGeom>
          <a:noFill/>
        </p:spPr>
        <p:txBody>
          <a:bodyPr wrap="square">
            <a:spAutoFit/>
          </a:bodyPr>
          <a:lstStyle/>
          <a:p>
            <a:pPr algn="l"/>
            <a:r>
              <a:rPr sz="1200" b="1">
                <a:solidFill>
                  <a:srgbClr val="2A2E30"/>
                </a:solidFill>
                <a:latin typeface="Arial"/>
              </a:rPr>
              <a:t>16 – 88 channels</a:t>
            </a:r>
            <a:r>
              <a:rPr sz="1200" b="0">
                <a:solidFill>
                  <a:srgbClr val="505759"/>
                </a:solidFill>
                <a:latin typeface="Arial"/>
              </a:rPr>
              <a:t> per file; sampling rates span </a:t>
            </a:r>
            <a:r>
              <a:rPr sz="1200" b="1">
                <a:solidFill>
                  <a:srgbClr val="2A2E30"/>
                </a:solidFill>
                <a:latin typeface="Arial"/>
              </a:rPr>
              <a:t>20 – 512 Hz.</a:t>
            </a:r>
          </a:p>
        </p:txBody>
      </p:sp>
      <p:sp>
        <p:nvSpPr>
          <p:cNvPr id="8" name="TextBox 7"/>
          <p:cNvSpPr txBox="1"/>
          <p:nvPr/>
        </p:nvSpPr>
        <p:spPr>
          <a:xfrm>
            <a:off x="4251960" y="2807208"/>
            <a:ext cx="2743200" cy="731520"/>
          </a:xfrm>
          <a:prstGeom prst="rect">
            <a:avLst/>
          </a:prstGeom>
          <a:noFill/>
        </p:spPr>
        <p:txBody>
          <a:bodyPr wrap="square">
            <a:spAutoFit/>
          </a:bodyPr>
          <a:lstStyle/>
          <a:p>
            <a:pPr algn="l"/>
            <a:r>
              <a:rPr sz="1200" b="1">
                <a:solidFill>
                  <a:srgbClr val="C8102E"/>
                </a:solidFill>
                <a:latin typeface="Arial"/>
              </a:rPr>
              <a:t>BIDMC alone uses 42 distinct channel sets</a:t>
            </a:r>
            <a:r>
              <a:rPr sz="1200" b="0">
                <a:solidFill>
                  <a:srgbClr val="505759"/>
                </a:solidFill>
                <a:latin typeface="Arial"/>
              </a:rPr>
              <a:t>; Kaiser 9, Emory 8.</a:t>
            </a:r>
          </a:p>
        </p:txBody>
      </p:sp>
      <p:sp>
        <p:nvSpPr>
          <p:cNvPr id="9" name="TextBox 8"/>
          <p:cNvSpPr txBox="1"/>
          <p:nvPr/>
        </p:nvSpPr>
        <p:spPr>
          <a:xfrm>
            <a:off x="4251960" y="3410712"/>
            <a:ext cx="2743200" cy="731520"/>
          </a:xfrm>
          <a:prstGeom prst="rect">
            <a:avLst/>
          </a:prstGeom>
          <a:noFill/>
        </p:spPr>
        <p:txBody>
          <a:bodyPr wrap="square">
            <a:spAutoFit/>
          </a:bodyPr>
          <a:lstStyle/>
          <a:p>
            <a:pPr algn="l"/>
            <a:r>
              <a:rPr sz="1200" b="1">
                <a:solidFill>
                  <a:srgbClr val="2A2E30"/>
                </a:solidFill>
                <a:latin typeface="Arial"/>
              </a:rPr>
              <a:t>Same sensor, many labels</a:t>
            </a:r>
            <a:r>
              <a:rPr sz="1200" b="0">
                <a:solidFill>
                  <a:srgbClr val="505759"/>
                </a:solidFill>
                <a:latin typeface="Arial"/>
              </a:rPr>
              <a:t> (SaO2 vs SpO2, CHEST vs Thorax) and mixed units.</a:t>
            </a:r>
          </a:p>
        </p:txBody>
      </p:sp>
      <p:sp>
        <p:nvSpPr>
          <p:cNvPr id="10" name="TextBox 9"/>
          <p:cNvSpPr txBox="1"/>
          <p:nvPr/>
        </p:nvSpPr>
        <p:spPr>
          <a:xfrm>
            <a:off x="4251960" y="4014216"/>
            <a:ext cx="2743200" cy="731520"/>
          </a:xfrm>
          <a:prstGeom prst="rect">
            <a:avLst/>
          </a:prstGeom>
          <a:noFill/>
        </p:spPr>
        <p:txBody>
          <a:bodyPr wrap="square">
            <a:spAutoFit/>
          </a:bodyPr>
          <a:lstStyle/>
          <a:p>
            <a:pPr algn="l"/>
            <a:r>
              <a:rPr sz="1200" b="1">
                <a:solidFill>
                  <a:srgbClr val="C8102E"/>
                </a:solidFill>
                <a:latin typeface="Arial"/>
              </a:rPr>
              <a:t>Implication:</a:t>
            </a:r>
            <a:r>
              <a:rPr sz="1200" b="0">
                <a:solidFill>
                  <a:srgbClr val="505759"/>
                </a:solidFill>
                <a:latin typeface="Arial"/>
              </a:rPr>
              <a:t> features are computed per channel role and must degrade gracefully when a channel is absent.</a:t>
            </a:r>
          </a:p>
        </p:txBody>
      </p:sp>
      <p:sp>
        <p:nvSpPr>
          <p:cNvPr id="11" name="TextBox 10"/>
          <p:cNvSpPr txBox="1"/>
          <p:nvPr/>
        </p:nvSpPr>
        <p:spPr>
          <a:xfrm>
            <a:off x="548640" y="4828032"/>
            <a:ext cx="6035040" cy="228600"/>
          </a:xfrm>
          <a:prstGeom prst="rect">
            <a:avLst/>
          </a:prstGeom>
          <a:noFill/>
        </p:spPr>
        <p:txBody>
          <a:bodyPr wrap="square">
            <a:spAutoFit/>
          </a:bodyPr>
          <a:lstStyle/>
          <a:p>
            <a:pPr algn="l"/>
            <a:r>
              <a:rPr sz="800" b="0">
                <a:solidFill>
                  <a:srgbClr val="898D8D"/>
                </a:solidFill>
                <a:latin typeface="Arial"/>
              </a:rPr>
              <a:t>PhysioNet Challenge 2026  ·  Scoring Metrics</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Fragmented sleep and heavy disordered breathing</a:t>
            </a:r>
          </a:p>
        </p:txBody>
      </p:sp>
      <p:sp>
        <p:nvSpPr>
          <p:cNvPr id="3" name="Content Placeholder 2"/>
          <p:cNvSpPr>
            <a:spLocks noGrp="1"/>
          </p:cNvSpPr>
          <p:nvPr>
            <p:ph idx="1"/>
          </p:nvPr>
        </p:nvSpPr>
        <p:spPr/>
        <p:txBody>
          <a:bodyPr/>
          <a:lstStyle/>
          <a:p/>
        </p:txBody>
      </p:sp>
      <p:sp>
        <p:nvSpPr>
          <p:cNvPr id="4" name="TextBox 3"/>
          <p:cNvSpPr txBox="1"/>
          <p:nvPr/>
        </p:nvSpPr>
        <p:spPr>
          <a:xfrm>
            <a:off x="548640" y="1024128"/>
            <a:ext cx="6446520" cy="274320"/>
          </a:xfrm>
          <a:prstGeom prst="rect">
            <a:avLst/>
          </a:prstGeom>
          <a:noFill/>
        </p:spPr>
        <p:txBody>
          <a:bodyPr wrap="square">
            <a:spAutoFit/>
          </a:bodyPr>
          <a:lstStyle/>
          <a:p>
            <a:pPr algn="l"/>
            <a:r>
              <a:rPr sz="1100" b="1">
                <a:solidFill>
                  <a:srgbClr val="C8102E"/>
                </a:solidFill>
                <a:latin typeface="Arial"/>
              </a:rPr>
              <a:t>DATASET · SLEEP ARCHITECTURE (CAISR annotations)</a:t>
            </a:r>
          </a:p>
        </p:txBody>
      </p:sp>
      <p:pic>
        <p:nvPicPr>
          <p:cNvPr id="5" name="Picture 4" descr="fig3_stage_composition.png"/>
          <p:cNvPicPr>
            <a:picLocks noChangeAspect="1"/>
          </p:cNvPicPr>
          <p:nvPr/>
        </p:nvPicPr>
        <p:blipFill>
          <a:blip r:embed="rId2"/>
          <a:stretch>
            <a:fillRect/>
          </a:stretch>
        </p:blipFill>
        <p:spPr>
          <a:xfrm>
            <a:off x="1476655" y="1417320"/>
            <a:ext cx="4544768" cy="1600200"/>
          </a:xfrm>
          <a:prstGeom prst="rect">
            <a:avLst/>
          </a:prstGeom>
        </p:spPr>
      </p:pic>
      <p:sp>
        <p:nvSpPr>
          <p:cNvPr id="6" name="Rounded Rectangle 5"/>
          <p:cNvSpPr/>
          <p:nvPr/>
        </p:nvSpPr>
        <p:spPr>
          <a:xfrm>
            <a:off x="548640" y="3200400"/>
            <a:ext cx="1517904" cy="868680"/>
          </a:xfrm>
          <a:prstGeom prst="roundRect">
            <a:avLst>
              <a:gd name="adj" fmla="val 6000"/>
            </a:avLst>
          </a:prstGeom>
          <a:solidFill>
            <a:srgbClr val="F2F4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58368" y="3291840"/>
            <a:ext cx="1298448" cy="685800"/>
          </a:xfrm>
          <a:prstGeom prst="rect">
            <a:avLst/>
          </a:prstGeom>
          <a:noFill/>
        </p:spPr>
        <p:txBody>
          <a:bodyPr wrap="square">
            <a:spAutoFit/>
          </a:bodyPr>
          <a:lstStyle/>
          <a:p>
            <a:pPr algn="l"/>
            <a:r>
              <a:rPr sz="2100" b="1">
                <a:solidFill>
                  <a:srgbClr val="346583"/>
                </a:solidFill>
                <a:latin typeface="Arial"/>
              </a:rPr>
              <a:t>73.6%</a:t>
            </a:r>
          </a:p>
          <a:p>
            <a:pPr algn="l"/>
            <a:r>
              <a:rPr sz="950" b="0">
                <a:solidFill>
                  <a:srgbClr val="505759"/>
                </a:solidFill>
                <a:latin typeface="Arial"/>
              </a:rPr>
              <a:t>sleep efficiency (median 76.8%)</a:t>
            </a:r>
          </a:p>
        </p:txBody>
      </p:sp>
      <p:sp>
        <p:nvSpPr>
          <p:cNvPr id="8" name="Rounded Rectangle 7"/>
          <p:cNvSpPr/>
          <p:nvPr/>
        </p:nvSpPr>
        <p:spPr>
          <a:xfrm>
            <a:off x="2194560" y="3200400"/>
            <a:ext cx="1517904" cy="868680"/>
          </a:xfrm>
          <a:prstGeom prst="roundRect">
            <a:avLst>
              <a:gd name="adj" fmla="val 6000"/>
            </a:avLst>
          </a:prstGeom>
          <a:solidFill>
            <a:srgbClr val="F2F4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2304288" y="3291840"/>
            <a:ext cx="1298448" cy="685800"/>
          </a:xfrm>
          <a:prstGeom prst="rect">
            <a:avLst/>
          </a:prstGeom>
          <a:noFill/>
        </p:spPr>
        <p:txBody>
          <a:bodyPr wrap="square">
            <a:spAutoFit/>
          </a:bodyPr>
          <a:lstStyle/>
          <a:p>
            <a:pPr algn="l"/>
            <a:r>
              <a:rPr sz="2100" b="1">
                <a:solidFill>
                  <a:srgbClr val="C8102E"/>
                </a:solidFill>
                <a:latin typeface="Arial"/>
              </a:rPr>
              <a:t>47.9</a:t>
            </a:r>
          </a:p>
          <a:p>
            <a:pPr algn="l"/>
            <a:r>
              <a:rPr sz="950" b="0">
                <a:solidFill>
                  <a:srgbClr val="505759"/>
                </a:solidFill>
                <a:latin typeface="Arial"/>
              </a:rPr>
              <a:t>AHI events / h of sleep</a:t>
            </a:r>
          </a:p>
        </p:txBody>
      </p:sp>
      <p:sp>
        <p:nvSpPr>
          <p:cNvPr id="10" name="Rounded Rectangle 9"/>
          <p:cNvSpPr/>
          <p:nvPr/>
        </p:nvSpPr>
        <p:spPr>
          <a:xfrm>
            <a:off x="3840479" y="3200400"/>
            <a:ext cx="1517904" cy="868680"/>
          </a:xfrm>
          <a:prstGeom prst="roundRect">
            <a:avLst>
              <a:gd name="adj" fmla="val 6000"/>
            </a:avLst>
          </a:prstGeom>
          <a:solidFill>
            <a:srgbClr val="F2F4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3950207" y="3291840"/>
            <a:ext cx="1298448" cy="685800"/>
          </a:xfrm>
          <a:prstGeom prst="rect">
            <a:avLst/>
          </a:prstGeom>
          <a:noFill/>
        </p:spPr>
        <p:txBody>
          <a:bodyPr wrap="square">
            <a:spAutoFit/>
          </a:bodyPr>
          <a:lstStyle/>
          <a:p>
            <a:pPr algn="l"/>
            <a:r>
              <a:rPr sz="2100" b="1">
                <a:solidFill>
                  <a:srgbClr val="2A2E30"/>
                </a:solidFill>
                <a:latin typeface="Arial"/>
              </a:rPr>
              <a:t>39.7</a:t>
            </a:r>
          </a:p>
          <a:p>
            <a:pPr algn="l"/>
            <a:r>
              <a:rPr sz="950" b="0">
                <a:solidFill>
                  <a:srgbClr val="505759"/>
                </a:solidFill>
                <a:latin typeface="Arial"/>
              </a:rPr>
              <a:t>arousal index / h</a:t>
            </a:r>
          </a:p>
        </p:txBody>
      </p:sp>
      <p:sp>
        <p:nvSpPr>
          <p:cNvPr id="12" name="Rounded Rectangle 11"/>
          <p:cNvSpPr/>
          <p:nvPr/>
        </p:nvSpPr>
        <p:spPr>
          <a:xfrm>
            <a:off x="5486399" y="3200400"/>
            <a:ext cx="1517904" cy="868680"/>
          </a:xfrm>
          <a:prstGeom prst="roundRect">
            <a:avLst>
              <a:gd name="adj" fmla="val 6000"/>
            </a:avLst>
          </a:prstGeom>
          <a:solidFill>
            <a:srgbClr val="F2F4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596127" y="3291840"/>
            <a:ext cx="1298448" cy="685800"/>
          </a:xfrm>
          <a:prstGeom prst="rect">
            <a:avLst/>
          </a:prstGeom>
          <a:noFill/>
        </p:spPr>
        <p:txBody>
          <a:bodyPr wrap="square">
            <a:spAutoFit/>
          </a:bodyPr>
          <a:lstStyle/>
          <a:p>
            <a:pPr algn="l"/>
            <a:r>
              <a:rPr sz="2100" b="1">
                <a:solidFill>
                  <a:srgbClr val="2A2E30"/>
                </a:solidFill>
                <a:latin typeface="Arial"/>
              </a:rPr>
              <a:t>332</a:t>
            </a:r>
          </a:p>
          <a:p>
            <a:pPr algn="l"/>
            <a:r>
              <a:rPr sz="950" b="0">
                <a:solidFill>
                  <a:srgbClr val="505759"/>
                </a:solidFill>
                <a:latin typeface="Arial"/>
              </a:rPr>
              <a:t>total sleep time (min)</a:t>
            </a:r>
          </a:p>
        </p:txBody>
      </p:sp>
      <p:sp>
        <p:nvSpPr>
          <p:cNvPr id="14" name="TextBox 13"/>
          <p:cNvSpPr txBox="1"/>
          <p:nvPr/>
        </p:nvSpPr>
        <p:spPr>
          <a:xfrm>
            <a:off x="548640" y="4828032"/>
            <a:ext cx="6035040" cy="228600"/>
          </a:xfrm>
          <a:prstGeom prst="rect">
            <a:avLst/>
          </a:prstGeom>
          <a:noFill/>
        </p:spPr>
        <p:txBody>
          <a:bodyPr wrap="square">
            <a:spAutoFit/>
          </a:bodyPr>
          <a:lstStyle/>
          <a:p>
            <a:pPr algn="l"/>
            <a:r>
              <a:rPr sz="800" b="0">
                <a:solidFill>
                  <a:srgbClr val="898D8D"/>
                </a:solidFill>
                <a:latin typeface="Arial"/>
              </a:rPr>
              <a:t>PhysioNet Challenge 2026  ·  Scoring Metrics</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Impaired patients sleep measurably worse</a:t>
            </a:r>
          </a:p>
        </p:txBody>
      </p:sp>
      <p:sp>
        <p:nvSpPr>
          <p:cNvPr id="3" name="Content Placeholder 2"/>
          <p:cNvSpPr>
            <a:spLocks noGrp="1"/>
          </p:cNvSpPr>
          <p:nvPr>
            <p:ph idx="1"/>
          </p:nvPr>
        </p:nvSpPr>
        <p:spPr/>
        <p:txBody>
          <a:bodyPr/>
          <a:lstStyle/>
          <a:p/>
        </p:txBody>
      </p:sp>
      <p:sp>
        <p:nvSpPr>
          <p:cNvPr id="4" name="TextBox 3"/>
          <p:cNvSpPr txBox="1"/>
          <p:nvPr/>
        </p:nvSpPr>
        <p:spPr>
          <a:xfrm>
            <a:off x="548640" y="1024128"/>
            <a:ext cx="6446520" cy="274320"/>
          </a:xfrm>
          <a:prstGeom prst="rect">
            <a:avLst/>
          </a:prstGeom>
          <a:noFill/>
        </p:spPr>
        <p:txBody>
          <a:bodyPr wrap="square">
            <a:spAutoFit/>
          </a:bodyPr>
          <a:lstStyle/>
          <a:p>
            <a:pPr algn="l"/>
            <a:r>
              <a:rPr sz="1100" b="1">
                <a:solidFill>
                  <a:srgbClr val="C8102E"/>
                </a:solidFill>
                <a:latin typeface="Arial"/>
              </a:rPr>
              <a:t>DATASET · THE LEARNABLE SIGNAL (CI vs non-CI)</a:t>
            </a:r>
          </a:p>
        </p:txBody>
      </p:sp>
      <p:pic>
        <p:nvPicPr>
          <p:cNvPr id="5" name="Picture 4" descr="fig4_ci_vs_noci.png"/>
          <p:cNvPicPr>
            <a:picLocks noChangeAspect="1"/>
          </p:cNvPicPr>
          <p:nvPr/>
        </p:nvPicPr>
        <p:blipFill>
          <a:blip r:embed="rId2"/>
          <a:stretch>
            <a:fillRect/>
          </a:stretch>
        </p:blipFill>
        <p:spPr>
          <a:xfrm>
            <a:off x="1080495" y="1417320"/>
            <a:ext cx="5337089" cy="3337560"/>
          </a:xfrm>
          <a:prstGeom prst="rect">
            <a:avLst/>
          </a:prstGeom>
        </p:spPr>
      </p:pic>
      <p:sp>
        <p:nvSpPr>
          <p:cNvPr id="6" name="TextBox 5"/>
          <p:cNvSpPr txBox="1"/>
          <p:nvPr/>
        </p:nvSpPr>
        <p:spPr>
          <a:xfrm>
            <a:off x="548640" y="4828032"/>
            <a:ext cx="6035040" cy="228600"/>
          </a:xfrm>
          <a:prstGeom prst="rect">
            <a:avLst/>
          </a:prstGeom>
          <a:noFill/>
        </p:spPr>
        <p:txBody>
          <a:bodyPr wrap="square">
            <a:spAutoFit/>
          </a:bodyPr>
          <a:lstStyle/>
          <a:p>
            <a:pPr algn="l"/>
            <a:r>
              <a:rPr sz="800" b="0">
                <a:solidFill>
                  <a:srgbClr val="898D8D"/>
                </a:solidFill>
                <a:latin typeface="Arial"/>
              </a:rPr>
              <a:t>PhysioNet Challenge 2026  ·  Scoring Metrics</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What's present, and what we have to handle</a:t>
            </a:r>
          </a:p>
        </p:txBody>
      </p:sp>
      <p:sp>
        <p:nvSpPr>
          <p:cNvPr id="3" name="Content Placeholder 2"/>
          <p:cNvSpPr>
            <a:spLocks noGrp="1"/>
          </p:cNvSpPr>
          <p:nvPr>
            <p:ph idx="1"/>
          </p:nvPr>
        </p:nvSpPr>
        <p:spPr/>
        <p:txBody>
          <a:bodyPr/>
          <a:lstStyle/>
          <a:p/>
        </p:txBody>
      </p:sp>
      <p:sp>
        <p:nvSpPr>
          <p:cNvPr id="4" name="TextBox 3"/>
          <p:cNvSpPr txBox="1"/>
          <p:nvPr/>
        </p:nvSpPr>
        <p:spPr>
          <a:xfrm>
            <a:off x="548640" y="1024128"/>
            <a:ext cx="6446520" cy="274320"/>
          </a:xfrm>
          <a:prstGeom prst="rect">
            <a:avLst/>
          </a:prstGeom>
          <a:noFill/>
        </p:spPr>
        <p:txBody>
          <a:bodyPr wrap="square">
            <a:spAutoFit/>
          </a:bodyPr>
          <a:lstStyle/>
          <a:p>
            <a:pPr algn="l"/>
            <a:r>
              <a:rPr sz="1100" b="1">
                <a:solidFill>
                  <a:srgbClr val="C8102E"/>
                </a:solidFill>
                <a:latin typeface="Arial"/>
              </a:rPr>
              <a:t>DATASET · COMPLETENESS &amp; QUALITY</a:t>
            </a:r>
          </a:p>
        </p:txBody>
      </p:sp>
      <p:pic>
        <p:nvPicPr>
          <p:cNvPr id="5" name="Picture 4" descr="fig6_data_completeness.png"/>
          <p:cNvPicPr>
            <a:picLocks noChangeAspect="1"/>
          </p:cNvPicPr>
          <p:nvPr/>
        </p:nvPicPr>
        <p:blipFill>
          <a:blip r:embed="rId2"/>
          <a:stretch>
            <a:fillRect/>
          </a:stretch>
        </p:blipFill>
        <p:spPr>
          <a:xfrm>
            <a:off x="502920" y="1937269"/>
            <a:ext cx="3611880" cy="2251941"/>
          </a:xfrm>
          <a:prstGeom prst="rect">
            <a:avLst/>
          </a:prstGeom>
        </p:spPr>
      </p:pic>
      <p:sp>
        <p:nvSpPr>
          <p:cNvPr id="6" name="TextBox 5"/>
          <p:cNvSpPr txBox="1"/>
          <p:nvPr/>
        </p:nvSpPr>
        <p:spPr>
          <a:xfrm>
            <a:off x="4297680" y="1600200"/>
            <a:ext cx="2697480" cy="731520"/>
          </a:xfrm>
          <a:prstGeom prst="rect">
            <a:avLst/>
          </a:prstGeom>
          <a:noFill/>
        </p:spPr>
        <p:txBody>
          <a:bodyPr wrap="square">
            <a:spAutoFit/>
          </a:bodyPr>
          <a:lstStyle/>
          <a:p>
            <a:pPr algn="l"/>
            <a:r>
              <a:rPr sz="1200" b="1">
                <a:solidFill>
                  <a:srgbClr val="2A2E30"/>
                </a:solidFill>
                <a:latin typeface="Arial"/>
              </a:rPr>
              <a:t>Age &amp; Sex complete</a:t>
            </a:r>
            <a:r>
              <a:rPr sz="1200" b="0">
                <a:solidFill>
                  <a:srgbClr val="505759"/>
                </a:solidFill>
                <a:latin typeface="Arial"/>
              </a:rPr>
              <a:t>; race and ethnicity essentially complete.</a:t>
            </a:r>
          </a:p>
        </p:txBody>
      </p:sp>
      <p:sp>
        <p:nvSpPr>
          <p:cNvPr id="7" name="TextBox 6"/>
          <p:cNvSpPr txBox="1"/>
          <p:nvPr/>
        </p:nvSpPr>
        <p:spPr>
          <a:xfrm>
            <a:off x="4297680" y="2203704"/>
            <a:ext cx="2697480" cy="731520"/>
          </a:xfrm>
          <a:prstGeom prst="rect">
            <a:avLst/>
          </a:prstGeom>
          <a:noFill/>
        </p:spPr>
        <p:txBody>
          <a:bodyPr wrap="square">
            <a:spAutoFit/>
          </a:bodyPr>
          <a:lstStyle/>
          <a:p>
            <a:pPr algn="l"/>
            <a:r>
              <a:rPr sz="1200" b="1">
                <a:solidFill>
                  <a:srgbClr val="C8102E"/>
                </a:solidFill>
                <a:latin typeface="Arial"/>
              </a:rPr>
              <a:t>BMI missing in 76%</a:t>
            </a:r>
            <a:r>
              <a:rPr sz="1200" b="0">
                <a:solidFill>
                  <a:srgbClr val="505759"/>
                </a:solidFill>
                <a:latin typeface="Arial"/>
              </a:rPr>
              <a:t>, Time_to_Event in 92% (recorded for positives only).</a:t>
            </a:r>
          </a:p>
        </p:txBody>
      </p:sp>
      <p:sp>
        <p:nvSpPr>
          <p:cNvPr id="8" name="TextBox 7"/>
          <p:cNvSpPr txBox="1"/>
          <p:nvPr/>
        </p:nvSpPr>
        <p:spPr>
          <a:xfrm>
            <a:off x="4297680" y="2807208"/>
            <a:ext cx="2697480" cy="731520"/>
          </a:xfrm>
          <a:prstGeom prst="rect">
            <a:avLst/>
          </a:prstGeom>
          <a:noFill/>
        </p:spPr>
        <p:txBody>
          <a:bodyPr wrap="square">
            <a:spAutoFit/>
          </a:bodyPr>
          <a:lstStyle/>
          <a:p>
            <a:pPr algn="l"/>
            <a:r>
              <a:rPr sz="1200" b="1">
                <a:solidFill>
                  <a:srgbClr val="2A2E30"/>
                </a:solidFill>
                <a:latin typeface="Arial"/>
              </a:rPr>
              <a:t>1,090 / 1,103 have CAISR</a:t>
            </a:r>
            <a:r>
              <a:rPr sz="1200" b="0">
                <a:solidFill>
                  <a:srgbClr val="505759"/>
                </a:solidFill>
                <a:latin typeface="Arial"/>
              </a:rPr>
              <a:t> — 13 recordings fall back to global features only.</a:t>
            </a:r>
          </a:p>
        </p:txBody>
      </p:sp>
      <p:sp>
        <p:nvSpPr>
          <p:cNvPr id="9" name="TextBox 8"/>
          <p:cNvSpPr txBox="1"/>
          <p:nvPr/>
        </p:nvSpPr>
        <p:spPr>
          <a:xfrm>
            <a:off x="4297680" y="3410712"/>
            <a:ext cx="2697480" cy="731520"/>
          </a:xfrm>
          <a:prstGeom prst="rect">
            <a:avLst/>
          </a:prstGeom>
          <a:noFill/>
        </p:spPr>
        <p:txBody>
          <a:bodyPr wrap="square">
            <a:spAutoFit/>
          </a:bodyPr>
          <a:lstStyle/>
          <a:p>
            <a:pPr algn="l"/>
            <a:r>
              <a:rPr sz="1200" b="1">
                <a:solidFill>
                  <a:srgbClr val="2A2E30"/>
                </a:solidFill>
                <a:latin typeface="Arial"/>
              </a:rPr>
              <a:t>18 short recordings</a:t>
            </a:r>
            <a:r>
              <a:rPr sz="1200" b="0">
                <a:solidFill>
                  <a:srgbClr val="505759"/>
                </a:solidFill>
                <a:latin typeface="Arial"/>
              </a:rPr>
              <a:t> (&lt;4 h; 9 under 1 h) are flagged for the training pipeline.</a:t>
            </a:r>
          </a:p>
        </p:txBody>
      </p:sp>
      <p:sp>
        <p:nvSpPr>
          <p:cNvPr id="10" name="TextBox 9"/>
          <p:cNvSpPr txBox="1"/>
          <p:nvPr/>
        </p:nvSpPr>
        <p:spPr>
          <a:xfrm>
            <a:off x="4297680" y="4014216"/>
            <a:ext cx="2697480" cy="731520"/>
          </a:xfrm>
          <a:prstGeom prst="rect">
            <a:avLst/>
          </a:prstGeom>
          <a:noFill/>
        </p:spPr>
        <p:txBody>
          <a:bodyPr wrap="square">
            <a:spAutoFit/>
          </a:bodyPr>
          <a:lstStyle/>
          <a:p>
            <a:pPr algn="l"/>
            <a:r>
              <a:rPr sz="1200" b="1">
                <a:solidFill>
                  <a:srgbClr val="2A2E30"/>
                </a:solidFill>
                <a:latin typeface="Arial"/>
              </a:rPr>
              <a:t>Demographics ↔ EDF linkage is exact</a:t>
            </a:r>
            <a:r>
              <a:rPr sz="1200" b="0">
                <a:solidFill>
                  <a:srgbClr val="505759"/>
                </a:solidFill>
                <a:latin typeface="Arial"/>
              </a:rPr>
              <a:t>: 0 orphans in either direction.</a:t>
            </a:r>
          </a:p>
        </p:txBody>
      </p:sp>
      <p:sp>
        <p:nvSpPr>
          <p:cNvPr id="11" name="TextBox 10"/>
          <p:cNvSpPr txBox="1"/>
          <p:nvPr/>
        </p:nvSpPr>
        <p:spPr>
          <a:xfrm>
            <a:off x="548640" y="4828032"/>
            <a:ext cx="6035040" cy="228600"/>
          </a:xfrm>
          <a:prstGeom prst="rect">
            <a:avLst/>
          </a:prstGeom>
          <a:noFill/>
        </p:spPr>
        <p:txBody>
          <a:bodyPr wrap="square">
            <a:spAutoFit/>
          </a:bodyPr>
          <a:lstStyle/>
          <a:p>
            <a:pPr algn="l"/>
            <a:r>
              <a:rPr sz="800" b="0">
                <a:solidFill>
                  <a:srgbClr val="898D8D"/>
                </a:solidFill>
                <a:latin typeface="Arial"/>
              </a:rPr>
              <a:t>PhysioNet Challenge 2026  ·  Scoring Metrics</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b="1">
                <a:latin typeface="Arial"/>
              </a:rPr>
              <a:t>What this means for our approach</a:t>
            </a:r>
          </a:p>
        </p:txBody>
      </p:sp>
      <p:sp>
        <p:nvSpPr>
          <p:cNvPr id="3" name="Content Placeholder 2"/>
          <p:cNvSpPr>
            <a:spLocks noGrp="1"/>
          </p:cNvSpPr>
          <p:nvPr>
            <p:ph idx="1"/>
          </p:nvPr>
        </p:nvSpPr>
        <p:spPr/>
        <p:txBody>
          <a:bodyPr/>
          <a:lstStyle/>
          <a:p/>
        </p:txBody>
      </p:sp>
      <p:sp>
        <p:nvSpPr>
          <p:cNvPr id="4" name="TextBox 3"/>
          <p:cNvSpPr txBox="1"/>
          <p:nvPr/>
        </p:nvSpPr>
        <p:spPr>
          <a:xfrm>
            <a:off x="548640" y="1024128"/>
            <a:ext cx="6446520" cy="274320"/>
          </a:xfrm>
          <a:prstGeom prst="rect">
            <a:avLst/>
          </a:prstGeom>
          <a:noFill/>
        </p:spPr>
        <p:txBody>
          <a:bodyPr wrap="square" anchor="t" lIns="45720" rIns="45720" tIns="18288" bIns="18288">
            <a:spAutoFit/>
          </a:bodyPr>
          <a:lstStyle/>
          <a:p>
            <a:pPr algn="l">
              <a:spcBef>
                <a:spcPts val="0"/>
              </a:spcBef>
              <a:spcAft>
                <a:spcPts val="0"/>
              </a:spcAft>
              <a:buNone/>
            </a:pPr>
            <a:r>
              <a:rPr sz="1100" b="1" i="0">
                <a:solidFill>
                  <a:srgbClr val="C8102E"/>
                </a:solidFill>
                <a:latin typeface="Arial"/>
              </a:rPr>
              <a:t>TAKEAWAYS</a:t>
            </a:r>
          </a:p>
        </p:txBody>
      </p:sp>
      <p:sp>
        <p:nvSpPr>
          <p:cNvPr id="5" name="Rounded Rectangle 4"/>
          <p:cNvSpPr/>
          <p:nvPr/>
        </p:nvSpPr>
        <p:spPr>
          <a:xfrm>
            <a:off x="548640" y="1417320"/>
            <a:ext cx="6446520" cy="758952"/>
          </a:xfrm>
          <a:prstGeom prst="roundRect">
            <a:avLst>
              <a:gd name="adj" fmla="val 6000"/>
            </a:avLst>
          </a:prstGeom>
          <a:solidFill>
            <a:srgbClr val="F2F4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685800" y="1563624"/>
            <a:ext cx="457200" cy="457200"/>
          </a:xfrm>
          <a:prstGeom prst="roundRect">
            <a:avLst>
              <a:gd name="adj" fmla="val 25000"/>
            </a:avLst>
          </a:prstGeom>
          <a:solidFill>
            <a:srgbClr val="C810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b="1" sz="1500">
                <a:solidFill>
                  <a:srgbClr val="FFFFFF"/>
                </a:solidFill>
                <a:latin typeface="Arial"/>
              </a:rPr>
              <a:t>1</a:t>
            </a:r>
          </a:p>
        </p:txBody>
      </p:sp>
      <p:sp>
        <p:nvSpPr>
          <p:cNvPr id="7" name="TextBox 6"/>
          <p:cNvSpPr txBox="1"/>
          <p:nvPr/>
        </p:nvSpPr>
        <p:spPr>
          <a:xfrm>
            <a:off x="1325880" y="1417320"/>
            <a:ext cx="5532120" cy="758952"/>
          </a:xfrm>
          <a:prstGeom prst="rect">
            <a:avLst/>
          </a:prstGeom>
          <a:noFill/>
        </p:spPr>
        <p:txBody>
          <a:bodyPr wrap="square" anchor="ctr" lIns="45720" rIns="45720" tIns="18288" bIns="18288">
            <a:spAutoFit/>
          </a:bodyPr>
          <a:lstStyle/>
          <a:p>
            <a:pPr algn="l">
              <a:spcBef>
                <a:spcPts val="0"/>
              </a:spcBef>
              <a:spcAft>
                <a:spcPts val="100"/>
              </a:spcAft>
              <a:buNone/>
            </a:pPr>
            <a:r>
              <a:rPr sz="1300" b="1" i="0">
                <a:solidFill>
                  <a:srgbClr val="2A2E30"/>
                </a:solidFill>
                <a:latin typeface="Arial"/>
              </a:rPr>
              <a:t>Optimize the Reward, not accuracy</a:t>
            </a:r>
          </a:p>
          <a:p>
            <a:pPr algn="l">
              <a:spcBef>
                <a:spcPts val="0"/>
              </a:spcBef>
              <a:spcAft>
                <a:spcPts val="0"/>
              </a:spcAft>
              <a:buNone/>
            </a:pPr>
            <a:r>
              <a:rPr sz="1050" b="0" i="0">
                <a:solidFill>
                  <a:srgbClr val="505759"/>
                </a:solidFill>
                <a:latin typeface="Arial"/>
              </a:rPr>
              <a:t>Tune the decision threshold to maximize prevalence-weighted payoff — accuracy will look worse and that's fine.</a:t>
            </a:r>
          </a:p>
        </p:txBody>
      </p:sp>
      <p:sp>
        <p:nvSpPr>
          <p:cNvPr id="8" name="Rounded Rectangle 7"/>
          <p:cNvSpPr/>
          <p:nvPr/>
        </p:nvSpPr>
        <p:spPr>
          <a:xfrm>
            <a:off x="548640" y="2249424"/>
            <a:ext cx="6446520" cy="758952"/>
          </a:xfrm>
          <a:prstGeom prst="roundRect">
            <a:avLst>
              <a:gd name="adj" fmla="val 6000"/>
            </a:avLst>
          </a:prstGeom>
          <a:solidFill>
            <a:srgbClr val="F2F4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ounded Rectangle 8"/>
          <p:cNvSpPr/>
          <p:nvPr/>
        </p:nvSpPr>
        <p:spPr>
          <a:xfrm>
            <a:off x="685800" y="2395728"/>
            <a:ext cx="457200" cy="457200"/>
          </a:xfrm>
          <a:prstGeom prst="roundRect">
            <a:avLst>
              <a:gd name="adj" fmla="val 25000"/>
            </a:avLst>
          </a:prstGeom>
          <a:solidFill>
            <a:srgbClr val="C810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b="1" sz="1500">
                <a:solidFill>
                  <a:srgbClr val="FFFFFF"/>
                </a:solidFill>
                <a:latin typeface="Arial"/>
              </a:rPr>
              <a:t>2</a:t>
            </a:r>
          </a:p>
        </p:txBody>
      </p:sp>
      <p:sp>
        <p:nvSpPr>
          <p:cNvPr id="10" name="TextBox 9"/>
          <p:cNvSpPr txBox="1"/>
          <p:nvPr/>
        </p:nvSpPr>
        <p:spPr>
          <a:xfrm>
            <a:off x="1325880" y="2249424"/>
            <a:ext cx="5532120" cy="758952"/>
          </a:xfrm>
          <a:prstGeom prst="rect">
            <a:avLst/>
          </a:prstGeom>
          <a:noFill/>
        </p:spPr>
        <p:txBody>
          <a:bodyPr wrap="square" anchor="ctr" lIns="45720" rIns="45720" tIns="18288" bIns="18288">
            <a:spAutoFit/>
          </a:bodyPr>
          <a:lstStyle/>
          <a:p>
            <a:pPr algn="l">
              <a:spcBef>
                <a:spcPts val="0"/>
              </a:spcBef>
              <a:spcAft>
                <a:spcPts val="100"/>
              </a:spcAft>
              <a:buNone/>
            </a:pPr>
            <a:r>
              <a:rPr sz="1300" b="1" i="0">
                <a:solidFill>
                  <a:srgbClr val="2A2E30"/>
                </a:solidFill>
                <a:latin typeface="Arial"/>
              </a:rPr>
              <a:t>Protect recall on the rare class</a:t>
            </a:r>
          </a:p>
          <a:p>
            <a:pPr algn="l">
              <a:spcBef>
                <a:spcPts val="0"/>
              </a:spcBef>
              <a:spcAft>
                <a:spcPts val="0"/>
              </a:spcAft>
              <a:buNone/>
            </a:pPr>
            <a:r>
              <a:rPr sz="1050" b="0" i="0">
                <a:solidFill>
                  <a:srgbClr val="505759"/>
                </a:solidFill>
                <a:latin typeface="Arial"/>
              </a:rPr>
              <a:t>Each caught positive is worth 1/p − 1; a missed one costs −1. Missing impairment is expensive.</a:t>
            </a:r>
          </a:p>
        </p:txBody>
      </p:sp>
      <p:sp>
        <p:nvSpPr>
          <p:cNvPr id="11" name="Rounded Rectangle 10"/>
          <p:cNvSpPr/>
          <p:nvPr/>
        </p:nvSpPr>
        <p:spPr>
          <a:xfrm>
            <a:off x="548640" y="3081528"/>
            <a:ext cx="6446520" cy="758952"/>
          </a:xfrm>
          <a:prstGeom prst="roundRect">
            <a:avLst>
              <a:gd name="adj" fmla="val 6000"/>
            </a:avLst>
          </a:prstGeom>
          <a:solidFill>
            <a:srgbClr val="F2F4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ounded Rectangle 11"/>
          <p:cNvSpPr/>
          <p:nvPr/>
        </p:nvSpPr>
        <p:spPr>
          <a:xfrm>
            <a:off x="685800" y="3227832"/>
            <a:ext cx="457200" cy="457200"/>
          </a:xfrm>
          <a:prstGeom prst="roundRect">
            <a:avLst>
              <a:gd name="adj" fmla="val 25000"/>
            </a:avLst>
          </a:prstGeom>
          <a:solidFill>
            <a:srgbClr val="C810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b="1" sz="1500">
                <a:solidFill>
                  <a:srgbClr val="FFFFFF"/>
                </a:solidFill>
                <a:latin typeface="Arial"/>
              </a:rPr>
              <a:t>3</a:t>
            </a:r>
          </a:p>
        </p:txBody>
      </p:sp>
      <p:sp>
        <p:nvSpPr>
          <p:cNvPr id="13" name="TextBox 12"/>
          <p:cNvSpPr txBox="1"/>
          <p:nvPr/>
        </p:nvSpPr>
        <p:spPr>
          <a:xfrm>
            <a:off x="1325880" y="3081528"/>
            <a:ext cx="5532120" cy="758952"/>
          </a:xfrm>
          <a:prstGeom prst="rect">
            <a:avLst/>
          </a:prstGeom>
          <a:noFill/>
        </p:spPr>
        <p:txBody>
          <a:bodyPr wrap="square" anchor="ctr" lIns="45720" rIns="45720" tIns="18288" bIns="18288">
            <a:spAutoFit/>
          </a:bodyPr>
          <a:lstStyle/>
          <a:p>
            <a:pPr algn="l">
              <a:spcBef>
                <a:spcPts val="0"/>
              </a:spcBef>
              <a:spcAft>
                <a:spcPts val="100"/>
              </a:spcAft>
              <a:buNone/>
            </a:pPr>
            <a:r>
              <a:rPr sz="1300" b="1" i="0">
                <a:solidFill>
                  <a:srgbClr val="2A2E30"/>
                </a:solidFill>
                <a:latin typeface="Arial"/>
              </a:rPr>
              <a:t>Don't lean on age</a:t>
            </a:r>
          </a:p>
          <a:p>
            <a:pPr algn="l">
              <a:spcBef>
                <a:spcPts val="0"/>
              </a:spcBef>
              <a:spcAft>
                <a:spcPts val="0"/>
              </a:spcAft>
              <a:buNone/>
            </a:pPr>
            <a:r>
              <a:rPr sz="1050" b="0" i="0">
                <a:solidFill>
                  <a:srgbClr val="505759"/>
                </a:solidFill>
                <a:latin typeface="Arial"/>
              </a:rPr>
              <a:t>The age-aware AUROCs strip the age shortcut. Features must carry real signal within an age band.</a:t>
            </a:r>
          </a:p>
        </p:txBody>
      </p:sp>
      <p:sp>
        <p:nvSpPr>
          <p:cNvPr id="14" name="Rounded Rectangle 13"/>
          <p:cNvSpPr/>
          <p:nvPr/>
        </p:nvSpPr>
        <p:spPr>
          <a:xfrm>
            <a:off x="548640" y="3913632"/>
            <a:ext cx="6446520" cy="758952"/>
          </a:xfrm>
          <a:prstGeom prst="roundRect">
            <a:avLst>
              <a:gd name="adj" fmla="val 6000"/>
            </a:avLst>
          </a:prstGeom>
          <a:solidFill>
            <a:srgbClr val="F2F4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685800" y="4059936"/>
            <a:ext cx="457200" cy="457200"/>
          </a:xfrm>
          <a:prstGeom prst="roundRect">
            <a:avLst>
              <a:gd name="adj" fmla="val 25000"/>
            </a:avLst>
          </a:prstGeom>
          <a:solidFill>
            <a:srgbClr val="C810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b="1" sz="1500">
                <a:solidFill>
                  <a:srgbClr val="FFFFFF"/>
                </a:solidFill>
                <a:latin typeface="Arial"/>
              </a:rPr>
              <a:t>4</a:t>
            </a:r>
          </a:p>
        </p:txBody>
      </p:sp>
      <p:sp>
        <p:nvSpPr>
          <p:cNvPr id="16" name="TextBox 15"/>
          <p:cNvSpPr txBox="1"/>
          <p:nvPr/>
        </p:nvSpPr>
        <p:spPr>
          <a:xfrm>
            <a:off x="1325880" y="3913632"/>
            <a:ext cx="5532120" cy="758952"/>
          </a:xfrm>
          <a:prstGeom prst="rect">
            <a:avLst/>
          </a:prstGeom>
          <a:noFill/>
        </p:spPr>
        <p:txBody>
          <a:bodyPr wrap="square" anchor="ctr" lIns="45720" rIns="45720" tIns="18288" bIns="18288">
            <a:spAutoFit/>
          </a:bodyPr>
          <a:lstStyle/>
          <a:p>
            <a:pPr algn="l">
              <a:spcBef>
                <a:spcPts val="0"/>
              </a:spcBef>
              <a:spcAft>
                <a:spcPts val="100"/>
              </a:spcAft>
              <a:buNone/>
            </a:pPr>
            <a:r>
              <a:rPr sz="1300" b="1" i="0">
                <a:solidFill>
                  <a:srgbClr val="2A2E30"/>
                </a:solidFill>
                <a:latin typeface="Arial"/>
              </a:rPr>
              <a:t>Validate with the official code</a:t>
            </a:r>
          </a:p>
          <a:p>
            <a:pPr algn="l">
              <a:spcBef>
                <a:spcPts val="0"/>
              </a:spcBef>
              <a:spcAft>
                <a:spcPts val="0"/>
              </a:spcAft>
              <a:buNone/>
            </a:pPr>
            <a:r>
              <a:rPr sz="1050" b="0" i="0">
                <a:solidFill>
                  <a:srgbClr val="505759"/>
                </a:solidFill>
                <a:latin typeface="Arial"/>
              </a:rPr>
              <a:t>Score cross-validation folds with evaluate_model.py so our internal numbers match the leaderboard.</a:t>
            </a:r>
          </a:p>
        </p:txBody>
      </p:sp>
      <p:sp>
        <p:nvSpPr>
          <p:cNvPr id="17" name="TextBox 16"/>
          <p:cNvSpPr txBox="1"/>
          <p:nvPr/>
        </p:nvSpPr>
        <p:spPr>
          <a:xfrm>
            <a:off x="548640" y="4828032"/>
            <a:ext cx="6035040" cy="228600"/>
          </a:xfrm>
          <a:prstGeom prst="rect">
            <a:avLst/>
          </a:prstGeom>
          <a:noFill/>
        </p:spPr>
        <p:txBody>
          <a:bodyPr wrap="square" anchor="t" lIns="45720" rIns="45720" tIns="18288" bIns="18288">
            <a:spAutoFit/>
          </a:bodyPr>
          <a:lstStyle/>
          <a:p>
            <a:pPr algn="l">
              <a:spcBef>
                <a:spcPts val="0"/>
              </a:spcBef>
              <a:spcAft>
                <a:spcPts val="0"/>
              </a:spcAft>
              <a:buNone/>
            </a:pPr>
            <a:r>
              <a:rPr sz="800" b="0" i="0">
                <a:solidFill>
                  <a:srgbClr val="898D8D"/>
                </a:solidFill>
                <a:latin typeface="Arial"/>
              </a:rPr>
              <a:t>PhysioNet Challenge 2026  ·  Scoring Metrics</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b="1">
                <a:latin typeface="Arial"/>
              </a:rPr>
              <a:t>References</a:t>
            </a:r>
          </a:p>
        </p:txBody>
      </p:sp>
      <p:sp>
        <p:nvSpPr>
          <p:cNvPr id="3" name="Content Placeholder 2"/>
          <p:cNvSpPr>
            <a:spLocks noGrp="1"/>
          </p:cNvSpPr>
          <p:nvPr>
            <p:ph idx="1"/>
          </p:nvPr>
        </p:nvSpPr>
        <p:spPr/>
        <p:txBody>
          <a:bodyPr/>
          <a:lstStyle/>
          <a:p/>
        </p:txBody>
      </p:sp>
      <p:sp>
        <p:nvSpPr>
          <p:cNvPr id="4" name="TextBox 3"/>
          <p:cNvSpPr txBox="1"/>
          <p:nvPr/>
        </p:nvSpPr>
        <p:spPr>
          <a:xfrm>
            <a:off x="548640" y="1024128"/>
            <a:ext cx="6446520" cy="274320"/>
          </a:xfrm>
          <a:prstGeom prst="rect">
            <a:avLst/>
          </a:prstGeom>
          <a:noFill/>
        </p:spPr>
        <p:txBody>
          <a:bodyPr wrap="square" anchor="t" lIns="45720" rIns="45720" tIns="18288" bIns="18288">
            <a:spAutoFit/>
          </a:bodyPr>
          <a:lstStyle/>
          <a:p>
            <a:pPr algn="l">
              <a:spcBef>
                <a:spcPts val="0"/>
              </a:spcBef>
              <a:spcAft>
                <a:spcPts val="0"/>
              </a:spcAft>
              <a:buNone/>
            </a:pPr>
            <a:r>
              <a:rPr sz="1100" b="1" i="0">
                <a:solidFill>
                  <a:srgbClr val="C8102E"/>
                </a:solidFill>
                <a:latin typeface="Arial"/>
              </a:rPr>
              <a:t>SOURCES</a:t>
            </a:r>
          </a:p>
        </p:txBody>
      </p:sp>
      <p:sp>
        <p:nvSpPr>
          <p:cNvPr id="5" name="TextBox 4"/>
          <p:cNvSpPr txBox="1"/>
          <p:nvPr/>
        </p:nvSpPr>
        <p:spPr>
          <a:xfrm>
            <a:off x="548640" y="1417320"/>
            <a:ext cx="6446520" cy="3108960"/>
          </a:xfrm>
          <a:prstGeom prst="rect">
            <a:avLst/>
          </a:prstGeom>
          <a:noFill/>
        </p:spPr>
        <p:txBody>
          <a:bodyPr wrap="square" anchor="t" lIns="45720" rIns="45720" tIns="18288" bIns="18288">
            <a:spAutoFit/>
          </a:bodyPr>
          <a:lstStyle/>
          <a:p>
            <a:pPr>
              <a:spcBef>
                <a:spcPts val="600"/>
              </a:spcBef>
              <a:spcAft>
                <a:spcPts val="100"/>
              </a:spcAft>
              <a:buNone/>
            </a:pPr>
            <a:r>
              <a:rPr sz="1300" b="1">
                <a:solidFill>
                  <a:srgbClr val="C8102E"/>
                </a:solidFill>
                <a:latin typeface="Arial"/>
              </a:rPr>
              <a:t>Challenge website  —  </a:t>
            </a:r>
            <a:r>
              <a:rPr sz="1300" b="0">
                <a:solidFill>
                  <a:srgbClr val="2A2E30"/>
                </a:solidFill>
                <a:latin typeface="Arial"/>
              </a:rPr>
              <a:t>George B. Moody PhysioNet Challenge 2026</a:t>
            </a:r>
          </a:p>
          <a:p>
            <a:pPr algn="l">
              <a:spcBef>
                <a:spcPts val="0"/>
              </a:spcBef>
              <a:spcAft>
                <a:spcPts val="600"/>
              </a:spcAft>
              <a:buNone/>
            </a:pPr>
            <a:r>
              <a:rPr sz="1100" b="0" i="0">
                <a:solidFill>
                  <a:srgbClr val="346583"/>
                </a:solidFill>
                <a:latin typeface="Arial"/>
              </a:rPr>
              <a:t>physionetchallenges.org/2026/</a:t>
            </a:r>
          </a:p>
          <a:p>
            <a:pPr>
              <a:spcBef>
                <a:spcPts val="600"/>
              </a:spcBef>
              <a:spcAft>
                <a:spcPts val="100"/>
              </a:spcAft>
              <a:buNone/>
            </a:pPr>
            <a:r>
              <a:rPr sz="1300" b="1">
                <a:solidFill>
                  <a:srgbClr val="C8102E"/>
                </a:solidFill>
                <a:latin typeface="Arial"/>
              </a:rPr>
              <a:t>Evaluation code  —  </a:t>
            </a:r>
            <a:r>
              <a:rPr sz="1300" b="0">
                <a:solidFill>
                  <a:srgbClr val="2A2E30"/>
                </a:solidFill>
                <a:latin typeface="Arial"/>
              </a:rPr>
              <a:t>Official scoring implementation</a:t>
            </a:r>
          </a:p>
          <a:p>
            <a:pPr algn="l">
              <a:spcBef>
                <a:spcPts val="0"/>
              </a:spcBef>
              <a:spcAft>
                <a:spcPts val="600"/>
              </a:spcAft>
              <a:buNone/>
            </a:pPr>
            <a:r>
              <a:rPr sz="1100" b="0" i="0">
                <a:solidFill>
                  <a:srgbClr val="346583"/>
                </a:solidFill>
                <a:latin typeface="Arial"/>
              </a:rPr>
              <a:t>github.com/physionetchallenges/evaluation-2026</a:t>
            </a:r>
          </a:p>
          <a:p>
            <a:pPr>
              <a:spcBef>
                <a:spcPts val="600"/>
              </a:spcBef>
              <a:spcAft>
                <a:spcPts val="100"/>
              </a:spcAft>
              <a:buNone/>
            </a:pPr>
            <a:r>
              <a:rPr sz="1300" b="1">
                <a:solidFill>
                  <a:srgbClr val="C8102E"/>
                </a:solidFill>
                <a:latin typeface="Arial"/>
              </a:rPr>
              <a:t>Example code  —  </a:t>
            </a:r>
            <a:r>
              <a:rPr sz="1300" b="0">
                <a:solidFill>
                  <a:srgbClr val="2A2E30"/>
                </a:solidFill>
                <a:latin typeface="Arial"/>
              </a:rPr>
              <a:t>Python entry template</a:t>
            </a:r>
          </a:p>
          <a:p>
            <a:pPr algn="l">
              <a:spcBef>
                <a:spcPts val="0"/>
              </a:spcBef>
              <a:spcAft>
                <a:spcPts val="600"/>
              </a:spcAft>
              <a:buNone/>
            </a:pPr>
            <a:r>
              <a:rPr sz="1100" b="0" i="0">
                <a:solidFill>
                  <a:srgbClr val="346583"/>
                </a:solidFill>
                <a:latin typeface="Arial"/>
              </a:rPr>
              <a:t>github.com/physionetchallenges/python-example-2026</a:t>
            </a:r>
          </a:p>
          <a:p>
            <a:pPr>
              <a:spcBef>
                <a:spcPts val="600"/>
              </a:spcBef>
              <a:spcAft>
                <a:spcPts val="100"/>
              </a:spcAft>
              <a:buNone/>
            </a:pPr>
            <a:r>
              <a:rPr sz="1300" b="1">
                <a:solidFill>
                  <a:srgbClr val="C8102E"/>
                </a:solidFill>
                <a:latin typeface="Arial"/>
              </a:rPr>
              <a:t>This deck  —  </a:t>
            </a:r>
            <a:r>
              <a:rPr sz="1300" b="0">
                <a:solidFill>
                  <a:srgbClr val="2A2E30"/>
                </a:solidFill>
                <a:latin typeface="Arial"/>
              </a:rPr>
              <a:t>Metric definitions taken directly from evaluate_model.py in our repository</a:t>
            </a:r>
          </a:p>
        </p:txBody>
      </p:sp>
      <p:sp>
        <p:nvSpPr>
          <p:cNvPr id="6" name="TextBox 5"/>
          <p:cNvSpPr txBox="1"/>
          <p:nvPr/>
        </p:nvSpPr>
        <p:spPr>
          <a:xfrm>
            <a:off x="548640" y="4828032"/>
            <a:ext cx="6035040" cy="228600"/>
          </a:xfrm>
          <a:prstGeom prst="rect">
            <a:avLst/>
          </a:prstGeom>
          <a:noFill/>
        </p:spPr>
        <p:txBody>
          <a:bodyPr wrap="square" anchor="t" lIns="45720" rIns="45720" tIns="18288" bIns="18288">
            <a:spAutoFit/>
          </a:bodyPr>
          <a:lstStyle/>
          <a:p>
            <a:pPr algn="l">
              <a:spcBef>
                <a:spcPts val="0"/>
              </a:spcBef>
              <a:spcAft>
                <a:spcPts val="0"/>
              </a:spcAft>
              <a:buNone/>
            </a:pPr>
            <a:r>
              <a:rPr sz="800" b="0" i="0">
                <a:solidFill>
                  <a:srgbClr val="898D8D"/>
                </a:solidFill>
                <a:latin typeface="Arial"/>
              </a:rPr>
              <a:t>PhysioNet Challenge 2026  ·  Scoring Metrics</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b="1">
                <a:solidFill>
                  <a:srgbClr val="FFFFFF"/>
                </a:solidFill>
                <a:latin typeface="Arial"/>
              </a:rPr>
              <a:t>Questions?</a:t>
            </a:r>
          </a:p>
        </p:txBody>
      </p:sp>
      <p:sp>
        <p:nvSpPr>
          <p:cNvPr id="3" name="TextBox 2"/>
          <p:cNvSpPr txBox="1"/>
          <p:nvPr/>
        </p:nvSpPr>
        <p:spPr>
          <a:xfrm>
            <a:off x="548640" y="1417320"/>
            <a:ext cx="7863840" cy="1280160"/>
          </a:xfrm>
          <a:prstGeom prst="rect">
            <a:avLst/>
          </a:prstGeom>
          <a:noFill/>
        </p:spPr>
        <p:txBody>
          <a:bodyPr wrap="square" anchor="t" lIns="45720" rIns="45720" tIns="18288" bIns="18288">
            <a:spAutoFit/>
          </a:bodyPr>
          <a:lstStyle/>
          <a:p>
            <a:pPr algn="l">
              <a:spcBef>
                <a:spcPts val="0"/>
              </a:spcBef>
              <a:spcAft>
                <a:spcPts val="400"/>
              </a:spcAft>
              <a:buNone/>
            </a:pPr>
            <a:r>
              <a:rPr sz="1200" b="1" i="0">
                <a:solidFill>
                  <a:srgbClr val="CEB888"/>
                </a:solidFill>
                <a:latin typeface="Arial"/>
              </a:rPr>
              <a:t>Key takeaway</a:t>
            </a:r>
          </a:p>
          <a:p>
            <a:pPr algn="l">
              <a:spcBef>
                <a:spcPts val="0"/>
              </a:spcBef>
              <a:spcAft>
                <a:spcPts val="600"/>
              </a:spcAft>
              <a:buNone/>
            </a:pPr>
            <a:r>
              <a:rPr sz="1700" b="1" i="0">
                <a:solidFill>
                  <a:srgbClr val="FFFFFF"/>
                </a:solidFill>
                <a:latin typeface="Arial"/>
              </a:rPr>
              <a:t>Optimize for the Reward — catch the rare cases, and don't lean on age.</a:t>
            </a:r>
          </a:p>
          <a:p>
            <a:pPr algn="l">
              <a:spcBef>
                <a:spcPts val="0"/>
              </a:spcBef>
              <a:spcAft>
                <a:spcPts val="0"/>
              </a:spcAft>
              <a:buNone/>
            </a:pPr>
            <a:r>
              <a:rPr sz="1100" b="0" i="0">
                <a:solidFill>
                  <a:srgbClr val="FFFFFF"/>
                </a:solidFill>
                <a:latin typeface="Arial"/>
              </a:rPr>
              <a:t>Arshia Ilaty  ·  SDG  ·  PhysioNet Challenge 2026</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How impaired sleep breaks down, stage by stage</a:t>
            </a:r>
          </a:p>
        </p:txBody>
      </p:sp>
      <p:sp>
        <p:nvSpPr>
          <p:cNvPr id="3" name="Content Placeholder 2"/>
          <p:cNvSpPr>
            <a:spLocks noGrp="1"/>
          </p:cNvSpPr>
          <p:nvPr>
            <p:ph idx="1"/>
          </p:nvPr>
        </p:nvSpPr>
        <p:spPr/>
        <p:txBody>
          <a:bodyPr/>
          <a:lstStyle/>
          <a:p/>
        </p:txBody>
      </p:sp>
      <p:sp>
        <p:nvSpPr>
          <p:cNvPr id="4" name="TextBox 3"/>
          <p:cNvSpPr txBox="1"/>
          <p:nvPr/>
        </p:nvSpPr>
        <p:spPr>
          <a:xfrm>
            <a:off x="548640" y="1024128"/>
            <a:ext cx="6446520" cy="274320"/>
          </a:xfrm>
          <a:prstGeom prst="rect">
            <a:avLst/>
          </a:prstGeom>
          <a:noFill/>
        </p:spPr>
        <p:txBody>
          <a:bodyPr wrap="square">
            <a:spAutoFit/>
          </a:bodyPr>
          <a:lstStyle/>
          <a:p>
            <a:pPr algn="l"/>
            <a:r>
              <a:rPr sz="1100" b="1">
                <a:solidFill>
                  <a:srgbClr val="C8102E"/>
                </a:solidFill>
                <a:latin typeface="Arial"/>
              </a:rPr>
              <a:t>DATASET · STAGE-TRANSITION DYNAMICS</a:t>
            </a:r>
          </a:p>
        </p:txBody>
      </p:sp>
      <p:pic>
        <p:nvPicPr>
          <p:cNvPr id="5" name="Picture 4" descr="fig7_transition_matrix.png"/>
          <p:cNvPicPr>
            <a:picLocks noChangeAspect="1"/>
          </p:cNvPicPr>
          <p:nvPr/>
        </p:nvPicPr>
        <p:blipFill>
          <a:blip r:embed="rId2"/>
          <a:stretch>
            <a:fillRect/>
          </a:stretch>
        </p:blipFill>
        <p:spPr>
          <a:xfrm>
            <a:off x="1004721" y="1463040"/>
            <a:ext cx="5488637" cy="2514600"/>
          </a:xfrm>
          <a:prstGeom prst="rect">
            <a:avLst/>
          </a:prstGeom>
        </p:spPr>
      </p:pic>
      <p:sp>
        <p:nvSpPr>
          <p:cNvPr id="6" name="TextBox 5"/>
          <p:cNvSpPr txBox="1"/>
          <p:nvPr/>
        </p:nvSpPr>
        <p:spPr>
          <a:xfrm>
            <a:off x="548640" y="4114800"/>
            <a:ext cx="6492240" cy="822960"/>
          </a:xfrm>
          <a:prstGeom prst="rect">
            <a:avLst/>
          </a:prstGeom>
          <a:noFill/>
        </p:spPr>
        <p:txBody>
          <a:bodyPr wrap="square">
            <a:spAutoFit/>
          </a:bodyPr>
          <a:lstStyle/>
          <a:p>
            <a:pPr algn="l"/>
            <a:r>
              <a:rPr sz="1200" b="0">
                <a:solidFill>
                  <a:srgbClr val="505759"/>
                </a:solidFill>
                <a:latin typeface="Arial"/>
              </a:rPr>
              <a:t>Each cell = P(row stage → next epoch's stage). </a:t>
            </a:r>
            <a:r>
              <a:rPr sz="1200" b="1">
                <a:solidFill>
                  <a:srgbClr val="C8102E"/>
                </a:solidFill>
                <a:latin typeface="Arial"/>
              </a:rPr>
              <a:t>Impaired patients show a destabilized deep sleep</a:t>
            </a:r>
            <a:r>
              <a:rPr sz="1200" b="0">
                <a:solidFill>
                  <a:srgbClr val="505759"/>
                </a:solidFill>
                <a:latin typeface="Arial"/>
              </a:rPr>
              <a:t> — N3→N3 drops 5.4 pts while N3→N2 rises 6.0 — and less stable REM (−4.8). The mechanism behind their fragmentation.</a:t>
            </a:r>
          </a:p>
        </p:txBody>
      </p:sp>
      <p:sp>
        <p:nvSpPr>
          <p:cNvPr id="7" name="TextBox 6"/>
          <p:cNvSpPr txBox="1"/>
          <p:nvPr/>
        </p:nvSpPr>
        <p:spPr>
          <a:xfrm>
            <a:off x="548640" y="4828032"/>
            <a:ext cx="6035040" cy="228600"/>
          </a:xfrm>
          <a:prstGeom prst="rect">
            <a:avLst/>
          </a:prstGeom>
          <a:noFill/>
        </p:spPr>
        <p:txBody>
          <a:bodyPr wrap="square">
            <a:spAutoFit/>
          </a:bodyPr>
          <a:lstStyle/>
          <a:p>
            <a:pPr algn="l"/>
            <a:r>
              <a:rPr sz="800" b="0">
                <a:solidFill>
                  <a:srgbClr val="898D8D"/>
                </a:solidFill>
                <a:latin typeface="Arial"/>
              </a:rPr>
              <a:t>PhysioNet Challenge 2026  ·  Scoring Metrics</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Which features actually separate the groups?</a:t>
            </a:r>
          </a:p>
        </p:txBody>
      </p:sp>
      <p:sp>
        <p:nvSpPr>
          <p:cNvPr id="3" name="Content Placeholder 2"/>
          <p:cNvSpPr>
            <a:spLocks noGrp="1"/>
          </p:cNvSpPr>
          <p:nvPr>
            <p:ph idx="1"/>
          </p:nvPr>
        </p:nvSpPr>
        <p:spPr/>
        <p:txBody>
          <a:bodyPr/>
          <a:lstStyle/>
          <a:p/>
        </p:txBody>
      </p:sp>
      <p:sp>
        <p:nvSpPr>
          <p:cNvPr id="4" name="TextBox 3"/>
          <p:cNvSpPr txBox="1"/>
          <p:nvPr/>
        </p:nvSpPr>
        <p:spPr>
          <a:xfrm>
            <a:off x="548640" y="1024128"/>
            <a:ext cx="6446520" cy="274320"/>
          </a:xfrm>
          <a:prstGeom prst="rect">
            <a:avLst/>
          </a:prstGeom>
          <a:noFill/>
        </p:spPr>
        <p:txBody>
          <a:bodyPr wrap="square">
            <a:spAutoFit/>
          </a:bodyPr>
          <a:lstStyle/>
          <a:p>
            <a:pPr algn="l"/>
            <a:r>
              <a:rPr sz="1100" b="1">
                <a:solidFill>
                  <a:srgbClr val="C8102E"/>
                </a:solidFill>
                <a:latin typeface="Arial"/>
              </a:rPr>
              <a:t>DATASET · FEATURE SIGNIFICANCE (χ² / t-test, FDR-corrected)</a:t>
            </a:r>
          </a:p>
        </p:txBody>
      </p:sp>
      <p:pic>
        <p:nvPicPr>
          <p:cNvPr id="5" name="Picture 4" descr="fig8_feature_significance.png"/>
          <p:cNvPicPr>
            <a:picLocks noChangeAspect="1"/>
          </p:cNvPicPr>
          <p:nvPr/>
        </p:nvPicPr>
        <p:blipFill>
          <a:blip r:embed="rId2"/>
          <a:stretch>
            <a:fillRect/>
          </a:stretch>
        </p:blipFill>
        <p:spPr>
          <a:xfrm>
            <a:off x="457200" y="1481328"/>
            <a:ext cx="3520440" cy="2260299"/>
          </a:xfrm>
          <a:prstGeom prst="rect">
            <a:avLst/>
          </a:prstGeom>
        </p:spPr>
      </p:pic>
      <p:sp>
        <p:nvSpPr>
          <p:cNvPr id="6" name="TextBox 5"/>
          <p:cNvSpPr txBox="1"/>
          <p:nvPr/>
        </p:nvSpPr>
        <p:spPr>
          <a:xfrm>
            <a:off x="4160520" y="1572768"/>
            <a:ext cx="2834640" cy="777240"/>
          </a:xfrm>
          <a:prstGeom prst="rect">
            <a:avLst/>
          </a:prstGeom>
          <a:noFill/>
        </p:spPr>
        <p:txBody>
          <a:bodyPr wrap="square">
            <a:spAutoFit/>
          </a:bodyPr>
          <a:lstStyle/>
          <a:p>
            <a:pPr algn="l"/>
            <a:r>
              <a:rPr sz="1200" b="1">
                <a:solidFill>
                  <a:srgbClr val="2A2E30"/>
                </a:solidFill>
                <a:latin typeface="Arial"/>
              </a:rPr>
              <a:t>14 of 48 features</a:t>
            </a:r>
            <a:r>
              <a:rPr sz="1200" b="0">
                <a:solidFill>
                  <a:srgbClr val="505759"/>
                </a:solidFill>
                <a:latin typeface="Arial"/>
              </a:rPr>
              <a:t> are significant at FDR q&lt;0.05.</a:t>
            </a:r>
          </a:p>
        </p:txBody>
      </p:sp>
      <p:sp>
        <p:nvSpPr>
          <p:cNvPr id="7" name="TextBox 6"/>
          <p:cNvSpPr txBox="1"/>
          <p:nvPr/>
        </p:nvSpPr>
        <p:spPr>
          <a:xfrm>
            <a:off x="4160520" y="2194560"/>
            <a:ext cx="2834640" cy="777240"/>
          </a:xfrm>
          <a:prstGeom prst="rect">
            <a:avLst/>
          </a:prstGeom>
          <a:noFill/>
        </p:spPr>
        <p:txBody>
          <a:bodyPr wrap="square">
            <a:spAutoFit/>
          </a:bodyPr>
          <a:lstStyle/>
          <a:p>
            <a:pPr algn="l"/>
            <a:r>
              <a:rPr sz="1200" b="1">
                <a:solidFill>
                  <a:srgbClr val="C8102E"/>
                </a:solidFill>
                <a:latin typeface="Arial"/>
              </a:rPr>
              <a:t>Age dominates</a:t>
            </a:r>
            <a:r>
              <a:rPr sz="1200" b="0">
                <a:solidFill>
                  <a:srgbClr val="505759"/>
                </a:solidFill>
                <a:latin typeface="Arial"/>
              </a:rPr>
              <a:t> (Cohen d = 1.08) — exactly why the metric discounts it.</a:t>
            </a:r>
          </a:p>
        </p:txBody>
      </p:sp>
      <p:sp>
        <p:nvSpPr>
          <p:cNvPr id="8" name="TextBox 7"/>
          <p:cNvSpPr txBox="1"/>
          <p:nvPr/>
        </p:nvSpPr>
        <p:spPr>
          <a:xfrm>
            <a:off x="4160520" y="2816352"/>
            <a:ext cx="2834640" cy="777240"/>
          </a:xfrm>
          <a:prstGeom prst="rect">
            <a:avLst/>
          </a:prstGeom>
          <a:noFill/>
        </p:spPr>
        <p:txBody>
          <a:bodyPr wrap="square">
            <a:spAutoFit/>
          </a:bodyPr>
          <a:lstStyle/>
          <a:p>
            <a:pPr algn="l"/>
            <a:r>
              <a:rPr sz="1200" b="0">
                <a:solidFill>
                  <a:srgbClr val="505759"/>
                </a:solidFill>
                <a:latin typeface="Arial"/>
              </a:rPr>
              <a:t>Then: </a:t>
            </a:r>
            <a:r>
              <a:rPr sz="1200" b="1">
                <a:solidFill>
                  <a:srgbClr val="2A2E30"/>
                </a:solidFill>
                <a:latin typeface="Arial"/>
              </a:rPr>
              <a:t>limb movements, ↓REM, ↑WASO/Wake, ↓efficiency &amp; entropy, fewer REM periods, ↓N3.</a:t>
            </a:r>
          </a:p>
        </p:txBody>
      </p:sp>
      <p:sp>
        <p:nvSpPr>
          <p:cNvPr id="9" name="TextBox 8"/>
          <p:cNvSpPr txBox="1"/>
          <p:nvPr/>
        </p:nvSpPr>
        <p:spPr>
          <a:xfrm>
            <a:off x="4160520" y="3438144"/>
            <a:ext cx="2834640" cy="777240"/>
          </a:xfrm>
          <a:prstGeom prst="rect">
            <a:avLst/>
          </a:prstGeom>
          <a:noFill/>
        </p:spPr>
        <p:txBody>
          <a:bodyPr wrap="square">
            <a:spAutoFit/>
          </a:bodyPr>
          <a:lstStyle/>
          <a:p>
            <a:pPr algn="l"/>
            <a:r>
              <a:rPr sz="1200" b="1">
                <a:solidFill>
                  <a:srgbClr val="C8102E"/>
                </a:solidFill>
                <a:latin typeface="Arial"/>
              </a:rPr>
              <a:t>AHI is NOT significant</a:t>
            </a:r>
            <a:r>
              <a:rPr sz="1200" b="0">
                <a:solidFill>
                  <a:srgbClr val="505759"/>
                </a:solidFill>
                <a:latin typeface="Arial"/>
              </a:rPr>
              <a:t> (d=0.19) — signal is in sleep architecture &amp; continuity, not apnea load.</a:t>
            </a:r>
          </a:p>
        </p:txBody>
      </p:sp>
      <p:sp>
        <p:nvSpPr>
          <p:cNvPr id="10" name="TextBox 9"/>
          <p:cNvSpPr txBox="1"/>
          <p:nvPr/>
        </p:nvSpPr>
        <p:spPr>
          <a:xfrm>
            <a:off x="4160520" y="4059936"/>
            <a:ext cx="2834640" cy="777240"/>
          </a:xfrm>
          <a:prstGeom prst="rect">
            <a:avLst/>
          </a:prstGeom>
          <a:noFill/>
        </p:spPr>
        <p:txBody>
          <a:bodyPr wrap="square">
            <a:spAutoFit/>
          </a:bodyPr>
          <a:lstStyle/>
          <a:p>
            <a:pPr algn="l"/>
            <a:r>
              <a:rPr sz="1200" b="0">
                <a:solidFill>
                  <a:srgbClr val="505759"/>
                </a:solidFill>
                <a:latin typeface="Arial"/>
              </a:rPr>
              <a:t>Method: </a:t>
            </a:r>
            <a:r>
              <a:rPr sz="1150" b="0">
                <a:solidFill>
                  <a:srgbClr val="505759"/>
                </a:solidFill>
                <a:latin typeface="Arial"/>
              </a:rPr>
              <a:t>Welch t (numeric) + χ² (categorical), Benjamini–Hochberg FDR.</a:t>
            </a:r>
          </a:p>
        </p:txBody>
      </p:sp>
      <p:sp>
        <p:nvSpPr>
          <p:cNvPr id="11" name="TextBox 10"/>
          <p:cNvSpPr txBox="1"/>
          <p:nvPr/>
        </p:nvSpPr>
        <p:spPr>
          <a:xfrm>
            <a:off x="548640" y="4828032"/>
            <a:ext cx="6035040" cy="228600"/>
          </a:xfrm>
          <a:prstGeom prst="rect">
            <a:avLst/>
          </a:prstGeom>
          <a:noFill/>
        </p:spPr>
        <p:txBody>
          <a:bodyPr wrap="square">
            <a:spAutoFit/>
          </a:bodyPr>
          <a:lstStyle/>
          <a:p>
            <a:pPr algn="l"/>
            <a:r>
              <a:rPr sz="800" b="0">
                <a:solidFill>
                  <a:srgbClr val="898D8D"/>
                </a:solidFill>
                <a:latin typeface="Arial"/>
              </a:rPr>
              <a:t>PhysioNet Challenge 2026  ·  Scoring Metrics</a:t>
            </a:r>
          </a:p>
        </p:txBody>
      </p:sp>
    </p:spTree>
  </p:cSld>
  <p:clrMapOvr>
    <a:masterClrMapping/>
  </p:clrMapOvr>
</p:sld>
</file>

<file path=ppt/theme/theme1.xml><?xml version="1.0" encoding="utf-8"?>
<a:theme xmlns:a="http://schemas.openxmlformats.org/drawingml/2006/main" name="Edwards PPT Template 13Nov2015">
  <a:themeElements>
    <a:clrScheme name="Edwards">
      <a:dk1>
        <a:srgbClr val="000000"/>
      </a:dk1>
      <a:lt1>
        <a:srgbClr val="FFFFFF"/>
      </a:lt1>
      <a:dk2>
        <a:srgbClr val="94A596"/>
      </a:dk2>
      <a:lt2>
        <a:srgbClr val="A4BCC2"/>
      </a:lt2>
      <a:accent1>
        <a:srgbClr val="C8102E"/>
      </a:accent1>
      <a:accent2>
        <a:srgbClr val="898D8D"/>
      </a:accent2>
      <a:accent3>
        <a:srgbClr val="346583"/>
      </a:accent3>
      <a:accent4>
        <a:srgbClr val="CEB888"/>
      </a:accent4>
      <a:accent5>
        <a:srgbClr val="982E2F"/>
      </a:accent5>
      <a:accent6>
        <a:srgbClr val="505759"/>
      </a:accent6>
      <a:hlink>
        <a:srgbClr val="C8102E"/>
      </a:hlink>
      <a:folHlink>
        <a:srgbClr val="C8102E"/>
      </a:folHlink>
    </a:clrScheme>
    <a:fontScheme name="Edwards 2015">
      <a:majorFont>
        <a:latin typeface="Arial"/>
        <a:ea typeface=""/>
        <a:cs typeface=""/>
      </a:majorFont>
      <a:minorFont>
        <a:latin typeface="Arial"/>
        <a:ea typeface=""/>
        <a:cs typeface=""/>
      </a:minorFont>
    </a:fontScheme>
    <a:fmtScheme name="Edwards 2015">
      <a:fillStyleLst>
        <a:solidFill>
          <a:schemeClr val="phClr"/>
        </a:solidFill>
        <a:solidFill>
          <a:schemeClr val="phClr"/>
        </a:solidFill>
        <a:solidFill>
          <a:schemeClr val="phClr"/>
        </a:solidFill>
      </a:fillStyleLst>
      <a:lnStyleLst>
        <a:ln w="12700" cap="sq" cmpd="sng" algn="ctr">
          <a:solidFill>
            <a:schemeClr val="phClr"/>
          </a:solidFill>
          <a:prstDash val="solid"/>
        </a:ln>
        <a:ln w="12700" cap="sq" cmpd="sng" algn="ctr">
          <a:solidFill>
            <a:schemeClr val="phClr"/>
          </a:solidFill>
          <a:prstDash val="solid"/>
        </a:ln>
        <a:ln w="25400" cap="sq" cmpd="sng" algn="ctr">
          <a:solidFill>
            <a:schemeClr val="phClr"/>
          </a:solidFill>
          <a:prstDash val="solid"/>
        </a:ln>
      </a:lnStyleLst>
      <a:effectStyleLst>
        <a:effectStyle>
          <a:effectLst/>
        </a:effectStyle>
        <a:effectStyle>
          <a:effectLst/>
        </a:effectStyle>
        <a:effectStyle>
          <a:effectLst>
            <a:outerShdw blurRad="190500" dist="63500" dir="2700000" algn="br" rotWithShape="0">
              <a:srgbClr val="000000">
                <a:alpha val="40000"/>
              </a:srgbClr>
            </a:outerShdw>
          </a:effectLst>
        </a:effectStyle>
      </a:effectStyleLst>
      <a:bgFillStyleLst>
        <a:solidFill>
          <a:schemeClr val="phClr"/>
        </a:solidFill>
        <a:solidFill>
          <a:schemeClr val="phClr"/>
        </a:solidFill>
        <a:solidFill>
          <a:schemeClr val="phClr"/>
        </a:solidFill>
      </a:bgFillStyleLst>
    </a:fmtScheme>
  </a:themeElements>
  <a:objectDefaults/>
  <a:extraClrSchemeLst/>
  <a:extLst>
    <a:ext uri="{05A4C25C-085E-4340-85A3-A5531E510DB2}">
      <thm15:themeFamily xmlns:thm15="http://schemas.microsoft.com/office/thememl/2012/main" name="Presentation8" id="{9CBDFC55-8CF8-FC4F-ACA4-6C2398711CFB}" vid="{14300AF9-1F5E-E749-8007-AB4B9B93E9A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emplate>Edwards PPT Template 13Nov2015</Template>
  <TotalTime>152</TotalTime>
  <Words>2168</Words>
  <Application>Microsoft Macintosh PowerPoint</Application>
  <PresentationFormat>On-screen Show (16:9)</PresentationFormat>
  <Paragraphs>232</Paragraphs>
  <Slides>59</Slides>
  <Notes>12</Notes>
  <HiddenSlides>9</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59</vt:i4>
      </vt:variant>
    </vt:vector>
  </HeadingPairs>
  <TitlesOfParts>
    <vt:vector size="62" baseType="lpstr">
      <vt:lpstr>Arial</vt:lpstr>
      <vt:lpstr>Wingdings</vt:lpstr>
      <vt:lpstr>Edwards PPT Template 13Nov2015</vt:lpstr>
      <vt:lpstr>Synthetic Medical/Survival Data Generation</vt:lpstr>
      <vt:lpstr>Story, Purpose, and Motivation</vt:lpstr>
      <vt:lpstr> Why synthetic medical data matters now</vt:lpstr>
      <vt:lpstr>Overview</vt:lpstr>
      <vt:lpstr>PowerPoint Presentation</vt:lpstr>
      <vt:lpstr>Methods and Algorithms</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Evaluation, Results, and Evidence</vt:lpstr>
      <vt:lpstr>PowerPoint Presentation</vt:lpstr>
      <vt:lpstr>PowerPoint Presentation</vt:lpstr>
      <vt:lpstr>PowerPoint Presentation</vt:lpstr>
      <vt:lpstr>Roadmap and Key Takeaways</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Action Plans</vt:lpstr>
      <vt:lpstr>References</vt:lpstr>
      <vt:lpstr>References</vt:lpstr>
      <vt:lpstr>References</vt:lpstr>
      <vt:lpstr>PowerPoint Presentation</vt:lpstr>
      <vt:lpstr>Presentation title is Arial Bold 26pt </vt:lpstr>
      <vt:lpstr>Presentation title is Arial Bold 26pt </vt:lpstr>
      <vt:lpstr>Presentation title is Arial Bold 26pt </vt:lpstr>
      <vt:lpstr>Presentation title is Arial Bold 26pt </vt:lpstr>
      <vt:lpstr>Presentation title is Arial Bold 26pt </vt:lpstr>
      <vt:lpstr>Presentation title is Arial Bold 26pt </vt:lpstr>
      <vt:lpstr>Presentation title is Arial Bold 26pt </vt:lpstr>
      <vt:lpstr>Presentation title is Arial Bold 26pt </vt:lpstr>
      <vt:lpstr>Presentation title is Arial Bold 26pt </vt:lpstr>
      <vt:lpstr>Presentation title is Arial Bold 26pt </vt:lpstr>
      <vt:lpstr>Presentation title is Arial Bold 26pt </vt:lpstr>
      <vt:lpstr>Our color palette</vt:lpstr>
      <vt:lpstr>This is a “Two Content” slide — two columns that  can be used for text, charts, images or graphics</vt:lpstr>
      <vt:lpstr>Use sentence case for titles. Only capitalize words that need to be capitalized.</vt:lpstr>
      <vt:lpstr>This is a “Comparison” slide — two columns with titles</vt:lpstr>
      <vt:lpstr>Tables</vt:lpstr>
      <vt:lpstr>Charts and graphics</vt:lpstr>
      <vt:lpstr>PowerPoint Presentation</vt:lpstr>
      <vt:lpstr>PowerPoint Presentation</vt:lpstr>
      <vt:lpstr>PowerPoint Presentation</vt:lpstr>
      <vt:lpstr>PowerPoint Presentation</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Arshia Ilaty (Edwards Contingent Worker)</dc:creator>
  <cp:keywords/>
  <dc:description/>
  <cp:lastModifiedBy>Arshia Ilaty (Edwards Contingent Worker)</cp:lastModifiedBy>
  <cp:revision>2</cp:revision>
  <dcterms:created xsi:type="dcterms:W3CDTF">2026-07-07T17:52:45Z</dcterms:created>
  <dcterms:modified xsi:type="dcterms:W3CDTF">2026-07-09T21:27:41Z</dcterms:modified>
  <cp:category/>
</cp:coreProperties>
</file>