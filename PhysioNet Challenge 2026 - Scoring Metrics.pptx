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1"/>
  </p:notesMasterIdLst>
  <p:handoutMasterIdLst>
    <p:handoutMasterId r:id="rId6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4" r:id="rId26"/>
    <p:sldId id="275" r:id="rId27"/>
    <p:sldId id="276" r:id="rId28"/>
    <p:sldId id="277" r:id="rId29"/>
    <p:sldId id="278" r:id="rId30"/>
    <p:sldId id="279" r:id="rId31"/>
    <p:sldId id="281" r:id="rId33"/>
    <p:sldId id="282" r:id="rId34"/>
    <p:sldId id="280" r:id="rId32"/>
    <p:sldId id="271" r:id="rId23"/>
    <p:sldId id="283" r:id="rId35"/>
    <p:sldId id="284" r:id="rId36"/>
    <p:sldId id="285" r:id="rId37"/>
    <p:sldId id="286" r:id="rId38"/>
    <p:sldId id="287" r:id="rId39"/>
    <p:sldId id="288" r:id="rId40"/>
    <p:sldId id="272" r:id="rId24"/>
    <p:sldId id="273" r:id="rId2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37">
          <p15:clr>
            <a:srgbClr val="A4A3A4"/>
          </p15:clr>
        </p15:guide>
        <p15:guide id="2" orient="horz" pos="746">
          <p15:clr>
            <a:srgbClr val="A4A3A4"/>
          </p15:clr>
        </p15:guide>
        <p15:guide id="3" pos="2881">
          <p15:clr>
            <a:srgbClr val="A4A3A4"/>
          </p15:clr>
        </p15:guide>
        <p15:guide id="4" pos="343">
          <p15:clr>
            <a:srgbClr val="A4A3A4"/>
          </p15:clr>
        </p15:guide>
        <p15:guide id="5" pos="541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6E8"/>
    <a:srgbClr val="E0CDD0"/>
    <a:srgbClr val="C09AA1"/>
    <a:srgbClr val="F5E8E0"/>
    <a:srgbClr val="EBD0C0"/>
    <a:srgbClr val="D7A181"/>
    <a:srgbClr val="FE00DD"/>
    <a:srgbClr val="C4C6C6"/>
    <a:srgbClr val="898D8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D3E4D24-59C8-4E92-AF60-1BB1E4F4EC29}">
  <a:tblStyle styleId="{DD3E4D24-59C8-4E92-AF60-1BB1E4F4EC29}" styleName="Edwards">
    <a:wholeTbl>
      <a:tcTxStyle>
        <a:fontRef idx="minor"/>
        <a:srgbClr val="000000"/>
      </a:tcTxStyle>
      <a:tcStyle>
        <a:tcBdr>
          <a:left>
            <a:ln>
              <a:noFill/>
            </a:ln>
          </a:left>
          <a:right>
            <a:ln>
              <a:noFill/>
            </a:ln>
          </a:right>
          <a:top>
            <a:ln w="6350">
              <a:solidFill>
                <a:srgbClr val="505759"/>
              </a:solidFill>
            </a:ln>
          </a:top>
          <a:bottom>
            <a:ln w="6350">
              <a:solidFill>
                <a:srgbClr val="505759"/>
              </a:solidFill>
            </a:ln>
          </a:bottom>
          <a:insideH>
            <a:ln w="6350">
              <a:solidFill>
                <a:srgbClr val="505759"/>
              </a:solidFill>
            </a:ln>
          </a:insideH>
          <a:insideV>
            <a:ln>
              <a:noFill/>
            </a:ln>
          </a:insideV>
        </a:tcBdr>
        <a:fill>
          <a:noFill/>
        </a:fill>
      </a:tcStyle>
    </a:wholeTbl>
    <a:band1H>
      <a:tcStyle>
        <a:tcBdr/>
        <a:fill>
          <a:solidFill>
            <a:srgbClr val="D1D1D1"/>
          </a:solidFill>
        </a:fill>
      </a:tcStyle>
    </a:band1H>
    <a:band2H>
      <a:tcStyle>
        <a:tcBdr/>
        <a:fill>
          <a:noFill/>
        </a:fill>
      </a:tcStyle>
    </a:band2H>
    <a:band1V>
      <a:tcStyle>
        <a:tcBdr/>
        <a:fill>
          <a:solidFill>
            <a:srgbClr val="D1D1D1"/>
          </a:solidFill>
        </a:fill>
      </a:tcStyle>
    </a:band1V>
    <a:band2V>
      <a:tcStyle>
        <a:tcBdr/>
        <a:fill>
          <a:noFill/>
        </a:fill>
      </a:tcStyle>
    </a:band2V>
    <a:lastCol>
      <a:tcStyle>
        <a:tcBdr/>
        <a:fill>
          <a:solidFill>
            <a:srgbClr val="D1D1D1"/>
          </a:solidFill>
        </a:fill>
      </a:tcStyle>
    </a:lastCol>
    <a:firstCol>
      <a:tcStyle>
        <a:tcBdr/>
        <a:fill>
          <a:solidFill>
            <a:srgbClr val="D1D1D1"/>
          </a:solidFill>
        </a:fill>
      </a:tcStyle>
    </a:firstCol>
    <a:lastRow>
      <a:tcTxStyle b="on">
        <a:fontRef idx="minor"/>
        <a:srgbClr val="000000"/>
      </a:tcTxStyle>
      <a:tcStyle>
        <a:tcBdr>
          <a:top>
            <a:ln w="15875">
              <a:solidFill>
                <a:srgbClr val="505759"/>
              </a:solidFill>
            </a:ln>
          </a:top>
          <a:bottom>
            <a:ln>
              <a:noFill/>
            </a:ln>
          </a:bottom>
        </a:tcBdr>
        <a:fill>
          <a:noFill/>
        </a:fill>
      </a:tcStyle>
    </a:lastRow>
    <a:firstRow>
      <a:tcTxStyle b="on">
        <a:fontRef idx="minor"/>
        <a:srgbClr val="FFFFFF"/>
      </a:tcTxStyle>
      <a:tcStyle>
        <a:tcBdr>
          <a:top>
            <a:ln>
              <a:noFill/>
            </a:ln>
          </a:top>
          <a:bottom>
            <a:ln>
              <a:noFill/>
            </a:ln>
          </a:bottom>
        </a:tcBdr>
        <a:fill>
          <a:solidFill>
            <a:srgbClr val="505759"/>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6"/>
    <p:restoredTop sz="78827"/>
  </p:normalViewPr>
  <p:slideViewPr>
    <p:cSldViewPr snapToGrid="0" snapToObjects="1">
      <p:cViewPr>
        <p:scale>
          <a:sx n="119" d="100"/>
          <a:sy n="119" d="100"/>
        </p:scale>
        <p:origin x="2192" y="904"/>
      </p:cViewPr>
      <p:guideLst>
        <p:guide orient="horz" pos="2937"/>
        <p:guide orient="horz" pos="746"/>
        <p:guide pos="2881"/>
        <p:guide pos="343"/>
        <p:guide pos="5414"/>
      </p:guideLst>
    </p:cSldViewPr>
  </p:slideViewPr>
  <p:outlineViewPr>
    <p:cViewPr>
      <p:scale>
        <a:sx n="33" d="100"/>
        <a:sy n="33" d="100"/>
      </p:scale>
      <p:origin x="0" y="-940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1" d="100"/>
          <a:sy n="111" d="100"/>
        </p:scale>
        <p:origin x="-512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4.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61" Type="http://schemas.openxmlformats.org/officeDocument/2006/relationships/notesMaster" Target="notesMasters/notesMaster1.xml"/><Relationship Id="rId62" Type="http://schemas.openxmlformats.org/officeDocument/2006/relationships/handoutMaster" Target="handoutMasters/handout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006CADB-3CA9-FF41-B8D2-FD4740AB41D0}" type="datetimeFigureOut">
              <a:rPr lang="en-US" smtClean="0">
                <a:latin typeface="Arial"/>
              </a:rPr>
              <a:pPr/>
              <a:t>7/9/26</a:t>
            </a:fld>
            <a:endParaRPr lang="en-US" dirty="0">
              <a:latin typeface="Aria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9F5B3C3-3362-7841-B0BA-B01E7CF2A151}" type="slidenum">
              <a:rPr lang="en-US" smtClean="0">
                <a:latin typeface="Arial"/>
              </a:rPr>
              <a:pPr/>
              <a:t>‹#›</a:t>
            </a:fld>
            <a:endParaRPr lang="en-US" dirty="0">
              <a:latin typeface="Arial"/>
            </a:endParaRPr>
          </a:p>
        </p:txBody>
      </p:sp>
    </p:spTree>
    <p:extLst>
      <p:ext uri="{BB962C8B-B14F-4D97-AF65-F5344CB8AC3E}">
        <p14:creationId xmlns:p14="http://schemas.microsoft.com/office/powerpoint/2010/main" val="15990647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a:defRPr>
            </a:lvl1pPr>
          </a:lstStyle>
          <a:p>
            <a:fld id="{55B06DB5-DAEC-D24B-8162-5BC872FB42BD}" type="datetimeFigureOut">
              <a:rPr lang="en-US" smtClean="0"/>
              <a:pPr/>
              <a:t>7/9/26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4343400"/>
            <a:ext cx="6096000" cy="41148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a:defRPr>
            </a:lvl1pPr>
          </a:lstStyle>
          <a:p>
            <a:fld id="{04A3E607-94AB-4840-8C00-2935C684FD76}" type="slidenum">
              <a:rPr lang="en-US" smtClean="0"/>
              <a:pPr/>
              <a:t>‹#›</a:t>
            </a:fld>
            <a:endParaRPr lang="en-US" dirty="0"/>
          </a:p>
        </p:txBody>
      </p:sp>
    </p:spTree>
    <p:extLst>
      <p:ext uri="{BB962C8B-B14F-4D97-AF65-F5344CB8AC3E}">
        <p14:creationId xmlns:p14="http://schemas.microsoft.com/office/powerpoint/2010/main" val="165848178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Welcome, everyone. Today I want to walk through how the George B. Moody PhysioNet Challenge 2026 actually scores and ranks the teams that enter. This matters for us because the metric — not our intuition about accuracy — decides where we land on the leaderboard. My goal is that by the end, everyone understands exactly what we're being graded on and how that shapes the way we build and validate our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Here's the plan. First I'll frame the prediction task — what the challenge actually asks our model to output. Then I'll explain why the organizers built a custom metric instead of using plain accuracy. We'll look at the seven scores the evaluation produces, then spend most of our time on the one that matters — the Reward — because that's the metric that ranks us. After that, the age-aware AUROCs, and finally what all of this means for how we should tune and validate. Feel free to hold questions until the relevant section, but jump in if something isn't clear.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Let's start with the task itself, because the metric only makes sense once you know what we're predicting.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The task is a per-patient prediction: from an overnight sleep or physiological recording, decide whether that patient has cognitive impairment. Our model produces two things for each patient. First, a binary 0-or-1 call — that's what the Reward metric scores. Second, a continuous probability between 0 and 1 — that's what the AUROC and AUPRC metrics use. Both matter, and they're scored differently, so we can't just optimize one and forget the other. One more detail that becomes important in a minute: every patient carries an age, and the metric uses that age to set its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So why not just use accuracy? There are two specific problems that a naive metric would get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Two problems. First, class imbalance: cognitive impairment is the rare class. A lazy model that simply predicts 'nobody is impaired' could post a high accuracy while being clinically worthless. So the metric has to reward actually finding the rare positives and give no free credit for trivial guessing. Second, age confounding: the risk of impairment rises steeply with age. A model could look accurate just by learning 'older equals higher risk' — which is real epidemiology but not real physiological signal from the recording. So the metric has to compare patients of similar age, so age alone can't inflate the score. Keep these two problems in mind — every design choice in the metric is aimed at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When you run the official evaluation code, you get seven numbers. I want to be crystal clear about their roles. Exactly one — the Reward, at the top, highlighted — determines the ranking. That's the leaderboard. The other six — the two age-aware AUROCs, standard AUROC, AUPRC, accuracy, and F-measure — are diagnostics. They don't rank us, but they help us understand why a model scores the way it does. So when we report results internally, the Reward is the headline; the rest are supporting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Now the main event — the Reward metric. This is the one that ranks us, so it's worth understanding deeply.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Here's the intuition. Every patient earns points, and we average the points over all patients. The key quantity is p — the age-specific prevalence of impairment, essentially the base rate we'd expect at that patient's age. Three things fall out of the design. One: correctly flagging a rare case is worth far more than one common correct call. Two: every error — whether a false alarm or a miss — costs the same flat minus one, so over-predicting is never a free win. And three: because the payoffs scale with one over p, the whole metric self-normalizes — genuine skill shows up, and guessing washes out. We'll see both of those on the next few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Here's the exact scoring, laid out as a payoff matrix. If the patient is truly positive and we call positive — a true positive — we earn one-over-p minus one. Because p is small for the rare class, that's a big reward. If the patient is truly negative and we correctly call negative, we earn one-over-one-minus-p minus one, which is a small amount. And any error — a false alarm or a miss — costs a flat minus one. Concretely, at fifteen-percent prevalence: catching a real positive is worth about plus five-point-seven, a correct negative is worth about plus zero-point-one-eight, and any mistake is minus one. That asymmetry is the whole point — it's expensive to miss impairment.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This chart is the payoff of that design. I simulated the four strategies. A perfect model scores about plus one. But look at the other three — predict all-negative, predict all-positive, or flip a coin — they all collapse to essentially zero. And this holds at any prevalence, because of that one-over-p normalization. The takeaway: you cannot game this metric with a trivial strategy. A score meaningfully above zero is evidence of real predictive skill. Zero is the 'no better than guessing' 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And this is why the metric is clinically aligned. The red curve is the reward for correctly catching a positive, as a function of how common that condition is at a given age. As prevalence drops — as the condition gets rarer — the payoff shoots up. So the metric actively pushes our model to find the needles, not to ignore them because they're uncommon. The blue curve, correct negatives, stays low and flat until the condition is very common. In short: the rarer the case, the more we're rewarded for catching it — which is exactly the behavior you want from a screening tool.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Now the age-aware diagnostics. Standard AUROC asks: if I pick a random positive and a random negative patient, does the model rank the positive as higher-risk? The age-conditioned version adds one restriction — it only compares pairs of patients who are close in age, within about two years. Why does that matter? Because it removes the age shortcut. Within a narrow age band, age is essentially held constant, so a good score reflects real physiological signal, not just the model rediscovering that older patients are higher-risk. As always, zero-point-five is chance and one-point-zero is perfect — but now within each age neighborhood.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The age-weighted AUROC is a close cousin. It computes an AUROC within each age, then averages those per-age scores, weighting each age by how many patients actually fall there. The distinction on the slide: the conditioned version gives one pooled score across all similar-age pairs — 'across the board, does it separate cases within age?' The weighted version averages per-age performance by population — 'how well does it work at a typical patient's age?' Both strip out age as a shortcut. Together, they tell us whether our model is consistently good across the whole age range, or just good at the ages that happen to dominate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These four are the metrics everyone already knows, and here they're context, not ranking. Standard AUROC measures overall ranking quality but ignores prevalence, so it's optimistic on imbalanced data. AUPRC focuses on the positive class and is more honest than AUROC when positives are rare — so it's the more informative of the two for us. Accuracy is the percentage of correct calls, but as we discussed it's misleading under imbalance — we show it mostly for reference. And F-measure is a threshold-dependent balance of precision and recall on our binary output. Useful diagnostics, but none of them decide the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So what does this mean for how we work? Four things. One: we optimize the Reward, not accuracy — we tune our decision threshold to maximize that prevalence-weighted payoff, and we accept that accuracy will look worse. That's fine, even expected. Two: we protect recall on the rare class — every caught positive is worth one-over-p minus one, and every miss costs minus one, so missing impairment is genuinely expensive. Three: we don't lean on age — the age-aware AUROCs will expose it if we do, so our features have to carry real signal within an age band. And four: we validate with the official evaluation code on our cross-validation folds, so our internal numbers actually match what the leaderboard will say.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Everything I've presented is grounded in primary sources. The challenge website and the official evaluation and example code repositories are listed here. And importantly, the metric definitions in this deck — the exact formulas — were taken directly from the evaluate_model.py file in our own repository, and I verified the reward-normalization claim by simulation. So these aren't approximations; they're the real scoring rules.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To wrap up: if you remember one thing, make it this — optimize for the Reward, catch the rare cases, and don't lean on age. That's what wins this challenge.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understand how we're scored, let's ground it in the actual data. Everything on the next few slides comes from a full statistical pass over all 1,103 recordings on the challenge dataset — demographics, the raw biosignals, and the CAISR sleep annotations. I want you to see two things: first, that the two problems the metric was built to handle — class imbalance and age confounding — are real and measurable in our cohort; and second, that there is genuine sleep signal separating impaired from unimpaired patients that a model can learn.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cohort. 1,103 patients, one overnight recording each, drawn from three sites — Beth Israel in Boston, Kaiser, and Emory. The headline number for the metric is prevalence: only 7.6% of patients are cognitively impaired — 84 positives against a thousand-plus negatives. That is exactly the class imbalance the Reward metric is built to reward you for handling. Notice too that prevalence is not uniform across sites — from 6.5% at BIDMC up to nearly 15% at Emory — which is why we validate leave-one-site-out, not just by random fold. Age is tightly clustered around 62, with a long tail to the late 80s.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empirical case for the whole scoring design. On the left, prevalence of cognitive impairment by age band: 2% for patients in their fifties, rising to 36% for those 80 and older — an eighteen-fold swing. A lazy model could score well just by learning 'older equals higher risk,' which is precisely why the challenge conditions AUROC on age: it strips that shortcut away. On the right, prevalence by site: from 6.5% at BIDMC to almost 15% at Emory. The error bars are wide at the smaller sites, but the shift is real and it's why we don't trust a single random split. So the two things we said in the abstract — imbalance and age confounding — are not hypothetical; they are right here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biosignals are rich but messy. A header-only scan of all 1,103 EDF files — we never load the 170 gigabytes of samples — shows EKG in almost every recording, and the core EEG derivations plus oxygen saturation in about four out of five. But the montages are wildly inconsistent: files range from 16 to 88 channels, sampling rates from 20 to 512 hertz, and BIDMC alone uses 42 different channel sets. The same sensor shows up under different labels and units. The practical consequence, and a real design constraint for us, is that we extract features by channel role, not by exact label, and every feature has to degrade gracefully when its channel simply isn't there.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from the CAISR automated sleep annotations, which we read for all 1,090 recordings that have them. The stage bar at the top is the cohort-average hypnogram: about a quarter of the night is wake, nearly half is N2, and only 9% is deep N3 and 12% REM. That is a fragmented, shallow sleep profile — consistent with a clinical sleep-lab population. The tiles below make it concrete: median sleep efficiency in the mid-70s, and a strikingly high apnea-hypopnea index of 48 events per hour of sleep, with an arousal index near 40. This is a heavily sleep-disordered cohort, which matters because sleep-disordered breathing is itself linked to cognitive risk. One caveat: CAISR agrees with the expert scorer on about 76% of epochs, so we treat these as strong but imperfect labels.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says a model can actually work. Each panel compares the impaired group in red against the unimpaired group in blue. Impaired patients show lower sleep efficiency, shorter total sleep, and notably less deep N3 and REM sleep. The distributions overlap — this is not a clean separation, no single feature is a biomarker — but the shifts are consistent and in the direction sleep medicine would predict. Apnea burden and arousal index are more similar between the groups, which tells us the discriminative signal lives mainly in sleep architecture and continuity, not in the breathing indices. That is exactly why we lean on engineered architecture features rather than raw event counts.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data quality, because it drives real modeling decisions. The demographics we can count on — age and sex are complete, race and ethnicity nearly so. But BMI is missing for three-quarters of patients and time-to-event for over 90%, recorded only for the positives, so neither can be a load-bearing feature. On the signal side, 1,090 of 1,103 recordings carry CAISR annotations; the 13 that don't fall back to global features. Eighteen recordings are too short — nine under an hour — and we flag those for the pipeline. The one thing that is perfectly clean is the linkage between the demographics table and the EDF files: zero orphans in either direction, so every patient's metadata lines up with their recording.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go deeper than 'how much' of each stage — into how the night moves between stages. This is the epoch-to-epoch transition matrix: each cell is the probability that a stage is followed by another. The left panel is the whole cohort — sleep is mostly stable, the diagonal is high. The right panel is what's different about the impaired patients, in percentage points. The striking cell is deep sleep: their N3 is far less stable — it drops back to N2 six points more often and holds only 5 points less — and their REM is less stable too. So the fragmentation we saw in the summary metrics has a concrete mechanism: impaired patients can't hold onto their deep, restorative sleep.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a formal answer to 'which features actually matter.' We tested every feature against the impairment label — a t-test for numeric features, chi-square for categorical — and corrected for testing 48 of them at once with a false-discovery-rate adjustment. Fourteen survive at q below 0.05. Age has by far the largest effect, a full standard deviation of separation — which is precisely the shortcut the age-conditioned metric strips away, so we can't lean on it. After age come the sleep features: periodic limb movements, reduced REM, more time awake, lower efficiency and stage entropy, fewer REM cycles, less deep sleep. The important negative result is that the apnea-hypopnea index is NOT significant — so the real signal lives in sleep architecture and continuity, not in how many breathing events a patient has. That directly justifies our feature design.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seen the metric and the data it scores. Now here is what Team SDG actually built to win on that metric — the full pipeline from a raw overnight recording to a calibrated impairment probability, the features we engineered, the model, and where our numbers stand today, including one experiment that hasn't paid off yet.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system on one slide. We start from the raw overnight recording — EEG, ECG, respiration, oxygen — decode every channel with NeuroKit2 in a site-aware way, and run quality checks. Then two parallel feature streams: our hand-crafted sleep physiology, and self-supervised embeddings from a foundation model. Everything downstream of the split — the dimensionality reduction and feature selection — is fit only on training rows; with just 84 positives, fitting those on the whole set would inflate our scores by five to ten points, so we are strict about it. The model is a per-site mixture of experts with a fine-tuned head for Kaiser. Finally we tune the decision threshold to maximize the Reward, by site and age decade, and we validate leave-one-site-out so our numbers reflect a genuinely unseen hospital.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features come in three families. The baseline set — 55 features — is the CAISR sleep architecture and demographics: how the night is structured, fragmentation, event indices. On top of that we added 160 NeuroKit2 features: per-stage heart-rate variability, EEG complexity, and respiration, computed from the raw waveforms. And 122 clinical-report features: EEG spectral power and spindles, oxygenation and hypoxic burden, respiratory events. The design principle is that impairment shows up as blunted modulation across sleep stages, so almost everything is stage-resolved, and the strongest features are contrasts between stages. Crucially, we exclude age from training — the metric strips the age shortcut, so our features have to carry signal within an age band.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designed around the two problems we keep coming back to: site shift and class imbalance. First, it is a mixture of experts — one gradient-boosted classifier per site, with a global fallback — because the three hospitals have such different montages and populations that a single model blurs them. Second, a dedicated fine-tuned head for Kaiser, which is the hardest site to generalize to. Third, because BMI is missing for three-quarters of patients, we impute it per site instead of dropping it. And the piece that directly targets the metric: instead of the usual 0.5 cutoff, we predict positive when the probability exceeds the age-specific prevalence — that's the Bayes-optimal threshold for the Reward — tuned per site and age decade on held-out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where the engineered features get us. On our internal leave-one-site-out harness — same folds, same model, only the feature set changes — adding the NeuroKit2 and clinical-report features lifts the pooled reward from 0.098 to 0.176, nearly double, and it improves every single held-out site. For reference, 0.168 is our verified submission score from the official scoring code. One honest caveat: this internal harness scores the baseline at 0.098, not at the 0.168 we submitted, so the two aren't the identical pipeline — the relative lift is what we trust, and the absolute number still needs reconciling before we quote it against the leaderboard. The other lesson: throwing all 337 features in raw actually overfits, which points straight at feature selection as the next lever — and that's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end with an experiment that is still open, because it shows how we work. A collaborator produced embeddings from SleepFM, a self-supervised foundation model that was never trained on impairment labels, so there's no leakage. We fused them with our features the leakage-safe way and benchmarked. The best configuration reaches a reward of 0.253 leave-one-site-out — which looks like a big jump. But look at the confidence intervals: every one of them still includes zero. And the decisive test is the paired comparison — on identical splits, adding the embeddings on top of plain feature selection changes the reward by minus 0.10, with a confidence interval from minus 1.3 to plus 0.66. In other words, we cannot yet distinguish the embeddings' contribution from the feature selection alone. So we are not claiming this as a win. The binding constraint is that 84 positives makes every interval wide; the next steps are richer per-stage pooling, stacking, and more labeled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spTree>
      <p:nvGrpSpPr>
        <p:cNvPr id="1" name=""/>
        <p:cNvGrpSpPr/>
        <p:nvPr/>
      </p:nvGrpSpPr>
      <p:grpSpPr>
        <a:xfrm>
          <a:off x="0" y="0"/>
          <a:ext cx="0" cy="0"/>
          <a:chOff x="0" y="0"/>
          <a:chExt cx="0" cy="0"/>
        </a:xfrm>
      </p:grpSpPr>
      <p:sp>
        <p:nvSpPr>
          <p:cNvPr id="6" name="Picture Placeholder 5"/>
          <p:cNvSpPr>
            <a:spLocks noGrp="1"/>
          </p:cNvSpPr>
          <p:nvPr userDrawn="1">
            <p:ph type="pic" sz="quarter" idx="10"/>
          </p:nvPr>
        </p:nvSpPr>
        <p:spPr bwMode="gray">
          <a:xfrm>
            <a:off x="0" y="0"/>
            <a:ext cx="9144000" cy="5148072"/>
          </a:xfrm>
          <a:noFill/>
        </p:spPr>
        <p:txBody>
          <a:bodyPr anchor="ctr" anchorCtr="0">
            <a:normAutofit/>
          </a:bodyPr>
          <a:lstStyle>
            <a:lvl1pPr marL="0" indent="0" algn="ctr">
              <a:buNone/>
              <a:defRPr sz="1400"/>
            </a:lvl1pPr>
          </a:lstStyle>
          <a:p>
            <a:r>
              <a:rPr lang="en-US"/>
              <a:t>Click icon to add picture</a:t>
            </a:r>
            <a:endParaRPr lang="en-US" dirty="0"/>
          </a:p>
        </p:txBody>
      </p:sp>
      <p:sp>
        <p:nvSpPr>
          <p:cNvPr id="17" name="Rectangle 16">
            <a:extLst>
              <a:ext uri="{FF2B5EF4-FFF2-40B4-BE49-F238E27FC236}">
                <a16:creationId xmlns:a16="http://schemas.microsoft.com/office/drawing/2014/main" id="{208DF5EC-8D23-434F-B80A-8F87797486B7}"/>
              </a:ext>
            </a:extLst>
          </p:cNvPr>
          <p:cNvSpPr/>
          <p:nvPr userDrawn="1"/>
        </p:nvSpPr>
        <p:spPr>
          <a:xfrm>
            <a:off x="0" y="0"/>
            <a:ext cx="4955721" cy="5143500"/>
          </a:xfrm>
          <a:prstGeom prst="rect">
            <a:avLst/>
          </a:prstGeom>
          <a:gradFill>
            <a:gsLst>
              <a:gs pos="70000">
                <a:srgbClr val="C4C6C6"/>
              </a:gs>
              <a:gs pos="100000">
                <a:srgbClr val="C4C6C6">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328C941C-8FB0-8544-9272-3C88C8C55759}"/>
              </a:ext>
            </a:extLst>
          </p:cNvPr>
          <p:cNvGrpSpPr/>
          <p:nvPr userDrawn="1"/>
        </p:nvGrpSpPr>
        <p:grpSpPr>
          <a:xfrm>
            <a:off x="484632" y="338328"/>
            <a:ext cx="4480560" cy="4480560"/>
            <a:chOff x="484632" y="338328"/>
            <a:chExt cx="4480560" cy="4480560"/>
          </a:xfrm>
        </p:grpSpPr>
        <p:sp>
          <p:nvSpPr>
            <p:cNvPr id="8" name="Rectangle 7">
              <a:extLst>
                <a:ext uri="{FF2B5EF4-FFF2-40B4-BE49-F238E27FC236}">
                  <a16:creationId xmlns:a16="http://schemas.microsoft.com/office/drawing/2014/main" id="{6D8D0332-5560-CE4F-8F24-3E592108CEAD}"/>
                </a:ext>
              </a:extLst>
            </p:cNvPr>
            <p:cNvSpPr>
              <a:spLocks noChangeArrowheads="1"/>
            </p:cNvSpPr>
            <p:nvPr userDrawn="1"/>
          </p:nvSpPr>
          <p:spPr bwMode="gray">
            <a:xfrm>
              <a:off x="786384" y="338328"/>
              <a:ext cx="4178808" cy="4178808"/>
            </a:xfrm>
            <a:prstGeom prst="rect">
              <a:avLst/>
            </a:prstGeom>
            <a:solidFill>
              <a:srgbClr val="C8102E">
                <a:alpha val="90000"/>
              </a:srgb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4" name="Rectangle 3">
              <a:extLst>
                <a:ext uri="{FF2B5EF4-FFF2-40B4-BE49-F238E27FC236}">
                  <a16:creationId xmlns:a16="http://schemas.microsoft.com/office/drawing/2014/main" id="{730A4470-EEC2-3244-98F7-CDC23B48D372}"/>
                </a:ext>
              </a:extLst>
            </p:cNvPr>
            <p:cNvSpPr/>
            <p:nvPr userDrawn="1"/>
          </p:nvSpPr>
          <p:spPr>
            <a:xfrm>
              <a:off x="484632" y="4517136"/>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userDrawn="1">
            <p:ph type="ctrTitle"/>
          </p:nvPr>
        </p:nvSpPr>
        <p:spPr bwMode="gray">
          <a:xfrm>
            <a:off x="1005840" y="685800"/>
            <a:ext cx="3657600" cy="1371600"/>
          </a:xfrm>
        </p:spPr>
        <p:txBody>
          <a:bodyPr anchor="t" anchorCtr="0">
            <a:noAutofit/>
          </a:bodyPr>
          <a:lstStyle>
            <a:lvl1pPr>
              <a:defRPr sz="2600" baseline="0">
                <a:solidFill>
                  <a:schemeClr val="bg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2285996"/>
            <a:ext cx="3657600" cy="685800"/>
          </a:xfrm>
        </p:spPr>
        <p:txBody>
          <a:bodyPr>
            <a:noAutofit/>
          </a:bodyPr>
          <a:lstStyle>
            <a:lvl1pPr marL="0" indent="0" algn="l">
              <a:lnSpc>
                <a:spcPct val="110000"/>
              </a:lnSpc>
              <a:spcBef>
                <a:spcPts val="0"/>
              </a:spcBef>
              <a:buNone/>
              <a:defRPr sz="1200" b="1"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Icon&#10;&#10;Description automatically generated">
            <a:extLst>
              <a:ext uri="{FF2B5EF4-FFF2-40B4-BE49-F238E27FC236}">
                <a16:creationId xmlns:a16="http://schemas.microsoft.com/office/drawing/2014/main" id="{F75598C8-79BD-B44C-8FE9-D846F1DDEEFD}"/>
              </a:ext>
            </a:extLst>
          </p:cNvPr>
          <p:cNvPicPr>
            <a:picLocks noChangeAspect="1"/>
          </p:cNvPicPr>
          <p:nvPr userDrawn="1"/>
        </p:nvPicPr>
        <p:blipFill>
          <a:blip r:embed="rId2"/>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48956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spTree>
      <p:nvGrpSpPr>
        <p:cNvPr id="1" name=""/>
        <p:cNvGrpSpPr/>
        <p:nvPr/>
      </p:nvGrpSpPr>
      <p:grpSpPr>
        <a:xfrm>
          <a:off x="0" y="0"/>
          <a:ext cx="0" cy="0"/>
          <a:chOff x="0" y="0"/>
          <a:chExt cx="0" cy="0"/>
        </a:xfrm>
      </p:grpSpPr>
      <p:sp>
        <p:nvSpPr>
          <p:cNvPr id="6" name="Picture Placeholder 5"/>
          <p:cNvSpPr>
            <a:spLocks noGrp="1"/>
          </p:cNvSpPr>
          <p:nvPr userDrawn="1">
            <p:ph type="pic" sz="quarter" idx="10"/>
          </p:nvPr>
        </p:nvSpPr>
        <p:spPr bwMode="gray">
          <a:xfrm>
            <a:off x="786384" y="0"/>
            <a:ext cx="8357616" cy="4361688"/>
          </a:xfrm>
          <a:noFill/>
        </p:spPr>
        <p:txBody>
          <a:bodyPr anchor="ctr" anchorCtr="0">
            <a:normAutofit/>
          </a:bodyPr>
          <a:lstStyle>
            <a:lvl1pPr marL="0" indent="0" algn="ctr">
              <a:buNone/>
              <a:defRPr sz="1400"/>
            </a:lvl1pPr>
          </a:lstStyle>
          <a:p>
            <a:r>
              <a:rPr lang="en-US"/>
              <a:t>Click icon to add picture</a:t>
            </a:r>
            <a:endParaRPr lang="en-US" dirty="0"/>
          </a:p>
        </p:txBody>
      </p:sp>
      <p:sp>
        <p:nvSpPr>
          <p:cNvPr id="2" name="Title 1"/>
          <p:cNvSpPr>
            <a:spLocks noGrp="1"/>
          </p:cNvSpPr>
          <p:nvPr userDrawn="1">
            <p:ph type="ctrTitle"/>
          </p:nvPr>
        </p:nvSpPr>
        <p:spPr bwMode="gray">
          <a:xfrm>
            <a:off x="1005840" y="411480"/>
            <a:ext cx="3657600" cy="1371600"/>
          </a:xfrm>
        </p:spPr>
        <p:txBody>
          <a:bodyPr anchor="t" anchorCtr="0">
            <a:noAutofit/>
          </a:bodyPr>
          <a:lstStyle>
            <a:lvl1pPr>
              <a:defRPr sz="2600" baseline="0">
                <a:solidFill>
                  <a:schemeClr val="accent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3520440"/>
            <a:ext cx="3657600" cy="685800"/>
          </a:xfrm>
        </p:spPr>
        <p:txBody>
          <a:bodyPr>
            <a:noAutofit/>
          </a:bodyPr>
          <a:lstStyle>
            <a:lvl1pPr marL="0" indent="0" algn="l">
              <a:lnSpc>
                <a:spcPct val="110000"/>
              </a:lnSpc>
              <a:spcBef>
                <a:spcPts val="0"/>
              </a:spcBef>
              <a:buNone/>
              <a:defRPr sz="1200" b="1"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2865EB1-73B3-AC42-A9ED-052F073622EB}"/>
              </a:ext>
            </a:extLst>
          </p:cNvPr>
          <p:cNvSpPr/>
          <p:nvPr userDrawn="1"/>
        </p:nvSpPr>
        <p:spPr>
          <a:xfrm>
            <a:off x="484632" y="4361688"/>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Icon&#10;&#10;Description automatically generated">
            <a:extLst>
              <a:ext uri="{FF2B5EF4-FFF2-40B4-BE49-F238E27FC236}">
                <a16:creationId xmlns:a16="http://schemas.microsoft.com/office/drawing/2014/main" id="{CED7E1E4-E396-0D4F-9940-1FABB363DEB4}"/>
              </a:ext>
            </a:extLst>
          </p:cNvPr>
          <p:cNvPicPr>
            <a:picLocks noChangeAspect="1"/>
          </p:cNvPicPr>
          <p:nvPr userDrawn="1"/>
        </p:nvPicPr>
        <p:blipFill>
          <a:blip r:embed="rId2"/>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3423579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3">
    <p:spTree>
      <p:nvGrpSpPr>
        <p:cNvPr id="1" name=""/>
        <p:cNvGrpSpPr/>
        <p:nvPr/>
      </p:nvGrpSpPr>
      <p:grpSpPr>
        <a:xfrm>
          <a:off x="0" y="0"/>
          <a:ext cx="0" cy="0"/>
          <a:chOff x="0" y="0"/>
          <a:chExt cx="0" cy="0"/>
        </a:xfrm>
      </p:grpSpPr>
      <p:sp>
        <p:nvSpPr>
          <p:cNvPr id="6" name="Picture Placeholder 5"/>
          <p:cNvSpPr>
            <a:spLocks noGrp="1"/>
          </p:cNvSpPr>
          <p:nvPr userDrawn="1">
            <p:ph type="pic" sz="quarter" idx="10"/>
          </p:nvPr>
        </p:nvSpPr>
        <p:spPr bwMode="gray">
          <a:xfrm>
            <a:off x="786384" y="0"/>
            <a:ext cx="8357616" cy="2560320"/>
          </a:xfrm>
          <a:noFill/>
        </p:spPr>
        <p:txBody>
          <a:bodyPr anchor="ctr" anchorCtr="0">
            <a:normAutofit/>
          </a:bodyPr>
          <a:lstStyle>
            <a:lvl1pPr marL="0" indent="0" algn="ctr">
              <a:buNone/>
              <a:defRPr sz="1400"/>
            </a:lvl1pPr>
          </a:lstStyle>
          <a:p>
            <a:r>
              <a:rPr lang="en-US"/>
              <a:t>Click icon to add picture</a:t>
            </a:r>
            <a:endParaRPr lang="en-US" dirty="0"/>
          </a:p>
        </p:txBody>
      </p:sp>
      <p:sp>
        <p:nvSpPr>
          <p:cNvPr id="2" name="Title 1"/>
          <p:cNvSpPr>
            <a:spLocks noGrp="1"/>
          </p:cNvSpPr>
          <p:nvPr userDrawn="1">
            <p:ph type="ctrTitle"/>
          </p:nvPr>
        </p:nvSpPr>
        <p:spPr bwMode="gray">
          <a:xfrm>
            <a:off x="1005840" y="3044952"/>
            <a:ext cx="3657600" cy="1097280"/>
          </a:xfrm>
        </p:spPr>
        <p:txBody>
          <a:bodyPr anchor="t" anchorCtr="0">
            <a:noAutofit/>
          </a:bodyPr>
          <a:lstStyle>
            <a:lvl1pPr>
              <a:defRPr sz="2600" baseline="0">
                <a:solidFill>
                  <a:schemeClr val="accent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4189909"/>
            <a:ext cx="3657600" cy="685800"/>
          </a:xfrm>
        </p:spPr>
        <p:txBody>
          <a:bodyPr>
            <a:noAutofit/>
          </a:bodyPr>
          <a:lstStyle>
            <a:lvl1pPr marL="0" indent="0" algn="l">
              <a:lnSpc>
                <a:spcPct val="110000"/>
              </a:lnSpc>
              <a:spcBef>
                <a:spcPts val="0"/>
              </a:spcBef>
              <a:buNone/>
              <a:defRPr sz="1200" b="1"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7C646DB-570D-1C4F-B963-2B3EE0B9DF30}"/>
              </a:ext>
            </a:extLst>
          </p:cNvPr>
          <p:cNvSpPr/>
          <p:nvPr userDrawn="1"/>
        </p:nvSpPr>
        <p:spPr>
          <a:xfrm>
            <a:off x="484632" y="2560320"/>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Icon&#10;&#10;Description automatically generated">
            <a:extLst>
              <a:ext uri="{FF2B5EF4-FFF2-40B4-BE49-F238E27FC236}">
                <a16:creationId xmlns:a16="http://schemas.microsoft.com/office/drawing/2014/main" id="{E3187AA1-66BB-F940-A865-91878D05922E}"/>
              </a:ext>
            </a:extLst>
          </p:cNvPr>
          <p:cNvPicPr>
            <a:picLocks noChangeAspect="1"/>
          </p:cNvPicPr>
          <p:nvPr userDrawn="1"/>
        </p:nvPicPr>
        <p:blipFill>
          <a:blip r:embed="rId2"/>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3267242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E -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205558-E694-6246-8351-BE2A4716F9AF}"/>
              </a:ext>
            </a:extLst>
          </p:cNvPr>
          <p:cNvPicPr>
            <a:picLocks noChangeAspect="1"/>
          </p:cNvPicPr>
          <p:nvPr userDrawn="1"/>
        </p:nvPicPr>
        <p:blipFill>
          <a:blip r:embed="rId2"/>
          <a:srcRect/>
          <a:stretch/>
        </p:blipFill>
        <p:spPr>
          <a:xfrm>
            <a:off x="0" y="0"/>
            <a:ext cx="9144000" cy="5143500"/>
          </a:xfrm>
          <a:prstGeom prst="rect">
            <a:avLst/>
          </a:prstGeom>
        </p:spPr>
      </p:pic>
      <p:sp>
        <p:nvSpPr>
          <p:cNvPr id="8" name="Rectangle 7">
            <a:extLst>
              <a:ext uri="{FF2B5EF4-FFF2-40B4-BE49-F238E27FC236}">
                <a16:creationId xmlns:a16="http://schemas.microsoft.com/office/drawing/2014/main" id="{6D8D0332-5560-CE4F-8F24-3E592108CEAD}"/>
              </a:ext>
            </a:extLst>
          </p:cNvPr>
          <p:cNvSpPr>
            <a:spLocks noChangeArrowheads="1"/>
          </p:cNvSpPr>
          <p:nvPr userDrawn="1"/>
        </p:nvSpPr>
        <p:spPr bwMode="gray">
          <a:xfrm>
            <a:off x="786384" y="338328"/>
            <a:ext cx="4178808" cy="4178808"/>
          </a:xfrm>
          <a:prstGeom prst="rect">
            <a:avLst/>
          </a:prstGeom>
          <a:solidFill>
            <a:srgbClr val="C8102E">
              <a:alpha val="90000"/>
            </a:srgb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2" name="Title 1"/>
          <p:cNvSpPr>
            <a:spLocks noGrp="1"/>
          </p:cNvSpPr>
          <p:nvPr userDrawn="1">
            <p:ph type="ctrTitle"/>
          </p:nvPr>
        </p:nvSpPr>
        <p:spPr bwMode="gray">
          <a:xfrm>
            <a:off x="1005840" y="685800"/>
            <a:ext cx="3657600" cy="1371600"/>
          </a:xfrm>
        </p:spPr>
        <p:txBody>
          <a:bodyPr anchor="t" anchorCtr="0">
            <a:noAutofit/>
          </a:bodyPr>
          <a:lstStyle>
            <a:lvl1pPr>
              <a:defRPr sz="2600" baseline="0">
                <a:solidFill>
                  <a:schemeClr val="bg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2285996"/>
            <a:ext cx="3657600" cy="685800"/>
          </a:xfrm>
        </p:spPr>
        <p:txBody>
          <a:bodyPr>
            <a:noAutofit/>
          </a:bodyPr>
          <a:lstStyle>
            <a:lvl1pPr marL="0" indent="0" algn="l">
              <a:lnSpc>
                <a:spcPct val="110000"/>
              </a:lnSpc>
              <a:spcBef>
                <a:spcPts val="0"/>
              </a:spcBef>
              <a:buNone/>
              <a:defRPr sz="1200" b="1"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C229CF4-D02D-164D-B1CC-3890926F04C0}"/>
              </a:ext>
            </a:extLst>
          </p:cNvPr>
          <p:cNvSpPr/>
          <p:nvPr userDrawn="1"/>
        </p:nvSpPr>
        <p:spPr>
          <a:xfrm>
            <a:off x="484632" y="4517136"/>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Icon&#10;&#10;Description automatically generated">
            <a:extLst>
              <a:ext uri="{FF2B5EF4-FFF2-40B4-BE49-F238E27FC236}">
                <a16:creationId xmlns:a16="http://schemas.microsoft.com/office/drawing/2014/main" id="{C9895328-C1B8-2543-B1B4-F9E4D2BF0AF7}"/>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328703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E - 0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3319CA-691F-EE44-94CB-D645E89C2F17}"/>
              </a:ext>
            </a:extLst>
          </p:cNvPr>
          <p:cNvPicPr>
            <a:picLocks noChangeAspect="1"/>
          </p:cNvPicPr>
          <p:nvPr userDrawn="1"/>
        </p:nvPicPr>
        <p:blipFill>
          <a:blip r:embed="rId2"/>
          <a:srcRect/>
          <a:stretch/>
        </p:blipFill>
        <p:spPr>
          <a:xfrm>
            <a:off x="787400" y="0"/>
            <a:ext cx="8366759" cy="4361396"/>
          </a:xfrm>
          <a:prstGeom prst="rect">
            <a:avLst/>
          </a:prstGeom>
        </p:spPr>
      </p:pic>
      <p:sp>
        <p:nvSpPr>
          <p:cNvPr id="2" name="Title 1"/>
          <p:cNvSpPr>
            <a:spLocks noGrp="1"/>
          </p:cNvSpPr>
          <p:nvPr userDrawn="1">
            <p:ph type="ctrTitle"/>
          </p:nvPr>
        </p:nvSpPr>
        <p:spPr bwMode="gray">
          <a:xfrm>
            <a:off x="1005840" y="411480"/>
            <a:ext cx="3657600" cy="1371600"/>
          </a:xfrm>
        </p:spPr>
        <p:txBody>
          <a:bodyPr anchor="t" anchorCtr="0">
            <a:noAutofit/>
          </a:bodyPr>
          <a:lstStyle>
            <a:lvl1pPr>
              <a:defRPr sz="2600" baseline="0">
                <a:solidFill>
                  <a:schemeClr val="accent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3520440"/>
            <a:ext cx="3657600" cy="685800"/>
          </a:xfrm>
        </p:spPr>
        <p:txBody>
          <a:bodyPr>
            <a:noAutofit/>
          </a:bodyPr>
          <a:lstStyle>
            <a:lvl1pPr marL="0" indent="0" algn="l">
              <a:lnSpc>
                <a:spcPct val="110000"/>
              </a:lnSpc>
              <a:spcBef>
                <a:spcPts val="0"/>
              </a:spcBef>
              <a:buNone/>
              <a:defRPr sz="1200" b="1"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ECD164-EE49-3B46-86A8-91306ED73DBA}"/>
              </a:ext>
            </a:extLst>
          </p:cNvPr>
          <p:cNvSpPr/>
          <p:nvPr userDrawn="1"/>
        </p:nvSpPr>
        <p:spPr>
          <a:xfrm>
            <a:off x="484632" y="4361688"/>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Icon&#10;&#10;Description automatically generated">
            <a:extLst>
              <a:ext uri="{FF2B5EF4-FFF2-40B4-BE49-F238E27FC236}">
                <a16:creationId xmlns:a16="http://schemas.microsoft.com/office/drawing/2014/main" id="{BB96E3C1-5BF7-7443-8CD9-4E21FCBA4C42}"/>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2130077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E - 0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205558-E694-6246-8351-BE2A4716F9AF}"/>
              </a:ext>
            </a:extLst>
          </p:cNvPr>
          <p:cNvPicPr>
            <a:picLocks noChangeAspect="1"/>
          </p:cNvPicPr>
          <p:nvPr userDrawn="1"/>
        </p:nvPicPr>
        <p:blipFill>
          <a:blip r:embed="rId2"/>
          <a:srcRect/>
          <a:stretch/>
        </p:blipFill>
        <p:spPr>
          <a:xfrm>
            <a:off x="0" y="0"/>
            <a:ext cx="9144000" cy="5143500"/>
          </a:xfrm>
          <a:prstGeom prst="rect">
            <a:avLst/>
          </a:prstGeom>
        </p:spPr>
      </p:pic>
      <p:sp>
        <p:nvSpPr>
          <p:cNvPr id="8" name="Rectangle 7">
            <a:extLst>
              <a:ext uri="{FF2B5EF4-FFF2-40B4-BE49-F238E27FC236}">
                <a16:creationId xmlns:a16="http://schemas.microsoft.com/office/drawing/2014/main" id="{6D8D0332-5560-CE4F-8F24-3E592108CEAD}"/>
              </a:ext>
            </a:extLst>
          </p:cNvPr>
          <p:cNvSpPr>
            <a:spLocks noChangeArrowheads="1"/>
          </p:cNvSpPr>
          <p:nvPr userDrawn="1"/>
        </p:nvSpPr>
        <p:spPr bwMode="gray">
          <a:xfrm>
            <a:off x="786384" y="338328"/>
            <a:ext cx="4178808" cy="4178808"/>
          </a:xfrm>
          <a:prstGeom prst="rect">
            <a:avLst/>
          </a:prstGeom>
          <a:solidFill>
            <a:srgbClr val="C8102E">
              <a:alpha val="90000"/>
            </a:srgb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2" name="Title 1"/>
          <p:cNvSpPr>
            <a:spLocks noGrp="1"/>
          </p:cNvSpPr>
          <p:nvPr userDrawn="1">
            <p:ph type="ctrTitle"/>
          </p:nvPr>
        </p:nvSpPr>
        <p:spPr bwMode="gray">
          <a:xfrm>
            <a:off x="1005840" y="685800"/>
            <a:ext cx="3657600" cy="1371600"/>
          </a:xfrm>
        </p:spPr>
        <p:txBody>
          <a:bodyPr anchor="t" anchorCtr="0">
            <a:noAutofit/>
          </a:bodyPr>
          <a:lstStyle>
            <a:lvl1pPr>
              <a:defRPr sz="2600" baseline="0">
                <a:solidFill>
                  <a:schemeClr val="bg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2285996"/>
            <a:ext cx="3657600" cy="685800"/>
          </a:xfrm>
        </p:spPr>
        <p:txBody>
          <a:bodyPr>
            <a:noAutofit/>
          </a:bodyPr>
          <a:lstStyle>
            <a:lvl1pPr marL="0" indent="0" algn="l">
              <a:lnSpc>
                <a:spcPct val="110000"/>
              </a:lnSpc>
              <a:spcBef>
                <a:spcPts val="0"/>
              </a:spcBef>
              <a:buNone/>
              <a:defRPr sz="1200" b="1"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307D505-78BA-9E41-AFD5-F3867B260D77}"/>
              </a:ext>
            </a:extLst>
          </p:cNvPr>
          <p:cNvSpPr/>
          <p:nvPr userDrawn="1"/>
        </p:nvSpPr>
        <p:spPr>
          <a:xfrm>
            <a:off x="484632" y="4517136"/>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Logo, company name&#10;&#10;Description automatically generated">
            <a:extLst>
              <a:ext uri="{FF2B5EF4-FFF2-40B4-BE49-F238E27FC236}">
                <a16:creationId xmlns:a16="http://schemas.microsoft.com/office/drawing/2014/main" id="{BAEB68AF-CBF9-2949-A9F5-28C5496CAB1E}"/>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2217140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Plus -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205558-E694-6246-8351-BE2A4716F9AF}"/>
              </a:ext>
            </a:extLst>
          </p:cNvPr>
          <p:cNvPicPr>
            <a:picLocks noChangeAspect="1"/>
          </p:cNvPicPr>
          <p:nvPr userDrawn="1"/>
        </p:nvPicPr>
        <p:blipFill>
          <a:blip r:embed="rId2"/>
          <a:srcRect/>
          <a:stretch/>
        </p:blipFill>
        <p:spPr>
          <a:xfrm>
            <a:off x="0" y="0"/>
            <a:ext cx="9144000" cy="5143500"/>
          </a:xfrm>
          <a:prstGeom prst="rect">
            <a:avLst/>
          </a:prstGeom>
        </p:spPr>
      </p:pic>
      <p:sp>
        <p:nvSpPr>
          <p:cNvPr id="8" name="Rectangle 7">
            <a:extLst>
              <a:ext uri="{FF2B5EF4-FFF2-40B4-BE49-F238E27FC236}">
                <a16:creationId xmlns:a16="http://schemas.microsoft.com/office/drawing/2014/main" id="{6D8D0332-5560-CE4F-8F24-3E592108CEAD}"/>
              </a:ext>
            </a:extLst>
          </p:cNvPr>
          <p:cNvSpPr>
            <a:spLocks noChangeArrowheads="1"/>
          </p:cNvSpPr>
          <p:nvPr userDrawn="1"/>
        </p:nvSpPr>
        <p:spPr bwMode="gray">
          <a:xfrm>
            <a:off x="786384" y="338328"/>
            <a:ext cx="4178808" cy="4178808"/>
          </a:xfrm>
          <a:prstGeom prst="rect">
            <a:avLst/>
          </a:prstGeom>
          <a:solidFill>
            <a:srgbClr val="C8102E">
              <a:alpha val="90000"/>
            </a:srgb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2" name="Title 1"/>
          <p:cNvSpPr>
            <a:spLocks noGrp="1"/>
          </p:cNvSpPr>
          <p:nvPr userDrawn="1">
            <p:ph type="ctrTitle"/>
          </p:nvPr>
        </p:nvSpPr>
        <p:spPr bwMode="gray">
          <a:xfrm>
            <a:off x="1005840" y="685800"/>
            <a:ext cx="3657600" cy="1371600"/>
          </a:xfrm>
        </p:spPr>
        <p:txBody>
          <a:bodyPr anchor="t" anchorCtr="0">
            <a:noAutofit/>
          </a:bodyPr>
          <a:lstStyle>
            <a:lvl1pPr>
              <a:defRPr sz="2600" baseline="0">
                <a:solidFill>
                  <a:schemeClr val="bg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2285996"/>
            <a:ext cx="3657600" cy="685800"/>
          </a:xfrm>
        </p:spPr>
        <p:txBody>
          <a:bodyPr>
            <a:noAutofit/>
          </a:bodyPr>
          <a:lstStyle>
            <a:lvl1pPr marL="0" indent="0" algn="l">
              <a:lnSpc>
                <a:spcPct val="110000"/>
              </a:lnSpc>
              <a:spcBef>
                <a:spcPts val="0"/>
              </a:spcBef>
              <a:buNone/>
              <a:defRPr sz="1200" b="1"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F108C-ED8C-164D-ADC0-D6142D7EB718}"/>
              </a:ext>
            </a:extLst>
          </p:cNvPr>
          <p:cNvSpPr/>
          <p:nvPr userDrawn="1"/>
        </p:nvSpPr>
        <p:spPr>
          <a:xfrm>
            <a:off x="484632" y="4517136"/>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Icon&#10;&#10;Description automatically generated">
            <a:extLst>
              <a:ext uri="{FF2B5EF4-FFF2-40B4-BE49-F238E27FC236}">
                <a16:creationId xmlns:a16="http://schemas.microsoft.com/office/drawing/2014/main" id="{67C46DA5-9099-444D-B50C-E9D0A79A7662}"/>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3770022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Plus - 0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3319CA-691F-EE44-94CB-D645E89C2F17}"/>
              </a:ext>
            </a:extLst>
          </p:cNvPr>
          <p:cNvPicPr>
            <a:picLocks noChangeAspect="1"/>
          </p:cNvPicPr>
          <p:nvPr userDrawn="1"/>
        </p:nvPicPr>
        <p:blipFill>
          <a:blip r:embed="rId2"/>
          <a:srcRect/>
          <a:stretch/>
        </p:blipFill>
        <p:spPr>
          <a:xfrm>
            <a:off x="787400" y="0"/>
            <a:ext cx="8366759" cy="4361395"/>
          </a:xfrm>
          <a:prstGeom prst="rect">
            <a:avLst/>
          </a:prstGeom>
        </p:spPr>
      </p:pic>
      <p:sp>
        <p:nvSpPr>
          <p:cNvPr id="2" name="Title 1"/>
          <p:cNvSpPr>
            <a:spLocks noGrp="1"/>
          </p:cNvSpPr>
          <p:nvPr userDrawn="1">
            <p:ph type="ctrTitle"/>
          </p:nvPr>
        </p:nvSpPr>
        <p:spPr bwMode="gray">
          <a:xfrm>
            <a:off x="1005840" y="411480"/>
            <a:ext cx="3657600" cy="1371600"/>
          </a:xfrm>
        </p:spPr>
        <p:txBody>
          <a:bodyPr anchor="t" anchorCtr="0">
            <a:noAutofit/>
          </a:bodyPr>
          <a:lstStyle>
            <a:lvl1pPr>
              <a:defRPr sz="2600" baseline="0">
                <a:solidFill>
                  <a:schemeClr val="accent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3520440"/>
            <a:ext cx="3657600" cy="685800"/>
          </a:xfrm>
        </p:spPr>
        <p:txBody>
          <a:bodyPr>
            <a:noAutofit/>
          </a:bodyPr>
          <a:lstStyle>
            <a:lvl1pPr marL="0" indent="0" algn="l">
              <a:lnSpc>
                <a:spcPct val="110000"/>
              </a:lnSpc>
              <a:spcBef>
                <a:spcPts val="0"/>
              </a:spcBef>
              <a:buNone/>
              <a:defRPr sz="1200" b="1"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DDC768-DAEF-3E42-80C6-E7A1D3CA90EA}"/>
              </a:ext>
            </a:extLst>
          </p:cNvPr>
          <p:cNvSpPr/>
          <p:nvPr userDrawn="1"/>
        </p:nvSpPr>
        <p:spPr>
          <a:xfrm>
            <a:off x="484632" y="4361688"/>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Icon&#10;&#10;Description automatically generated">
            <a:extLst>
              <a:ext uri="{FF2B5EF4-FFF2-40B4-BE49-F238E27FC236}">
                <a16:creationId xmlns:a16="http://schemas.microsoft.com/office/drawing/2014/main" id="{EC228387-7219-754F-BBBB-F161E3029DEB}"/>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3257487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Plus - 0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205558-E694-6246-8351-BE2A4716F9AF}"/>
              </a:ext>
            </a:extLst>
          </p:cNvPr>
          <p:cNvPicPr>
            <a:picLocks noChangeAspect="1"/>
          </p:cNvPicPr>
          <p:nvPr userDrawn="1"/>
        </p:nvPicPr>
        <p:blipFill>
          <a:blip r:embed="rId2"/>
          <a:srcRect/>
          <a:stretch/>
        </p:blipFill>
        <p:spPr>
          <a:xfrm>
            <a:off x="0" y="0"/>
            <a:ext cx="9144000" cy="5143500"/>
          </a:xfrm>
          <a:prstGeom prst="rect">
            <a:avLst/>
          </a:prstGeom>
        </p:spPr>
      </p:pic>
      <p:sp>
        <p:nvSpPr>
          <p:cNvPr id="8" name="Rectangle 7">
            <a:extLst>
              <a:ext uri="{FF2B5EF4-FFF2-40B4-BE49-F238E27FC236}">
                <a16:creationId xmlns:a16="http://schemas.microsoft.com/office/drawing/2014/main" id="{6D8D0332-5560-CE4F-8F24-3E592108CEAD}"/>
              </a:ext>
            </a:extLst>
          </p:cNvPr>
          <p:cNvSpPr>
            <a:spLocks noChangeArrowheads="1"/>
          </p:cNvSpPr>
          <p:nvPr userDrawn="1"/>
        </p:nvSpPr>
        <p:spPr bwMode="gray">
          <a:xfrm>
            <a:off x="786384" y="338328"/>
            <a:ext cx="4178808" cy="4178808"/>
          </a:xfrm>
          <a:prstGeom prst="rect">
            <a:avLst/>
          </a:prstGeom>
          <a:solidFill>
            <a:srgbClr val="C8102E">
              <a:alpha val="90000"/>
            </a:srgb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2" name="Title 1"/>
          <p:cNvSpPr>
            <a:spLocks noGrp="1"/>
          </p:cNvSpPr>
          <p:nvPr userDrawn="1">
            <p:ph type="ctrTitle"/>
          </p:nvPr>
        </p:nvSpPr>
        <p:spPr bwMode="gray">
          <a:xfrm>
            <a:off x="1005840" y="685800"/>
            <a:ext cx="3657600" cy="1371600"/>
          </a:xfrm>
        </p:spPr>
        <p:txBody>
          <a:bodyPr anchor="t" anchorCtr="0">
            <a:noAutofit/>
          </a:bodyPr>
          <a:lstStyle>
            <a:lvl1pPr>
              <a:defRPr sz="2600" baseline="0">
                <a:solidFill>
                  <a:schemeClr val="bg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2285996"/>
            <a:ext cx="3657600" cy="685800"/>
          </a:xfrm>
        </p:spPr>
        <p:txBody>
          <a:bodyPr>
            <a:noAutofit/>
          </a:bodyPr>
          <a:lstStyle>
            <a:lvl1pPr marL="0" indent="0" algn="l">
              <a:lnSpc>
                <a:spcPct val="110000"/>
              </a:lnSpc>
              <a:spcBef>
                <a:spcPts val="0"/>
              </a:spcBef>
              <a:buNone/>
              <a:defRPr sz="1200" b="1"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6D267A7-D1A2-CD43-AF45-759A6B811D37}"/>
              </a:ext>
            </a:extLst>
          </p:cNvPr>
          <p:cNvSpPr/>
          <p:nvPr userDrawn="1"/>
        </p:nvSpPr>
        <p:spPr>
          <a:xfrm>
            <a:off x="484632" y="4517136"/>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Logo, company name&#10;&#10;Description automatically generated">
            <a:extLst>
              <a:ext uri="{FF2B5EF4-FFF2-40B4-BE49-F238E27FC236}">
                <a16:creationId xmlns:a16="http://schemas.microsoft.com/office/drawing/2014/main" id="{AFC415BB-2A32-2347-A1B0-A78E1A12445D}"/>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2635994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Arrow -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205558-E694-6246-8351-BE2A4716F9AF}"/>
              </a:ext>
            </a:extLst>
          </p:cNvPr>
          <p:cNvPicPr>
            <a:picLocks noChangeAspect="1"/>
          </p:cNvPicPr>
          <p:nvPr userDrawn="1"/>
        </p:nvPicPr>
        <p:blipFill>
          <a:blip r:embed="rId2"/>
          <a:srcRect/>
          <a:stretch/>
        </p:blipFill>
        <p:spPr>
          <a:xfrm>
            <a:off x="0" y="0"/>
            <a:ext cx="9144000" cy="5143500"/>
          </a:xfrm>
          <a:prstGeom prst="rect">
            <a:avLst/>
          </a:prstGeom>
        </p:spPr>
      </p:pic>
      <p:sp>
        <p:nvSpPr>
          <p:cNvPr id="8" name="Rectangle 7">
            <a:extLst>
              <a:ext uri="{FF2B5EF4-FFF2-40B4-BE49-F238E27FC236}">
                <a16:creationId xmlns:a16="http://schemas.microsoft.com/office/drawing/2014/main" id="{6D8D0332-5560-CE4F-8F24-3E592108CEAD}"/>
              </a:ext>
            </a:extLst>
          </p:cNvPr>
          <p:cNvSpPr>
            <a:spLocks noChangeArrowheads="1"/>
          </p:cNvSpPr>
          <p:nvPr userDrawn="1"/>
        </p:nvSpPr>
        <p:spPr bwMode="gray">
          <a:xfrm>
            <a:off x="786384" y="338328"/>
            <a:ext cx="4178808" cy="4178808"/>
          </a:xfrm>
          <a:prstGeom prst="rect">
            <a:avLst/>
          </a:prstGeom>
          <a:solidFill>
            <a:srgbClr val="C8102E">
              <a:alpha val="90000"/>
            </a:srgb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2" name="Title 1"/>
          <p:cNvSpPr>
            <a:spLocks noGrp="1"/>
          </p:cNvSpPr>
          <p:nvPr userDrawn="1">
            <p:ph type="ctrTitle"/>
          </p:nvPr>
        </p:nvSpPr>
        <p:spPr bwMode="gray">
          <a:xfrm>
            <a:off x="1005840" y="685800"/>
            <a:ext cx="3657600" cy="1371600"/>
          </a:xfrm>
        </p:spPr>
        <p:txBody>
          <a:bodyPr anchor="t" anchorCtr="0">
            <a:noAutofit/>
          </a:bodyPr>
          <a:lstStyle>
            <a:lvl1pPr>
              <a:defRPr sz="2600" baseline="0">
                <a:solidFill>
                  <a:schemeClr val="bg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2285996"/>
            <a:ext cx="3657600" cy="685800"/>
          </a:xfrm>
        </p:spPr>
        <p:txBody>
          <a:bodyPr>
            <a:noAutofit/>
          </a:bodyPr>
          <a:lstStyle>
            <a:lvl1pPr marL="0" indent="0" algn="l">
              <a:lnSpc>
                <a:spcPct val="110000"/>
              </a:lnSpc>
              <a:spcBef>
                <a:spcPts val="0"/>
              </a:spcBef>
              <a:buNone/>
              <a:defRPr sz="1200" b="1"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731D899-F6C5-AF48-9843-654D91AD0D46}"/>
              </a:ext>
            </a:extLst>
          </p:cNvPr>
          <p:cNvSpPr/>
          <p:nvPr userDrawn="1"/>
        </p:nvSpPr>
        <p:spPr>
          <a:xfrm>
            <a:off x="484632" y="4517136"/>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Icon&#10;&#10;Description automatically generated">
            <a:extLst>
              <a:ext uri="{FF2B5EF4-FFF2-40B4-BE49-F238E27FC236}">
                <a16:creationId xmlns:a16="http://schemas.microsoft.com/office/drawing/2014/main" id="{5B69E309-6D14-D64E-9D5E-4989669310B1}"/>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1820474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Arrow - 0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3319CA-691F-EE44-94CB-D645E89C2F17}"/>
              </a:ext>
            </a:extLst>
          </p:cNvPr>
          <p:cNvPicPr>
            <a:picLocks noChangeAspect="1"/>
          </p:cNvPicPr>
          <p:nvPr userDrawn="1"/>
        </p:nvPicPr>
        <p:blipFill>
          <a:blip r:embed="rId2"/>
          <a:srcRect/>
          <a:stretch/>
        </p:blipFill>
        <p:spPr>
          <a:xfrm>
            <a:off x="787400" y="0"/>
            <a:ext cx="8366759" cy="4361395"/>
          </a:xfrm>
          <a:prstGeom prst="rect">
            <a:avLst/>
          </a:prstGeom>
        </p:spPr>
      </p:pic>
      <p:sp>
        <p:nvSpPr>
          <p:cNvPr id="2" name="Title 1"/>
          <p:cNvSpPr>
            <a:spLocks noGrp="1"/>
          </p:cNvSpPr>
          <p:nvPr userDrawn="1">
            <p:ph type="ctrTitle"/>
          </p:nvPr>
        </p:nvSpPr>
        <p:spPr bwMode="gray">
          <a:xfrm>
            <a:off x="1005840" y="411480"/>
            <a:ext cx="3657600" cy="1371600"/>
          </a:xfrm>
        </p:spPr>
        <p:txBody>
          <a:bodyPr anchor="t" anchorCtr="0">
            <a:noAutofit/>
          </a:bodyPr>
          <a:lstStyle>
            <a:lvl1pPr>
              <a:defRPr sz="2600" baseline="0">
                <a:solidFill>
                  <a:schemeClr val="accent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3520440"/>
            <a:ext cx="3657600" cy="685800"/>
          </a:xfrm>
        </p:spPr>
        <p:txBody>
          <a:bodyPr>
            <a:noAutofit/>
          </a:bodyPr>
          <a:lstStyle>
            <a:lvl1pPr marL="0" indent="0" algn="l">
              <a:lnSpc>
                <a:spcPct val="110000"/>
              </a:lnSpc>
              <a:spcBef>
                <a:spcPts val="0"/>
              </a:spcBef>
              <a:buNone/>
              <a:defRPr sz="1200" b="1"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3AAFCE-220D-6E45-98E7-1965708E3F87}"/>
              </a:ext>
            </a:extLst>
          </p:cNvPr>
          <p:cNvSpPr/>
          <p:nvPr userDrawn="1"/>
        </p:nvSpPr>
        <p:spPr>
          <a:xfrm>
            <a:off x="484632" y="4361688"/>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Icon&#10;&#10;Description automatically generated">
            <a:extLst>
              <a:ext uri="{FF2B5EF4-FFF2-40B4-BE49-F238E27FC236}">
                <a16:creationId xmlns:a16="http://schemas.microsoft.com/office/drawing/2014/main" id="{CAD44F3A-06E2-BA44-99ED-5FED8610D7E4}"/>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3604908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Pattern Arrow - 0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205558-E694-6246-8351-BE2A4716F9AF}"/>
              </a:ext>
            </a:extLst>
          </p:cNvPr>
          <p:cNvPicPr>
            <a:picLocks noChangeAspect="1"/>
          </p:cNvPicPr>
          <p:nvPr userDrawn="1"/>
        </p:nvPicPr>
        <p:blipFill>
          <a:blip r:embed="rId2"/>
          <a:srcRect/>
          <a:stretch/>
        </p:blipFill>
        <p:spPr>
          <a:xfrm>
            <a:off x="0" y="0"/>
            <a:ext cx="9144000" cy="5143500"/>
          </a:xfrm>
          <a:prstGeom prst="rect">
            <a:avLst/>
          </a:prstGeom>
        </p:spPr>
      </p:pic>
      <p:sp>
        <p:nvSpPr>
          <p:cNvPr id="8" name="Rectangle 7">
            <a:extLst>
              <a:ext uri="{FF2B5EF4-FFF2-40B4-BE49-F238E27FC236}">
                <a16:creationId xmlns:a16="http://schemas.microsoft.com/office/drawing/2014/main" id="{6D8D0332-5560-CE4F-8F24-3E592108CEAD}"/>
              </a:ext>
            </a:extLst>
          </p:cNvPr>
          <p:cNvSpPr>
            <a:spLocks noChangeArrowheads="1"/>
          </p:cNvSpPr>
          <p:nvPr userDrawn="1"/>
        </p:nvSpPr>
        <p:spPr bwMode="gray">
          <a:xfrm>
            <a:off x="786384" y="338328"/>
            <a:ext cx="4178808" cy="4178808"/>
          </a:xfrm>
          <a:prstGeom prst="rect">
            <a:avLst/>
          </a:prstGeom>
          <a:solidFill>
            <a:srgbClr val="C8102E">
              <a:alpha val="90000"/>
            </a:srgb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2" name="Title 1"/>
          <p:cNvSpPr>
            <a:spLocks noGrp="1"/>
          </p:cNvSpPr>
          <p:nvPr userDrawn="1">
            <p:ph type="ctrTitle"/>
          </p:nvPr>
        </p:nvSpPr>
        <p:spPr bwMode="gray">
          <a:xfrm>
            <a:off x="1005840" y="685800"/>
            <a:ext cx="3657600" cy="1371600"/>
          </a:xfrm>
        </p:spPr>
        <p:txBody>
          <a:bodyPr anchor="t" anchorCtr="0">
            <a:noAutofit/>
          </a:bodyPr>
          <a:lstStyle>
            <a:lvl1pPr>
              <a:defRPr sz="2600" baseline="0">
                <a:solidFill>
                  <a:schemeClr val="bg1"/>
                </a:solidFill>
              </a:defRPr>
            </a:lvl1pPr>
          </a:lstStyle>
          <a:p>
            <a:r>
              <a:rPr lang="en-US"/>
              <a:t>Click to edit Master title style</a:t>
            </a:r>
            <a:endParaRPr lang="en-US" dirty="0"/>
          </a:p>
        </p:txBody>
      </p:sp>
      <p:sp>
        <p:nvSpPr>
          <p:cNvPr id="3" name="Subtitle 2"/>
          <p:cNvSpPr>
            <a:spLocks noGrp="1"/>
          </p:cNvSpPr>
          <p:nvPr userDrawn="1">
            <p:ph type="subTitle" idx="1"/>
          </p:nvPr>
        </p:nvSpPr>
        <p:spPr bwMode="gray">
          <a:xfrm>
            <a:off x="1005840" y="2285996"/>
            <a:ext cx="3657600" cy="685800"/>
          </a:xfrm>
        </p:spPr>
        <p:txBody>
          <a:bodyPr>
            <a:noAutofit/>
          </a:bodyPr>
          <a:lstStyle>
            <a:lvl1pPr marL="0" indent="0" algn="l">
              <a:lnSpc>
                <a:spcPct val="110000"/>
              </a:lnSpc>
              <a:spcBef>
                <a:spcPts val="0"/>
              </a:spcBef>
              <a:buNone/>
              <a:defRPr sz="1200" b="1"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Rectangle 10"/>
          <p:cNvSpPr/>
          <p:nvPr userDrawn="1"/>
        </p:nvSpPr>
        <p:spPr bwMode="gray">
          <a:xfrm>
            <a:off x="0" y="0"/>
            <a:ext cx="9144000" cy="5143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CE3E418-21D4-4243-899A-F3B3256B5150}"/>
              </a:ext>
            </a:extLst>
          </p:cNvPr>
          <p:cNvSpPr/>
          <p:nvPr userDrawn="1"/>
        </p:nvSpPr>
        <p:spPr>
          <a:xfrm>
            <a:off x="484632" y="4517136"/>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Logo, company name&#10;&#10;Description automatically generated">
            <a:extLst>
              <a:ext uri="{FF2B5EF4-FFF2-40B4-BE49-F238E27FC236}">
                <a16:creationId xmlns:a16="http://schemas.microsoft.com/office/drawing/2014/main" id="{08223B33-DFBC-C140-9413-22339E337E93}"/>
              </a:ext>
            </a:extLst>
          </p:cNvPr>
          <p:cNvPicPr>
            <a:picLocks noChangeAspect="1"/>
          </p:cNvPicPr>
          <p:nvPr userDrawn="1"/>
        </p:nvPicPr>
        <p:blipFill>
          <a:blip r:embed="rId3"/>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4250855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
        <p:nvSpPr>
          <p:cNvPr id="3" name="Content Placeholder 2"/>
          <p:cNvSpPr>
            <a:spLocks noGrp="1"/>
          </p:cNvSpPr>
          <p:nvPr>
            <p:ph idx="1"/>
          </p:nvPr>
        </p:nvSpPr>
        <p:spPr bwMode="gray"/>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bwMode="gray"/>
        <p:txBody>
          <a:bodyPr/>
          <a:lstStyle/>
          <a:p>
            <a:r>
              <a:rPr lang="en-US"/>
              <a:t>Month 00, 0000</a:t>
            </a:r>
          </a:p>
        </p:txBody>
      </p:sp>
      <p:sp>
        <p:nvSpPr>
          <p:cNvPr id="5" name="Footer Placeholder 4"/>
          <p:cNvSpPr>
            <a:spLocks noGrp="1"/>
          </p:cNvSpPr>
          <p:nvPr>
            <p:ph type="ftr" sz="quarter" idx="11"/>
          </p:nvPr>
        </p:nvSpPr>
        <p:spPr bwMode="gray"/>
        <p:txBody>
          <a:bodyPr/>
          <a:lstStyle/>
          <a:p>
            <a:endParaRPr lang="en-US"/>
          </a:p>
        </p:txBody>
      </p:sp>
      <p:sp>
        <p:nvSpPr>
          <p:cNvPr id="6" name="Slide Number Placeholder 5"/>
          <p:cNvSpPr>
            <a:spLocks noGrp="1"/>
          </p:cNvSpPr>
          <p:nvPr>
            <p:ph type="sldNum" sz="quarter" idx="12"/>
          </p:nvPr>
        </p:nvSpPr>
        <p:spPr bwMode="gray"/>
        <p:txBody>
          <a:bodyPr/>
          <a:lstStyle/>
          <a:p>
            <a:fld id="{CDBA9528-BCFE-1E43-A37D-912FF3C527A6}" type="slidenum">
              <a:rPr lang="en-US" smtClean="0"/>
              <a:pPr/>
              <a:t>‹#›</a:t>
            </a:fld>
            <a:endParaRPr lang="en-US"/>
          </a:p>
        </p:txBody>
      </p:sp>
    </p:spTree>
    <p:extLst>
      <p:ext uri="{BB962C8B-B14F-4D97-AF65-F5344CB8AC3E}">
        <p14:creationId xmlns:p14="http://schemas.microsoft.com/office/powerpoint/2010/main" val="3765930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48640" y="310896"/>
            <a:ext cx="8046720" cy="685800"/>
          </a:xfrm>
        </p:spPr>
        <p:txBody>
          <a:bodyPr/>
          <a:lstStyle/>
          <a:p>
            <a:r>
              <a:rPr lang="en-US"/>
              <a:t>Click to edit Master title style</a:t>
            </a:r>
            <a:endParaRPr lang="en-US" dirty="0"/>
          </a:p>
        </p:txBody>
      </p:sp>
      <p:sp>
        <p:nvSpPr>
          <p:cNvPr id="3" name="Content Placeholder 2"/>
          <p:cNvSpPr>
            <a:spLocks noGrp="1"/>
          </p:cNvSpPr>
          <p:nvPr>
            <p:ph sz="half" idx="1" hasCustomPrompt="1"/>
          </p:nvPr>
        </p:nvSpPr>
        <p:spPr bwMode="gray">
          <a:xfrm>
            <a:off x="548640" y="1188720"/>
            <a:ext cx="3931920" cy="3474720"/>
          </a:xfrm>
        </p:spPr>
        <p:txBody>
          <a:bodyPr>
            <a:noAutofit/>
          </a:bodyPr>
          <a:lstStyle>
            <a:lvl1pPr>
              <a:defRPr sz="1400" baseline="0"/>
            </a:lvl1pPr>
            <a:lvl2pPr>
              <a:defRPr sz="1400" baseline="0"/>
            </a:lvl2pPr>
            <a:lvl3pPr>
              <a:defRPr sz="1400" baseline="0"/>
            </a:lvl3pPr>
            <a:lvl4pPr>
              <a:defRPr sz="1400" baseline="0"/>
            </a:lvl4pPr>
            <a:lvl5pPr>
              <a:defRPr sz="1400" baseline="0"/>
            </a:lvl5pPr>
            <a:lvl6pPr>
              <a:defRPr sz="1800"/>
            </a:lvl6pPr>
            <a:lvl7pPr>
              <a:defRPr sz="1800"/>
            </a:lvl7pPr>
            <a:lvl8pPr>
              <a:defRPr sz="1800"/>
            </a:lvl8pPr>
            <a:lvl9pPr>
              <a:defRPr sz="18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bwMode="gray">
          <a:xfrm>
            <a:off x="4663440" y="1188720"/>
            <a:ext cx="3931920" cy="3474720"/>
          </a:xfrm>
        </p:spPr>
        <p:txBody>
          <a:bodyPr>
            <a:noAutofit/>
          </a:bodyPr>
          <a:lstStyle>
            <a:lvl1pPr>
              <a:defRPr sz="1400"/>
            </a:lvl1pPr>
            <a:lvl2pPr>
              <a:defRPr sz="14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bwMode="gray"/>
        <p:txBody>
          <a:bodyPr/>
          <a:lstStyle/>
          <a:p>
            <a:r>
              <a:rPr lang="en-US"/>
              <a:t>Month 00, 0000</a:t>
            </a:r>
          </a:p>
        </p:txBody>
      </p:sp>
      <p:sp>
        <p:nvSpPr>
          <p:cNvPr id="6" name="Footer Placeholder 5"/>
          <p:cNvSpPr>
            <a:spLocks noGrp="1"/>
          </p:cNvSpPr>
          <p:nvPr>
            <p:ph type="ftr" sz="quarter" idx="11"/>
          </p:nvPr>
        </p:nvSpPr>
        <p:spPr bwMode="gray"/>
        <p:txBody>
          <a:bodyPr/>
          <a:lstStyle/>
          <a:p>
            <a:endParaRPr lang="en-US"/>
          </a:p>
        </p:txBody>
      </p:sp>
      <p:sp>
        <p:nvSpPr>
          <p:cNvPr id="7" name="Slide Number Placeholder 6"/>
          <p:cNvSpPr>
            <a:spLocks noGrp="1"/>
          </p:cNvSpPr>
          <p:nvPr>
            <p:ph type="sldNum" sz="quarter" idx="12"/>
          </p:nvPr>
        </p:nvSpPr>
        <p:spPr bwMode="gray"/>
        <p:txBody>
          <a:bodyPr/>
          <a:lstStyle/>
          <a:p>
            <a:fld id="{CDBA9528-BCFE-1E43-A37D-912FF3C527A6}" type="slidenum">
              <a:rPr lang="en-US" smtClean="0"/>
              <a:pPr/>
              <a:t>‹#›</a:t>
            </a:fld>
            <a:endParaRPr lang="en-US"/>
          </a:p>
        </p:txBody>
      </p:sp>
    </p:spTree>
    <p:extLst>
      <p:ext uri="{BB962C8B-B14F-4D97-AF65-F5344CB8AC3E}">
        <p14:creationId xmlns:p14="http://schemas.microsoft.com/office/powerpoint/2010/main" val="1666369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48640" y="310896"/>
            <a:ext cx="8046720" cy="685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bwMode="gray">
          <a:xfrm>
            <a:off x="548640" y="1188720"/>
            <a:ext cx="3931920" cy="502920"/>
          </a:xfrm>
        </p:spPr>
        <p:txBody>
          <a:bodyPr anchor="t" anchorCtr="0">
            <a:noAutofit/>
          </a:bodyPr>
          <a:lstStyle>
            <a:lvl1pPr marL="0" indent="0">
              <a:spcBef>
                <a:spcPts val="0"/>
              </a:spcBef>
              <a:buNone/>
              <a:defRPr sz="1400" b="1"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hasCustomPrompt="1"/>
          </p:nvPr>
        </p:nvSpPr>
        <p:spPr bwMode="gray">
          <a:xfrm>
            <a:off x="548640" y="1737360"/>
            <a:ext cx="3931920" cy="2926080"/>
          </a:xfrm>
        </p:spPr>
        <p:txBody>
          <a:bodyPr>
            <a:noAutofit/>
          </a:bodyPr>
          <a:lstStyle>
            <a:lvl1pPr>
              <a:defRPr sz="1400" baseline="0"/>
            </a:lvl1pPr>
            <a:lvl2pPr>
              <a:defRPr sz="1400" baseline="0"/>
            </a:lvl2pPr>
            <a:lvl3pPr>
              <a:defRPr sz="1400" baseline="0"/>
            </a:lvl3pPr>
            <a:lvl4pPr>
              <a:defRPr sz="1400" baseline="0"/>
            </a:lvl4pPr>
            <a:lvl5pPr>
              <a:defRPr sz="1400" baseline="0"/>
            </a:lvl5pPr>
            <a:lvl6pPr>
              <a:defRPr sz="1600"/>
            </a:lvl6pPr>
            <a:lvl7pPr>
              <a:defRPr sz="1600"/>
            </a:lvl7pPr>
            <a:lvl8pPr>
              <a:defRPr sz="1600"/>
            </a:lvl8pPr>
            <a:lvl9pPr>
              <a:defRPr sz="16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bwMode="gray">
          <a:xfrm>
            <a:off x="4663440" y="1188720"/>
            <a:ext cx="3931920" cy="502920"/>
          </a:xfrm>
        </p:spPr>
        <p:txBody>
          <a:bodyPr anchor="t" anchorCtr="0">
            <a:noAutofit/>
          </a:bodyPr>
          <a:lstStyle>
            <a:lvl1pPr marL="0" indent="0">
              <a:spcBef>
                <a:spcPts val="0"/>
              </a:spcBef>
              <a:buNone/>
              <a:defRPr sz="1400" b="1"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hasCustomPrompt="1"/>
          </p:nvPr>
        </p:nvSpPr>
        <p:spPr bwMode="gray">
          <a:xfrm>
            <a:off x="4663440" y="1737360"/>
            <a:ext cx="3931920" cy="2926080"/>
          </a:xfrm>
        </p:spPr>
        <p:txBody>
          <a:bodyPr>
            <a:noAutofit/>
          </a:bodyPr>
          <a:lstStyle>
            <a:lvl1pPr>
              <a:defRPr sz="1400" baseline="0"/>
            </a:lvl1pPr>
            <a:lvl2pPr>
              <a:defRPr sz="1400" baseline="0"/>
            </a:lvl2pPr>
            <a:lvl3pPr>
              <a:defRPr sz="1400" baseline="0"/>
            </a:lvl3pPr>
            <a:lvl4pPr>
              <a:defRPr sz="1400" baseline="0"/>
            </a:lvl4pPr>
            <a:lvl5pPr>
              <a:defRPr sz="1400" baseline="0"/>
            </a:lvl5pPr>
            <a:lvl6pPr>
              <a:defRPr sz="1600"/>
            </a:lvl6pPr>
            <a:lvl7pPr>
              <a:defRPr sz="1600"/>
            </a:lvl7pPr>
            <a:lvl8pPr>
              <a:defRPr sz="1600"/>
            </a:lvl8pPr>
            <a:lvl9pPr>
              <a:defRPr sz="16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bwMode="gray"/>
        <p:txBody>
          <a:bodyPr/>
          <a:lstStyle/>
          <a:p>
            <a:r>
              <a:rPr lang="en-US"/>
              <a:t>Month 00, 0000</a:t>
            </a:r>
          </a:p>
        </p:txBody>
      </p:sp>
      <p:sp>
        <p:nvSpPr>
          <p:cNvPr id="8" name="Footer Placeholder 7"/>
          <p:cNvSpPr>
            <a:spLocks noGrp="1"/>
          </p:cNvSpPr>
          <p:nvPr>
            <p:ph type="ftr" sz="quarter" idx="11"/>
          </p:nvPr>
        </p:nvSpPr>
        <p:spPr bwMode="gray"/>
        <p:txBody>
          <a:bodyPr/>
          <a:lstStyle/>
          <a:p>
            <a:endParaRPr lang="en-US"/>
          </a:p>
        </p:txBody>
      </p:sp>
      <p:sp>
        <p:nvSpPr>
          <p:cNvPr id="9" name="Slide Number Placeholder 8"/>
          <p:cNvSpPr>
            <a:spLocks noGrp="1"/>
          </p:cNvSpPr>
          <p:nvPr>
            <p:ph type="sldNum" sz="quarter" idx="12"/>
          </p:nvPr>
        </p:nvSpPr>
        <p:spPr bwMode="gray"/>
        <p:txBody>
          <a:bodyPr/>
          <a:lstStyle/>
          <a:p>
            <a:fld id="{CDBA9528-BCFE-1E43-A37D-912FF3C527A6}" type="slidenum">
              <a:rPr lang="en-US" smtClean="0"/>
              <a:pPr/>
              <a:t>‹#›</a:t>
            </a:fld>
            <a:endParaRPr lang="en-US"/>
          </a:p>
        </p:txBody>
      </p:sp>
    </p:spTree>
    <p:extLst>
      <p:ext uri="{BB962C8B-B14F-4D97-AF65-F5344CB8AC3E}">
        <p14:creationId xmlns:p14="http://schemas.microsoft.com/office/powerpoint/2010/main" val="30886842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US" dirty="0"/>
          </a:p>
        </p:txBody>
      </p:sp>
      <p:sp>
        <p:nvSpPr>
          <p:cNvPr id="3" name="Date Placeholder 2"/>
          <p:cNvSpPr>
            <a:spLocks noGrp="1"/>
          </p:cNvSpPr>
          <p:nvPr>
            <p:ph type="dt" sz="half" idx="10"/>
          </p:nvPr>
        </p:nvSpPr>
        <p:spPr bwMode="gray"/>
        <p:txBody>
          <a:bodyPr/>
          <a:lstStyle/>
          <a:p>
            <a:r>
              <a:rPr lang="en-US"/>
              <a:t>Month 00, 0000</a:t>
            </a:r>
          </a:p>
        </p:txBody>
      </p:sp>
      <p:sp>
        <p:nvSpPr>
          <p:cNvPr id="4" name="Footer Placeholder 3"/>
          <p:cNvSpPr>
            <a:spLocks noGrp="1"/>
          </p:cNvSpPr>
          <p:nvPr>
            <p:ph type="ftr" sz="quarter" idx="11"/>
          </p:nvPr>
        </p:nvSpPr>
        <p:spPr bwMode="gray"/>
        <p:txBody>
          <a:bodyPr/>
          <a:lstStyle/>
          <a:p>
            <a:endParaRPr lang="en-US"/>
          </a:p>
        </p:txBody>
      </p:sp>
      <p:sp>
        <p:nvSpPr>
          <p:cNvPr id="5" name="Slide Number Placeholder 4"/>
          <p:cNvSpPr>
            <a:spLocks noGrp="1"/>
          </p:cNvSpPr>
          <p:nvPr>
            <p:ph type="sldNum" sz="quarter" idx="12"/>
          </p:nvPr>
        </p:nvSpPr>
        <p:spPr bwMode="gray"/>
        <p:txBody>
          <a:bodyPr/>
          <a:lstStyle/>
          <a:p>
            <a:fld id="{CDBA9528-BCFE-1E43-A37D-912FF3C527A6}" type="slidenum">
              <a:rPr lang="en-US" smtClean="0"/>
              <a:pPr/>
              <a:t>‹#›</a:t>
            </a:fld>
            <a:endParaRPr lang="en-US"/>
          </a:p>
        </p:txBody>
      </p:sp>
    </p:spTree>
    <p:extLst>
      <p:ext uri="{BB962C8B-B14F-4D97-AF65-F5344CB8AC3E}">
        <p14:creationId xmlns:p14="http://schemas.microsoft.com/office/powerpoint/2010/main" val="2736068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gray"/>
        <p:txBody>
          <a:bodyPr/>
          <a:lstStyle/>
          <a:p>
            <a:r>
              <a:rPr lang="en-US"/>
              <a:t>Month 00, 0000</a:t>
            </a:r>
          </a:p>
        </p:txBody>
      </p:sp>
      <p:sp>
        <p:nvSpPr>
          <p:cNvPr id="3" name="Footer Placeholder 2"/>
          <p:cNvSpPr>
            <a:spLocks noGrp="1"/>
          </p:cNvSpPr>
          <p:nvPr>
            <p:ph type="ftr" sz="quarter" idx="11"/>
          </p:nvPr>
        </p:nvSpPr>
        <p:spPr bwMode="gray"/>
        <p:txBody>
          <a:bodyPr/>
          <a:lstStyle/>
          <a:p>
            <a:endParaRPr lang="en-US"/>
          </a:p>
        </p:txBody>
      </p:sp>
      <p:sp>
        <p:nvSpPr>
          <p:cNvPr id="4" name="Slide Number Placeholder 3"/>
          <p:cNvSpPr>
            <a:spLocks noGrp="1"/>
          </p:cNvSpPr>
          <p:nvPr>
            <p:ph type="sldNum" sz="quarter" idx="12"/>
          </p:nvPr>
        </p:nvSpPr>
        <p:spPr bwMode="gray"/>
        <p:txBody>
          <a:bodyPr/>
          <a:lstStyle/>
          <a:p>
            <a:fld id="{CDBA9528-BCFE-1E43-A37D-912FF3C527A6}" type="slidenum">
              <a:rPr lang="en-US" smtClean="0"/>
              <a:pPr/>
              <a:t>‹#›</a:t>
            </a:fld>
            <a:endParaRPr lang="en-US"/>
          </a:p>
        </p:txBody>
      </p:sp>
    </p:spTree>
    <p:extLst>
      <p:ext uri="{BB962C8B-B14F-4D97-AF65-F5344CB8AC3E}">
        <p14:creationId xmlns:p14="http://schemas.microsoft.com/office/powerpoint/2010/main" val="34603129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B094C18-084C-E84B-B252-9E74C8EDD8B1}"/>
              </a:ext>
            </a:extLst>
          </p:cNvPr>
          <p:cNvGrpSpPr/>
          <p:nvPr userDrawn="1"/>
        </p:nvGrpSpPr>
        <p:grpSpPr>
          <a:xfrm>
            <a:off x="182880" y="0"/>
            <a:ext cx="8961120" cy="960120"/>
            <a:chOff x="182880" y="0"/>
            <a:chExt cx="8961120" cy="960120"/>
          </a:xfrm>
        </p:grpSpPr>
        <p:sp>
          <p:nvSpPr>
            <p:cNvPr id="11" name="Rectangle 10">
              <a:extLst>
                <a:ext uri="{FF2B5EF4-FFF2-40B4-BE49-F238E27FC236}">
                  <a16:creationId xmlns:a16="http://schemas.microsoft.com/office/drawing/2014/main" id="{06BFCA29-B851-FF45-8BBA-FD9145EC49A3}"/>
                </a:ext>
              </a:extLst>
            </p:cNvPr>
            <p:cNvSpPr/>
            <p:nvPr userDrawn="1"/>
          </p:nvSpPr>
          <p:spPr>
            <a:xfrm>
              <a:off x="182880" y="777240"/>
              <a:ext cx="182880" cy="18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9BDA870-3038-3D48-860A-49F7833D94A7}"/>
                </a:ext>
              </a:extLst>
            </p:cNvPr>
            <p:cNvSpPr/>
            <p:nvPr userDrawn="1"/>
          </p:nvSpPr>
          <p:spPr>
            <a:xfrm>
              <a:off x="365760" y="0"/>
              <a:ext cx="8778240" cy="774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bwMode="gray">
          <a:xfrm>
            <a:off x="548640" y="1096852"/>
            <a:ext cx="3749040" cy="1600627"/>
          </a:xfrm>
        </p:spPr>
        <p:txBody>
          <a:bodyPr anchor="b" anchorCtr="0">
            <a:noAutofit/>
          </a:bodyPr>
          <a:lstStyle>
            <a:lvl1pPr algn="l">
              <a:defRPr sz="2800" b="1" cap="none"/>
            </a:lvl1pPr>
          </a:lstStyle>
          <a:p>
            <a:r>
              <a:rPr lang="en-US"/>
              <a:t>Click to edit Master title style</a:t>
            </a:r>
            <a:endParaRPr lang="en-US" dirty="0"/>
          </a:p>
        </p:txBody>
      </p:sp>
      <p:sp>
        <p:nvSpPr>
          <p:cNvPr id="3" name="Text Placeholder 2"/>
          <p:cNvSpPr>
            <a:spLocks noGrp="1"/>
          </p:cNvSpPr>
          <p:nvPr>
            <p:ph type="body" idx="1" hasCustomPrompt="1"/>
          </p:nvPr>
        </p:nvSpPr>
        <p:spPr bwMode="gray">
          <a:xfrm>
            <a:off x="548640" y="2971800"/>
            <a:ext cx="3749040" cy="685800"/>
          </a:xfrm>
        </p:spPr>
        <p:txBody>
          <a:bodyPr anchor="t" anchorCtr="0">
            <a:noAutofit/>
          </a:bodyPr>
          <a:lstStyle>
            <a:lvl1pPr marL="0" indent="0">
              <a:spcBef>
                <a:spcPts val="0"/>
              </a:spcBef>
              <a:buNone/>
              <a:defRPr sz="16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pic>
        <p:nvPicPr>
          <p:cNvPr id="13" name="Picture 12" descr="Icon&#10;&#10;Description automatically generated">
            <a:extLst>
              <a:ext uri="{FF2B5EF4-FFF2-40B4-BE49-F238E27FC236}">
                <a16:creationId xmlns:a16="http://schemas.microsoft.com/office/drawing/2014/main" id="{02641A0A-A33A-6542-882A-9B703D86214D}"/>
              </a:ext>
            </a:extLst>
          </p:cNvPr>
          <p:cNvPicPr>
            <a:picLocks noChangeAspect="1"/>
          </p:cNvPicPr>
          <p:nvPr userDrawn="1"/>
        </p:nvPicPr>
        <p:blipFill>
          <a:blip r:embed="rId2"/>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27510549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sclosure 01">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0C44D6A-7F43-9842-9B34-98734C549BCC}"/>
              </a:ext>
            </a:extLst>
          </p:cNvPr>
          <p:cNvGrpSpPr/>
          <p:nvPr userDrawn="1"/>
        </p:nvGrpSpPr>
        <p:grpSpPr>
          <a:xfrm>
            <a:off x="182880" y="0"/>
            <a:ext cx="8961120" cy="960120"/>
            <a:chOff x="182880" y="0"/>
            <a:chExt cx="8961120" cy="960120"/>
          </a:xfrm>
        </p:grpSpPr>
        <p:sp>
          <p:nvSpPr>
            <p:cNvPr id="10" name="Rectangle 9">
              <a:extLst>
                <a:ext uri="{FF2B5EF4-FFF2-40B4-BE49-F238E27FC236}">
                  <a16:creationId xmlns:a16="http://schemas.microsoft.com/office/drawing/2014/main" id="{19371727-4A24-6240-93B7-D0A7AB5C0655}"/>
                </a:ext>
              </a:extLst>
            </p:cNvPr>
            <p:cNvSpPr/>
            <p:nvPr userDrawn="1"/>
          </p:nvSpPr>
          <p:spPr>
            <a:xfrm>
              <a:off x="182880" y="777240"/>
              <a:ext cx="182880" cy="18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C30ADC9-BF48-114D-8ED4-48FB012641A1}"/>
                </a:ext>
              </a:extLst>
            </p:cNvPr>
            <p:cNvSpPr/>
            <p:nvPr userDrawn="1"/>
          </p:nvSpPr>
          <p:spPr>
            <a:xfrm>
              <a:off x="365760" y="0"/>
              <a:ext cx="8778240" cy="774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a:spLocks/>
          </p:cNvSpPr>
          <p:nvPr userDrawn="1"/>
        </p:nvSpPr>
        <p:spPr bwMode="gray">
          <a:xfrm>
            <a:off x="548640" y="187960"/>
            <a:ext cx="2286000" cy="457200"/>
          </a:xfrm>
          <a:prstGeom prst="rect">
            <a:avLst/>
          </a:prstGeom>
        </p:spPr>
        <p:txBody>
          <a:bodyPr vert="horz" lIns="0" tIns="0" rIns="0" bIns="0" rtlCol="0" anchor="b" anchorCtr="0">
            <a:noAutofit/>
          </a:bodyPr>
          <a:lstStyle>
            <a:lvl1pPr algn="l" defTabSz="457200" rtl="0" eaLnBrk="1" latinLnBrk="0" hangingPunct="1">
              <a:lnSpc>
                <a:spcPct val="90000"/>
              </a:lnSpc>
              <a:spcBef>
                <a:spcPct val="0"/>
              </a:spcBef>
              <a:buNone/>
              <a:defRPr sz="2200" b="1" kern="1200">
                <a:solidFill>
                  <a:schemeClr val="accent1"/>
                </a:solidFill>
                <a:latin typeface="+mj-lt"/>
                <a:ea typeface="+mj-ea"/>
                <a:cs typeface="+mj-cs"/>
              </a:defRPr>
            </a:lvl1pPr>
          </a:lstStyle>
          <a:p>
            <a:r>
              <a:rPr lang="en-US" dirty="0">
                <a:solidFill>
                  <a:srgbClr val="FFFFFF"/>
                </a:solidFill>
              </a:rPr>
              <a:t>Thank you</a:t>
            </a:r>
          </a:p>
        </p:txBody>
      </p:sp>
      <p:sp>
        <p:nvSpPr>
          <p:cNvPr id="16" name="Text Placeholder 15"/>
          <p:cNvSpPr>
            <a:spLocks noGrp="1"/>
          </p:cNvSpPr>
          <p:nvPr>
            <p:ph type="body" sz="quarter" idx="10"/>
          </p:nvPr>
        </p:nvSpPr>
        <p:spPr bwMode="gray">
          <a:xfrm>
            <a:off x="548639" y="1008279"/>
            <a:ext cx="6400800" cy="3520440"/>
          </a:xfrm>
        </p:spPr>
        <p:txBody>
          <a:bodyPr anchor="b" anchorCtr="0">
            <a:noAutofit/>
          </a:bodyPr>
          <a:lstStyle>
            <a:lvl1pPr marL="0" indent="0">
              <a:lnSpc>
                <a:spcPct val="100000"/>
              </a:lnSpc>
              <a:spcBef>
                <a:spcPts val="300"/>
              </a:spcBef>
              <a:buNone/>
              <a:defRPr sz="700"/>
            </a:lvl1pPr>
            <a:lvl2pPr marL="114300" indent="-114300">
              <a:lnSpc>
                <a:spcPct val="100000"/>
              </a:lnSpc>
              <a:spcBef>
                <a:spcPts val="300"/>
              </a:spcBef>
              <a:buClrTx/>
              <a:buFont typeface="+mj-lt"/>
              <a:buAutoNum type="arabicPeriod"/>
              <a:defRPr sz="700"/>
            </a:lvl2pPr>
            <a:lvl3pPr marL="114300" indent="-114300">
              <a:lnSpc>
                <a:spcPct val="100000"/>
              </a:lnSpc>
              <a:spcBef>
                <a:spcPts val="300"/>
              </a:spcBef>
              <a:defRPr sz="700"/>
            </a:lvl3pPr>
            <a:lvl4pPr marL="230188" indent="-115888">
              <a:lnSpc>
                <a:spcPct val="100000"/>
              </a:lnSpc>
              <a:spcBef>
                <a:spcPts val="300"/>
              </a:spcBef>
              <a:defRPr sz="700"/>
            </a:lvl4pPr>
            <a:lvl5pPr marL="344488" indent="-114300">
              <a:lnSpc>
                <a:spcPct val="100000"/>
              </a:lnSpc>
              <a:spcBef>
                <a:spcPts val="300"/>
              </a:spcBef>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Box 13"/>
          <p:cNvSpPr txBox="1"/>
          <p:nvPr userDrawn="1"/>
        </p:nvSpPr>
        <p:spPr bwMode="gray">
          <a:xfrm>
            <a:off x="548640" y="4541353"/>
            <a:ext cx="6400800" cy="182411"/>
          </a:xfrm>
          <a:prstGeom prst="rect">
            <a:avLst/>
          </a:prstGeom>
          <a:noFill/>
        </p:spPr>
        <p:txBody>
          <a:bodyPr wrap="square" lIns="0" tIns="0" rIns="0" bIns="0" rtlCol="0" anchor="b" anchorCtr="0">
            <a:noAutofit/>
          </a:bodyPr>
          <a:lstStyle/>
          <a:p>
            <a:r>
              <a:rPr lang="en-US" sz="700" b="1" dirty="0"/>
              <a:t>Edwards </a:t>
            </a:r>
            <a:r>
              <a:rPr lang="en-US" sz="700" b="1" dirty="0" err="1"/>
              <a:t>Lifesciences</a:t>
            </a:r>
            <a:r>
              <a:rPr lang="en-US" sz="700" b="0" dirty="0"/>
              <a:t> • One Edwards Way,</a:t>
            </a:r>
            <a:r>
              <a:rPr lang="en-US" sz="700" b="0" baseline="0" dirty="0"/>
              <a:t> I</a:t>
            </a:r>
            <a:r>
              <a:rPr lang="en-US" sz="700" b="0" dirty="0"/>
              <a:t>rvine CA 92614 USA</a:t>
            </a:r>
            <a:r>
              <a:rPr lang="en-US" sz="700" b="0" baseline="0" dirty="0"/>
              <a:t> • </a:t>
            </a:r>
            <a:r>
              <a:rPr lang="en-US" sz="700" b="0" dirty="0" err="1"/>
              <a:t>edwards.com</a:t>
            </a:r>
            <a:endParaRPr lang="en-US" sz="700" b="0" dirty="0"/>
          </a:p>
        </p:txBody>
      </p:sp>
      <p:pic>
        <p:nvPicPr>
          <p:cNvPr id="12" name="Picture 11" descr="Icon&#10;&#10;Description automatically generated">
            <a:extLst>
              <a:ext uri="{FF2B5EF4-FFF2-40B4-BE49-F238E27FC236}">
                <a16:creationId xmlns:a16="http://schemas.microsoft.com/office/drawing/2014/main" id="{0097F107-356F-0941-9C39-3C57885F0A7C}"/>
              </a:ext>
            </a:extLst>
          </p:cNvPr>
          <p:cNvPicPr>
            <a:picLocks noChangeAspect="1"/>
          </p:cNvPicPr>
          <p:nvPr userDrawn="1"/>
        </p:nvPicPr>
        <p:blipFill>
          <a:blip r:embed="rId2"/>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12073306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sclosure 02">
    <p:spTree>
      <p:nvGrpSpPr>
        <p:cNvPr id="1" name=""/>
        <p:cNvGrpSpPr/>
        <p:nvPr/>
      </p:nvGrpSpPr>
      <p:grpSpPr>
        <a:xfrm>
          <a:off x="0" y="0"/>
          <a:ext cx="0" cy="0"/>
          <a:chOff x="0" y="0"/>
          <a:chExt cx="0" cy="0"/>
        </a:xfrm>
      </p:grpSpPr>
      <p:sp>
        <p:nvSpPr>
          <p:cNvPr id="16" name="Text Placeholder 15"/>
          <p:cNvSpPr>
            <a:spLocks noGrp="1"/>
          </p:cNvSpPr>
          <p:nvPr>
            <p:ph type="body" sz="quarter" idx="10"/>
          </p:nvPr>
        </p:nvSpPr>
        <p:spPr bwMode="gray">
          <a:xfrm>
            <a:off x="548639" y="644533"/>
            <a:ext cx="6400800" cy="3883992"/>
          </a:xfrm>
        </p:spPr>
        <p:txBody>
          <a:bodyPr anchor="b" anchorCtr="0">
            <a:noAutofit/>
          </a:bodyPr>
          <a:lstStyle>
            <a:lvl1pPr marL="0" indent="0">
              <a:lnSpc>
                <a:spcPct val="100000"/>
              </a:lnSpc>
              <a:spcBef>
                <a:spcPts val="300"/>
              </a:spcBef>
              <a:buNone/>
              <a:defRPr sz="700"/>
            </a:lvl1pPr>
            <a:lvl2pPr marL="114300" indent="-114300">
              <a:lnSpc>
                <a:spcPct val="100000"/>
              </a:lnSpc>
              <a:spcBef>
                <a:spcPts val="300"/>
              </a:spcBef>
              <a:buClrTx/>
              <a:buFont typeface="+mj-lt"/>
              <a:buAutoNum type="arabicPeriod"/>
              <a:defRPr sz="700"/>
            </a:lvl2pPr>
            <a:lvl3pPr marL="114300" indent="-114300">
              <a:lnSpc>
                <a:spcPct val="100000"/>
              </a:lnSpc>
              <a:spcBef>
                <a:spcPts val="300"/>
              </a:spcBef>
              <a:defRPr sz="700"/>
            </a:lvl3pPr>
            <a:lvl4pPr marL="230188" indent="-115888">
              <a:lnSpc>
                <a:spcPct val="100000"/>
              </a:lnSpc>
              <a:spcBef>
                <a:spcPts val="300"/>
              </a:spcBef>
              <a:defRPr sz="700"/>
            </a:lvl4pPr>
            <a:lvl5pPr marL="344488" indent="-114300">
              <a:lnSpc>
                <a:spcPct val="100000"/>
              </a:lnSpc>
              <a:spcBef>
                <a:spcPts val="300"/>
              </a:spcBef>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p:cNvSpPr txBox="1"/>
          <p:nvPr userDrawn="1"/>
        </p:nvSpPr>
        <p:spPr bwMode="gray">
          <a:xfrm>
            <a:off x="548640" y="4541354"/>
            <a:ext cx="6400800" cy="182411"/>
          </a:xfrm>
          <a:prstGeom prst="rect">
            <a:avLst/>
          </a:prstGeom>
          <a:noFill/>
        </p:spPr>
        <p:txBody>
          <a:bodyPr wrap="square" lIns="0" tIns="0" rIns="0" bIns="0" rtlCol="0" anchor="b" anchorCtr="0">
            <a:noAutofit/>
          </a:bodyPr>
          <a:lstStyle/>
          <a:p>
            <a:r>
              <a:rPr lang="en-US" sz="700" b="1" dirty="0"/>
              <a:t>Edwards </a:t>
            </a:r>
            <a:r>
              <a:rPr lang="en-US" sz="700" b="1" dirty="0" err="1"/>
              <a:t>Lifesciences</a:t>
            </a:r>
            <a:r>
              <a:rPr lang="en-US" sz="700" b="0" dirty="0"/>
              <a:t> • One Edwards Way,</a:t>
            </a:r>
            <a:r>
              <a:rPr lang="en-US" sz="700" b="0" baseline="0" dirty="0"/>
              <a:t> I</a:t>
            </a:r>
            <a:r>
              <a:rPr lang="en-US" sz="700" b="0" dirty="0"/>
              <a:t>rvine CA 92614 USA</a:t>
            </a:r>
            <a:r>
              <a:rPr lang="en-US" sz="700" b="0" baseline="0" dirty="0"/>
              <a:t> • </a:t>
            </a:r>
            <a:r>
              <a:rPr lang="en-US" sz="700" b="0" dirty="0" err="1"/>
              <a:t>edwards.com</a:t>
            </a:r>
            <a:endParaRPr lang="en-US" sz="700" b="0" dirty="0"/>
          </a:p>
        </p:txBody>
      </p:sp>
      <p:sp>
        <p:nvSpPr>
          <p:cNvPr id="7" name="Rectangle 6">
            <a:extLst>
              <a:ext uri="{FF2B5EF4-FFF2-40B4-BE49-F238E27FC236}">
                <a16:creationId xmlns:a16="http://schemas.microsoft.com/office/drawing/2014/main" id="{DC2ED8A1-E8C6-8340-8E83-E72820C53283}"/>
              </a:ext>
            </a:extLst>
          </p:cNvPr>
          <p:cNvSpPr/>
          <p:nvPr userDrawn="1"/>
        </p:nvSpPr>
        <p:spPr>
          <a:xfrm>
            <a:off x="182880" y="182880"/>
            <a:ext cx="182880" cy="18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A60E5-D6B1-5A41-AF2D-3BA1FD72E238}"/>
              </a:ext>
            </a:extLst>
          </p:cNvPr>
          <p:cNvSpPr/>
          <p:nvPr userDrawn="1"/>
        </p:nvSpPr>
        <p:spPr>
          <a:xfrm>
            <a:off x="365760" y="0"/>
            <a:ext cx="8778240" cy="18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con&#10;&#10;Description automatically generated">
            <a:extLst>
              <a:ext uri="{FF2B5EF4-FFF2-40B4-BE49-F238E27FC236}">
                <a16:creationId xmlns:a16="http://schemas.microsoft.com/office/drawing/2014/main" id="{8FD6E5EE-B587-B14A-8D8C-6F5AE0CE498C}"/>
              </a:ext>
            </a:extLst>
          </p:cNvPr>
          <p:cNvPicPr>
            <a:picLocks noChangeAspect="1"/>
          </p:cNvPicPr>
          <p:nvPr userDrawn="1"/>
        </p:nvPicPr>
        <p:blipFill>
          <a:blip r:embed="rId2"/>
          <a:stretch>
            <a:fillRect/>
          </a:stretch>
        </p:blipFill>
        <p:spPr>
          <a:xfrm>
            <a:off x="7461504" y="3383280"/>
            <a:ext cx="1342482" cy="1645920"/>
          </a:xfrm>
          <a:prstGeom prst="rect">
            <a:avLst/>
          </a:prstGeom>
        </p:spPr>
      </p:pic>
    </p:spTree>
    <p:extLst>
      <p:ext uri="{BB962C8B-B14F-4D97-AF65-F5344CB8AC3E}">
        <p14:creationId xmlns:p14="http://schemas.microsoft.com/office/powerpoint/2010/main" val="14365073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End Slide 0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BE7579C-21DF-6340-B503-C26EA0EF508C}"/>
              </a:ext>
            </a:extLst>
          </p:cNvPr>
          <p:cNvPicPr>
            <a:picLocks noChangeAspect="1"/>
          </p:cNvPicPr>
          <p:nvPr userDrawn="1"/>
        </p:nvPicPr>
        <p:blipFill>
          <a:blip r:embed="rId2"/>
          <a:srcRect/>
          <a:stretch/>
        </p:blipFill>
        <p:spPr>
          <a:xfrm>
            <a:off x="0" y="0"/>
            <a:ext cx="9144000" cy="5143500"/>
          </a:xfrm>
          <a:prstGeom prst="rect">
            <a:avLst/>
          </a:prstGeom>
        </p:spPr>
      </p:pic>
      <p:pic>
        <p:nvPicPr>
          <p:cNvPr id="4" name="Picture 3" descr="Icon&#10;&#10;Description automatically generated">
            <a:extLst>
              <a:ext uri="{FF2B5EF4-FFF2-40B4-BE49-F238E27FC236}">
                <a16:creationId xmlns:a16="http://schemas.microsoft.com/office/drawing/2014/main" id="{DF1B41CB-E201-1E4A-AF89-92639569DDD0}"/>
              </a:ext>
            </a:extLst>
          </p:cNvPr>
          <p:cNvPicPr>
            <a:picLocks noChangeAspect="1"/>
          </p:cNvPicPr>
          <p:nvPr userDrawn="1"/>
        </p:nvPicPr>
        <p:blipFill>
          <a:blip r:embed="rId3"/>
          <a:stretch>
            <a:fillRect/>
          </a:stretch>
        </p:blipFill>
        <p:spPr>
          <a:xfrm>
            <a:off x="3300984" y="786384"/>
            <a:ext cx="2532888" cy="3105391"/>
          </a:xfrm>
          <a:prstGeom prst="rect">
            <a:avLst/>
          </a:prstGeom>
        </p:spPr>
      </p:pic>
    </p:spTree>
    <p:extLst>
      <p:ext uri="{BB962C8B-B14F-4D97-AF65-F5344CB8AC3E}">
        <p14:creationId xmlns:p14="http://schemas.microsoft.com/office/powerpoint/2010/main" val="22939941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Slide 0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6DFF96D-6037-9542-B646-415069ABF30B}"/>
              </a:ext>
            </a:extLst>
          </p:cNvPr>
          <p:cNvPicPr>
            <a:picLocks noChangeAspect="1"/>
          </p:cNvPicPr>
          <p:nvPr userDrawn="1"/>
        </p:nvPicPr>
        <p:blipFill>
          <a:blip r:embed="rId2"/>
          <a:srcRect/>
          <a:stretch/>
        </p:blipFill>
        <p:spPr>
          <a:xfrm>
            <a:off x="0" y="0"/>
            <a:ext cx="9144000" cy="5143500"/>
          </a:xfrm>
          <a:prstGeom prst="rect">
            <a:avLst/>
          </a:prstGeom>
        </p:spPr>
      </p:pic>
      <p:pic>
        <p:nvPicPr>
          <p:cNvPr id="8" name="Picture 7" descr="Icon&#10;&#10;Description automatically generated">
            <a:extLst>
              <a:ext uri="{FF2B5EF4-FFF2-40B4-BE49-F238E27FC236}">
                <a16:creationId xmlns:a16="http://schemas.microsoft.com/office/drawing/2014/main" id="{A2BAD6A5-47D6-D04B-B4C4-A4A70F9D846A}"/>
              </a:ext>
            </a:extLst>
          </p:cNvPr>
          <p:cNvPicPr>
            <a:picLocks noChangeAspect="1"/>
          </p:cNvPicPr>
          <p:nvPr userDrawn="1"/>
        </p:nvPicPr>
        <p:blipFill>
          <a:blip r:embed="rId3"/>
          <a:stretch>
            <a:fillRect/>
          </a:stretch>
        </p:blipFill>
        <p:spPr>
          <a:xfrm>
            <a:off x="3300984" y="786384"/>
            <a:ext cx="2532888" cy="3105391"/>
          </a:xfrm>
          <a:prstGeom prst="rect">
            <a:avLst/>
          </a:prstGeom>
        </p:spPr>
      </p:pic>
      <p:pic>
        <p:nvPicPr>
          <p:cNvPr id="6" name="Picture 5" title="life is now">
            <a:extLst>
              <a:ext uri="{FF2B5EF4-FFF2-40B4-BE49-F238E27FC236}">
                <a16:creationId xmlns:a16="http://schemas.microsoft.com/office/drawing/2014/main" id="{5B192082-5EF7-B541-9CBA-FE41C4AF19E5}"/>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bwMode="gray">
          <a:xfrm>
            <a:off x="5715000" y="3959352"/>
            <a:ext cx="1765808" cy="819334"/>
          </a:xfrm>
          <a:prstGeom prst="rect">
            <a:avLst/>
          </a:prstGeom>
        </p:spPr>
      </p:pic>
      <p:sp>
        <p:nvSpPr>
          <p:cNvPr id="7" name="Freeform 16" title="Helping Patients is Our Life's Work, and">
            <a:extLst>
              <a:ext uri="{FF2B5EF4-FFF2-40B4-BE49-F238E27FC236}">
                <a16:creationId xmlns:a16="http://schemas.microsoft.com/office/drawing/2014/main" id="{F11E9E8C-026F-1A47-9704-7A3313BDA801}"/>
              </a:ext>
            </a:extLst>
          </p:cNvPr>
          <p:cNvSpPr>
            <a:spLocks noChangeAspect="1" noEditPoints="1"/>
          </p:cNvSpPr>
          <p:nvPr userDrawn="1"/>
        </p:nvSpPr>
        <p:spPr bwMode="gray">
          <a:xfrm>
            <a:off x="1778147" y="3968495"/>
            <a:ext cx="4443984" cy="262666"/>
          </a:xfrm>
          <a:custGeom>
            <a:avLst/>
            <a:gdLst>
              <a:gd name="T0" fmla="*/ 11 w 2027"/>
              <a:gd name="T1" fmla="*/ 45 h 120"/>
              <a:gd name="T2" fmla="*/ 113 w 2027"/>
              <a:gd name="T3" fmla="*/ 86 h 120"/>
              <a:gd name="T4" fmla="*/ 131 w 2027"/>
              <a:gd name="T5" fmla="*/ 59 h 120"/>
              <a:gd name="T6" fmla="*/ 119 w 2027"/>
              <a:gd name="T7" fmla="*/ 52 h 120"/>
              <a:gd name="T8" fmla="*/ 188 w 2027"/>
              <a:gd name="T9" fmla="*/ 120 h 120"/>
              <a:gd name="T10" fmla="*/ 200 w 2027"/>
              <a:gd name="T11" fmla="*/ 38 h 120"/>
              <a:gd name="T12" fmla="*/ 252 w 2027"/>
              <a:gd name="T13" fmla="*/ 7 h 120"/>
              <a:gd name="T14" fmla="*/ 315 w 2027"/>
              <a:gd name="T15" fmla="*/ 92 h 120"/>
              <a:gd name="T16" fmla="*/ 289 w 2027"/>
              <a:gd name="T17" fmla="*/ 32 h 120"/>
              <a:gd name="T18" fmla="*/ 388 w 2027"/>
              <a:gd name="T19" fmla="*/ 51 h 120"/>
              <a:gd name="T20" fmla="*/ 363 w 2027"/>
              <a:gd name="T21" fmla="*/ 120 h 120"/>
              <a:gd name="T22" fmla="*/ 397 w 2027"/>
              <a:gd name="T23" fmla="*/ 32 h 120"/>
              <a:gd name="T24" fmla="*/ 368 w 2027"/>
              <a:gd name="T25" fmla="*/ 91 h 120"/>
              <a:gd name="T26" fmla="*/ 461 w 2027"/>
              <a:gd name="T27" fmla="*/ 57 h 120"/>
              <a:gd name="T28" fmla="*/ 437 w 2027"/>
              <a:gd name="T29" fmla="*/ 92 h 120"/>
              <a:gd name="T30" fmla="*/ 512 w 2027"/>
              <a:gd name="T31" fmla="*/ 93 h 120"/>
              <a:gd name="T32" fmla="*/ 503 w 2027"/>
              <a:gd name="T33" fmla="*/ 40 h 120"/>
              <a:gd name="T34" fmla="*/ 521 w 2027"/>
              <a:gd name="T35" fmla="*/ 64 h 120"/>
              <a:gd name="T36" fmla="*/ 560 w 2027"/>
              <a:gd name="T37" fmla="*/ 71 h 120"/>
              <a:gd name="T38" fmla="*/ 571 w 2027"/>
              <a:gd name="T39" fmla="*/ 32 h 120"/>
              <a:gd name="T40" fmla="*/ 577 w 2027"/>
              <a:gd name="T41" fmla="*/ 93 h 120"/>
              <a:gd name="T42" fmla="*/ 615 w 2027"/>
              <a:gd name="T43" fmla="*/ 32 h 120"/>
              <a:gd name="T44" fmla="*/ 661 w 2027"/>
              <a:gd name="T45" fmla="*/ 93 h 120"/>
              <a:gd name="T46" fmla="*/ 669 w 2027"/>
              <a:gd name="T47" fmla="*/ 52 h 120"/>
              <a:gd name="T48" fmla="*/ 734 w 2027"/>
              <a:gd name="T49" fmla="*/ 49 h 120"/>
              <a:gd name="T50" fmla="*/ 726 w 2027"/>
              <a:gd name="T51" fmla="*/ 30 h 120"/>
              <a:gd name="T52" fmla="*/ 765 w 2027"/>
              <a:gd name="T53" fmla="*/ 38 h 120"/>
              <a:gd name="T54" fmla="*/ 796 w 2027"/>
              <a:gd name="T55" fmla="*/ 32 h 120"/>
              <a:gd name="T56" fmla="*/ 824 w 2027"/>
              <a:gd name="T57" fmla="*/ 93 h 120"/>
              <a:gd name="T58" fmla="*/ 828 w 2027"/>
              <a:gd name="T59" fmla="*/ 30 h 120"/>
              <a:gd name="T60" fmla="*/ 824 w 2027"/>
              <a:gd name="T61" fmla="*/ 93 h 120"/>
              <a:gd name="T62" fmla="*/ 901 w 2027"/>
              <a:gd name="T63" fmla="*/ 32 h 120"/>
              <a:gd name="T64" fmla="*/ 937 w 2027"/>
              <a:gd name="T65" fmla="*/ 69 h 120"/>
              <a:gd name="T66" fmla="*/ 934 w 2027"/>
              <a:gd name="T67" fmla="*/ 54 h 120"/>
              <a:gd name="T68" fmla="*/ 1032 w 2027"/>
              <a:gd name="T69" fmla="*/ 94 h 120"/>
              <a:gd name="T70" fmla="*/ 1106 w 2027"/>
              <a:gd name="T71" fmla="*/ 94 h 120"/>
              <a:gd name="T72" fmla="*/ 1124 w 2027"/>
              <a:gd name="T73" fmla="*/ 83 h 120"/>
              <a:gd name="T74" fmla="*/ 1166 w 2027"/>
              <a:gd name="T75" fmla="*/ 92 h 120"/>
              <a:gd name="T76" fmla="*/ 1227 w 2027"/>
              <a:gd name="T77" fmla="*/ 92 h 120"/>
              <a:gd name="T78" fmla="*/ 1280 w 2027"/>
              <a:gd name="T79" fmla="*/ 14 h 120"/>
              <a:gd name="T80" fmla="*/ 1281 w 2027"/>
              <a:gd name="T81" fmla="*/ 92 h 120"/>
              <a:gd name="T82" fmla="*/ 1325 w 2027"/>
              <a:gd name="T83" fmla="*/ 38 h 120"/>
              <a:gd name="T84" fmla="*/ 1315 w 2027"/>
              <a:gd name="T85" fmla="*/ 13 h 120"/>
              <a:gd name="T86" fmla="*/ 1393 w 2027"/>
              <a:gd name="T87" fmla="*/ 90 h 120"/>
              <a:gd name="T88" fmla="*/ 1356 w 2027"/>
              <a:gd name="T89" fmla="*/ 60 h 120"/>
              <a:gd name="T90" fmla="*/ 1410 w 2027"/>
              <a:gd name="T91" fmla="*/ 34 h 120"/>
              <a:gd name="T92" fmla="*/ 1425 w 2027"/>
              <a:gd name="T93" fmla="*/ 90 h 120"/>
              <a:gd name="T94" fmla="*/ 1464 w 2027"/>
              <a:gd name="T95" fmla="*/ 34 h 120"/>
              <a:gd name="T96" fmla="*/ 1587 w 2027"/>
              <a:gd name="T97" fmla="*/ 93 h 120"/>
              <a:gd name="T98" fmla="*/ 1512 w 2027"/>
              <a:gd name="T99" fmla="*/ 8 h 120"/>
              <a:gd name="T100" fmla="*/ 1584 w 2027"/>
              <a:gd name="T101" fmla="*/ 72 h 120"/>
              <a:gd name="T102" fmla="*/ 1643 w 2027"/>
              <a:gd name="T103" fmla="*/ 94 h 120"/>
              <a:gd name="T104" fmla="*/ 1700 w 2027"/>
              <a:gd name="T105" fmla="*/ 42 h 120"/>
              <a:gd name="T106" fmla="*/ 1719 w 2027"/>
              <a:gd name="T107" fmla="*/ 42 h 120"/>
              <a:gd name="T108" fmla="*/ 1770 w 2027"/>
              <a:gd name="T109" fmla="*/ 32 h 120"/>
              <a:gd name="T110" fmla="*/ 1794 w 2027"/>
              <a:gd name="T111" fmla="*/ 89 h 120"/>
              <a:gd name="T112" fmla="*/ 1844 w 2027"/>
              <a:gd name="T113" fmla="*/ 76 h 120"/>
              <a:gd name="T114" fmla="*/ 1850 w 2027"/>
              <a:gd name="T115" fmla="*/ 33 h 120"/>
              <a:gd name="T116" fmla="*/ 1861 w 2027"/>
              <a:gd name="T117" fmla="*/ 66 h 120"/>
              <a:gd name="T118" fmla="*/ 1931 w 2027"/>
              <a:gd name="T119" fmla="*/ 38 h 120"/>
              <a:gd name="T120" fmla="*/ 1956 w 2027"/>
              <a:gd name="T121" fmla="*/ 44 h 120"/>
              <a:gd name="T122" fmla="*/ 2002 w 2027"/>
              <a:gd name="T123" fmla="*/ 31 h 120"/>
              <a:gd name="T124" fmla="*/ 1985 w 2027"/>
              <a:gd name="T125" fmla="*/ 6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7" h="120">
                <a:moveTo>
                  <a:pt x="52" y="92"/>
                </a:moveTo>
                <a:cubicBezTo>
                  <a:pt x="52" y="52"/>
                  <a:pt x="52" y="52"/>
                  <a:pt x="52" y="52"/>
                </a:cubicBezTo>
                <a:cubicBezTo>
                  <a:pt x="11" y="52"/>
                  <a:pt x="11" y="52"/>
                  <a:pt x="11" y="52"/>
                </a:cubicBezTo>
                <a:cubicBezTo>
                  <a:pt x="11" y="92"/>
                  <a:pt x="11" y="92"/>
                  <a:pt x="11" y="92"/>
                </a:cubicBezTo>
                <a:cubicBezTo>
                  <a:pt x="0" y="92"/>
                  <a:pt x="0" y="92"/>
                  <a:pt x="0" y="92"/>
                </a:cubicBezTo>
                <a:cubicBezTo>
                  <a:pt x="0" y="8"/>
                  <a:pt x="0" y="8"/>
                  <a:pt x="0" y="8"/>
                </a:cubicBezTo>
                <a:cubicBezTo>
                  <a:pt x="11" y="8"/>
                  <a:pt x="11" y="8"/>
                  <a:pt x="11" y="8"/>
                </a:cubicBezTo>
                <a:cubicBezTo>
                  <a:pt x="11" y="45"/>
                  <a:pt x="11" y="45"/>
                  <a:pt x="11" y="45"/>
                </a:cubicBezTo>
                <a:cubicBezTo>
                  <a:pt x="52" y="45"/>
                  <a:pt x="52" y="45"/>
                  <a:pt x="52" y="45"/>
                </a:cubicBezTo>
                <a:cubicBezTo>
                  <a:pt x="52" y="8"/>
                  <a:pt x="52" y="8"/>
                  <a:pt x="52" y="8"/>
                </a:cubicBezTo>
                <a:cubicBezTo>
                  <a:pt x="64" y="8"/>
                  <a:pt x="64" y="8"/>
                  <a:pt x="64" y="8"/>
                </a:cubicBezTo>
                <a:cubicBezTo>
                  <a:pt x="64" y="92"/>
                  <a:pt x="64" y="92"/>
                  <a:pt x="64" y="92"/>
                </a:cubicBezTo>
                <a:lnTo>
                  <a:pt x="52" y="92"/>
                </a:lnTo>
                <a:close/>
                <a:moveTo>
                  <a:pt x="92" y="60"/>
                </a:moveTo>
                <a:cubicBezTo>
                  <a:pt x="92" y="60"/>
                  <a:pt x="92" y="62"/>
                  <a:pt x="92" y="62"/>
                </a:cubicBezTo>
                <a:cubicBezTo>
                  <a:pt x="92" y="83"/>
                  <a:pt x="106" y="86"/>
                  <a:pt x="113" y="86"/>
                </a:cubicBezTo>
                <a:cubicBezTo>
                  <a:pt x="122" y="86"/>
                  <a:pt x="126" y="83"/>
                  <a:pt x="126" y="83"/>
                </a:cubicBezTo>
                <a:cubicBezTo>
                  <a:pt x="129" y="90"/>
                  <a:pt x="129" y="90"/>
                  <a:pt x="129" y="90"/>
                </a:cubicBezTo>
                <a:cubicBezTo>
                  <a:pt x="129" y="90"/>
                  <a:pt x="123" y="93"/>
                  <a:pt x="111" y="93"/>
                </a:cubicBezTo>
                <a:cubicBezTo>
                  <a:pt x="98" y="93"/>
                  <a:pt x="81" y="89"/>
                  <a:pt x="81" y="62"/>
                </a:cubicBezTo>
                <a:cubicBezTo>
                  <a:pt x="81" y="51"/>
                  <a:pt x="85" y="30"/>
                  <a:pt x="108" y="30"/>
                </a:cubicBezTo>
                <a:cubicBezTo>
                  <a:pt x="118" y="30"/>
                  <a:pt x="124" y="34"/>
                  <a:pt x="127" y="40"/>
                </a:cubicBezTo>
                <a:cubicBezTo>
                  <a:pt x="130" y="44"/>
                  <a:pt x="131" y="51"/>
                  <a:pt x="131" y="58"/>
                </a:cubicBezTo>
                <a:cubicBezTo>
                  <a:pt x="131" y="59"/>
                  <a:pt x="131" y="59"/>
                  <a:pt x="131" y="59"/>
                </a:cubicBezTo>
                <a:cubicBezTo>
                  <a:pt x="131" y="60"/>
                  <a:pt x="131" y="60"/>
                  <a:pt x="131" y="60"/>
                </a:cubicBezTo>
                <a:lnTo>
                  <a:pt x="92" y="60"/>
                </a:lnTo>
                <a:close/>
                <a:moveTo>
                  <a:pt x="119" y="52"/>
                </a:moveTo>
                <a:cubicBezTo>
                  <a:pt x="119" y="42"/>
                  <a:pt x="115" y="37"/>
                  <a:pt x="106" y="37"/>
                </a:cubicBezTo>
                <a:cubicBezTo>
                  <a:pt x="100" y="37"/>
                  <a:pt x="96" y="40"/>
                  <a:pt x="94" y="46"/>
                </a:cubicBezTo>
                <a:cubicBezTo>
                  <a:pt x="93" y="50"/>
                  <a:pt x="93" y="53"/>
                  <a:pt x="93" y="54"/>
                </a:cubicBezTo>
                <a:cubicBezTo>
                  <a:pt x="119" y="54"/>
                  <a:pt x="119" y="54"/>
                  <a:pt x="119" y="54"/>
                </a:cubicBezTo>
                <a:lnTo>
                  <a:pt x="119" y="52"/>
                </a:lnTo>
                <a:close/>
                <a:moveTo>
                  <a:pt x="146" y="92"/>
                </a:moveTo>
                <a:cubicBezTo>
                  <a:pt x="146" y="0"/>
                  <a:pt x="146" y="0"/>
                  <a:pt x="146" y="0"/>
                </a:cubicBezTo>
                <a:cubicBezTo>
                  <a:pt x="158" y="0"/>
                  <a:pt x="158" y="0"/>
                  <a:pt x="158" y="0"/>
                </a:cubicBezTo>
                <a:cubicBezTo>
                  <a:pt x="158" y="92"/>
                  <a:pt x="158" y="92"/>
                  <a:pt x="158" y="92"/>
                </a:cubicBezTo>
                <a:lnTo>
                  <a:pt x="146" y="92"/>
                </a:lnTo>
                <a:close/>
                <a:moveTo>
                  <a:pt x="202" y="94"/>
                </a:moveTo>
                <a:cubicBezTo>
                  <a:pt x="192" y="94"/>
                  <a:pt x="188" y="91"/>
                  <a:pt x="188" y="91"/>
                </a:cubicBezTo>
                <a:cubicBezTo>
                  <a:pt x="188" y="120"/>
                  <a:pt x="188" y="120"/>
                  <a:pt x="188" y="120"/>
                </a:cubicBezTo>
                <a:cubicBezTo>
                  <a:pt x="177" y="120"/>
                  <a:pt x="177" y="120"/>
                  <a:pt x="177" y="120"/>
                </a:cubicBezTo>
                <a:cubicBezTo>
                  <a:pt x="177" y="32"/>
                  <a:pt x="177" y="32"/>
                  <a:pt x="177" y="32"/>
                </a:cubicBezTo>
                <a:cubicBezTo>
                  <a:pt x="188" y="32"/>
                  <a:pt x="188" y="32"/>
                  <a:pt x="188" y="32"/>
                </a:cubicBezTo>
                <a:cubicBezTo>
                  <a:pt x="188" y="38"/>
                  <a:pt x="188" y="38"/>
                  <a:pt x="188" y="38"/>
                </a:cubicBezTo>
                <a:cubicBezTo>
                  <a:pt x="188" y="38"/>
                  <a:pt x="193" y="31"/>
                  <a:pt x="206" y="31"/>
                </a:cubicBezTo>
                <a:cubicBezTo>
                  <a:pt x="221" y="31"/>
                  <a:pt x="231" y="42"/>
                  <a:pt x="231" y="61"/>
                </a:cubicBezTo>
                <a:cubicBezTo>
                  <a:pt x="231" y="81"/>
                  <a:pt x="218" y="94"/>
                  <a:pt x="202" y="94"/>
                </a:cubicBezTo>
                <a:close/>
                <a:moveTo>
                  <a:pt x="200" y="38"/>
                </a:moveTo>
                <a:cubicBezTo>
                  <a:pt x="193" y="38"/>
                  <a:pt x="188" y="41"/>
                  <a:pt x="188" y="41"/>
                </a:cubicBezTo>
                <a:cubicBezTo>
                  <a:pt x="188" y="86"/>
                  <a:pt x="188" y="86"/>
                  <a:pt x="188" y="86"/>
                </a:cubicBezTo>
                <a:cubicBezTo>
                  <a:pt x="188" y="86"/>
                  <a:pt x="192" y="87"/>
                  <a:pt x="197" y="87"/>
                </a:cubicBezTo>
                <a:cubicBezTo>
                  <a:pt x="212" y="87"/>
                  <a:pt x="219" y="78"/>
                  <a:pt x="219" y="62"/>
                </a:cubicBezTo>
                <a:cubicBezTo>
                  <a:pt x="219" y="48"/>
                  <a:pt x="212" y="38"/>
                  <a:pt x="200" y="38"/>
                </a:cubicBezTo>
                <a:close/>
                <a:moveTo>
                  <a:pt x="252" y="20"/>
                </a:moveTo>
                <a:cubicBezTo>
                  <a:pt x="248" y="20"/>
                  <a:pt x="245" y="18"/>
                  <a:pt x="245" y="14"/>
                </a:cubicBezTo>
                <a:cubicBezTo>
                  <a:pt x="245" y="9"/>
                  <a:pt x="248" y="7"/>
                  <a:pt x="252" y="7"/>
                </a:cubicBezTo>
                <a:cubicBezTo>
                  <a:pt x="257" y="7"/>
                  <a:pt x="259" y="9"/>
                  <a:pt x="259" y="13"/>
                </a:cubicBezTo>
                <a:cubicBezTo>
                  <a:pt x="259" y="18"/>
                  <a:pt x="257" y="20"/>
                  <a:pt x="252" y="20"/>
                </a:cubicBezTo>
                <a:close/>
                <a:moveTo>
                  <a:pt x="247" y="92"/>
                </a:moveTo>
                <a:cubicBezTo>
                  <a:pt x="247" y="32"/>
                  <a:pt x="247" y="32"/>
                  <a:pt x="247" y="32"/>
                </a:cubicBezTo>
                <a:cubicBezTo>
                  <a:pt x="258" y="32"/>
                  <a:pt x="258" y="32"/>
                  <a:pt x="258" y="32"/>
                </a:cubicBezTo>
                <a:cubicBezTo>
                  <a:pt x="258" y="92"/>
                  <a:pt x="258" y="92"/>
                  <a:pt x="258" y="92"/>
                </a:cubicBezTo>
                <a:lnTo>
                  <a:pt x="247" y="92"/>
                </a:lnTo>
                <a:close/>
                <a:moveTo>
                  <a:pt x="315" y="92"/>
                </a:moveTo>
                <a:cubicBezTo>
                  <a:pt x="315" y="60"/>
                  <a:pt x="315" y="60"/>
                  <a:pt x="315" y="60"/>
                </a:cubicBezTo>
                <a:cubicBezTo>
                  <a:pt x="315" y="56"/>
                  <a:pt x="315" y="52"/>
                  <a:pt x="315" y="49"/>
                </a:cubicBezTo>
                <a:cubicBezTo>
                  <a:pt x="313" y="41"/>
                  <a:pt x="308" y="38"/>
                  <a:pt x="300" y="38"/>
                </a:cubicBezTo>
                <a:cubicBezTo>
                  <a:pt x="294" y="38"/>
                  <a:pt x="289" y="41"/>
                  <a:pt x="289" y="41"/>
                </a:cubicBezTo>
                <a:cubicBezTo>
                  <a:pt x="289" y="92"/>
                  <a:pt x="289" y="92"/>
                  <a:pt x="289" y="92"/>
                </a:cubicBezTo>
                <a:cubicBezTo>
                  <a:pt x="277" y="92"/>
                  <a:pt x="277" y="92"/>
                  <a:pt x="277" y="92"/>
                </a:cubicBezTo>
                <a:cubicBezTo>
                  <a:pt x="277" y="32"/>
                  <a:pt x="277" y="32"/>
                  <a:pt x="277" y="32"/>
                </a:cubicBezTo>
                <a:cubicBezTo>
                  <a:pt x="289" y="32"/>
                  <a:pt x="289" y="32"/>
                  <a:pt x="289" y="32"/>
                </a:cubicBezTo>
                <a:cubicBezTo>
                  <a:pt x="289" y="38"/>
                  <a:pt x="289" y="38"/>
                  <a:pt x="289" y="38"/>
                </a:cubicBezTo>
                <a:cubicBezTo>
                  <a:pt x="289" y="38"/>
                  <a:pt x="294" y="30"/>
                  <a:pt x="307" y="30"/>
                </a:cubicBezTo>
                <a:cubicBezTo>
                  <a:pt x="319" y="30"/>
                  <a:pt x="324" y="38"/>
                  <a:pt x="326" y="44"/>
                </a:cubicBezTo>
                <a:cubicBezTo>
                  <a:pt x="327" y="48"/>
                  <a:pt x="327" y="53"/>
                  <a:pt x="327" y="56"/>
                </a:cubicBezTo>
                <a:cubicBezTo>
                  <a:pt x="327" y="92"/>
                  <a:pt x="327" y="92"/>
                  <a:pt x="327" y="92"/>
                </a:cubicBezTo>
                <a:lnTo>
                  <a:pt x="315" y="92"/>
                </a:lnTo>
                <a:close/>
                <a:moveTo>
                  <a:pt x="383" y="38"/>
                </a:moveTo>
                <a:cubicBezTo>
                  <a:pt x="383" y="38"/>
                  <a:pt x="388" y="43"/>
                  <a:pt x="388" y="51"/>
                </a:cubicBezTo>
                <a:cubicBezTo>
                  <a:pt x="388" y="62"/>
                  <a:pt x="380" y="71"/>
                  <a:pt x="365" y="71"/>
                </a:cubicBezTo>
                <a:cubicBezTo>
                  <a:pt x="361" y="71"/>
                  <a:pt x="359" y="71"/>
                  <a:pt x="359" y="71"/>
                </a:cubicBezTo>
                <a:cubicBezTo>
                  <a:pt x="359" y="71"/>
                  <a:pt x="356" y="73"/>
                  <a:pt x="356" y="77"/>
                </a:cubicBezTo>
                <a:cubicBezTo>
                  <a:pt x="356" y="82"/>
                  <a:pt x="361" y="82"/>
                  <a:pt x="365" y="82"/>
                </a:cubicBezTo>
                <a:cubicBezTo>
                  <a:pt x="369" y="82"/>
                  <a:pt x="371" y="82"/>
                  <a:pt x="376" y="82"/>
                </a:cubicBezTo>
                <a:cubicBezTo>
                  <a:pt x="381" y="82"/>
                  <a:pt x="395" y="81"/>
                  <a:pt x="395" y="96"/>
                </a:cubicBezTo>
                <a:cubicBezTo>
                  <a:pt x="395" y="104"/>
                  <a:pt x="391" y="111"/>
                  <a:pt x="382" y="116"/>
                </a:cubicBezTo>
                <a:cubicBezTo>
                  <a:pt x="377" y="118"/>
                  <a:pt x="371" y="120"/>
                  <a:pt x="363" y="120"/>
                </a:cubicBezTo>
                <a:cubicBezTo>
                  <a:pt x="350" y="120"/>
                  <a:pt x="338" y="116"/>
                  <a:pt x="338" y="104"/>
                </a:cubicBezTo>
                <a:cubicBezTo>
                  <a:pt x="338" y="93"/>
                  <a:pt x="351" y="90"/>
                  <a:pt x="351" y="90"/>
                </a:cubicBezTo>
                <a:cubicBezTo>
                  <a:pt x="351" y="90"/>
                  <a:pt x="346" y="88"/>
                  <a:pt x="346" y="82"/>
                </a:cubicBezTo>
                <a:cubicBezTo>
                  <a:pt x="346" y="73"/>
                  <a:pt x="355" y="70"/>
                  <a:pt x="355" y="70"/>
                </a:cubicBezTo>
                <a:cubicBezTo>
                  <a:pt x="355" y="70"/>
                  <a:pt x="342" y="66"/>
                  <a:pt x="342" y="51"/>
                </a:cubicBezTo>
                <a:cubicBezTo>
                  <a:pt x="342" y="40"/>
                  <a:pt x="350" y="30"/>
                  <a:pt x="365" y="30"/>
                </a:cubicBezTo>
                <a:cubicBezTo>
                  <a:pt x="370" y="30"/>
                  <a:pt x="374" y="32"/>
                  <a:pt x="374" y="32"/>
                </a:cubicBezTo>
                <a:cubicBezTo>
                  <a:pt x="397" y="32"/>
                  <a:pt x="397" y="32"/>
                  <a:pt x="397" y="32"/>
                </a:cubicBezTo>
                <a:cubicBezTo>
                  <a:pt x="397" y="38"/>
                  <a:pt x="397" y="38"/>
                  <a:pt x="397" y="38"/>
                </a:cubicBezTo>
                <a:lnTo>
                  <a:pt x="383" y="38"/>
                </a:lnTo>
                <a:close/>
                <a:moveTo>
                  <a:pt x="368" y="91"/>
                </a:moveTo>
                <a:cubicBezTo>
                  <a:pt x="355" y="91"/>
                  <a:pt x="355" y="91"/>
                  <a:pt x="355" y="91"/>
                </a:cubicBezTo>
                <a:cubicBezTo>
                  <a:pt x="355" y="91"/>
                  <a:pt x="348" y="94"/>
                  <a:pt x="348" y="102"/>
                </a:cubicBezTo>
                <a:cubicBezTo>
                  <a:pt x="348" y="112"/>
                  <a:pt x="359" y="113"/>
                  <a:pt x="365" y="113"/>
                </a:cubicBezTo>
                <a:cubicBezTo>
                  <a:pt x="378" y="113"/>
                  <a:pt x="385" y="108"/>
                  <a:pt x="385" y="99"/>
                </a:cubicBezTo>
                <a:cubicBezTo>
                  <a:pt x="385" y="91"/>
                  <a:pt x="377" y="91"/>
                  <a:pt x="368" y="91"/>
                </a:cubicBezTo>
                <a:close/>
                <a:moveTo>
                  <a:pt x="365" y="36"/>
                </a:moveTo>
                <a:cubicBezTo>
                  <a:pt x="363" y="36"/>
                  <a:pt x="360" y="36"/>
                  <a:pt x="359" y="37"/>
                </a:cubicBezTo>
                <a:cubicBezTo>
                  <a:pt x="354" y="40"/>
                  <a:pt x="353" y="46"/>
                  <a:pt x="353" y="51"/>
                </a:cubicBezTo>
                <a:cubicBezTo>
                  <a:pt x="353" y="59"/>
                  <a:pt x="357" y="66"/>
                  <a:pt x="365" y="66"/>
                </a:cubicBezTo>
                <a:cubicBezTo>
                  <a:pt x="367" y="66"/>
                  <a:pt x="369" y="65"/>
                  <a:pt x="371" y="64"/>
                </a:cubicBezTo>
                <a:cubicBezTo>
                  <a:pt x="375" y="61"/>
                  <a:pt x="376" y="56"/>
                  <a:pt x="376" y="51"/>
                </a:cubicBezTo>
                <a:cubicBezTo>
                  <a:pt x="376" y="43"/>
                  <a:pt x="373" y="36"/>
                  <a:pt x="365" y="36"/>
                </a:cubicBezTo>
                <a:close/>
                <a:moveTo>
                  <a:pt x="461" y="57"/>
                </a:moveTo>
                <a:cubicBezTo>
                  <a:pt x="455" y="57"/>
                  <a:pt x="452" y="56"/>
                  <a:pt x="452" y="56"/>
                </a:cubicBezTo>
                <a:cubicBezTo>
                  <a:pt x="453" y="50"/>
                  <a:pt x="453" y="50"/>
                  <a:pt x="453" y="50"/>
                </a:cubicBezTo>
                <a:cubicBezTo>
                  <a:pt x="453" y="50"/>
                  <a:pt x="455" y="51"/>
                  <a:pt x="459" y="51"/>
                </a:cubicBezTo>
                <a:cubicBezTo>
                  <a:pt x="465" y="51"/>
                  <a:pt x="476" y="49"/>
                  <a:pt x="476" y="32"/>
                </a:cubicBezTo>
                <a:cubicBezTo>
                  <a:pt x="476" y="21"/>
                  <a:pt x="471" y="13"/>
                  <a:pt x="455" y="13"/>
                </a:cubicBezTo>
                <a:cubicBezTo>
                  <a:pt x="452" y="13"/>
                  <a:pt x="449" y="14"/>
                  <a:pt x="449" y="14"/>
                </a:cubicBezTo>
                <a:cubicBezTo>
                  <a:pt x="449" y="92"/>
                  <a:pt x="449" y="92"/>
                  <a:pt x="449" y="92"/>
                </a:cubicBezTo>
                <a:cubicBezTo>
                  <a:pt x="437" y="92"/>
                  <a:pt x="437" y="92"/>
                  <a:pt x="437" y="92"/>
                </a:cubicBezTo>
                <a:cubicBezTo>
                  <a:pt x="437" y="8"/>
                  <a:pt x="437" y="8"/>
                  <a:pt x="437" y="8"/>
                </a:cubicBezTo>
                <a:cubicBezTo>
                  <a:pt x="438" y="8"/>
                  <a:pt x="444" y="7"/>
                  <a:pt x="454" y="7"/>
                </a:cubicBezTo>
                <a:cubicBezTo>
                  <a:pt x="462" y="7"/>
                  <a:pt x="467" y="8"/>
                  <a:pt x="473" y="10"/>
                </a:cubicBezTo>
                <a:cubicBezTo>
                  <a:pt x="477" y="11"/>
                  <a:pt x="488" y="17"/>
                  <a:pt x="488" y="31"/>
                </a:cubicBezTo>
                <a:cubicBezTo>
                  <a:pt x="488" y="47"/>
                  <a:pt x="478" y="57"/>
                  <a:pt x="461" y="57"/>
                </a:cubicBezTo>
                <a:close/>
                <a:moveTo>
                  <a:pt x="528" y="92"/>
                </a:moveTo>
                <a:cubicBezTo>
                  <a:pt x="528" y="87"/>
                  <a:pt x="528" y="87"/>
                  <a:pt x="528" y="87"/>
                </a:cubicBezTo>
                <a:cubicBezTo>
                  <a:pt x="528" y="87"/>
                  <a:pt x="522" y="93"/>
                  <a:pt x="512" y="93"/>
                </a:cubicBezTo>
                <a:cubicBezTo>
                  <a:pt x="501" y="93"/>
                  <a:pt x="494" y="87"/>
                  <a:pt x="494" y="76"/>
                </a:cubicBezTo>
                <a:cubicBezTo>
                  <a:pt x="494" y="70"/>
                  <a:pt x="496" y="65"/>
                  <a:pt x="500" y="62"/>
                </a:cubicBezTo>
                <a:cubicBezTo>
                  <a:pt x="505" y="59"/>
                  <a:pt x="511" y="58"/>
                  <a:pt x="518" y="58"/>
                </a:cubicBezTo>
                <a:cubicBezTo>
                  <a:pt x="523" y="58"/>
                  <a:pt x="527" y="59"/>
                  <a:pt x="527" y="59"/>
                </a:cubicBezTo>
                <a:cubicBezTo>
                  <a:pt x="527" y="54"/>
                  <a:pt x="527" y="54"/>
                  <a:pt x="527" y="54"/>
                </a:cubicBezTo>
                <a:cubicBezTo>
                  <a:pt x="527" y="51"/>
                  <a:pt x="527" y="46"/>
                  <a:pt x="527" y="44"/>
                </a:cubicBezTo>
                <a:cubicBezTo>
                  <a:pt x="525" y="39"/>
                  <a:pt x="521" y="37"/>
                  <a:pt x="515" y="37"/>
                </a:cubicBezTo>
                <a:cubicBezTo>
                  <a:pt x="508" y="37"/>
                  <a:pt x="503" y="40"/>
                  <a:pt x="503" y="40"/>
                </a:cubicBezTo>
                <a:cubicBezTo>
                  <a:pt x="500" y="33"/>
                  <a:pt x="500" y="33"/>
                  <a:pt x="500" y="33"/>
                </a:cubicBezTo>
                <a:cubicBezTo>
                  <a:pt x="500" y="33"/>
                  <a:pt x="507" y="30"/>
                  <a:pt x="518" y="30"/>
                </a:cubicBezTo>
                <a:cubicBezTo>
                  <a:pt x="535" y="30"/>
                  <a:pt x="537" y="39"/>
                  <a:pt x="538" y="42"/>
                </a:cubicBezTo>
                <a:cubicBezTo>
                  <a:pt x="539" y="45"/>
                  <a:pt x="539" y="55"/>
                  <a:pt x="539" y="57"/>
                </a:cubicBezTo>
                <a:cubicBezTo>
                  <a:pt x="539" y="92"/>
                  <a:pt x="539" y="92"/>
                  <a:pt x="539" y="92"/>
                </a:cubicBezTo>
                <a:lnTo>
                  <a:pt x="528" y="92"/>
                </a:lnTo>
                <a:close/>
                <a:moveTo>
                  <a:pt x="527" y="64"/>
                </a:moveTo>
                <a:cubicBezTo>
                  <a:pt x="527" y="64"/>
                  <a:pt x="526" y="64"/>
                  <a:pt x="521" y="64"/>
                </a:cubicBezTo>
                <a:cubicBezTo>
                  <a:pt x="516" y="64"/>
                  <a:pt x="513" y="65"/>
                  <a:pt x="510" y="66"/>
                </a:cubicBezTo>
                <a:cubicBezTo>
                  <a:pt x="506" y="68"/>
                  <a:pt x="506" y="72"/>
                  <a:pt x="506" y="75"/>
                </a:cubicBezTo>
                <a:cubicBezTo>
                  <a:pt x="506" y="84"/>
                  <a:pt x="512" y="86"/>
                  <a:pt x="518" y="86"/>
                </a:cubicBezTo>
                <a:cubicBezTo>
                  <a:pt x="524" y="86"/>
                  <a:pt x="527" y="84"/>
                  <a:pt x="527" y="84"/>
                </a:cubicBezTo>
                <a:lnTo>
                  <a:pt x="527" y="64"/>
                </a:lnTo>
                <a:close/>
                <a:moveTo>
                  <a:pt x="577" y="93"/>
                </a:moveTo>
                <a:cubicBezTo>
                  <a:pt x="569" y="93"/>
                  <a:pt x="563" y="91"/>
                  <a:pt x="561" y="84"/>
                </a:cubicBezTo>
                <a:cubicBezTo>
                  <a:pt x="560" y="81"/>
                  <a:pt x="560" y="75"/>
                  <a:pt x="560" y="71"/>
                </a:cubicBezTo>
                <a:cubicBezTo>
                  <a:pt x="560" y="38"/>
                  <a:pt x="560" y="38"/>
                  <a:pt x="560" y="38"/>
                </a:cubicBezTo>
                <a:cubicBezTo>
                  <a:pt x="551" y="38"/>
                  <a:pt x="551" y="38"/>
                  <a:pt x="551" y="38"/>
                </a:cubicBezTo>
                <a:cubicBezTo>
                  <a:pt x="551" y="34"/>
                  <a:pt x="551" y="34"/>
                  <a:pt x="551" y="34"/>
                </a:cubicBezTo>
                <a:cubicBezTo>
                  <a:pt x="552" y="33"/>
                  <a:pt x="552" y="33"/>
                  <a:pt x="552" y="33"/>
                </a:cubicBezTo>
                <a:cubicBezTo>
                  <a:pt x="559" y="30"/>
                  <a:pt x="563" y="26"/>
                  <a:pt x="564" y="19"/>
                </a:cubicBezTo>
                <a:cubicBezTo>
                  <a:pt x="564" y="18"/>
                  <a:pt x="564" y="18"/>
                  <a:pt x="564" y="18"/>
                </a:cubicBezTo>
                <a:cubicBezTo>
                  <a:pt x="571" y="18"/>
                  <a:pt x="571" y="18"/>
                  <a:pt x="571" y="18"/>
                </a:cubicBezTo>
                <a:cubicBezTo>
                  <a:pt x="571" y="32"/>
                  <a:pt x="571" y="32"/>
                  <a:pt x="571" y="32"/>
                </a:cubicBezTo>
                <a:cubicBezTo>
                  <a:pt x="591" y="32"/>
                  <a:pt x="591" y="32"/>
                  <a:pt x="591" y="32"/>
                </a:cubicBezTo>
                <a:cubicBezTo>
                  <a:pt x="591" y="38"/>
                  <a:pt x="591" y="38"/>
                  <a:pt x="591" y="38"/>
                </a:cubicBezTo>
                <a:cubicBezTo>
                  <a:pt x="571" y="38"/>
                  <a:pt x="571" y="38"/>
                  <a:pt x="571" y="38"/>
                </a:cubicBezTo>
                <a:cubicBezTo>
                  <a:pt x="571" y="74"/>
                  <a:pt x="571" y="74"/>
                  <a:pt x="571" y="74"/>
                </a:cubicBezTo>
                <a:cubicBezTo>
                  <a:pt x="571" y="80"/>
                  <a:pt x="572" y="86"/>
                  <a:pt x="581" y="86"/>
                </a:cubicBezTo>
                <a:cubicBezTo>
                  <a:pt x="586" y="86"/>
                  <a:pt x="589" y="84"/>
                  <a:pt x="589" y="84"/>
                </a:cubicBezTo>
                <a:cubicBezTo>
                  <a:pt x="591" y="91"/>
                  <a:pt x="591" y="91"/>
                  <a:pt x="591" y="91"/>
                </a:cubicBezTo>
                <a:cubicBezTo>
                  <a:pt x="591" y="91"/>
                  <a:pt x="586" y="93"/>
                  <a:pt x="577" y="93"/>
                </a:cubicBezTo>
                <a:close/>
                <a:moveTo>
                  <a:pt x="609" y="20"/>
                </a:moveTo>
                <a:cubicBezTo>
                  <a:pt x="604" y="20"/>
                  <a:pt x="602" y="18"/>
                  <a:pt x="602" y="14"/>
                </a:cubicBezTo>
                <a:cubicBezTo>
                  <a:pt x="602" y="9"/>
                  <a:pt x="604" y="7"/>
                  <a:pt x="609" y="7"/>
                </a:cubicBezTo>
                <a:cubicBezTo>
                  <a:pt x="613" y="7"/>
                  <a:pt x="616" y="9"/>
                  <a:pt x="616" y="13"/>
                </a:cubicBezTo>
                <a:cubicBezTo>
                  <a:pt x="616" y="18"/>
                  <a:pt x="613" y="20"/>
                  <a:pt x="609" y="20"/>
                </a:cubicBezTo>
                <a:close/>
                <a:moveTo>
                  <a:pt x="603" y="92"/>
                </a:moveTo>
                <a:cubicBezTo>
                  <a:pt x="603" y="32"/>
                  <a:pt x="603" y="32"/>
                  <a:pt x="603" y="32"/>
                </a:cubicBezTo>
                <a:cubicBezTo>
                  <a:pt x="615" y="32"/>
                  <a:pt x="615" y="32"/>
                  <a:pt x="615" y="32"/>
                </a:cubicBezTo>
                <a:cubicBezTo>
                  <a:pt x="615" y="92"/>
                  <a:pt x="615" y="92"/>
                  <a:pt x="615" y="92"/>
                </a:cubicBezTo>
                <a:lnTo>
                  <a:pt x="603" y="92"/>
                </a:lnTo>
                <a:close/>
                <a:moveTo>
                  <a:pt x="642" y="60"/>
                </a:moveTo>
                <a:cubicBezTo>
                  <a:pt x="642" y="60"/>
                  <a:pt x="642" y="62"/>
                  <a:pt x="642" y="62"/>
                </a:cubicBezTo>
                <a:cubicBezTo>
                  <a:pt x="642" y="83"/>
                  <a:pt x="656" y="86"/>
                  <a:pt x="663" y="86"/>
                </a:cubicBezTo>
                <a:cubicBezTo>
                  <a:pt x="672" y="86"/>
                  <a:pt x="676" y="83"/>
                  <a:pt x="676" y="83"/>
                </a:cubicBezTo>
                <a:cubicBezTo>
                  <a:pt x="679" y="90"/>
                  <a:pt x="679" y="90"/>
                  <a:pt x="679" y="90"/>
                </a:cubicBezTo>
                <a:cubicBezTo>
                  <a:pt x="679" y="90"/>
                  <a:pt x="672" y="93"/>
                  <a:pt x="661" y="93"/>
                </a:cubicBezTo>
                <a:cubicBezTo>
                  <a:pt x="648" y="93"/>
                  <a:pt x="630" y="89"/>
                  <a:pt x="630" y="62"/>
                </a:cubicBezTo>
                <a:cubicBezTo>
                  <a:pt x="630" y="51"/>
                  <a:pt x="635" y="30"/>
                  <a:pt x="657" y="30"/>
                </a:cubicBezTo>
                <a:cubicBezTo>
                  <a:pt x="667" y="30"/>
                  <a:pt x="673" y="34"/>
                  <a:pt x="677" y="40"/>
                </a:cubicBezTo>
                <a:cubicBezTo>
                  <a:pt x="680" y="44"/>
                  <a:pt x="681" y="51"/>
                  <a:pt x="681" y="58"/>
                </a:cubicBezTo>
                <a:cubicBezTo>
                  <a:pt x="681" y="59"/>
                  <a:pt x="681" y="59"/>
                  <a:pt x="681" y="59"/>
                </a:cubicBezTo>
                <a:cubicBezTo>
                  <a:pt x="681" y="60"/>
                  <a:pt x="681" y="60"/>
                  <a:pt x="681" y="60"/>
                </a:cubicBezTo>
                <a:lnTo>
                  <a:pt x="642" y="60"/>
                </a:lnTo>
                <a:close/>
                <a:moveTo>
                  <a:pt x="669" y="52"/>
                </a:moveTo>
                <a:cubicBezTo>
                  <a:pt x="669" y="42"/>
                  <a:pt x="665" y="37"/>
                  <a:pt x="656" y="37"/>
                </a:cubicBezTo>
                <a:cubicBezTo>
                  <a:pt x="650" y="37"/>
                  <a:pt x="646" y="40"/>
                  <a:pt x="644" y="46"/>
                </a:cubicBezTo>
                <a:cubicBezTo>
                  <a:pt x="642" y="50"/>
                  <a:pt x="642" y="53"/>
                  <a:pt x="642" y="54"/>
                </a:cubicBezTo>
                <a:cubicBezTo>
                  <a:pt x="669" y="54"/>
                  <a:pt x="669" y="54"/>
                  <a:pt x="669" y="54"/>
                </a:cubicBezTo>
                <a:lnTo>
                  <a:pt x="669" y="52"/>
                </a:lnTo>
                <a:close/>
                <a:moveTo>
                  <a:pt x="734" y="92"/>
                </a:moveTo>
                <a:cubicBezTo>
                  <a:pt x="734" y="60"/>
                  <a:pt x="734" y="60"/>
                  <a:pt x="734" y="60"/>
                </a:cubicBezTo>
                <a:cubicBezTo>
                  <a:pt x="734" y="56"/>
                  <a:pt x="734" y="52"/>
                  <a:pt x="734" y="49"/>
                </a:cubicBezTo>
                <a:cubicBezTo>
                  <a:pt x="732" y="41"/>
                  <a:pt x="727" y="38"/>
                  <a:pt x="719" y="38"/>
                </a:cubicBezTo>
                <a:cubicBezTo>
                  <a:pt x="713" y="38"/>
                  <a:pt x="708" y="41"/>
                  <a:pt x="708" y="41"/>
                </a:cubicBezTo>
                <a:cubicBezTo>
                  <a:pt x="708" y="92"/>
                  <a:pt x="708" y="92"/>
                  <a:pt x="708" y="92"/>
                </a:cubicBezTo>
                <a:cubicBezTo>
                  <a:pt x="696" y="92"/>
                  <a:pt x="696" y="92"/>
                  <a:pt x="696" y="92"/>
                </a:cubicBezTo>
                <a:cubicBezTo>
                  <a:pt x="696" y="32"/>
                  <a:pt x="696" y="32"/>
                  <a:pt x="696" y="32"/>
                </a:cubicBezTo>
                <a:cubicBezTo>
                  <a:pt x="707" y="32"/>
                  <a:pt x="707" y="32"/>
                  <a:pt x="707" y="32"/>
                </a:cubicBezTo>
                <a:cubicBezTo>
                  <a:pt x="707" y="38"/>
                  <a:pt x="707" y="38"/>
                  <a:pt x="707" y="38"/>
                </a:cubicBezTo>
                <a:cubicBezTo>
                  <a:pt x="707" y="38"/>
                  <a:pt x="713" y="30"/>
                  <a:pt x="726" y="30"/>
                </a:cubicBezTo>
                <a:cubicBezTo>
                  <a:pt x="738" y="30"/>
                  <a:pt x="743" y="38"/>
                  <a:pt x="745" y="44"/>
                </a:cubicBezTo>
                <a:cubicBezTo>
                  <a:pt x="746" y="48"/>
                  <a:pt x="746" y="53"/>
                  <a:pt x="746" y="56"/>
                </a:cubicBezTo>
                <a:cubicBezTo>
                  <a:pt x="746" y="92"/>
                  <a:pt x="746" y="92"/>
                  <a:pt x="746" y="92"/>
                </a:cubicBezTo>
                <a:lnTo>
                  <a:pt x="734" y="92"/>
                </a:lnTo>
                <a:close/>
                <a:moveTo>
                  <a:pt x="783" y="93"/>
                </a:moveTo>
                <a:cubicBezTo>
                  <a:pt x="774" y="93"/>
                  <a:pt x="769" y="91"/>
                  <a:pt x="766" y="84"/>
                </a:cubicBezTo>
                <a:cubicBezTo>
                  <a:pt x="765" y="81"/>
                  <a:pt x="765" y="75"/>
                  <a:pt x="765" y="71"/>
                </a:cubicBezTo>
                <a:cubicBezTo>
                  <a:pt x="765" y="38"/>
                  <a:pt x="765" y="38"/>
                  <a:pt x="765" y="38"/>
                </a:cubicBezTo>
                <a:cubicBezTo>
                  <a:pt x="757" y="38"/>
                  <a:pt x="757" y="38"/>
                  <a:pt x="757" y="38"/>
                </a:cubicBezTo>
                <a:cubicBezTo>
                  <a:pt x="757" y="34"/>
                  <a:pt x="757" y="34"/>
                  <a:pt x="757" y="34"/>
                </a:cubicBezTo>
                <a:cubicBezTo>
                  <a:pt x="758" y="33"/>
                  <a:pt x="758" y="33"/>
                  <a:pt x="758" y="33"/>
                </a:cubicBezTo>
                <a:cubicBezTo>
                  <a:pt x="765" y="30"/>
                  <a:pt x="769" y="26"/>
                  <a:pt x="770" y="19"/>
                </a:cubicBezTo>
                <a:cubicBezTo>
                  <a:pt x="770" y="18"/>
                  <a:pt x="770" y="18"/>
                  <a:pt x="770" y="18"/>
                </a:cubicBezTo>
                <a:cubicBezTo>
                  <a:pt x="777" y="18"/>
                  <a:pt x="777" y="18"/>
                  <a:pt x="777" y="18"/>
                </a:cubicBezTo>
                <a:cubicBezTo>
                  <a:pt x="777" y="32"/>
                  <a:pt x="777" y="32"/>
                  <a:pt x="777" y="32"/>
                </a:cubicBezTo>
                <a:cubicBezTo>
                  <a:pt x="796" y="32"/>
                  <a:pt x="796" y="32"/>
                  <a:pt x="796" y="32"/>
                </a:cubicBezTo>
                <a:cubicBezTo>
                  <a:pt x="796" y="38"/>
                  <a:pt x="796" y="38"/>
                  <a:pt x="796" y="38"/>
                </a:cubicBezTo>
                <a:cubicBezTo>
                  <a:pt x="777" y="38"/>
                  <a:pt x="777" y="38"/>
                  <a:pt x="777" y="38"/>
                </a:cubicBezTo>
                <a:cubicBezTo>
                  <a:pt x="777" y="74"/>
                  <a:pt x="777" y="74"/>
                  <a:pt x="777" y="74"/>
                </a:cubicBezTo>
                <a:cubicBezTo>
                  <a:pt x="777" y="80"/>
                  <a:pt x="778" y="86"/>
                  <a:pt x="787" y="86"/>
                </a:cubicBezTo>
                <a:cubicBezTo>
                  <a:pt x="791" y="86"/>
                  <a:pt x="795" y="84"/>
                  <a:pt x="795" y="84"/>
                </a:cubicBezTo>
                <a:cubicBezTo>
                  <a:pt x="797" y="91"/>
                  <a:pt x="797" y="91"/>
                  <a:pt x="797" y="91"/>
                </a:cubicBezTo>
                <a:cubicBezTo>
                  <a:pt x="796" y="91"/>
                  <a:pt x="792" y="93"/>
                  <a:pt x="783" y="93"/>
                </a:cubicBezTo>
                <a:close/>
                <a:moveTo>
                  <a:pt x="824" y="93"/>
                </a:moveTo>
                <a:cubicBezTo>
                  <a:pt x="812" y="93"/>
                  <a:pt x="806" y="90"/>
                  <a:pt x="806" y="90"/>
                </a:cubicBezTo>
                <a:cubicBezTo>
                  <a:pt x="808" y="83"/>
                  <a:pt x="808" y="83"/>
                  <a:pt x="808" y="83"/>
                </a:cubicBezTo>
                <a:cubicBezTo>
                  <a:pt x="808" y="83"/>
                  <a:pt x="813" y="86"/>
                  <a:pt x="823" y="86"/>
                </a:cubicBezTo>
                <a:cubicBezTo>
                  <a:pt x="831" y="86"/>
                  <a:pt x="836" y="83"/>
                  <a:pt x="836" y="77"/>
                </a:cubicBezTo>
                <a:cubicBezTo>
                  <a:pt x="836" y="72"/>
                  <a:pt x="833" y="71"/>
                  <a:pt x="829" y="69"/>
                </a:cubicBezTo>
                <a:cubicBezTo>
                  <a:pt x="819" y="63"/>
                  <a:pt x="819" y="63"/>
                  <a:pt x="819" y="63"/>
                </a:cubicBezTo>
                <a:cubicBezTo>
                  <a:pt x="812" y="59"/>
                  <a:pt x="808" y="55"/>
                  <a:pt x="808" y="47"/>
                </a:cubicBezTo>
                <a:cubicBezTo>
                  <a:pt x="808" y="35"/>
                  <a:pt x="817" y="30"/>
                  <a:pt x="828" y="30"/>
                </a:cubicBezTo>
                <a:cubicBezTo>
                  <a:pt x="839" y="30"/>
                  <a:pt x="845" y="34"/>
                  <a:pt x="845" y="34"/>
                </a:cubicBezTo>
                <a:cubicBezTo>
                  <a:pt x="842" y="41"/>
                  <a:pt x="842" y="41"/>
                  <a:pt x="842" y="41"/>
                </a:cubicBezTo>
                <a:cubicBezTo>
                  <a:pt x="842" y="41"/>
                  <a:pt x="837" y="37"/>
                  <a:pt x="829" y="37"/>
                </a:cubicBezTo>
                <a:cubicBezTo>
                  <a:pt x="825" y="37"/>
                  <a:pt x="818" y="39"/>
                  <a:pt x="818" y="45"/>
                </a:cubicBezTo>
                <a:cubicBezTo>
                  <a:pt x="818" y="50"/>
                  <a:pt x="821" y="51"/>
                  <a:pt x="826" y="54"/>
                </a:cubicBezTo>
                <a:cubicBezTo>
                  <a:pt x="836" y="59"/>
                  <a:pt x="836" y="59"/>
                  <a:pt x="836" y="59"/>
                </a:cubicBezTo>
                <a:cubicBezTo>
                  <a:pt x="843" y="63"/>
                  <a:pt x="846" y="68"/>
                  <a:pt x="846" y="75"/>
                </a:cubicBezTo>
                <a:cubicBezTo>
                  <a:pt x="846" y="90"/>
                  <a:pt x="833" y="93"/>
                  <a:pt x="824" y="93"/>
                </a:cubicBezTo>
                <a:close/>
                <a:moveTo>
                  <a:pt x="895" y="20"/>
                </a:moveTo>
                <a:cubicBezTo>
                  <a:pt x="890" y="20"/>
                  <a:pt x="888" y="18"/>
                  <a:pt x="888" y="14"/>
                </a:cubicBezTo>
                <a:cubicBezTo>
                  <a:pt x="888" y="9"/>
                  <a:pt x="890" y="7"/>
                  <a:pt x="895" y="7"/>
                </a:cubicBezTo>
                <a:cubicBezTo>
                  <a:pt x="899" y="7"/>
                  <a:pt x="902" y="9"/>
                  <a:pt x="902" y="13"/>
                </a:cubicBezTo>
                <a:cubicBezTo>
                  <a:pt x="902" y="18"/>
                  <a:pt x="899" y="20"/>
                  <a:pt x="895" y="20"/>
                </a:cubicBezTo>
                <a:close/>
                <a:moveTo>
                  <a:pt x="889" y="92"/>
                </a:moveTo>
                <a:cubicBezTo>
                  <a:pt x="889" y="32"/>
                  <a:pt x="889" y="32"/>
                  <a:pt x="889" y="32"/>
                </a:cubicBezTo>
                <a:cubicBezTo>
                  <a:pt x="901" y="32"/>
                  <a:pt x="901" y="32"/>
                  <a:pt x="901" y="32"/>
                </a:cubicBezTo>
                <a:cubicBezTo>
                  <a:pt x="901" y="92"/>
                  <a:pt x="901" y="92"/>
                  <a:pt x="901" y="92"/>
                </a:cubicBezTo>
                <a:lnTo>
                  <a:pt x="889" y="92"/>
                </a:lnTo>
                <a:close/>
                <a:moveTo>
                  <a:pt x="932" y="93"/>
                </a:moveTo>
                <a:cubicBezTo>
                  <a:pt x="920" y="93"/>
                  <a:pt x="914" y="90"/>
                  <a:pt x="914" y="90"/>
                </a:cubicBezTo>
                <a:cubicBezTo>
                  <a:pt x="916" y="83"/>
                  <a:pt x="916" y="83"/>
                  <a:pt x="916" y="83"/>
                </a:cubicBezTo>
                <a:cubicBezTo>
                  <a:pt x="916" y="83"/>
                  <a:pt x="921" y="86"/>
                  <a:pt x="931" y="86"/>
                </a:cubicBezTo>
                <a:cubicBezTo>
                  <a:pt x="939" y="86"/>
                  <a:pt x="944" y="83"/>
                  <a:pt x="944" y="77"/>
                </a:cubicBezTo>
                <a:cubicBezTo>
                  <a:pt x="944" y="72"/>
                  <a:pt x="941" y="71"/>
                  <a:pt x="937" y="69"/>
                </a:cubicBezTo>
                <a:cubicBezTo>
                  <a:pt x="927" y="63"/>
                  <a:pt x="927" y="63"/>
                  <a:pt x="927" y="63"/>
                </a:cubicBezTo>
                <a:cubicBezTo>
                  <a:pt x="920" y="59"/>
                  <a:pt x="916" y="55"/>
                  <a:pt x="916" y="47"/>
                </a:cubicBezTo>
                <a:cubicBezTo>
                  <a:pt x="916" y="35"/>
                  <a:pt x="925" y="30"/>
                  <a:pt x="936" y="30"/>
                </a:cubicBezTo>
                <a:cubicBezTo>
                  <a:pt x="947" y="30"/>
                  <a:pt x="953" y="34"/>
                  <a:pt x="953" y="34"/>
                </a:cubicBezTo>
                <a:cubicBezTo>
                  <a:pt x="950" y="41"/>
                  <a:pt x="950" y="41"/>
                  <a:pt x="950" y="41"/>
                </a:cubicBezTo>
                <a:cubicBezTo>
                  <a:pt x="950" y="41"/>
                  <a:pt x="945" y="37"/>
                  <a:pt x="937" y="37"/>
                </a:cubicBezTo>
                <a:cubicBezTo>
                  <a:pt x="932" y="37"/>
                  <a:pt x="926" y="39"/>
                  <a:pt x="926" y="45"/>
                </a:cubicBezTo>
                <a:cubicBezTo>
                  <a:pt x="926" y="50"/>
                  <a:pt x="929" y="51"/>
                  <a:pt x="934" y="54"/>
                </a:cubicBezTo>
                <a:cubicBezTo>
                  <a:pt x="944" y="59"/>
                  <a:pt x="944" y="59"/>
                  <a:pt x="944" y="59"/>
                </a:cubicBezTo>
                <a:cubicBezTo>
                  <a:pt x="950" y="63"/>
                  <a:pt x="954" y="68"/>
                  <a:pt x="954" y="75"/>
                </a:cubicBezTo>
                <a:cubicBezTo>
                  <a:pt x="954" y="90"/>
                  <a:pt x="941" y="93"/>
                  <a:pt x="932" y="93"/>
                </a:cubicBezTo>
                <a:close/>
                <a:moveTo>
                  <a:pt x="1032" y="94"/>
                </a:moveTo>
                <a:cubicBezTo>
                  <a:pt x="1007" y="94"/>
                  <a:pt x="993" y="79"/>
                  <a:pt x="993" y="52"/>
                </a:cubicBezTo>
                <a:cubicBezTo>
                  <a:pt x="993" y="23"/>
                  <a:pt x="1007" y="6"/>
                  <a:pt x="1031" y="6"/>
                </a:cubicBezTo>
                <a:cubicBezTo>
                  <a:pt x="1055" y="6"/>
                  <a:pt x="1070" y="22"/>
                  <a:pt x="1070" y="48"/>
                </a:cubicBezTo>
                <a:cubicBezTo>
                  <a:pt x="1070" y="77"/>
                  <a:pt x="1055" y="94"/>
                  <a:pt x="1032" y="94"/>
                </a:cubicBezTo>
                <a:close/>
                <a:moveTo>
                  <a:pt x="1031" y="14"/>
                </a:moveTo>
                <a:cubicBezTo>
                  <a:pt x="1015" y="14"/>
                  <a:pt x="1005" y="27"/>
                  <a:pt x="1005" y="50"/>
                </a:cubicBezTo>
                <a:cubicBezTo>
                  <a:pt x="1005" y="74"/>
                  <a:pt x="1014" y="86"/>
                  <a:pt x="1032" y="86"/>
                </a:cubicBezTo>
                <a:cubicBezTo>
                  <a:pt x="1048" y="86"/>
                  <a:pt x="1058" y="74"/>
                  <a:pt x="1058" y="50"/>
                </a:cubicBezTo>
                <a:cubicBezTo>
                  <a:pt x="1058" y="27"/>
                  <a:pt x="1049" y="14"/>
                  <a:pt x="1031" y="14"/>
                </a:cubicBezTo>
                <a:close/>
                <a:moveTo>
                  <a:pt x="1124" y="92"/>
                </a:moveTo>
                <a:cubicBezTo>
                  <a:pt x="1124" y="86"/>
                  <a:pt x="1124" y="86"/>
                  <a:pt x="1124" y="86"/>
                </a:cubicBezTo>
                <a:cubicBezTo>
                  <a:pt x="1124" y="86"/>
                  <a:pt x="1118" y="94"/>
                  <a:pt x="1106" y="94"/>
                </a:cubicBezTo>
                <a:cubicBezTo>
                  <a:pt x="1101" y="94"/>
                  <a:pt x="1090" y="93"/>
                  <a:pt x="1087" y="80"/>
                </a:cubicBezTo>
                <a:cubicBezTo>
                  <a:pt x="1085" y="76"/>
                  <a:pt x="1086" y="69"/>
                  <a:pt x="1086" y="67"/>
                </a:cubicBezTo>
                <a:cubicBezTo>
                  <a:pt x="1086" y="32"/>
                  <a:pt x="1086" y="32"/>
                  <a:pt x="1086" y="32"/>
                </a:cubicBezTo>
                <a:cubicBezTo>
                  <a:pt x="1097" y="32"/>
                  <a:pt x="1097" y="32"/>
                  <a:pt x="1097" y="32"/>
                </a:cubicBezTo>
                <a:cubicBezTo>
                  <a:pt x="1097" y="64"/>
                  <a:pt x="1097" y="64"/>
                  <a:pt x="1097" y="64"/>
                </a:cubicBezTo>
                <a:cubicBezTo>
                  <a:pt x="1097" y="70"/>
                  <a:pt x="1097" y="72"/>
                  <a:pt x="1098" y="75"/>
                </a:cubicBezTo>
                <a:cubicBezTo>
                  <a:pt x="1099" y="82"/>
                  <a:pt x="1104" y="86"/>
                  <a:pt x="1112" y="86"/>
                </a:cubicBezTo>
                <a:cubicBezTo>
                  <a:pt x="1119" y="86"/>
                  <a:pt x="1124" y="83"/>
                  <a:pt x="1124" y="83"/>
                </a:cubicBezTo>
                <a:cubicBezTo>
                  <a:pt x="1124" y="32"/>
                  <a:pt x="1124" y="32"/>
                  <a:pt x="1124" y="32"/>
                </a:cubicBezTo>
                <a:cubicBezTo>
                  <a:pt x="1135" y="32"/>
                  <a:pt x="1135" y="32"/>
                  <a:pt x="1135" y="32"/>
                </a:cubicBezTo>
                <a:cubicBezTo>
                  <a:pt x="1135" y="92"/>
                  <a:pt x="1135" y="92"/>
                  <a:pt x="1135" y="92"/>
                </a:cubicBezTo>
                <a:lnTo>
                  <a:pt x="1124" y="92"/>
                </a:lnTo>
                <a:close/>
                <a:moveTo>
                  <a:pt x="1185" y="42"/>
                </a:moveTo>
                <a:cubicBezTo>
                  <a:pt x="1183" y="41"/>
                  <a:pt x="1181" y="39"/>
                  <a:pt x="1176" y="39"/>
                </a:cubicBezTo>
                <a:cubicBezTo>
                  <a:pt x="1170" y="39"/>
                  <a:pt x="1166" y="42"/>
                  <a:pt x="1166" y="42"/>
                </a:cubicBezTo>
                <a:cubicBezTo>
                  <a:pt x="1166" y="92"/>
                  <a:pt x="1166" y="92"/>
                  <a:pt x="1166" y="92"/>
                </a:cubicBezTo>
                <a:cubicBezTo>
                  <a:pt x="1154" y="92"/>
                  <a:pt x="1154" y="92"/>
                  <a:pt x="1154" y="92"/>
                </a:cubicBezTo>
                <a:cubicBezTo>
                  <a:pt x="1154" y="32"/>
                  <a:pt x="1154" y="32"/>
                  <a:pt x="1154" y="32"/>
                </a:cubicBezTo>
                <a:cubicBezTo>
                  <a:pt x="1166" y="32"/>
                  <a:pt x="1166" y="32"/>
                  <a:pt x="1166" y="32"/>
                </a:cubicBezTo>
                <a:cubicBezTo>
                  <a:pt x="1166" y="39"/>
                  <a:pt x="1166" y="39"/>
                  <a:pt x="1166" y="39"/>
                </a:cubicBezTo>
                <a:cubicBezTo>
                  <a:pt x="1166" y="39"/>
                  <a:pt x="1171" y="30"/>
                  <a:pt x="1180" y="30"/>
                </a:cubicBezTo>
                <a:cubicBezTo>
                  <a:pt x="1185" y="30"/>
                  <a:pt x="1187" y="32"/>
                  <a:pt x="1189" y="32"/>
                </a:cubicBezTo>
                <a:lnTo>
                  <a:pt x="1185" y="42"/>
                </a:lnTo>
                <a:close/>
                <a:moveTo>
                  <a:pt x="1227" y="92"/>
                </a:moveTo>
                <a:cubicBezTo>
                  <a:pt x="1227" y="8"/>
                  <a:pt x="1227" y="8"/>
                  <a:pt x="1227" y="8"/>
                </a:cubicBezTo>
                <a:cubicBezTo>
                  <a:pt x="1239" y="8"/>
                  <a:pt x="1239" y="8"/>
                  <a:pt x="1239" y="8"/>
                </a:cubicBezTo>
                <a:cubicBezTo>
                  <a:pt x="1239" y="85"/>
                  <a:pt x="1239" y="85"/>
                  <a:pt x="1239" y="85"/>
                </a:cubicBezTo>
                <a:cubicBezTo>
                  <a:pt x="1269" y="85"/>
                  <a:pt x="1269" y="85"/>
                  <a:pt x="1269" y="85"/>
                </a:cubicBezTo>
                <a:cubicBezTo>
                  <a:pt x="1269" y="92"/>
                  <a:pt x="1269" y="92"/>
                  <a:pt x="1269" y="92"/>
                </a:cubicBezTo>
                <a:lnTo>
                  <a:pt x="1227" y="92"/>
                </a:lnTo>
                <a:close/>
                <a:moveTo>
                  <a:pt x="1287" y="20"/>
                </a:moveTo>
                <a:cubicBezTo>
                  <a:pt x="1283" y="20"/>
                  <a:pt x="1280" y="18"/>
                  <a:pt x="1280" y="14"/>
                </a:cubicBezTo>
                <a:cubicBezTo>
                  <a:pt x="1280" y="9"/>
                  <a:pt x="1283" y="7"/>
                  <a:pt x="1287" y="7"/>
                </a:cubicBezTo>
                <a:cubicBezTo>
                  <a:pt x="1291" y="7"/>
                  <a:pt x="1294" y="9"/>
                  <a:pt x="1294" y="13"/>
                </a:cubicBezTo>
                <a:cubicBezTo>
                  <a:pt x="1294" y="18"/>
                  <a:pt x="1291" y="20"/>
                  <a:pt x="1287" y="20"/>
                </a:cubicBezTo>
                <a:close/>
                <a:moveTo>
                  <a:pt x="1281" y="92"/>
                </a:moveTo>
                <a:cubicBezTo>
                  <a:pt x="1281" y="32"/>
                  <a:pt x="1281" y="32"/>
                  <a:pt x="1281" y="32"/>
                </a:cubicBezTo>
                <a:cubicBezTo>
                  <a:pt x="1293" y="32"/>
                  <a:pt x="1293" y="32"/>
                  <a:pt x="1293" y="32"/>
                </a:cubicBezTo>
                <a:cubicBezTo>
                  <a:pt x="1293" y="92"/>
                  <a:pt x="1293" y="92"/>
                  <a:pt x="1293" y="92"/>
                </a:cubicBezTo>
                <a:lnTo>
                  <a:pt x="1281" y="92"/>
                </a:lnTo>
                <a:close/>
                <a:moveTo>
                  <a:pt x="1343" y="8"/>
                </a:moveTo>
                <a:cubicBezTo>
                  <a:pt x="1343" y="8"/>
                  <a:pt x="1340" y="6"/>
                  <a:pt x="1336" y="6"/>
                </a:cubicBezTo>
                <a:cubicBezTo>
                  <a:pt x="1331" y="6"/>
                  <a:pt x="1328" y="8"/>
                  <a:pt x="1327" y="11"/>
                </a:cubicBezTo>
                <a:cubicBezTo>
                  <a:pt x="1325" y="13"/>
                  <a:pt x="1325" y="17"/>
                  <a:pt x="1325" y="23"/>
                </a:cubicBezTo>
                <a:cubicBezTo>
                  <a:pt x="1325" y="32"/>
                  <a:pt x="1325" y="32"/>
                  <a:pt x="1325" y="32"/>
                </a:cubicBezTo>
                <a:cubicBezTo>
                  <a:pt x="1339" y="32"/>
                  <a:pt x="1339" y="32"/>
                  <a:pt x="1339" y="32"/>
                </a:cubicBezTo>
                <a:cubicBezTo>
                  <a:pt x="1339" y="38"/>
                  <a:pt x="1339" y="38"/>
                  <a:pt x="1339" y="38"/>
                </a:cubicBezTo>
                <a:cubicBezTo>
                  <a:pt x="1325" y="38"/>
                  <a:pt x="1325" y="38"/>
                  <a:pt x="1325" y="38"/>
                </a:cubicBezTo>
                <a:cubicBezTo>
                  <a:pt x="1325" y="92"/>
                  <a:pt x="1325" y="92"/>
                  <a:pt x="1325" y="92"/>
                </a:cubicBezTo>
                <a:cubicBezTo>
                  <a:pt x="1314" y="92"/>
                  <a:pt x="1314" y="92"/>
                  <a:pt x="1314" y="92"/>
                </a:cubicBezTo>
                <a:cubicBezTo>
                  <a:pt x="1314" y="38"/>
                  <a:pt x="1314" y="38"/>
                  <a:pt x="1314" y="38"/>
                </a:cubicBezTo>
                <a:cubicBezTo>
                  <a:pt x="1305" y="38"/>
                  <a:pt x="1305" y="38"/>
                  <a:pt x="1305" y="38"/>
                </a:cubicBezTo>
                <a:cubicBezTo>
                  <a:pt x="1305" y="32"/>
                  <a:pt x="1305" y="32"/>
                  <a:pt x="1305" y="32"/>
                </a:cubicBezTo>
                <a:cubicBezTo>
                  <a:pt x="1314" y="32"/>
                  <a:pt x="1314" y="32"/>
                  <a:pt x="1314" y="32"/>
                </a:cubicBezTo>
                <a:cubicBezTo>
                  <a:pt x="1314" y="28"/>
                  <a:pt x="1314" y="28"/>
                  <a:pt x="1314" y="28"/>
                </a:cubicBezTo>
                <a:cubicBezTo>
                  <a:pt x="1314" y="24"/>
                  <a:pt x="1314" y="17"/>
                  <a:pt x="1315" y="13"/>
                </a:cubicBezTo>
                <a:cubicBezTo>
                  <a:pt x="1318" y="5"/>
                  <a:pt x="1324" y="0"/>
                  <a:pt x="1334" y="0"/>
                </a:cubicBezTo>
                <a:cubicBezTo>
                  <a:pt x="1341" y="0"/>
                  <a:pt x="1345" y="2"/>
                  <a:pt x="1345" y="2"/>
                </a:cubicBezTo>
                <a:lnTo>
                  <a:pt x="1343" y="8"/>
                </a:lnTo>
                <a:close/>
                <a:moveTo>
                  <a:pt x="1356" y="60"/>
                </a:moveTo>
                <a:cubicBezTo>
                  <a:pt x="1356" y="60"/>
                  <a:pt x="1356" y="62"/>
                  <a:pt x="1356" y="62"/>
                </a:cubicBezTo>
                <a:cubicBezTo>
                  <a:pt x="1356" y="83"/>
                  <a:pt x="1370" y="86"/>
                  <a:pt x="1377" y="86"/>
                </a:cubicBezTo>
                <a:cubicBezTo>
                  <a:pt x="1386" y="86"/>
                  <a:pt x="1390" y="83"/>
                  <a:pt x="1390" y="83"/>
                </a:cubicBezTo>
                <a:cubicBezTo>
                  <a:pt x="1393" y="90"/>
                  <a:pt x="1393" y="90"/>
                  <a:pt x="1393" y="90"/>
                </a:cubicBezTo>
                <a:cubicBezTo>
                  <a:pt x="1393" y="90"/>
                  <a:pt x="1387" y="93"/>
                  <a:pt x="1375" y="93"/>
                </a:cubicBezTo>
                <a:cubicBezTo>
                  <a:pt x="1362" y="93"/>
                  <a:pt x="1345" y="89"/>
                  <a:pt x="1345" y="62"/>
                </a:cubicBezTo>
                <a:cubicBezTo>
                  <a:pt x="1345" y="51"/>
                  <a:pt x="1349" y="30"/>
                  <a:pt x="1372" y="30"/>
                </a:cubicBezTo>
                <a:cubicBezTo>
                  <a:pt x="1382" y="30"/>
                  <a:pt x="1388" y="34"/>
                  <a:pt x="1391" y="40"/>
                </a:cubicBezTo>
                <a:cubicBezTo>
                  <a:pt x="1394" y="44"/>
                  <a:pt x="1395" y="51"/>
                  <a:pt x="1395" y="58"/>
                </a:cubicBezTo>
                <a:cubicBezTo>
                  <a:pt x="1395" y="59"/>
                  <a:pt x="1395" y="59"/>
                  <a:pt x="1395" y="59"/>
                </a:cubicBezTo>
                <a:cubicBezTo>
                  <a:pt x="1395" y="60"/>
                  <a:pt x="1395" y="60"/>
                  <a:pt x="1395" y="60"/>
                </a:cubicBezTo>
                <a:lnTo>
                  <a:pt x="1356" y="60"/>
                </a:lnTo>
                <a:close/>
                <a:moveTo>
                  <a:pt x="1383" y="52"/>
                </a:moveTo>
                <a:cubicBezTo>
                  <a:pt x="1383" y="42"/>
                  <a:pt x="1379" y="37"/>
                  <a:pt x="1371" y="37"/>
                </a:cubicBezTo>
                <a:cubicBezTo>
                  <a:pt x="1364" y="37"/>
                  <a:pt x="1360" y="40"/>
                  <a:pt x="1358" y="46"/>
                </a:cubicBezTo>
                <a:cubicBezTo>
                  <a:pt x="1357" y="50"/>
                  <a:pt x="1357" y="53"/>
                  <a:pt x="1357" y="54"/>
                </a:cubicBezTo>
                <a:cubicBezTo>
                  <a:pt x="1383" y="54"/>
                  <a:pt x="1383" y="54"/>
                  <a:pt x="1383" y="54"/>
                </a:cubicBezTo>
                <a:lnTo>
                  <a:pt x="1383" y="52"/>
                </a:lnTo>
                <a:close/>
                <a:moveTo>
                  <a:pt x="1420" y="23"/>
                </a:moveTo>
                <a:cubicBezTo>
                  <a:pt x="1417" y="30"/>
                  <a:pt x="1410" y="34"/>
                  <a:pt x="1410" y="34"/>
                </a:cubicBezTo>
                <a:cubicBezTo>
                  <a:pt x="1406" y="31"/>
                  <a:pt x="1406" y="31"/>
                  <a:pt x="1406" y="31"/>
                </a:cubicBezTo>
                <a:cubicBezTo>
                  <a:pt x="1406" y="31"/>
                  <a:pt x="1411" y="25"/>
                  <a:pt x="1411" y="14"/>
                </a:cubicBezTo>
                <a:cubicBezTo>
                  <a:pt x="1411" y="7"/>
                  <a:pt x="1410" y="4"/>
                  <a:pt x="1410" y="4"/>
                </a:cubicBezTo>
                <a:cubicBezTo>
                  <a:pt x="1423" y="4"/>
                  <a:pt x="1423" y="4"/>
                  <a:pt x="1423" y="4"/>
                </a:cubicBezTo>
                <a:cubicBezTo>
                  <a:pt x="1423" y="5"/>
                  <a:pt x="1423" y="5"/>
                  <a:pt x="1423" y="5"/>
                </a:cubicBezTo>
                <a:cubicBezTo>
                  <a:pt x="1423" y="15"/>
                  <a:pt x="1422" y="19"/>
                  <a:pt x="1420" y="23"/>
                </a:cubicBezTo>
                <a:close/>
                <a:moveTo>
                  <a:pt x="1444" y="93"/>
                </a:moveTo>
                <a:cubicBezTo>
                  <a:pt x="1431" y="93"/>
                  <a:pt x="1425" y="90"/>
                  <a:pt x="1425" y="90"/>
                </a:cubicBezTo>
                <a:cubicBezTo>
                  <a:pt x="1428" y="83"/>
                  <a:pt x="1428" y="83"/>
                  <a:pt x="1428" y="83"/>
                </a:cubicBezTo>
                <a:cubicBezTo>
                  <a:pt x="1428" y="83"/>
                  <a:pt x="1433" y="86"/>
                  <a:pt x="1443" y="86"/>
                </a:cubicBezTo>
                <a:cubicBezTo>
                  <a:pt x="1451" y="86"/>
                  <a:pt x="1455" y="83"/>
                  <a:pt x="1455" y="77"/>
                </a:cubicBezTo>
                <a:cubicBezTo>
                  <a:pt x="1455" y="72"/>
                  <a:pt x="1453" y="71"/>
                  <a:pt x="1449" y="69"/>
                </a:cubicBezTo>
                <a:cubicBezTo>
                  <a:pt x="1439" y="63"/>
                  <a:pt x="1439" y="63"/>
                  <a:pt x="1439" y="63"/>
                </a:cubicBezTo>
                <a:cubicBezTo>
                  <a:pt x="1432" y="59"/>
                  <a:pt x="1428" y="55"/>
                  <a:pt x="1428" y="47"/>
                </a:cubicBezTo>
                <a:cubicBezTo>
                  <a:pt x="1428" y="35"/>
                  <a:pt x="1436" y="30"/>
                  <a:pt x="1448" y="30"/>
                </a:cubicBezTo>
                <a:cubicBezTo>
                  <a:pt x="1459" y="30"/>
                  <a:pt x="1464" y="34"/>
                  <a:pt x="1464" y="34"/>
                </a:cubicBezTo>
                <a:cubicBezTo>
                  <a:pt x="1462" y="41"/>
                  <a:pt x="1462" y="41"/>
                  <a:pt x="1462" y="41"/>
                </a:cubicBezTo>
                <a:cubicBezTo>
                  <a:pt x="1462" y="41"/>
                  <a:pt x="1457" y="37"/>
                  <a:pt x="1449" y="37"/>
                </a:cubicBezTo>
                <a:cubicBezTo>
                  <a:pt x="1444" y="37"/>
                  <a:pt x="1438" y="39"/>
                  <a:pt x="1438" y="45"/>
                </a:cubicBezTo>
                <a:cubicBezTo>
                  <a:pt x="1438" y="50"/>
                  <a:pt x="1440" y="51"/>
                  <a:pt x="1446" y="54"/>
                </a:cubicBezTo>
                <a:cubicBezTo>
                  <a:pt x="1455" y="59"/>
                  <a:pt x="1455" y="59"/>
                  <a:pt x="1455" y="59"/>
                </a:cubicBezTo>
                <a:cubicBezTo>
                  <a:pt x="1462" y="63"/>
                  <a:pt x="1466" y="68"/>
                  <a:pt x="1466" y="75"/>
                </a:cubicBezTo>
                <a:cubicBezTo>
                  <a:pt x="1466" y="90"/>
                  <a:pt x="1452" y="93"/>
                  <a:pt x="1444" y="93"/>
                </a:cubicBezTo>
                <a:close/>
                <a:moveTo>
                  <a:pt x="1587" y="93"/>
                </a:moveTo>
                <a:cubicBezTo>
                  <a:pt x="1575" y="93"/>
                  <a:pt x="1575" y="93"/>
                  <a:pt x="1575" y="93"/>
                </a:cubicBezTo>
                <a:cubicBezTo>
                  <a:pt x="1557" y="31"/>
                  <a:pt x="1557" y="31"/>
                  <a:pt x="1557" y="31"/>
                </a:cubicBezTo>
                <a:cubicBezTo>
                  <a:pt x="1556" y="25"/>
                  <a:pt x="1556" y="23"/>
                  <a:pt x="1556" y="23"/>
                </a:cubicBezTo>
                <a:cubicBezTo>
                  <a:pt x="1556" y="23"/>
                  <a:pt x="1556" y="25"/>
                  <a:pt x="1554" y="31"/>
                </a:cubicBezTo>
                <a:cubicBezTo>
                  <a:pt x="1536" y="93"/>
                  <a:pt x="1536" y="93"/>
                  <a:pt x="1536" y="93"/>
                </a:cubicBezTo>
                <a:cubicBezTo>
                  <a:pt x="1524" y="93"/>
                  <a:pt x="1524" y="93"/>
                  <a:pt x="1524" y="93"/>
                </a:cubicBezTo>
                <a:cubicBezTo>
                  <a:pt x="1500" y="8"/>
                  <a:pt x="1500" y="8"/>
                  <a:pt x="1500" y="8"/>
                </a:cubicBezTo>
                <a:cubicBezTo>
                  <a:pt x="1512" y="8"/>
                  <a:pt x="1512" y="8"/>
                  <a:pt x="1512" y="8"/>
                </a:cubicBezTo>
                <a:cubicBezTo>
                  <a:pt x="1530" y="72"/>
                  <a:pt x="1530" y="72"/>
                  <a:pt x="1530" y="72"/>
                </a:cubicBezTo>
                <a:cubicBezTo>
                  <a:pt x="1532" y="78"/>
                  <a:pt x="1532" y="81"/>
                  <a:pt x="1532" y="81"/>
                </a:cubicBezTo>
                <a:cubicBezTo>
                  <a:pt x="1532" y="81"/>
                  <a:pt x="1532" y="77"/>
                  <a:pt x="1534" y="72"/>
                </a:cubicBezTo>
                <a:cubicBezTo>
                  <a:pt x="1552" y="8"/>
                  <a:pt x="1552" y="8"/>
                  <a:pt x="1552" y="8"/>
                </a:cubicBezTo>
                <a:cubicBezTo>
                  <a:pt x="1562" y="8"/>
                  <a:pt x="1562" y="8"/>
                  <a:pt x="1562" y="8"/>
                </a:cubicBezTo>
                <a:cubicBezTo>
                  <a:pt x="1581" y="73"/>
                  <a:pt x="1581" y="73"/>
                  <a:pt x="1581" y="73"/>
                </a:cubicBezTo>
                <a:cubicBezTo>
                  <a:pt x="1582" y="77"/>
                  <a:pt x="1582" y="81"/>
                  <a:pt x="1582" y="81"/>
                </a:cubicBezTo>
                <a:cubicBezTo>
                  <a:pt x="1582" y="81"/>
                  <a:pt x="1583" y="77"/>
                  <a:pt x="1584" y="72"/>
                </a:cubicBezTo>
                <a:cubicBezTo>
                  <a:pt x="1603" y="8"/>
                  <a:pt x="1603" y="8"/>
                  <a:pt x="1603" y="8"/>
                </a:cubicBezTo>
                <a:cubicBezTo>
                  <a:pt x="1613" y="8"/>
                  <a:pt x="1613" y="8"/>
                  <a:pt x="1613" y="8"/>
                </a:cubicBezTo>
                <a:lnTo>
                  <a:pt x="1587" y="93"/>
                </a:lnTo>
                <a:close/>
                <a:moveTo>
                  <a:pt x="1643" y="94"/>
                </a:moveTo>
                <a:cubicBezTo>
                  <a:pt x="1626" y="94"/>
                  <a:pt x="1615" y="81"/>
                  <a:pt x="1615" y="63"/>
                </a:cubicBezTo>
                <a:cubicBezTo>
                  <a:pt x="1615" y="50"/>
                  <a:pt x="1621" y="30"/>
                  <a:pt x="1645" y="30"/>
                </a:cubicBezTo>
                <a:cubicBezTo>
                  <a:pt x="1662" y="30"/>
                  <a:pt x="1673" y="43"/>
                  <a:pt x="1673" y="61"/>
                </a:cubicBezTo>
                <a:cubicBezTo>
                  <a:pt x="1673" y="74"/>
                  <a:pt x="1667" y="94"/>
                  <a:pt x="1643" y="94"/>
                </a:cubicBezTo>
                <a:close/>
                <a:moveTo>
                  <a:pt x="1644" y="37"/>
                </a:moveTo>
                <a:cubicBezTo>
                  <a:pt x="1632" y="37"/>
                  <a:pt x="1628" y="46"/>
                  <a:pt x="1628" y="62"/>
                </a:cubicBezTo>
                <a:cubicBezTo>
                  <a:pt x="1628" y="76"/>
                  <a:pt x="1632" y="87"/>
                  <a:pt x="1644" y="87"/>
                </a:cubicBezTo>
                <a:cubicBezTo>
                  <a:pt x="1656" y="87"/>
                  <a:pt x="1660" y="78"/>
                  <a:pt x="1660" y="62"/>
                </a:cubicBezTo>
                <a:cubicBezTo>
                  <a:pt x="1660" y="48"/>
                  <a:pt x="1656" y="37"/>
                  <a:pt x="1644" y="37"/>
                </a:cubicBezTo>
                <a:close/>
                <a:moveTo>
                  <a:pt x="1719" y="42"/>
                </a:moveTo>
                <a:cubicBezTo>
                  <a:pt x="1718" y="41"/>
                  <a:pt x="1715" y="39"/>
                  <a:pt x="1710" y="39"/>
                </a:cubicBezTo>
                <a:cubicBezTo>
                  <a:pt x="1704" y="39"/>
                  <a:pt x="1700" y="42"/>
                  <a:pt x="1700" y="42"/>
                </a:cubicBezTo>
                <a:cubicBezTo>
                  <a:pt x="1700" y="92"/>
                  <a:pt x="1700" y="92"/>
                  <a:pt x="1700" y="92"/>
                </a:cubicBezTo>
                <a:cubicBezTo>
                  <a:pt x="1688" y="92"/>
                  <a:pt x="1688" y="92"/>
                  <a:pt x="1688" y="92"/>
                </a:cubicBezTo>
                <a:cubicBezTo>
                  <a:pt x="1688" y="32"/>
                  <a:pt x="1688" y="32"/>
                  <a:pt x="1688" y="32"/>
                </a:cubicBezTo>
                <a:cubicBezTo>
                  <a:pt x="1700" y="32"/>
                  <a:pt x="1700" y="32"/>
                  <a:pt x="1700" y="32"/>
                </a:cubicBezTo>
                <a:cubicBezTo>
                  <a:pt x="1700" y="39"/>
                  <a:pt x="1700" y="39"/>
                  <a:pt x="1700" y="39"/>
                </a:cubicBezTo>
                <a:cubicBezTo>
                  <a:pt x="1700" y="39"/>
                  <a:pt x="1705" y="30"/>
                  <a:pt x="1714" y="30"/>
                </a:cubicBezTo>
                <a:cubicBezTo>
                  <a:pt x="1719" y="30"/>
                  <a:pt x="1721" y="32"/>
                  <a:pt x="1723" y="32"/>
                </a:cubicBezTo>
                <a:lnTo>
                  <a:pt x="1719" y="42"/>
                </a:lnTo>
                <a:close/>
                <a:moveTo>
                  <a:pt x="1769" y="92"/>
                </a:moveTo>
                <a:cubicBezTo>
                  <a:pt x="1746" y="60"/>
                  <a:pt x="1746" y="60"/>
                  <a:pt x="1746" y="60"/>
                </a:cubicBezTo>
                <a:cubicBezTo>
                  <a:pt x="1746" y="92"/>
                  <a:pt x="1746" y="92"/>
                  <a:pt x="1746" y="92"/>
                </a:cubicBezTo>
                <a:cubicBezTo>
                  <a:pt x="1734" y="92"/>
                  <a:pt x="1734" y="92"/>
                  <a:pt x="1734" y="92"/>
                </a:cubicBezTo>
                <a:cubicBezTo>
                  <a:pt x="1734" y="0"/>
                  <a:pt x="1734" y="0"/>
                  <a:pt x="1734" y="0"/>
                </a:cubicBezTo>
                <a:cubicBezTo>
                  <a:pt x="1746" y="0"/>
                  <a:pt x="1746" y="0"/>
                  <a:pt x="1746" y="0"/>
                </a:cubicBezTo>
                <a:cubicBezTo>
                  <a:pt x="1746" y="58"/>
                  <a:pt x="1746" y="58"/>
                  <a:pt x="1746" y="58"/>
                </a:cubicBezTo>
                <a:cubicBezTo>
                  <a:pt x="1770" y="32"/>
                  <a:pt x="1770" y="32"/>
                  <a:pt x="1770" y="32"/>
                </a:cubicBezTo>
                <a:cubicBezTo>
                  <a:pt x="1783" y="32"/>
                  <a:pt x="1783" y="32"/>
                  <a:pt x="1783" y="32"/>
                </a:cubicBezTo>
                <a:cubicBezTo>
                  <a:pt x="1757" y="57"/>
                  <a:pt x="1757" y="57"/>
                  <a:pt x="1757" y="57"/>
                </a:cubicBezTo>
                <a:cubicBezTo>
                  <a:pt x="1783" y="92"/>
                  <a:pt x="1783" y="92"/>
                  <a:pt x="1783" y="92"/>
                </a:cubicBezTo>
                <a:lnTo>
                  <a:pt x="1769" y="92"/>
                </a:lnTo>
                <a:close/>
                <a:moveTo>
                  <a:pt x="1803" y="99"/>
                </a:moveTo>
                <a:cubicBezTo>
                  <a:pt x="1799" y="106"/>
                  <a:pt x="1792" y="110"/>
                  <a:pt x="1792" y="110"/>
                </a:cubicBezTo>
                <a:cubicBezTo>
                  <a:pt x="1789" y="106"/>
                  <a:pt x="1789" y="106"/>
                  <a:pt x="1789" y="106"/>
                </a:cubicBezTo>
                <a:cubicBezTo>
                  <a:pt x="1789" y="106"/>
                  <a:pt x="1794" y="100"/>
                  <a:pt x="1794" y="89"/>
                </a:cubicBezTo>
                <a:cubicBezTo>
                  <a:pt x="1794" y="83"/>
                  <a:pt x="1793" y="80"/>
                  <a:pt x="1793" y="80"/>
                </a:cubicBezTo>
                <a:cubicBezTo>
                  <a:pt x="1805" y="80"/>
                  <a:pt x="1805" y="80"/>
                  <a:pt x="1805" y="80"/>
                </a:cubicBezTo>
                <a:cubicBezTo>
                  <a:pt x="1805" y="80"/>
                  <a:pt x="1805" y="80"/>
                  <a:pt x="1805" y="80"/>
                </a:cubicBezTo>
                <a:cubicBezTo>
                  <a:pt x="1805" y="91"/>
                  <a:pt x="1804" y="95"/>
                  <a:pt x="1803" y="99"/>
                </a:cubicBezTo>
                <a:close/>
                <a:moveTo>
                  <a:pt x="1878" y="92"/>
                </a:moveTo>
                <a:cubicBezTo>
                  <a:pt x="1878" y="87"/>
                  <a:pt x="1878" y="87"/>
                  <a:pt x="1878" y="87"/>
                </a:cubicBezTo>
                <a:cubicBezTo>
                  <a:pt x="1878" y="87"/>
                  <a:pt x="1873" y="93"/>
                  <a:pt x="1863" y="93"/>
                </a:cubicBezTo>
                <a:cubicBezTo>
                  <a:pt x="1852" y="93"/>
                  <a:pt x="1844" y="87"/>
                  <a:pt x="1844" y="76"/>
                </a:cubicBezTo>
                <a:cubicBezTo>
                  <a:pt x="1844" y="70"/>
                  <a:pt x="1847" y="65"/>
                  <a:pt x="1851" y="62"/>
                </a:cubicBezTo>
                <a:cubicBezTo>
                  <a:pt x="1855" y="59"/>
                  <a:pt x="1862" y="58"/>
                  <a:pt x="1869" y="58"/>
                </a:cubicBezTo>
                <a:cubicBezTo>
                  <a:pt x="1873" y="58"/>
                  <a:pt x="1878" y="59"/>
                  <a:pt x="1878" y="59"/>
                </a:cubicBezTo>
                <a:cubicBezTo>
                  <a:pt x="1878" y="54"/>
                  <a:pt x="1878" y="54"/>
                  <a:pt x="1878" y="54"/>
                </a:cubicBezTo>
                <a:cubicBezTo>
                  <a:pt x="1878" y="51"/>
                  <a:pt x="1878" y="46"/>
                  <a:pt x="1877" y="44"/>
                </a:cubicBezTo>
                <a:cubicBezTo>
                  <a:pt x="1876" y="39"/>
                  <a:pt x="1871" y="37"/>
                  <a:pt x="1866" y="37"/>
                </a:cubicBezTo>
                <a:cubicBezTo>
                  <a:pt x="1858" y="37"/>
                  <a:pt x="1853" y="40"/>
                  <a:pt x="1853" y="40"/>
                </a:cubicBezTo>
                <a:cubicBezTo>
                  <a:pt x="1850" y="33"/>
                  <a:pt x="1850" y="33"/>
                  <a:pt x="1850" y="33"/>
                </a:cubicBezTo>
                <a:cubicBezTo>
                  <a:pt x="1850" y="33"/>
                  <a:pt x="1857" y="30"/>
                  <a:pt x="1869" y="30"/>
                </a:cubicBezTo>
                <a:cubicBezTo>
                  <a:pt x="1885" y="30"/>
                  <a:pt x="1888" y="39"/>
                  <a:pt x="1888" y="42"/>
                </a:cubicBezTo>
                <a:cubicBezTo>
                  <a:pt x="1889" y="45"/>
                  <a:pt x="1889" y="55"/>
                  <a:pt x="1889" y="57"/>
                </a:cubicBezTo>
                <a:cubicBezTo>
                  <a:pt x="1889" y="92"/>
                  <a:pt x="1889" y="92"/>
                  <a:pt x="1889" y="92"/>
                </a:cubicBezTo>
                <a:lnTo>
                  <a:pt x="1878" y="92"/>
                </a:lnTo>
                <a:close/>
                <a:moveTo>
                  <a:pt x="1878" y="64"/>
                </a:moveTo>
                <a:cubicBezTo>
                  <a:pt x="1878" y="64"/>
                  <a:pt x="1876" y="64"/>
                  <a:pt x="1871" y="64"/>
                </a:cubicBezTo>
                <a:cubicBezTo>
                  <a:pt x="1867" y="64"/>
                  <a:pt x="1863" y="65"/>
                  <a:pt x="1861" y="66"/>
                </a:cubicBezTo>
                <a:cubicBezTo>
                  <a:pt x="1857" y="68"/>
                  <a:pt x="1856" y="72"/>
                  <a:pt x="1856" y="75"/>
                </a:cubicBezTo>
                <a:cubicBezTo>
                  <a:pt x="1856" y="84"/>
                  <a:pt x="1862" y="86"/>
                  <a:pt x="1868" y="86"/>
                </a:cubicBezTo>
                <a:cubicBezTo>
                  <a:pt x="1874" y="86"/>
                  <a:pt x="1878" y="84"/>
                  <a:pt x="1878" y="84"/>
                </a:cubicBezTo>
                <a:lnTo>
                  <a:pt x="1878" y="64"/>
                </a:lnTo>
                <a:close/>
                <a:moveTo>
                  <a:pt x="1946" y="92"/>
                </a:moveTo>
                <a:cubicBezTo>
                  <a:pt x="1946" y="60"/>
                  <a:pt x="1946" y="60"/>
                  <a:pt x="1946" y="60"/>
                </a:cubicBezTo>
                <a:cubicBezTo>
                  <a:pt x="1946" y="56"/>
                  <a:pt x="1946" y="52"/>
                  <a:pt x="1945" y="49"/>
                </a:cubicBezTo>
                <a:cubicBezTo>
                  <a:pt x="1944" y="41"/>
                  <a:pt x="1939" y="38"/>
                  <a:pt x="1931" y="38"/>
                </a:cubicBezTo>
                <a:cubicBezTo>
                  <a:pt x="1924" y="38"/>
                  <a:pt x="1919" y="41"/>
                  <a:pt x="1919" y="41"/>
                </a:cubicBezTo>
                <a:cubicBezTo>
                  <a:pt x="1919" y="92"/>
                  <a:pt x="1919" y="92"/>
                  <a:pt x="1919" y="92"/>
                </a:cubicBezTo>
                <a:cubicBezTo>
                  <a:pt x="1908" y="92"/>
                  <a:pt x="1908" y="92"/>
                  <a:pt x="1908" y="92"/>
                </a:cubicBezTo>
                <a:cubicBezTo>
                  <a:pt x="1908" y="32"/>
                  <a:pt x="1908" y="32"/>
                  <a:pt x="1908" y="32"/>
                </a:cubicBezTo>
                <a:cubicBezTo>
                  <a:pt x="1919" y="32"/>
                  <a:pt x="1919" y="32"/>
                  <a:pt x="1919" y="32"/>
                </a:cubicBezTo>
                <a:cubicBezTo>
                  <a:pt x="1919" y="38"/>
                  <a:pt x="1919" y="38"/>
                  <a:pt x="1919" y="38"/>
                </a:cubicBezTo>
                <a:cubicBezTo>
                  <a:pt x="1919" y="38"/>
                  <a:pt x="1925" y="30"/>
                  <a:pt x="1937" y="30"/>
                </a:cubicBezTo>
                <a:cubicBezTo>
                  <a:pt x="1950" y="30"/>
                  <a:pt x="1955" y="38"/>
                  <a:pt x="1956" y="44"/>
                </a:cubicBezTo>
                <a:cubicBezTo>
                  <a:pt x="1957" y="48"/>
                  <a:pt x="1957" y="53"/>
                  <a:pt x="1957" y="56"/>
                </a:cubicBezTo>
                <a:cubicBezTo>
                  <a:pt x="1957" y="92"/>
                  <a:pt x="1957" y="92"/>
                  <a:pt x="1957" y="92"/>
                </a:cubicBezTo>
                <a:lnTo>
                  <a:pt x="1946" y="92"/>
                </a:lnTo>
                <a:close/>
                <a:moveTo>
                  <a:pt x="2015" y="92"/>
                </a:moveTo>
                <a:cubicBezTo>
                  <a:pt x="2015" y="86"/>
                  <a:pt x="2015" y="86"/>
                  <a:pt x="2015" y="86"/>
                </a:cubicBezTo>
                <a:cubicBezTo>
                  <a:pt x="2015" y="86"/>
                  <a:pt x="2010" y="93"/>
                  <a:pt x="1998" y="93"/>
                </a:cubicBezTo>
                <a:cubicBezTo>
                  <a:pt x="1984" y="93"/>
                  <a:pt x="1973" y="83"/>
                  <a:pt x="1973" y="63"/>
                </a:cubicBezTo>
                <a:cubicBezTo>
                  <a:pt x="1973" y="43"/>
                  <a:pt x="1986" y="31"/>
                  <a:pt x="2002" y="31"/>
                </a:cubicBezTo>
                <a:cubicBezTo>
                  <a:pt x="2011" y="31"/>
                  <a:pt x="2015" y="33"/>
                  <a:pt x="2015" y="33"/>
                </a:cubicBezTo>
                <a:cubicBezTo>
                  <a:pt x="2015" y="0"/>
                  <a:pt x="2015" y="0"/>
                  <a:pt x="2015" y="0"/>
                </a:cubicBezTo>
                <a:cubicBezTo>
                  <a:pt x="2027" y="0"/>
                  <a:pt x="2027" y="0"/>
                  <a:pt x="2027" y="0"/>
                </a:cubicBezTo>
                <a:cubicBezTo>
                  <a:pt x="2027" y="92"/>
                  <a:pt x="2027" y="92"/>
                  <a:pt x="2027" y="92"/>
                </a:cubicBezTo>
                <a:lnTo>
                  <a:pt x="2015" y="92"/>
                </a:lnTo>
                <a:close/>
                <a:moveTo>
                  <a:pt x="2015" y="38"/>
                </a:moveTo>
                <a:cubicBezTo>
                  <a:pt x="2015" y="38"/>
                  <a:pt x="2012" y="37"/>
                  <a:pt x="2006" y="37"/>
                </a:cubicBezTo>
                <a:cubicBezTo>
                  <a:pt x="1992" y="37"/>
                  <a:pt x="1985" y="46"/>
                  <a:pt x="1985" y="62"/>
                </a:cubicBezTo>
                <a:cubicBezTo>
                  <a:pt x="1985" y="76"/>
                  <a:pt x="1992" y="86"/>
                  <a:pt x="2004" y="86"/>
                </a:cubicBezTo>
                <a:cubicBezTo>
                  <a:pt x="2011" y="86"/>
                  <a:pt x="2015" y="83"/>
                  <a:pt x="2015" y="83"/>
                </a:cubicBezTo>
                <a:lnTo>
                  <a:pt x="2015" y="38"/>
                </a:lnTo>
                <a:close/>
              </a:path>
            </a:pathLst>
          </a:custGeom>
          <a:solidFill>
            <a:srgbClr val="505759"/>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6806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2000"/>
                                        <p:tgtEl>
                                          <p:spTgt spid="7"/>
                                        </p:tgtEl>
                                      </p:cBhvr>
                                    </p:animEffect>
                                  </p:childTnLst>
                                </p:cTn>
                              </p:par>
                            </p:childTnLst>
                          </p:cTn>
                        </p:par>
                        <p:par>
                          <p:cTn id="8" fill="hold">
                            <p:stCondLst>
                              <p:cond delay="2000"/>
                            </p:stCondLst>
                            <p:childTnLst>
                              <p:par>
                                <p:cTn id="9" presetID="10" presetClass="entr" presetSubtype="0" fill="hold" nodeType="afterEffect">
                                  <p:stCondLst>
                                    <p:cond delay="2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End Slide 03">
    <p:spTree>
      <p:nvGrpSpPr>
        <p:cNvPr id="1" name=""/>
        <p:cNvGrpSpPr/>
        <p:nvPr/>
      </p:nvGrpSpPr>
      <p:grpSpPr>
        <a:xfrm>
          <a:off x="0" y="0"/>
          <a:ext cx="0" cy="0"/>
          <a:chOff x="0" y="0"/>
          <a:chExt cx="0" cy="0"/>
        </a:xfrm>
      </p:grpSpPr>
      <p:pic>
        <p:nvPicPr>
          <p:cNvPr id="7" name="Picture 6" descr="Icon&#10;&#10;Description automatically generated">
            <a:extLst>
              <a:ext uri="{FF2B5EF4-FFF2-40B4-BE49-F238E27FC236}">
                <a16:creationId xmlns:a16="http://schemas.microsoft.com/office/drawing/2014/main" id="{AE74AC07-E5ED-D346-85B8-2A7BD7B92650}"/>
              </a:ext>
            </a:extLst>
          </p:cNvPr>
          <p:cNvPicPr>
            <a:picLocks noChangeAspect="1"/>
          </p:cNvPicPr>
          <p:nvPr userDrawn="1"/>
        </p:nvPicPr>
        <p:blipFill>
          <a:blip r:embed="rId2"/>
          <a:stretch>
            <a:fillRect/>
          </a:stretch>
        </p:blipFill>
        <p:spPr>
          <a:xfrm>
            <a:off x="3300984" y="786384"/>
            <a:ext cx="2532888" cy="3105391"/>
          </a:xfrm>
          <a:prstGeom prst="rect">
            <a:avLst/>
          </a:prstGeom>
        </p:spPr>
      </p:pic>
      <p:pic>
        <p:nvPicPr>
          <p:cNvPr id="6" name="Picture 5" title="life is now">
            <a:extLst>
              <a:ext uri="{FF2B5EF4-FFF2-40B4-BE49-F238E27FC236}">
                <a16:creationId xmlns:a16="http://schemas.microsoft.com/office/drawing/2014/main" id="{5A984F1C-C797-C840-9648-955CFCE6638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gray">
          <a:xfrm>
            <a:off x="5715000" y="3959352"/>
            <a:ext cx="1765808" cy="819334"/>
          </a:xfrm>
          <a:prstGeom prst="rect">
            <a:avLst/>
          </a:prstGeom>
        </p:spPr>
      </p:pic>
      <p:sp>
        <p:nvSpPr>
          <p:cNvPr id="8" name="Freeform 16" title="Helping Patients is Our Life's Work, and">
            <a:extLst>
              <a:ext uri="{FF2B5EF4-FFF2-40B4-BE49-F238E27FC236}">
                <a16:creationId xmlns:a16="http://schemas.microsoft.com/office/drawing/2014/main" id="{D0945591-442B-2441-9CBA-8B980E021662}"/>
              </a:ext>
            </a:extLst>
          </p:cNvPr>
          <p:cNvSpPr>
            <a:spLocks noChangeAspect="1" noEditPoints="1"/>
          </p:cNvSpPr>
          <p:nvPr userDrawn="1"/>
        </p:nvSpPr>
        <p:spPr bwMode="gray">
          <a:xfrm>
            <a:off x="1778147" y="3968495"/>
            <a:ext cx="4443984" cy="262666"/>
          </a:xfrm>
          <a:custGeom>
            <a:avLst/>
            <a:gdLst>
              <a:gd name="T0" fmla="*/ 11 w 2027"/>
              <a:gd name="T1" fmla="*/ 45 h 120"/>
              <a:gd name="T2" fmla="*/ 113 w 2027"/>
              <a:gd name="T3" fmla="*/ 86 h 120"/>
              <a:gd name="T4" fmla="*/ 131 w 2027"/>
              <a:gd name="T5" fmla="*/ 59 h 120"/>
              <a:gd name="T6" fmla="*/ 119 w 2027"/>
              <a:gd name="T7" fmla="*/ 52 h 120"/>
              <a:gd name="T8" fmla="*/ 188 w 2027"/>
              <a:gd name="T9" fmla="*/ 120 h 120"/>
              <a:gd name="T10" fmla="*/ 200 w 2027"/>
              <a:gd name="T11" fmla="*/ 38 h 120"/>
              <a:gd name="T12" fmla="*/ 252 w 2027"/>
              <a:gd name="T13" fmla="*/ 7 h 120"/>
              <a:gd name="T14" fmla="*/ 315 w 2027"/>
              <a:gd name="T15" fmla="*/ 92 h 120"/>
              <a:gd name="T16" fmla="*/ 289 w 2027"/>
              <a:gd name="T17" fmla="*/ 32 h 120"/>
              <a:gd name="T18" fmla="*/ 388 w 2027"/>
              <a:gd name="T19" fmla="*/ 51 h 120"/>
              <a:gd name="T20" fmla="*/ 363 w 2027"/>
              <a:gd name="T21" fmla="*/ 120 h 120"/>
              <a:gd name="T22" fmla="*/ 397 w 2027"/>
              <a:gd name="T23" fmla="*/ 32 h 120"/>
              <a:gd name="T24" fmla="*/ 368 w 2027"/>
              <a:gd name="T25" fmla="*/ 91 h 120"/>
              <a:gd name="T26" fmla="*/ 461 w 2027"/>
              <a:gd name="T27" fmla="*/ 57 h 120"/>
              <a:gd name="T28" fmla="*/ 437 w 2027"/>
              <a:gd name="T29" fmla="*/ 92 h 120"/>
              <a:gd name="T30" fmla="*/ 512 w 2027"/>
              <a:gd name="T31" fmla="*/ 93 h 120"/>
              <a:gd name="T32" fmla="*/ 503 w 2027"/>
              <a:gd name="T33" fmla="*/ 40 h 120"/>
              <a:gd name="T34" fmla="*/ 521 w 2027"/>
              <a:gd name="T35" fmla="*/ 64 h 120"/>
              <a:gd name="T36" fmla="*/ 560 w 2027"/>
              <a:gd name="T37" fmla="*/ 71 h 120"/>
              <a:gd name="T38" fmla="*/ 571 w 2027"/>
              <a:gd name="T39" fmla="*/ 32 h 120"/>
              <a:gd name="T40" fmla="*/ 577 w 2027"/>
              <a:gd name="T41" fmla="*/ 93 h 120"/>
              <a:gd name="T42" fmla="*/ 615 w 2027"/>
              <a:gd name="T43" fmla="*/ 32 h 120"/>
              <a:gd name="T44" fmla="*/ 661 w 2027"/>
              <a:gd name="T45" fmla="*/ 93 h 120"/>
              <a:gd name="T46" fmla="*/ 669 w 2027"/>
              <a:gd name="T47" fmla="*/ 52 h 120"/>
              <a:gd name="T48" fmla="*/ 734 w 2027"/>
              <a:gd name="T49" fmla="*/ 49 h 120"/>
              <a:gd name="T50" fmla="*/ 726 w 2027"/>
              <a:gd name="T51" fmla="*/ 30 h 120"/>
              <a:gd name="T52" fmla="*/ 765 w 2027"/>
              <a:gd name="T53" fmla="*/ 38 h 120"/>
              <a:gd name="T54" fmla="*/ 796 w 2027"/>
              <a:gd name="T55" fmla="*/ 32 h 120"/>
              <a:gd name="T56" fmla="*/ 824 w 2027"/>
              <a:gd name="T57" fmla="*/ 93 h 120"/>
              <a:gd name="T58" fmla="*/ 828 w 2027"/>
              <a:gd name="T59" fmla="*/ 30 h 120"/>
              <a:gd name="T60" fmla="*/ 824 w 2027"/>
              <a:gd name="T61" fmla="*/ 93 h 120"/>
              <a:gd name="T62" fmla="*/ 901 w 2027"/>
              <a:gd name="T63" fmla="*/ 32 h 120"/>
              <a:gd name="T64" fmla="*/ 937 w 2027"/>
              <a:gd name="T65" fmla="*/ 69 h 120"/>
              <a:gd name="T66" fmla="*/ 934 w 2027"/>
              <a:gd name="T67" fmla="*/ 54 h 120"/>
              <a:gd name="T68" fmla="*/ 1032 w 2027"/>
              <a:gd name="T69" fmla="*/ 94 h 120"/>
              <a:gd name="T70" fmla="*/ 1106 w 2027"/>
              <a:gd name="T71" fmla="*/ 94 h 120"/>
              <a:gd name="T72" fmla="*/ 1124 w 2027"/>
              <a:gd name="T73" fmla="*/ 83 h 120"/>
              <a:gd name="T74" fmla="*/ 1166 w 2027"/>
              <a:gd name="T75" fmla="*/ 92 h 120"/>
              <a:gd name="T76" fmla="*/ 1227 w 2027"/>
              <a:gd name="T77" fmla="*/ 92 h 120"/>
              <a:gd name="T78" fmla="*/ 1280 w 2027"/>
              <a:gd name="T79" fmla="*/ 14 h 120"/>
              <a:gd name="T80" fmla="*/ 1281 w 2027"/>
              <a:gd name="T81" fmla="*/ 92 h 120"/>
              <a:gd name="T82" fmla="*/ 1325 w 2027"/>
              <a:gd name="T83" fmla="*/ 38 h 120"/>
              <a:gd name="T84" fmla="*/ 1315 w 2027"/>
              <a:gd name="T85" fmla="*/ 13 h 120"/>
              <a:gd name="T86" fmla="*/ 1393 w 2027"/>
              <a:gd name="T87" fmla="*/ 90 h 120"/>
              <a:gd name="T88" fmla="*/ 1356 w 2027"/>
              <a:gd name="T89" fmla="*/ 60 h 120"/>
              <a:gd name="T90" fmla="*/ 1410 w 2027"/>
              <a:gd name="T91" fmla="*/ 34 h 120"/>
              <a:gd name="T92" fmla="*/ 1425 w 2027"/>
              <a:gd name="T93" fmla="*/ 90 h 120"/>
              <a:gd name="T94" fmla="*/ 1464 w 2027"/>
              <a:gd name="T95" fmla="*/ 34 h 120"/>
              <a:gd name="T96" fmla="*/ 1587 w 2027"/>
              <a:gd name="T97" fmla="*/ 93 h 120"/>
              <a:gd name="T98" fmla="*/ 1512 w 2027"/>
              <a:gd name="T99" fmla="*/ 8 h 120"/>
              <a:gd name="T100" fmla="*/ 1584 w 2027"/>
              <a:gd name="T101" fmla="*/ 72 h 120"/>
              <a:gd name="T102" fmla="*/ 1643 w 2027"/>
              <a:gd name="T103" fmla="*/ 94 h 120"/>
              <a:gd name="T104" fmla="*/ 1700 w 2027"/>
              <a:gd name="T105" fmla="*/ 42 h 120"/>
              <a:gd name="T106" fmla="*/ 1719 w 2027"/>
              <a:gd name="T107" fmla="*/ 42 h 120"/>
              <a:gd name="T108" fmla="*/ 1770 w 2027"/>
              <a:gd name="T109" fmla="*/ 32 h 120"/>
              <a:gd name="T110" fmla="*/ 1794 w 2027"/>
              <a:gd name="T111" fmla="*/ 89 h 120"/>
              <a:gd name="T112" fmla="*/ 1844 w 2027"/>
              <a:gd name="T113" fmla="*/ 76 h 120"/>
              <a:gd name="T114" fmla="*/ 1850 w 2027"/>
              <a:gd name="T115" fmla="*/ 33 h 120"/>
              <a:gd name="T116" fmla="*/ 1861 w 2027"/>
              <a:gd name="T117" fmla="*/ 66 h 120"/>
              <a:gd name="T118" fmla="*/ 1931 w 2027"/>
              <a:gd name="T119" fmla="*/ 38 h 120"/>
              <a:gd name="T120" fmla="*/ 1956 w 2027"/>
              <a:gd name="T121" fmla="*/ 44 h 120"/>
              <a:gd name="T122" fmla="*/ 2002 w 2027"/>
              <a:gd name="T123" fmla="*/ 31 h 120"/>
              <a:gd name="T124" fmla="*/ 1985 w 2027"/>
              <a:gd name="T125" fmla="*/ 6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7" h="120">
                <a:moveTo>
                  <a:pt x="52" y="92"/>
                </a:moveTo>
                <a:cubicBezTo>
                  <a:pt x="52" y="52"/>
                  <a:pt x="52" y="52"/>
                  <a:pt x="52" y="52"/>
                </a:cubicBezTo>
                <a:cubicBezTo>
                  <a:pt x="11" y="52"/>
                  <a:pt x="11" y="52"/>
                  <a:pt x="11" y="52"/>
                </a:cubicBezTo>
                <a:cubicBezTo>
                  <a:pt x="11" y="92"/>
                  <a:pt x="11" y="92"/>
                  <a:pt x="11" y="92"/>
                </a:cubicBezTo>
                <a:cubicBezTo>
                  <a:pt x="0" y="92"/>
                  <a:pt x="0" y="92"/>
                  <a:pt x="0" y="92"/>
                </a:cubicBezTo>
                <a:cubicBezTo>
                  <a:pt x="0" y="8"/>
                  <a:pt x="0" y="8"/>
                  <a:pt x="0" y="8"/>
                </a:cubicBezTo>
                <a:cubicBezTo>
                  <a:pt x="11" y="8"/>
                  <a:pt x="11" y="8"/>
                  <a:pt x="11" y="8"/>
                </a:cubicBezTo>
                <a:cubicBezTo>
                  <a:pt x="11" y="45"/>
                  <a:pt x="11" y="45"/>
                  <a:pt x="11" y="45"/>
                </a:cubicBezTo>
                <a:cubicBezTo>
                  <a:pt x="52" y="45"/>
                  <a:pt x="52" y="45"/>
                  <a:pt x="52" y="45"/>
                </a:cubicBezTo>
                <a:cubicBezTo>
                  <a:pt x="52" y="8"/>
                  <a:pt x="52" y="8"/>
                  <a:pt x="52" y="8"/>
                </a:cubicBezTo>
                <a:cubicBezTo>
                  <a:pt x="64" y="8"/>
                  <a:pt x="64" y="8"/>
                  <a:pt x="64" y="8"/>
                </a:cubicBezTo>
                <a:cubicBezTo>
                  <a:pt x="64" y="92"/>
                  <a:pt x="64" y="92"/>
                  <a:pt x="64" y="92"/>
                </a:cubicBezTo>
                <a:lnTo>
                  <a:pt x="52" y="92"/>
                </a:lnTo>
                <a:close/>
                <a:moveTo>
                  <a:pt x="92" y="60"/>
                </a:moveTo>
                <a:cubicBezTo>
                  <a:pt x="92" y="60"/>
                  <a:pt x="92" y="62"/>
                  <a:pt x="92" y="62"/>
                </a:cubicBezTo>
                <a:cubicBezTo>
                  <a:pt x="92" y="83"/>
                  <a:pt x="106" y="86"/>
                  <a:pt x="113" y="86"/>
                </a:cubicBezTo>
                <a:cubicBezTo>
                  <a:pt x="122" y="86"/>
                  <a:pt x="126" y="83"/>
                  <a:pt x="126" y="83"/>
                </a:cubicBezTo>
                <a:cubicBezTo>
                  <a:pt x="129" y="90"/>
                  <a:pt x="129" y="90"/>
                  <a:pt x="129" y="90"/>
                </a:cubicBezTo>
                <a:cubicBezTo>
                  <a:pt x="129" y="90"/>
                  <a:pt x="123" y="93"/>
                  <a:pt x="111" y="93"/>
                </a:cubicBezTo>
                <a:cubicBezTo>
                  <a:pt x="98" y="93"/>
                  <a:pt x="81" y="89"/>
                  <a:pt x="81" y="62"/>
                </a:cubicBezTo>
                <a:cubicBezTo>
                  <a:pt x="81" y="51"/>
                  <a:pt x="85" y="30"/>
                  <a:pt x="108" y="30"/>
                </a:cubicBezTo>
                <a:cubicBezTo>
                  <a:pt x="118" y="30"/>
                  <a:pt x="124" y="34"/>
                  <a:pt x="127" y="40"/>
                </a:cubicBezTo>
                <a:cubicBezTo>
                  <a:pt x="130" y="44"/>
                  <a:pt x="131" y="51"/>
                  <a:pt x="131" y="58"/>
                </a:cubicBezTo>
                <a:cubicBezTo>
                  <a:pt x="131" y="59"/>
                  <a:pt x="131" y="59"/>
                  <a:pt x="131" y="59"/>
                </a:cubicBezTo>
                <a:cubicBezTo>
                  <a:pt x="131" y="60"/>
                  <a:pt x="131" y="60"/>
                  <a:pt x="131" y="60"/>
                </a:cubicBezTo>
                <a:lnTo>
                  <a:pt x="92" y="60"/>
                </a:lnTo>
                <a:close/>
                <a:moveTo>
                  <a:pt x="119" y="52"/>
                </a:moveTo>
                <a:cubicBezTo>
                  <a:pt x="119" y="42"/>
                  <a:pt x="115" y="37"/>
                  <a:pt x="106" y="37"/>
                </a:cubicBezTo>
                <a:cubicBezTo>
                  <a:pt x="100" y="37"/>
                  <a:pt x="96" y="40"/>
                  <a:pt x="94" y="46"/>
                </a:cubicBezTo>
                <a:cubicBezTo>
                  <a:pt x="93" y="50"/>
                  <a:pt x="93" y="53"/>
                  <a:pt x="93" y="54"/>
                </a:cubicBezTo>
                <a:cubicBezTo>
                  <a:pt x="119" y="54"/>
                  <a:pt x="119" y="54"/>
                  <a:pt x="119" y="54"/>
                </a:cubicBezTo>
                <a:lnTo>
                  <a:pt x="119" y="52"/>
                </a:lnTo>
                <a:close/>
                <a:moveTo>
                  <a:pt x="146" y="92"/>
                </a:moveTo>
                <a:cubicBezTo>
                  <a:pt x="146" y="0"/>
                  <a:pt x="146" y="0"/>
                  <a:pt x="146" y="0"/>
                </a:cubicBezTo>
                <a:cubicBezTo>
                  <a:pt x="158" y="0"/>
                  <a:pt x="158" y="0"/>
                  <a:pt x="158" y="0"/>
                </a:cubicBezTo>
                <a:cubicBezTo>
                  <a:pt x="158" y="92"/>
                  <a:pt x="158" y="92"/>
                  <a:pt x="158" y="92"/>
                </a:cubicBezTo>
                <a:lnTo>
                  <a:pt x="146" y="92"/>
                </a:lnTo>
                <a:close/>
                <a:moveTo>
                  <a:pt x="202" y="94"/>
                </a:moveTo>
                <a:cubicBezTo>
                  <a:pt x="192" y="94"/>
                  <a:pt x="188" y="91"/>
                  <a:pt x="188" y="91"/>
                </a:cubicBezTo>
                <a:cubicBezTo>
                  <a:pt x="188" y="120"/>
                  <a:pt x="188" y="120"/>
                  <a:pt x="188" y="120"/>
                </a:cubicBezTo>
                <a:cubicBezTo>
                  <a:pt x="177" y="120"/>
                  <a:pt x="177" y="120"/>
                  <a:pt x="177" y="120"/>
                </a:cubicBezTo>
                <a:cubicBezTo>
                  <a:pt x="177" y="32"/>
                  <a:pt x="177" y="32"/>
                  <a:pt x="177" y="32"/>
                </a:cubicBezTo>
                <a:cubicBezTo>
                  <a:pt x="188" y="32"/>
                  <a:pt x="188" y="32"/>
                  <a:pt x="188" y="32"/>
                </a:cubicBezTo>
                <a:cubicBezTo>
                  <a:pt x="188" y="38"/>
                  <a:pt x="188" y="38"/>
                  <a:pt x="188" y="38"/>
                </a:cubicBezTo>
                <a:cubicBezTo>
                  <a:pt x="188" y="38"/>
                  <a:pt x="193" y="31"/>
                  <a:pt x="206" y="31"/>
                </a:cubicBezTo>
                <a:cubicBezTo>
                  <a:pt x="221" y="31"/>
                  <a:pt x="231" y="42"/>
                  <a:pt x="231" y="61"/>
                </a:cubicBezTo>
                <a:cubicBezTo>
                  <a:pt x="231" y="81"/>
                  <a:pt x="218" y="94"/>
                  <a:pt x="202" y="94"/>
                </a:cubicBezTo>
                <a:close/>
                <a:moveTo>
                  <a:pt x="200" y="38"/>
                </a:moveTo>
                <a:cubicBezTo>
                  <a:pt x="193" y="38"/>
                  <a:pt x="188" y="41"/>
                  <a:pt x="188" y="41"/>
                </a:cubicBezTo>
                <a:cubicBezTo>
                  <a:pt x="188" y="86"/>
                  <a:pt x="188" y="86"/>
                  <a:pt x="188" y="86"/>
                </a:cubicBezTo>
                <a:cubicBezTo>
                  <a:pt x="188" y="86"/>
                  <a:pt x="192" y="87"/>
                  <a:pt x="197" y="87"/>
                </a:cubicBezTo>
                <a:cubicBezTo>
                  <a:pt x="212" y="87"/>
                  <a:pt x="219" y="78"/>
                  <a:pt x="219" y="62"/>
                </a:cubicBezTo>
                <a:cubicBezTo>
                  <a:pt x="219" y="48"/>
                  <a:pt x="212" y="38"/>
                  <a:pt x="200" y="38"/>
                </a:cubicBezTo>
                <a:close/>
                <a:moveTo>
                  <a:pt x="252" y="20"/>
                </a:moveTo>
                <a:cubicBezTo>
                  <a:pt x="248" y="20"/>
                  <a:pt x="245" y="18"/>
                  <a:pt x="245" y="14"/>
                </a:cubicBezTo>
                <a:cubicBezTo>
                  <a:pt x="245" y="9"/>
                  <a:pt x="248" y="7"/>
                  <a:pt x="252" y="7"/>
                </a:cubicBezTo>
                <a:cubicBezTo>
                  <a:pt x="257" y="7"/>
                  <a:pt x="259" y="9"/>
                  <a:pt x="259" y="13"/>
                </a:cubicBezTo>
                <a:cubicBezTo>
                  <a:pt x="259" y="18"/>
                  <a:pt x="257" y="20"/>
                  <a:pt x="252" y="20"/>
                </a:cubicBezTo>
                <a:close/>
                <a:moveTo>
                  <a:pt x="247" y="92"/>
                </a:moveTo>
                <a:cubicBezTo>
                  <a:pt x="247" y="32"/>
                  <a:pt x="247" y="32"/>
                  <a:pt x="247" y="32"/>
                </a:cubicBezTo>
                <a:cubicBezTo>
                  <a:pt x="258" y="32"/>
                  <a:pt x="258" y="32"/>
                  <a:pt x="258" y="32"/>
                </a:cubicBezTo>
                <a:cubicBezTo>
                  <a:pt x="258" y="92"/>
                  <a:pt x="258" y="92"/>
                  <a:pt x="258" y="92"/>
                </a:cubicBezTo>
                <a:lnTo>
                  <a:pt x="247" y="92"/>
                </a:lnTo>
                <a:close/>
                <a:moveTo>
                  <a:pt x="315" y="92"/>
                </a:moveTo>
                <a:cubicBezTo>
                  <a:pt x="315" y="60"/>
                  <a:pt x="315" y="60"/>
                  <a:pt x="315" y="60"/>
                </a:cubicBezTo>
                <a:cubicBezTo>
                  <a:pt x="315" y="56"/>
                  <a:pt x="315" y="52"/>
                  <a:pt x="315" y="49"/>
                </a:cubicBezTo>
                <a:cubicBezTo>
                  <a:pt x="313" y="41"/>
                  <a:pt x="308" y="38"/>
                  <a:pt x="300" y="38"/>
                </a:cubicBezTo>
                <a:cubicBezTo>
                  <a:pt x="294" y="38"/>
                  <a:pt x="289" y="41"/>
                  <a:pt x="289" y="41"/>
                </a:cubicBezTo>
                <a:cubicBezTo>
                  <a:pt x="289" y="92"/>
                  <a:pt x="289" y="92"/>
                  <a:pt x="289" y="92"/>
                </a:cubicBezTo>
                <a:cubicBezTo>
                  <a:pt x="277" y="92"/>
                  <a:pt x="277" y="92"/>
                  <a:pt x="277" y="92"/>
                </a:cubicBezTo>
                <a:cubicBezTo>
                  <a:pt x="277" y="32"/>
                  <a:pt x="277" y="32"/>
                  <a:pt x="277" y="32"/>
                </a:cubicBezTo>
                <a:cubicBezTo>
                  <a:pt x="289" y="32"/>
                  <a:pt x="289" y="32"/>
                  <a:pt x="289" y="32"/>
                </a:cubicBezTo>
                <a:cubicBezTo>
                  <a:pt x="289" y="38"/>
                  <a:pt x="289" y="38"/>
                  <a:pt x="289" y="38"/>
                </a:cubicBezTo>
                <a:cubicBezTo>
                  <a:pt x="289" y="38"/>
                  <a:pt x="294" y="30"/>
                  <a:pt x="307" y="30"/>
                </a:cubicBezTo>
                <a:cubicBezTo>
                  <a:pt x="319" y="30"/>
                  <a:pt x="324" y="38"/>
                  <a:pt x="326" y="44"/>
                </a:cubicBezTo>
                <a:cubicBezTo>
                  <a:pt x="327" y="48"/>
                  <a:pt x="327" y="53"/>
                  <a:pt x="327" y="56"/>
                </a:cubicBezTo>
                <a:cubicBezTo>
                  <a:pt x="327" y="92"/>
                  <a:pt x="327" y="92"/>
                  <a:pt x="327" y="92"/>
                </a:cubicBezTo>
                <a:lnTo>
                  <a:pt x="315" y="92"/>
                </a:lnTo>
                <a:close/>
                <a:moveTo>
                  <a:pt x="383" y="38"/>
                </a:moveTo>
                <a:cubicBezTo>
                  <a:pt x="383" y="38"/>
                  <a:pt x="388" y="43"/>
                  <a:pt x="388" y="51"/>
                </a:cubicBezTo>
                <a:cubicBezTo>
                  <a:pt x="388" y="62"/>
                  <a:pt x="380" y="71"/>
                  <a:pt x="365" y="71"/>
                </a:cubicBezTo>
                <a:cubicBezTo>
                  <a:pt x="361" y="71"/>
                  <a:pt x="359" y="71"/>
                  <a:pt x="359" y="71"/>
                </a:cubicBezTo>
                <a:cubicBezTo>
                  <a:pt x="359" y="71"/>
                  <a:pt x="356" y="73"/>
                  <a:pt x="356" y="77"/>
                </a:cubicBezTo>
                <a:cubicBezTo>
                  <a:pt x="356" y="82"/>
                  <a:pt x="361" y="82"/>
                  <a:pt x="365" y="82"/>
                </a:cubicBezTo>
                <a:cubicBezTo>
                  <a:pt x="369" y="82"/>
                  <a:pt x="371" y="82"/>
                  <a:pt x="376" y="82"/>
                </a:cubicBezTo>
                <a:cubicBezTo>
                  <a:pt x="381" y="82"/>
                  <a:pt x="395" y="81"/>
                  <a:pt x="395" y="96"/>
                </a:cubicBezTo>
                <a:cubicBezTo>
                  <a:pt x="395" y="104"/>
                  <a:pt x="391" y="111"/>
                  <a:pt x="382" y="116"/>
                </a:cubicBezTo>
                <a:cubicBezTo>
                  <a:pt x="377" y="118"/>
                  <a:pt x="371" y="120"/>
                  <a:pt x="363" y="120"/>
                </a:cubicBezTo>
                <a:cubicBezTo>
                  <a:pt x="350" y="120"/>
                  <a:pt x="338" y="116"/>
                  <a:pt x="338" y="104"/>
                </a:cubicBezTo>
                <a:cubicBezTo>
                  <a:pt x="338" y="93"/>
                  <a:pt x="351" y="90"/>
                  <a:pt x="351" y="90"/>
                </a:cubicBezTo>
                <a:cubicBezTo>
                  <a:pt x="351" y="90"/>
                  <a:pt x="346" y="88"/>
                  <a:pt x="346" y="82"/>
                </a:cubicBezTo>
                <a:cubicBezTo>
                  <a:pt x="346" y="73"/>
                  <a:pt x="355" y="70"/>
                  <a:pt x="355" y="70"/>
                </a:cubicBezTo>
                <a:cubicBezTo>
                  <a:pt x="355" y="70"/>
                  <a:pt x="342" y="66"/>
                  <a:pt x="342" y="51"/>
                </a:cubicBezTo>
                <a:cubicBezTo>
                  <a:pt x="342" y="40"/>
                  <a:pt x="350" y="30"/>
                  <a:pt x="365" y="30"/>
                </a:cubicBezTo>
                <a:cubicBezTo>
                  <a:pt x="370" y="30"/>
                  <a:pt x="374" y="32"/>
                  <a:pt x="374" y="32"/>
                </a:cubicBezTo>
                <a:cubicBezTo>
                  <a:pt x="397" y="32"/>
                  <a:pt x="397" y="32"/>
                  <a:pt x="397" y="32"/>
                </a:cubicBezTo>
                <a:cubicBezTo>
                  <a:pt x="397" y="38"/>
                  <a:pt x="397" y="38"/>
                  <a:pt x="397" y="38"/>
                </a:cubicBezTo>
                <a:lnTo>
                  <a:pt x="383" y="38"/>
                </a:lnTo>
                <a:close/>
                <a:moveTo>
                  <a:pt x="368" y="91"/>
                </a:moveTo>
                <a:cubicBezTo>
                  <a:pt x="355" y="91"/>
                  <a:pt x="355" y="91"/>
                  <a:pt x="355" y="91"/>
                </a:cubicBezTo>
                <a:cubicBezTo>
                  <a:pt x="355" y="91"/>
                  <a:pt x="348" y="94"/>
                  <a:pt x="348" y="102"/>
                </a:cubicBezTo>
                <a:cubicBezTo>
                  <a:pt x="348" y="112"/>
                  <a:pt x="359" y="113"/>
                  <a:pt x="365" y="113"/>
                </a:cubicBezTo>
                <a:cubicBezTo>
                  <a:pt x="378" y="113"/>
                  <a:pt x="385" y="108"/>
                  <a:pt x="385" y="99"/>
                </a:cubicBezTo>
                <a:cubicBezTo>
                  <a:pt x="385" y="91"/>
                  <a:pt x="377" y="91"/>
                  <a:pt x="368" y="91"/>
                </a:cubicBezTo>
                <a:close/>
                <a:moveTo>
                  <a:pt x="365" y="36"/>
                </a:moveTo>
                <a:cubicBezTo>
                  <a:pt x="363" y="36"/>
                  <a:pt x="360" y="36"/>
                  <a:pt x="359" y="37"/>
                </a:cubicBezTo>
                <a:cubicBezTo>
                  <a:pt x="354" y="40"/>
                  <a:pt x="353" y="46"/>
                  <a:pt x="353" y="51"/>
                </a:cubicBezTo>
                <a:cubicBezTo>
                  <a:pt x="353" y="59"/>
                  <a:pt x="357" y="66"/>
                  <a:pt x="365" y="66"/>
                </a:cubicBezTo>
                <a:cubicBezTo>
                  <a:pt x="367" y="66"/>
                  <a:pt x="369" y="65"/>
                  <a:pt x="371" y="64"/>
                </a:cubicBezTo>
                <a:cubicBezTo>
                  <a:pt x="375" y="61"/>
                  <a:pt x="376" y="56"/>
                  <a:pt x="376" y="51"/>
                </a:cubicBezTo>
                <a:cubicBezTo>
                  <a:pt x="376" y="43"/>
                  <a:pt x="373" y="36"/>
                  <a:pt x="365" y="36"/>
                </a:cubicBezTo>
                <a:close/>
                <a:moveTo>
                  <a:pt x="461" y="57"/>
                </a:moveTo>
                <a:cubicBezTo>
                  <a:pt x="455" y="57"/>
                  <a:pt x="452" y="56"/>
                  <a:pt x="452" y="56"/>
                </a:cubicBezTo>
                <a:cubicBezTo>
                  <a:pt x="453" y="50"/>
                  <a:pt x="453" y="50"/>
                  <a:pt x="453" y="50"/>
                </a:cubicBezTo>
                <a:cubicBezTo>
                  <a:pt x="453" y="50"/>
                  <a:pt x="455" y="51"/>
                  <a:pt x="459" y="51"/>
                </a:cubicBezTo>
                <a:cubicBezTo>
                  <a:pt x="465" y="51"/>
                  <a:pt x="476" y="49"/>
                  <a:pt x="476" y="32"/>
                </a:cubicBezTo>
                <a:cubicBezTo>
                  <a:pt x="476" y="21"/>
                  <a:pt x="471" y="13"/>
                  <a:pt x="455" y="13"/>
                </a:cubicBezTo>
                <a:cubicBezTo>
                  <a:pt x="452" y="13"/>
                  <a:pt x="449" y="14"/>
                  <a:pt x="449" y="14"/>
                </a:cubicBezTo>
                <a:cubicBezTo>
                  <a:pt x="449" y="92"/>
                  <a:pt x="449" y="92"/>
                  <a:pt x="449" y="92"/>
                </a:cubicBezTo>
                <a:cubicBezTo>
                  <a:pt x="437" y="92"/>
                  <a:pt x="437" y="92"/>
                  <a:pt x="437" y="92"/>
                </a:cubicBezTo>
                <a:cubicBezTo>
                  <a:pt x="437" y="8"/>
                  <a:pt x="437" y="8"/>
                  <a:pt x="437" y="8"/>
                </a:cubicBezTo>
                <a:cubicBezTo>
                  <a:pt x="438" y="8"/>
                  <a:pt x="444" y="7"/>
                  <a:pt x="454" y="7"/>
                </a:cubicBezTo>
                <a:cubicBezTo>
                  <a:pt x="462" y="7"/>
                  <a:pt x="467" y="8"/>
                  <a:pt x="473" y="10"/>
                </a:cubicBezTo>
                <a:cubicBezTo>
                  <a:pt x="477" y="11"/>
                  <a:pt x="488" y="17"/>
                  <a:pt x="488" y="31"/>
                </a:cubicBezTo>
                <a:cubicBezTo>
                  <a:pt x="488" y="47"/>
                  <a:pt x="478" y="57"/>
                  <a:pt x="461" y="57"/>
                </a:cubicBezTo>
                <a:close/>
                <a:moveTo>
                  <a:pt x="528" y="92"/>
                </a:moveTo>
                <a:cubicBezTo>
                  <a:pt x="528" y="87"/>
                  <a:pt x="528" y="87"/>
                  <a:pt x="528" y="87"/>
                </a:cubicBezTo>
                <a:cubicBezTo>
                  <a:pt x="528" y="87"/>
                  <a:pt x="522" y="93"/>
                  <a:pt x="512" y="93"/>
                </a:cubicBezTo>
                <a:cubicBezTo>
                  <a:pt x="501" y="93"/>
                  <a:pt x="494" y="87"/>
                  <a:pt x="494" y="76"/>
                </a:cubicBezTo>
                <a:cubicBezTo>
                  <a:pt x="494" y="70"/>
                  <a:pt x="496" y="65"/>
                  <a:pt x="500" y="62"/>
                </a:cubicBezTo>
                <a:cubicBezTo>
                  <a:pt x="505" y="59"/>
                  <a:pt x="511" y="58"/>
                  <a:pt x="518" y="58"/>
                </a:cubicBezTo>
                <a:cubicBezTo>
                  <a:pt x="523" y="58"/>
                  <a:pt x="527" y="59"/>
                  <a:pt x="527" y="59"/>
                </a:cubicBezTo>
                <a:cubicBezTo>
                  <a:pt x="527" y="54"/>
                  <a:pt x="527" y="54"/>
                  <a:pt x="527" y="54"/>
                </a:cubicBezTo>
                <a:cubicBezTo>
                  <a:pt x="527" y="51"/>
                  <a:pt x="527" y="46"/>
                  <a:pt x="527" y="44"/>
                </a:cubicBezTo>
                <a:cubicBezTo>
                  <a:pt x="525" y="39"/>
                  <a:pt x="521" y="37"/>
                  <a:pt x="515" y="37"/>
                </a:cubicBezTo>
                <a:cubicBezTo>
                  <a:pt x="508" y="37"/>
                  <a:pt x="503" y="40"/>
                  <a:pt x="503" y="40"/>
                </a:cubicBezTo>
                <a:cubicBezTo>
                  <a:pt x="500" y="33"/>
                  <a:pt x="500" y="33"/>
                  <a:pt x="500" y="33"/>
                </a:cubicBezTo>
                <a:cubicBezTo>
                  <a:pt x="500" y="33"/>
                  <a:pt x="507" y="30"/>
                  <a:pt x="518" y="30"/>
                </a:cubicBezTo>
                <a:cubicBezTo>
                  <a:pt x="535" y="30"/>
                  <a:pt x="537" y="39"/>
                  <a:pt x="538" y="42"/>
                </a:cubicBezTo>
                <a:cubicBezTo>
                  <a:pt x="539" y="45"/>
                  <a:pt x="539" y="55"/>
                  <a:pt x="539" y="57"/>
                </a:cubicBezTo>
                <a:cubicBezTo>
                  <a:pt x="539" y="92"/>
                  <a:pt x="539" y="92"/>
                  <a:pt x="539" y="92"/>
                </a:cubicBezTo>
                <a:lnTo>
                  <a:pt x="528" y="92"/>
                </a:lnTo>
                <a:close/>
                <a:moveTo>
                  <a:pt x="527" y="64"/>
                </a:moveTo>
                <a:cubicBezTo>
                  <a:pt x="527" y="64"/>
                  <a:pt x="526" y="64"/>
                  <a:pt x="521" y="64"/>
                </a:cubicBezTo>
                <a:cubicBezTo>
                  <a:pt x="516" y="64"/>
                  <a:pt x="513" y="65"/>
                  <a:pt x="510" y="66"/>
                </a:cubicBezTo>
                <a:cubicBezTo>
                  <a:pt x="506" y="68"/>
                  <a:pt x="506" y="72"/>
                  <a:pt x="506" y="75"/>
                </a:cubicBezTo>
                <a:cubicBezTo>
                  <a:pt x="506" y="84"/>
                  <a:pt x="512" y="86"/>
                  <a:pt x="518" y="86"/>
                </a:cubicBezTo>
                <a:cubicBezTo>
                  <a:pt x="524" y="86"/>
                  <a:pt x="527" y="84"/>
                  <a:pt x="527" y="84"/>
                </a:cubicBezTo>
                <a:lnTo>
                  <a:pt x="527" y="64"/>
                </a:lnTo>
                <a:close/>
                <a:moveTo>
                  <a:pt x="577" y="93"/>
                </a:moveTo>
                <a:cubicBezTo>
                  <a:pt x="569" y="93"/>
                  <a:pt x="563" y="91"/>
                  <a:pt x="561" y="84"/>
                </a:cubicBezTo>
                <a:cubicBezTo>
                  <a:pt x="560" y="81"/>
                  <a:pt x="560" y="75"/>
                  <a:pt x="560" y="71"/>
                </a:cubicBezTo>
                <a:cubicBezTo>
                  <a:pt x="560" y="38"/>
                  <a:pt x="560" y="38"/>
                  <a:pt x="560" y="38"/>
                </a:cubicBezTo>
                <a:cubicBezTo>
                  <a:pt x="551" y="38"/>
                  <a:pt x="551" y="38"/>
                  <a:pt x="551" y="38"/>
                </a:cubicBezTo>
                <a:cubicBezTo>
                  <a:pt x="551" y="34"/>
                  <a:pt x="551" y="34"/>
                  <a:pt x="551" y="34"/>
                </a:cubicBezTo>
                <a:cubicBezTo>
                  <a:pt x="552" y="33"/>
                  <a:pt x="552" y="33"/>
                  <a:pt x="552" y="33"/>
                </a:cubicBezTo>
                <a:cubicBezTo>
                  <a:pt x="559" y="30"/>
                  <a:pt x="563" y="26"/>
                  <a:pt x="564" y="19"/>
                </a:cubicBezTo>
                <a:cubicBezTo>
                  <a:pt x="564" y="18"/>
                  <a:pt x="564" y="18"/>
                  <a:pt x="564" y="18"/>
                </a:cubicBezTo>
                <a:cubicBezTo>
                  <a:pt x="571" y="18"/>
                  <a:pt x="571" y="18"/>
                  <a:pt x="571" y="18"/>
                </a:cubicBezTo>
                <a:cubicBezTo>
                  <a:pt x="571" y="32"/>
                  <a:pt x="571" y="32"/>
                  <a:pt x="571" y="32"/>
                </a:cubicBezTo>
                <a:cubicBezTo>
                  <a:pt x="591" y="32"/>
                  <a:pt x="591" y="32"/>
                  <a:pt x="591" y="32"/>
                </a:cubicBezTo>
                <a:cubicBezTo>
                  <a:pt x="591" y="38"/>
                  <a:pt x="591" y="38"/>
                  <a:pt x="591" y="38"/>
                </a:cubicBezTo>
                <a:cubicBezTo>
                  <a:pt x="571" y="38"/>
                  <a:pt x="571" y="38"/>
                  <a:pt x="571" y="38"/>
                </a:cubicBezTo>
                <a:cubicBezTo>
                  <a:pt x="571" y="74"/>
                  <a:pt x="571" y="74"/>
                  <a:pt x="571" y="74"/>
                </a:cubicBezTo>
                <a:cubicBezTo>
                  <a:pt x="571" y="80"/>
                  <a:pt x="572" y="86"/>
                  <a:pt x="581" y="86"/>
                </a:cubicBezTo>
                <a:cubicBezTo>
                  <a:pt x="586" y="86"/>
                  <a:pt x="589" y="84"/>
                  <a:pt x="589" y="84"/>
                </a:cubicBezTo>
                <a:cubicBezTo>
                  <a:pt x="591" y="91"/>
                  <a:pt x="591" y="91"/>
                  <a:pt x="591" y="91"/>
                </a:cubicBezTo>
                <a:cubicBezTo>
                  <a:pt x="591" y="91"/>
                  <a:pt x="586" y="93"/>
                  <a:pt x="577" y="93"/>
                </a:cubicBezTo>
                <a:close/>
                <a:moveTo>
                  <a:pt x="609" y="20"/>
                </a:moveTo>
                <a:cubicBezTo>
                  <a:pt x="604" y="20"/>
                  <a:pt x="602" y="18"/>
                  <a:pt x="602" y="14"/>
                </a:cubicBezTo>
                <a:cubicBezTo>
                  <a:pt x="602" y="9"/>
                  <a:pt x="604" y="7"/>
                  <a:pt x="609" y="7"/>
                </a:cubicBezTo>
                <a:cubicBezTo>
                  <a:pt x="613" y="7"/>
                  <a:pt x="616" y="9"/>
                  <a:pt x="616" y="13"/>
                </a:cubicBezTo>
                <a:cubicBezTo>
                  <a:pt x="616" y="18"/>
                  <a:pt x="613" y="20"/>
                  <a:pt x="609" y="20"/>
                </a:cubicBezTo>
                <a:close/>
                <a:moveTo>
                  <a:pt x="603" y="92"/>
                </a:moveTo>
                <a:cubicBezTo>
                  <a:pt x="603" y="32"/>
                  <a:pt x="603" y="32"/>
                  <a:pt x="603" y="32"/>
                </a:cubicBezTo>
                <a:cubicBezTo>
                  <a:pt x="615" y="32"/>
                  <a:pt x="615" y="32"/>
                  <a:pt x="615" y="32"/>
                </a:cubicBezTo>
                <a:cubicBezTo>
                  <a:pt x="615" y="92"/>
                  <a:pt x="615" y="92"/>
                  <a:pt x="615" y="92"/>
                </a:cubicBezTo>
                <a:lnTo>
                  <a:pt x="603" y="92"/>
                </a:lnTo>
                <a:close/>
                <a:moveTo>
                  <a:pt x="642" y="60"/>
                </a:moveTo>
                <a:cubicBezTo>
                  <a:pt x="642" y="60"/>
                  <a:pt x="642" y="62"/>
                  <a:pt x="642" y="62"/>
                </a:cubicBezTo>
                <a:cubicBezTo>
                  <a:pt x="642" y="83"/>
                  <a:pt x="656" y="86"/>
                  <a:pt x="663" y="86"/>
                </a:cubicBezTo>
                <a:cubicBezTo>
                  <a:pt x="672" y="86"/>
                  <a:pt x="676" y="83"/>
                  <a:pt x="676" y="83"/>
                </a:cubicBezTo>
                <a:cubicBezTo>
                  <a:pt x="679" y="90"/>
                  <a:pt x="679" y="90"/>
                  <a:pt x="679" y="90"/>
                </a:cubicBezTo>
                <a:cubicBezTo>
                  <a:pt x="679" y="90"/>
                  <a:pt x="672" y="93"/>
                  <a:pt x="661" y="93"/>
                </a:cubicBezTo>
                <a:cubicBezTo>
                  <a:pt x="648" y="93"/>
                  <a:pt x="630" y="89"/>
                  <a:pt x="630" y="62"/>
                </a:cubicBezTo>
                <a:cubicBezTo>
                  <a:pt x="630" y="51"/>
                  <a:pt x="635" y="30"/>
                  <a:pt x="657" y="30"/>
                </a:cubicBezTo>
                <a:cubicBezTo>
                  <a:pt x="667" y="30"/>
                  <a:pt x="673" y="34"/>
                  <a:pt x="677" y="40"/>
                </a:cubicBezTo>
                <a:cubicBezTo>
                  <a:pt x="680" y="44"/>
                  <a:pt x="681" y="51"/>
                  <a:pt x="681" y="58"/>
                </a:cubicBezTo>
                <a:cubicBezTo>
                  <a:pt x="681" y="59"/>
                  <a:pt x="681" y="59"/>
                  <a:pt x="681" y="59"/>
                </a:cubicBezTo>
                <a:cubicBezTo>
                  <a:pt x="681" y="60"/>
                  <a:pt x="681" y="60"/>
                  <a:pt x="681" y="60"/>
                </a:cubicBezTo>
                <a:lnTo>
                  <a:pt x="642" y="60"/>
                </a:lnTo>
                <a:close/>
                <a:moveTo>
                  <a:pt x="669" y="52"/>
                </a:moveTo>
                <a:cubicBezTo>
                  <a:pt x="669" y="42"/>
                  <a:pt x="665" y="37"/>
                  <a:pt x="656" y="37"/>
                </a:cubicBezTo>
                <a:cubicBezTo>
                  <a:pt x="650" y="37"/>
                  <a:pt x="646" y="40"/>
                  <a:pt x="644" y="46"/>
                </a:cubicBezTo>
                <a:cubicBezTo>
                  <a:pt x="642" y="50"/>
                  <a:pt x="642" y="53"/>
                  <a:pt x="642" y="54"/>
                </a:cubicBezTo>
                <a:cubicBezTo>
                  <a:pt x="669" y="54"/>
                  <a:pt x="669" y="54"/>
                  <a:pt x="669" y="54"/>
                </a:cubicBezTo>
                <a:lnTo>
                  <a:pt x="669" y="52"/>
                </a:lnTo>
                <a:close/>
                <a:moveTo>
                  <a:pt x="734" y="92"/>
                </a:moveTo>
                <a:cubicBezTo>
                  <a:pt x="734" y="60"/>
                  <a:pt x="734" y="60"/>
                  <a:pt x="734" y="60"/>
                </a:cubicBezTo>
                <a:cubicBezTo>
                  <a:pt x="734" y="56"/>
                  <a:pt x="734" y="52"/>
                  <a:pt x="734" y="49"/>
                </a:cubicBezTo>
                <a:cubicBezTo>
                  <a:pt x="732" y="41"/>
                  <a:pt x="727" y="38"/>
                  <a:pt x="719" y="38"/>
                </a:cubicBezTo>
                <a:cubicBezTo>
                  <a:pt x="713" y="38"/>
                  <a:pt x="708" y="41"/>
                  <a:pt x="708" y="41"/>
                </a:cubicBezTo>
                <a:cubicBezTo>
                  <a:pt x="708" y="92"/>
                  <a:pt x="708" y="92"/>
                  <a:pt x="708" y="92"/>
                </a:cubicBezTo>
                <a:cubicBezTo>
                  <a:pt x="696" y="92"/>
                  <a:pt x="696" y="92"/>
                  <a:pt x="696" y="92"/>
                </a:cubicBezTo>
                <a:cubicBezTo>
                  <a:pt x="696" y="32"/>
                  <a:pt x="696" y="32"/>
                  <a:pt x="696" y="32"/>
                </a:cubicBezTo>
                <a:cubicBezTo>
                  <a:pt x="707" y="32"/>
                  <a:pt x="707" y="32"/>
                  <a:pt x="707" y="32"/>
                </a:cubicBezTo>
                <a:cubicBezTo>
                  <a:pt x="707" y="38"/>
                  <a:pt x="707" y="38"/>
                  <a:pt x="707" y="38"/>
                </a:cubicBezTo>
                <a:cubicBezTo>
                  <a:pt x="707" y="38"/>
                  <a:pt x="713" y="30"/>
                  <a:pt x="726" y="30"/>
                </a:cubicBezTo>
                <a:cubicBezTo>
                  <a:pt x="738" y="30"/>
                  <a:pt x="743" y="38"/>
                  <a:pt x="745" y="44"/>
                </a:cubicBezTo>
                <a:cubicBezTo>
                  <a:pt x="746" y="48"/>
                  <a:pt x="746" y="53"/>
                  <a:pt x="746" y="56"/>
                </a:cubicBezTo>
                <a:cubicBezTo>
                  <a:pt x="746" y="92"/>
                  <a:pt x="746" y="92"/>
                  <a:pt x="746" y="92"/>
                </a:cubicBezTo>
                <a:lnTo>
                  <a:pt x="734" y="92"/>
                </a:lnTo>
                <a:close/>
                <a:moveTo>
                  <a:pt x="783" y="93"/>
                </a:moveTo>
                <a:cubicBezTo>
                  <a:pt x="774" y="93"/>
                  <a:pt x="769" y="91"/>
                  <a:pt x="766" y="84"/>
                </a:cubicBezTo>
                <a:cubicBezTo>
                  <a:pt x="765" y="81"/>
                  <a:pt x="765" y="75"/>
                  <a:pt x="765" y="71"/>
                </a:cubicBezTo>
                <a:cubicBezTo>
                  <a:pt x="765" y="38"/>
                  <a:pt x="765" y="38"/>
                  <a:pt x="765" y="38"/>
                </a:cubicBezTo>
                <a:cubicBezTo>
                  <a:pt x="757" y="38"/>
                  <a:pt x="757" y="38"/>
                  <a:pt x="757" y="38"/>
                </a:cubicBezTo>
                <a:cubicBezTo>
                  <a:pt x="757" y="34"/>
                  <a:pt x="757" y="34"/>
                  <a:pt x="757" y="34"/>
                </a:cubicBezTo>
                <a:cubicBezTo>
                  <a:pt x="758" y="33"/>
                  <a:pt x="758" y="33"/>
                  <a:pt x="758" y="33"/>
                </a:cubicBezTo>
                <a:cubicBezTo>
                  <a:pt x="765" y="30"/>
                  <a:pt x="769" y="26"/>
                  <a:pt x="770" y="19"/>
                </a:cubicBezTo>
                <a:cubicBezTo>
                  <a:pt x="770" y="18"/>
                  <a:pt x="770" y="18"/>
                  <a:pt x="770" y="18"/>
                </a:cubicBezTo>
                <a:cubicBezTo>
                  <a:pt x="777" y="18"/>
                  <a:pt x="777" y="18"/>
                  <a:pt x="777" y="18"/>
                </a:cubicBezTo>
                <a:cubicBezTo>
                  <a:pt x="777" y="32"/>
                  <a:pt x="777" y="32"/>
                  <a:pt x="777" y="32"/>
                </a:cubicBezTo>
                <a:cubicBezTo>
                  <a:pt x="796" y="32"/>
                  <a:pt x="796" y="32"/>
                  <a:pt x="796" y="32"/>
                </a:cubicBezTo>
                <a:cubicBezTo>
                  <a:pt x="796" y="38"/>
                  <a:pt x="796" y="38"/>
                  <a:pt x="796" y="38"/>
                </a:cubicBezTo>
                <a:cubicBezTo>
                  <a:pt x="777" y="38"/>
                  <a:pt x="777" y="38"/>
                  <a:pt x="777" y="38"/>
                </a:cubicBezTo>
                <a:cubicBezTo>
                  <a:pt x="777" y="74"/>
                  <a:pt x="777" y="74"/>
                  <a:pt x="777" y="74"/>
                </a:cubicBezTo>
                <a:cubicBezTo>
                  <a:pt x="777" y="80"/>
                  <a:pt x="778" y="86"/>
                  <a:pt x="787" y="86"/>
                </a:cubicBezTo>
                <a:cubicBezTo>
                  <a:pt x="791" y="86"/>
                  <a:pt x="795" y="84"/>
                  <a:pt x="795" y="84"/>
                </a:cubicBezTo>
                <a:cubicBezTo>
                  <a:pt x="797" y="91"/>
                  <a:pt x="797" y="91"/>
                  <a:pt x="797" y="91"/>
                </a:cubicBezTo>
                <a:cubicBezTo>
                  <a:pt x="796" y="91"/>
                  <a:pt x="792" y="93"/>
                  <a:pt x="783" y="93"/>
                </a:cubicBezTo>
                <a:close/>
                <a:moveTo>
                  <a:pt x="824" y="93"/>
                </a:moveTo>
                <a:cubicBezTo>
                  <a:pt x="812" y="93"/>
                  <a:pt x="806" y="90"/>
                  <a:pt x="806" y="90"/>
                </a:cubicBezTo>
                <a:cubicBezTo>
                  <a:pt x="808" y="83"/>
                  <a:pt x="808" y="83"/>
                  <a:pt x="808" y="83"/>
                </a:cubicBezTo>
                <a:cubicBezTo>
                  <a:pt x="808" y="83"/>
                  <a:pt x="813" y="86"/>
                  <a:pt x="823" y="86"/>
                </a:cubicBezTo>
                <a:cubicBezTo>
                  <a:pt x="831" y="86"/>
                  <a:pt x="836" y="83"/>
                  <a:pt x="836" y="77"/>
                </a:cubicBezTo>
                <a:cubicBezTo>
                  <a:pt x="836" y="72"/>
                  <a:pt x="833" y="71"/>
                  <a:pt x="829" y="69"/>
                </a:cubicBezTo>
                <a:cubicBezTo>
                  <a:pt x="819" y="63"/>
                  <a:pt x="819" y="63"/>
                  <a:pt x="819" y="63"/>
                </a:cubicBezTo>
                <a:cubicBezTo>
                  <a:pt x="812" y="59"/>
                  <a:pt x="808" y="55"/>
                  <a:pt x="808" y="47"/>
                </a:cubicBezTo>
                <a:cubicBezTo>
                  <a:pt x="808" y="35"/>
                  <a:pt x="817" y="30"/>
                  <a:pt x="828" y="30"/>
                </a:cubicBezTo>
                <a:cubicBezTo>
                  <a:pt x="839" y="30"/>
                  <a:pt x="845" y="34"/>
                  <a:pt x="845" y="34"/>
                </a:cubicBezTo>
                <a:cubicBezTo>
                  <a:pt x="842" y="41"/>
                  <a:pt x="842" y="41"/>
                  <a:pt x="842" y="41"/>
                </a:cubicBezTo>
                <a:cubicBezTo>
                  <a:pt x="842" y="41"/>
                  <a:pt x="837" y="37"/>
                  <a:pt x="829" y="37"/>
                </a:cubicBezTo>
                <a:cubicBezTo>
                  <a:pt x="825" y="37"/>
                  <a:pt x="818" y="39"/>
                  <a:pt x="818" y="45"/>
                </a:cubicBezTo>
                <a:cubicBezTo>
                  <a:pt x="818" y="50"/>
                  <a:pt x="821" y="51"/>
                  <a:pt x="826" y="54"/>
                </a:cubicBezTo>
                <a:cubicBezTo>
                  <a:pt x="836" y="59"/>
                  <a:pt x="836" y="59"/>
                  <a:pt x="836" y="59"/>
                </a:cubicBezTo>
                <a:cubicBezTo>
                  <a:pt x="843" y="63"/>
                  <a:pt x="846" y="68"/>
                  <a:pt x="846" y="75"/>
                </a:cubicBezTo>
                <a:cubicBezTo>
                  <a:pt x="846" y="90"/>
                  <a:pt x="833" y="93"/>
                  <a:pt x="824" y="93"/>
                </a:cubicBezTo>
                <a:close/>
                <a:moveTo>
                  <a:pt x="895" y="20"/>
                </a:moveTo>
                <a:cubicBezTo>
                  <a:pt x="890" y="20"/>
                  <a:pt x="888" y="18"/>
                  <a:pt x="888" y="14"/>
                </a:cubicBezTo>
                <a:cubicBezTo>
                  <a:pt x="888" y="9"/>
                  <a:pt x="890" y="7"/>
                  <a:pt x="895" y="7"/>
                </a:cubicBezTo>
                <a:cubicBezTo>
                  <a:pt x="899" y="7"/>
                  <a:pt x="902" y="9"/>
                  <a:pt x="902" y="13"/>
                </a:cubicBezTo>
                <a:cubicBezTo>
                  <a:pt x="902" y="18"/>
                  <a:pt x="899" y="20"/>
                  <a:pt x="895" y="20"/>
                </a:cubicBezTo>
                <a:close/>
                <a:moveTo>
                  <a:pt x="889" y="92"/>
                </a:moveTo>
                <a:cubicBezTo>
                  <a:pt x="889" y="32"/>
                  <a:pt x="889" y="32"/>
                  <a:pt x="889" y="32"/>
                </a:cubicBezTo>
                <a:cubicBezTo>
                  <a:pt x="901" y="32"/>
                  <a:pt x="901" y="32"/>
                  <a:pt x="901" y="32"/>
                </a:cubicBezTo>
                <a:cubicBezTo>
                  <a:pt x="901" y="92"/>
                  <a:pt x="901" y="92"/>
                  <a:pt x="901" y="92"/>
                </a:cubicBezTo>
                <a:lnTo>
                  <a:pt x="889" y="92"/>
                </a:lnTo>
                <a:close/>
                <a:moveTo>
                  <a:pt x="932" y="93"/>
                </a:moveTo>
                <a:cubicBezTo>
                  <a:pt x="920" y="93"/>
                  <a:pt x="914" y="90"/>
                  <a:pt x="914" y="90"/>
                </a:cubicBezTo>
                <a:cubicBezTo>
                  <a:pt x="916" y="83"/>
                  <a:pt x="916" y="83"/>
                  <a:pt x="916" y="83"/>
                </a:cubicBezTo>
                <a:cubicBezTo>
                  <a:pt x="916" y="83"/>
                  <a:pt x="921" y="86"/>
                  <a:pt x="931" y="86"/>
                </a:cubicBezTo>
                <a:cubicBezTo>
                  <a:pt x="939" y="86"/>
                  <a:pt x="944" y="83"/>
                  <a:pt x="944" y="77"/>
                </a:cubicBezTo>
                <a:cubicBezTo>
                  <a:pt x="944" y="72"/>
                  <a:pt x="941" y="71"/>
                  <a:pt x="937" y="69"/>
                </a:cubicBezTo>
                <a:cubicBezTo>
                  <a:pt x="927" y="63"/>
                  <a:pt x="927" y="63"/>
                  <a:pt x="927" y="63"/>
                </a:cubicBezTo>
                <a:cubicBezTo>
                  <a:pt x="920" y="59"/>
                  <a:pt x="916" y="55"/>
                  <a:pt x="916" y="47"/>
                </a:cubicBezTo>
                <a:cubicBezTo>
                  <a:pt x="916" y="35"/>
                  <a:pt x="925" y="30"/>
                  <a:pt x="936" y="30"/>
                </a:cubicBezTo>
                <a:cubicBezTo>
                  <a:pt x="947" y="30"/>
                  <a:pt x="953" y="34"/>
                  <a:pt x="953" y="34"/>
                </a:cubicBezTo>
                <a:cubicBezTo>
                  <a:pt x="950" y="41"/>
                  <a:pt x="950" y="41"/>
                  <a:pt x="950" y="41"/>
                </a:cubicBezTo>
                <a:cubicBezTo>
                  <a:pt x="950" y="41"/>
                  <a:pt x="945" y="37"/>
                  <a:pt x="937" y="37"/>
                </a:cubicBezTo>
                <a:cubicBezTo>
                  <a:pt x="932" y="37"/>
                  <a:pt x="926" y="39"/>
                  <a:pt x="926" y="45"/>
                </a:cubicBezTo>
                <a:cubicBezTo>
                  <a:pt x="926" y="50"/>
                  <a:pt x="929" y="51"/>
                  <a:pt x="934" y="54"/>
                </a:cubicBezTo>
                <a:cubicBezTo>
                  <a:pt x="944" y="59"/>
                  <a:pt x="944" y="59"/>
                  <a:pt x="944" y="59"/>
                </a:cubicBezTo>
                <a:cubicBezTo>
                  <a:pt x="950" y="63"/>
                  <a:pt x="954" y="68"/>
                  <a:pt x="954" y="75"/>
                </a:cubicBezTo>
                <a:cubicBezTo>
                  <a:pt x="954" y="90"/>
                  <a:pt x="941" y="93"/>
                  <a:pt x="932" y="93"/>
                </a:cubicBezTo>
                <a:close/>
                <a:moveTo>
                  <a:pt x="1032" y="94"/>
                </a:moveTo>
                <a:cubicBezTo>
                  <a:pt x="1007" y="94"/>
                  <a:pt x="993" y="79"/>
                  <a:pt x="993" y="52"/>
                </a:cubicBezTo>
                <a:cubicBezTo>
                  <a:pt x="993" y="23"/>
                  <a:pt x="1007" y="6"/>
                  <a:pt x="1031" y="6"/>
                </a:cubicBezTo>
                <a:cubicBezTo>
                  <a:pt x="1055" y="6"/>
                  <a:pt x="1070" y="22"/>
                  <a:pt x="1070" y="48"/>
                </a:cubicBezTo>
                <a:cubicBezTo>
                  <a:pt x="1070" y="77"/>
                  <a:pt x="1055" y="94"/>
                  <a:pt x="1032" y="94"/>
                </a:cubicBezTo>
                <a:close/>
                <a:moveTo>
                  <a:pt x="1031" y="14"/>
                </a:moveTo>
                <a:cubicBezTo>
                  <a:pt x="1015" y="14"/>
                  <a:pt x="1005" y="27"/>
                  <a:pt x="1005" y="50"/>
                </a:cubicBezTo>
                <a:cubicBezTo>
                  <a:pt x="1005" y="74"/>
                  <a:pt x="1014" y="86"/>
                  <a:pt x="1032" y="86"/>
                </a:cubicBezTo>
                <a:cubicBezTo>
                  <a:pt x="1048" y="86"/>
                  <a:pt x="1058" y="74"/>
                  <a:pt x="1058" y="50"/>
                </a:cubicBezTo>
                <a:cubicBezTo>
                  <a:pt x="1058" y="27"/>
                  <a:pt x="1049" y="14"/>
                  <a:pt x="1031" y="14"/>
                </a:cubicBezTo>
                <a:close/>
                <a:moveTo>
                  <a:pt x="1124" y="92"/>
                </a:moveTo>
                <a:cubicBezTo>
                  <a:pt x="1124" y="86"/>
                  <a:pt x="1124" y="86"/>
                  <a:pt x="1124" y="86"/>
                </a:cubicBezTo>
                <a:cubicBezTo>
                  <a:pt x="1124" y="86"/>
                  <a:pt x="1118" y="94"/>
                  <a:pt x="1106" y="94"/>
                </a:cubicBezTo>
                <a:cubicBezTo>
                  <a:pt x="1101" y="94"/>
                  <a:pt x="1090" y="93"/>
                  <a:pt x="1087" y="80"/>
                </a:cubicBezTo>
                <a:cubicBezTo>
                  <a:pt x="1085" y="76"/>
                  <a:pt x="1086" y="69"/>
                  <a:pt x="1086" y="67"/>
                </a:cubicBezTo>
                <a:cubicBezTo>
                  <a:pt x="1086" y="32"/>
                  <a:pt x="1086" y="32"/>
                  <a:pt x="1086" y="32"/>
                </a:cubicBezTo>
                <a:cubicBezTo>
                  <a:pt x="1097" y="32"/>
                  <a:pt x="1097" y="32"/>
                  <a:pt x="1097" y="32"/>
                </a:cubicBezTo>
                <a:cubicBezTo>
                  <a:pt x="1097" y="64"/>
                  <a:pt x="1097" y="64"/>
                  <a:pt x="1097" y="64"/>
                </a:cubicBezTo>
                <a:cubicBezTo>
                  <a:pt x="1097" y="70"/>
                  <a:pt x="1097" y="72"/>
                  <a:pt x="1098" y="75"/>
                </a:cubicBezTo>
                <a:cubicBezTo>
                  <a:pt x="1099" y="82"/>
                  <a:pt x="1104" y="86"/>
                  <a:pt x="1112" y="86"/>
                </a:cubicBezTo>
                <a:cubicBezTo>
                  <a:pt x="1119" y="86"/>
                  <a:pt x="1124" y="83"/>
                  <a:pt x="1124" y="83"/>
                </a:cubicBezTo>
                <a:cubicBezTo>
                  <a:pt x="1124" y="32"/>
                  <a:pt x="1124" y="32"/>
                  <a:pt x="1124" y="32"/>
                </a:cubicBezTo>
                <a:cubicBezTo>
                  <a:pt x="1135" y="32"/>
                  <a:pt x="1135" y="32"/>
                  <a:pt x="1135" y="32"/>
                </a:cubicBezTo>
                <a:cubicBezTo>
                  <a:pt x="1135" y="92"/>
                  <a:pt x="1135" y="92"/>
                  <a:pt x="1135" y="92"/>
                </a:cubicBezTo>
                <a:lnTo>
                  <a:pt x="1124" y="92"/>
                </a:lnTo>
                <a:close/>
                <a:moveTo>
                  <a:pt x="1185" y="42"/>
                </a:moveTo>
                <a:cubicBezTo>
                  <a:pt x="1183" y="41"/>
                  <a:pt x="1181" y="39"/>
                  <a:pt x="1176" y="39"/>
                </a:cubicBezTo>
                <a:cubicBezTo>
                  <a:pt x="1170" y="39"/>
                  <a:pt x="1166" y="42"/>
                  <a:pt x="1166" y="42"/>
                </a:cubicBezTo>
                <a:cubicBezTo>
                  <a:pt x="1166" y="92"/>
                  <a:pt x="1166" y="92"/>
                  <a:pt x="1166" y="92"/>
                </a:cubicBezTo>
                <a:cubicBezTo>
                  <a:pt x="1154" y="92"/>
                  <a:pt x="1154" y="92"/>
                  <a:pt x="1154" y="92"/>
                </a:cubicBezTo>
                <a:cubicBezTo>
                  <a:pt x="1154" y="32"/>
                  <a:pt x="1154" y="32"/>
                  <a:pt x="1154" y="32"/>
                </a:cubicBezTo>
                <a:cubicBezTo>
                  <a:pt x="1166" y="32"/>
                  <a:pt x="1166" y="32"/>
                  <a:pt x="1166" y="32"/>
                </a:cubicBezTo>
                <a:cubicBezTo>
                  <a:pt x="1166" y="39"/>
                  <a:pt x="1166" y="39"/>
                  <a:pt x="1166" y="39"/>
                </a:cubicBezTo>
                <a:cubicBezTo>
                  <a:pt x="1166" y="39"/>
                  <a:pt x="1171" y="30"/>
                  <a:pt x="1180" y="30"/>
                </a:cubicBezTo>
                <a:cubicBezTo>
                  <a:pt x="1185" y="30"/>
                  <a:pt x="1187" y="32"/>
                  <a:pt x="1189" y="32"/>
                </a:cubicBezTo>
                <a:lnTo>
                  <a:pt x="1185" y="42"/>
                </a:lnTo>
                <a:close/>
                <a:moveTo>
                  <a:pt x="1227" y="92"/>
                </a:moveTo>
                <a:cubicBezTo>
                  <a:pt x="1227" y="8"/>
                  <a:pt x="1227" y="8"/>
                  <a:pt x="1227" y="8"/>
                </a:cubicBezTo>
                <a:cubicBezTo>
                  <a:pt x="1239" y="8"/>
                  <a:pt x="1239" y="8"/>
                  <a:pt x="1239" y="8"/>
                </a:cubicBezTo>
                <a:cubicBezTo>
                  <a:pt x="1239" y="85"/>
                  <a:pt x="1239" y="85"/>
                  <a:pt x="1239" y="85"/>
                </a:cubicBezTo>
                <a:cubicBezTo>
                  <a:pt x="1269" y="85"/>
                  <a:pt x="1269" y="85"/>
                  <a:pt x="1269" y="85"/>
                </a:cubicBezTo>
                <a:cubicBezTo>
                  <a:pt x="1269" y="92"/>
                  <a:pt x="1269" y="92"/>
                  <a:pt x="1269" y="92"/>
                </a:cubicBezTo>
                <a:lnTo>
                  <a:pt x="1227" y="92"/>
                </a:lnTo>
                <a:close/>
                <a:moveTo>
                  <a:pt x="1287" y="20"/>
                </a:moveTo>
                <a:cubicBezTo>
                  <a:pt x="1283" y="20"/>
                  <a:pt x="1280" y="18"/>
                  <a:pt x="1280" y="14"/>
                </a:cubicBezTo>
                <a:cubicBezTo>
                  <a:pt x="1280" y="9"/>
                  <a:pt x="1283" y="7"/>
                  <a:pt x="1287" y="7"/>
                </a:cubicBezTo>
                <a:cubicBezTo>
                  <a:pt x="1291" y="7"/>
                  <a:pt x="1294" y="9"/>
                  <a:pt x="1294" y="13"/>
                </a:cubicBezTo>
                <a:cubicBezTo>
                  <a:pt x="1294" y="18"/>
                  <a:pt x="1291" y="20"/>
                  <a:pt x="1287" y="20"/>
                </a:cubicBezTo>
                <a:close/>
                <a:moveTo>
                  <a:pt x="1281" y="92"/>
                </a:moveTo>
                <a:cubicBezTo>
                  <a:pt x="1281" y="32"/>
                  <a:pt x="1281" y="32"/>
                  <a:pt x="1281" y="32"/>
                </a:cubicBezTo>
                <a:cubicBezTo>
                  <a:pt x="1293" y="32"/>
                  <a:pt x="1293" y="32"/>
                  <a:pt x="1293" y="32"/>
                </a:cubicBezTo>
                <a:cubicBezTo>
                  <a:pt x="1293" y="92"/>
                  <a:pt x="1293" y="92"/>
                  <a:pt x="1293" y="92"/>
                </a:cubicBezTo>
                <a:lnTo>
                  <a:pt x="1281" y="92"/>
                </a:lnTo>
                <a:close/>
                <a:moveTo>
                  <a:pt x="1343" y="8"/>
                </a:moveTo>
                <a:cubicBezTo>
                  <a:pt x="1343" y="8"/>
                  <a:pt x="1340" y="6"/>
                  <a:pt x="1336" y="6"/>
                </a:cubicBezTo>
                <a:cubicBezTo>
                  <a:pt x="1331" y="6"/>
                  <a:pt x="1328" y="8"/>
                  <a:pt x="1327" y="11"/>
                </a:cubicBezTo>
                <a:cubicBezTo>
                  <a:pt x="1325" y="13"/>
                  <a:pt x="1325" y="17"/>
                  <a:pt x="1325" y="23"/>
                </a:cubicBezTo>
                <a:cubicBezTo>
                  <a:pt x="1325" y="32"/>
                  <a:pt x="1325" y="32"/>
                  <a:pt x="1325" y="32"/>
                </a:cubicBezTo>
                <a:cubicBezTo>
                  <a:pt x="1339" y="32"/>
                  <a:pt x="1339" y="32"/>
                  <a:pt x="1339" y="32"/>
                </a:cubicBezTo>
                <a:cubicBezTo>
                  <a:pt x="1339" y="38"/>
                  <a:pt x="1339" y="38"/>
                  <a:pt x="1339" y="38"/>
                </a:cubicBezTo>
                <a:cubicBezTo>
                  <a:pt x="1325" y="38"/>
                  <a:pt x="1325" y="38"/>
                  <a:pt x="1325" y="38"/>
                </a:cubicBezTo>
                <a:cubicBezTo>
                  <a:pt x="1325" y="92"/>
                  <a:pt x="1325" y="92"/>
                  <a:pt x="1325" y="92"/>
                </a:cubicBezTo>
                <a:cubicBezTo>
                  <a:pt x="1314" y="92"/>
                  <a:pt x="1314" y="92"/>
                  <a:pt x="1314" y="92"/>
                </a:cubicBezTo>
                <a:cubicBezTo>
                  <a:pt x="1314" y="38"/>
                  <a:pt x="1314" y="38"/>
                  <a:pt x="1314" y="38"/>
                </a:cubicBezTo>
                <a:cubicBezTo>
                  <a:pt x="1305" y="38"/>
                  <a:pt x="1305" y="38"/>
                  <a:pt x="1305" y="38"/>
                </a:cubicBezTo>
                <a:cubicBezTo>
                  <a:pt x="1305" y="32"/>
                  <a:pt x="1305" y="32"/>
                  <a:pt x="1305" y="32"/>
                </a:cubicBezTo>
                <a:cubicBezTo>
                  <a:pt x="1314" y="32"/>
                  <a:pt x="1314" y="32"/>
                  <a:pt x="1314" y="32"/>
                </a:cubicBezTo>
                <a:cubicBezTo>
                  <a:pt x="1314" y="28"/>
                  <a:pt x="1314" y="28"/>
                  <a:pt x="1314" y="28"/>
                </a:cubicBezTo>
                <a:cubicBezTo>
                  <a:pt x="1314" y="24"/>
                  <a:pt x="1314" y="17"/>
                  <a:pt x="1315" y="13"/>
                </a:cubicBezTo>
                <a:cubicBezTo>
                  <a:pt x="1318" y="5"/>
                  <a:pt x="1324" y="0"/>
                  <a:pt x="1334" y="0"/>
                </a:cubicBezTo>
                <a:cubicBezTo>
                  <a:pt x="1341" y="0"/>
                  <a:pt x="1345" y="2"/>
                  <a:pt x="1345" y="2"/>
                </a:cubicBezTo>
                <a:lnTo>
                  <a:pt x="1343" y="8"/>
                </a:lnTo>
                <a:close/>
                <a:moveTo>
                  <a:pt x="1356" y="60"/>
                </a:moveTo>
                <a:cubicBezTo>
                  <a:pt x="1356" y="60"/>
                  <a:pt x="1356" y="62"/>
                  <a:pt x="1356" y="62"/>
                </a:cubicBezTo>
                <a:cubicBezTo>
                  <a:pt x="1356" y="83"/>
                  <a:pt x="1370" y="86"/>
                  <a:pt x="1377" y="86"/>
                </a:cubicBezTo>
                <a:cubicBezTo>
                  <a:pt x="1386" y="86"/>
                  <a:pt x="1390" y="83"/>
                  <a:pt x="1390" y="83"/>
                </a:cubicBezTo>
                <a:cubicBezTo>
                  <a:pt x="1393" y="90"/>
                  <a:pt x="1393" y="90"/>
                  <a:pt x="1393" y="90"/>
                </a:cubicBezTo>
                <a:cubicBezTo>
                  <a:pt x="1393" y="90"/>
                  <a:pt x="1387" y="93"/>
                  <a:pt x="1375" y="93"/>
                </a:cubicBezTo>
                <a:cubicBezTo>
                  <a:pt x="1362" y="93"/>
                  <a:pt x="1345" y="89"/>
                  <a:pt x="1345" y="62"/>
                </a:cubicBezTo>
                <a:cubicBezTo>
                  <a:pt x="1345" y="51"/>
                  <a:pt x="1349" y="30"/>
                  <a:pt x="1372" y="30"/>
                </a:cubicBezTo>
                <a:cubicBezTo>
                  <a:pt x="1382" y="30"/>
                  <a:pt x="1388" y="34"/>
                  <a:pt x="1391" y="40"/>
                </a:cubicBezTo>
                <a:cubicBezTo>
                  <a:pt x="1394" y="44"/>
                  <a:pt x="1395" y="51"/>
                  <a:pt x="1395" y="58"/>
                </a:cubicBezTo>
                <a:cubicBezTo>
                  <a:pt x="1395" y="59"/>
                  <a:pt x="1395" y="59"/>
                  <a:pt x="1395" y="59"/>
                </a:cubicBezTo>
                <a:cubicBezTo>
                  <a:pt x="1395" y="60"/>
                  <a:pt x="1395" y="60"/>
                  <a:pt x="1395" y="60"/>
                </a:cubicBezTo>
                <a:lnTo>
                  <a:pt x="1356" y="60"/>
                </a:lnTo>
                <a:close/>
                <a:moveTo>
                  <a:pt x="1383" y="52"/>
                </a:moveTo>
                <a:cubicBezTo>
                  <a:pt x="1383" y="42"/>
                  <a:pt x="1379" y="37"/>
                  <a:pt x="1371" y="37"/>
                </a:cubicBezTo>
                <a:cubicBezTo>
                  <a:pt x="1364" y="37"/>
                  <a:pt x="1360" y="40"/>
                  <a:pt x="1358" y="46"/>
                </a:cubicBezTo>
                <a:cubicBezTo>
                  <a:pt x="1357" y="50"/>
                  <a:pt x="1357" y="53"/>
                  <a:pt x="1357" y="54"/>
                </a:cubicBezTo>
                <a:cubicBezTo>
                  <a:pt x="1383" y="54"/>
                  <a:pt x="1383" y="54"/>
                  <a:pt x="1383" y="54"/>
                </a:cubicBezTo>
                <a:lnTo>
                  <a:pt x="1383" y="52"/>
                </a:lnTo>
                <a:close/>
                <a:moveTo>
                  <a:pt x="1420" y="23"/>
                </a:moveTo>
                <a:cubicBezTo>
                  <a:pt x="1417" y="30"/>
                  <a:pt x="1410" y="34"/>
                  <a:pt x="1410" y="34"/>
                </a:cubicBezTo>
                <a:cubicBezTo>
                  <a:pt x="1406" y="31"/>
                  <a:pt x="1406" y="31"/>
                  <a:pt x="1406" y="31"/>
                </a:cubicBezTo>
                <a:cubicBezTo>
                  <a:pt x="1406" y="31"/>
                  <a:pt x="1411" y="25"/>
                  <a:pt x="1411" y="14"/>
                </a:cubicBezTo>
                <a:cubicBezTo>
                  <a:pt x="1411" y="7"/>
                  <a:pt x="1410" y="4"/>
                  <a:pt x="1410" y="4"/>
                </a:cubicBezTo>
                <a:cubicBezTo>
                  <a:pt x="1423" y="4"/>
                  <a:pt x="1423" y="4"/>
                  <a:pt x="1423" y="4"/>
                </a:cubicBezTo>
                <a:cubicBezTo>
                  <a:pt x="1423" y="5"/>
                  <a:pt x="1423" y="5"/>
                  <a:pt x="1423" y="5"/>
                </a:cubicBezTo>
                <a:cubicBezTo>
                  <a:pt x="1423" y="15"/>
                  <a:pt x="1422" y="19"/>
                  <a:pt x="1420" y="23"/>
                </a:cubicBezTo>
                <a:close/>
                <a:moveTo>
                  <a:pt x="1444" y="93"/>
                </a:moveTo>
                <a:cubicBezTo>
                  <a:pt x="1431" y="93"/>
                  <a:pt x="1425" y="90"/>
                  <a:pt x="1425" y="90"/>
                </a:cubicBezTo>
                <a:cubicBezTo>
                  <a:pt x="1428" y="83"/>
                  <a:pt x="1428" y="83"/>
                  <a:pt x="1428" y="83"/>
                </a:cubicBezTo>
                <a:cubicBezTo>
                  <a:pt x="1428" y="83"/>
                  <a:pt x="1433" y="86"/>
                  <a:pt x="1443" y="86"/>
                </a:cubicBezTo>
                <a:cubicBezTo>
                  <a:pt x="1451" y="86"/>
                  <a:pt x="1455" y="83"/>
                  <a:pt x="1455" y="77"/>
                </a:cubicBezTo>
                <a:cubicBezTo>
                  <a:pt x="1455" y="72"/>
                  <a:pt x="1453" y="71"/>
                  <a:pt x="1449" y="69"/>
                </a:cubicBezTo>
                <a:cubicBezTo>
                  <a:pt x="1439" y="63"/>
                  <a:pt x="1439" y="63"/>
                  <a:pt x="1439" y="63"/>
                </a:cubicBezTo>
                <a:cubicBezTo>
                  <a:pt x="1432" y="59"/>
                  <a:pt x="1428" y="55"/>
                  <a:pt x="1428" y="47"/>
                </a:cubicBezTo>
                <a:cubicBezTo>
                  <a:pt x="1428" y="35"/>
                  <a:pt x="1436" y="30"/>
                  <a:pt x="1448" y="30"/>
                </a:cubicBezTo>
                <a:cubicBezTo>
                  <a:pt x="1459" y="30"/>
                  <a:pt x="1464" y="34"/>
                  <a:pt x="1464" y="34"/>
                </a:cubicBezTo>
                <a:cubicBezTo>
                  <a:pt x="1462" y="41"/>
                  <a:pt x="1462" y="41"/>
                  <a:pt x="1462" y="41"/>
                </a:cubicBezTo>
                <a:cubicBezTo>
                  <a:pt x="1462" y="41"/>
                  <a:pt x="1457" y="37"/>
                  <a:pt x="1449" y="37"/>
                </a:cubicBezTo>
                <a:cubicBezTo>
                  <a:pt x="1444" y="37"/>
                  <a:pt x="1438" y="39"/>
                  <a:pt x="1438" y="45"/>
                </a:cubicBezTo>
                <a:cubicBezTo>
                  <a:pt x="1438" y="50"/>
                  <a:pt x="1440" y="51"/>
                  <a:pt x="1446" y="54"/>
                </a:cubicBezTo>
                <a:cubicBezTo>
                  <a:pt x="1455" y="59"/>
                  <a:pt x="1455" y="59"/>
                  <a:pt x="1455" y="59"/>
                </a:cubicBezTo>
                <a:cubicBezTo>
                  <a:pt x="1462" y="63"/>
                  <a:pt x="1466" y="68"/>
                  <a:pt x="1466" y="75"/>
                </a:cubicBezTo>
                <a:cubicBezTo>
                  <a:pt x="1466" y="90"/>
                  <a:pt x="1452" y="93"/>
                  <a:pt x="1444" y="93"/>
                </a:cubicBezTo>
                <a:close/>
                <a:moveTo>
                  <a:pt x="1587" y="93"/>
                </a:moveTo>
                <a:cubicBezTo>
                  <a:pt x="1575" y="93"/>
                  <a:pt x="1575" y="93"/>
                  <a:pt x="1575" y="93"/>
                </a:cubicBezTo>
                <a:cubicBezTo>
                  <a:pt x="1557" y="31"/>
                  <a:pt x="1557" y="31"/>
                  <a:pt x="1557" y="31"/>
                </a:cubicBezTo>
                <a:cubicBezTo>
                  <a:pt x="1556" y="25"/>
                  <a:pt x="1556" y="23"/>
                  <a:pt x="1556" y="23"/>
                </a:cubicBezTo>
                <a:cubicBezTo>
                  <a:pt x="1556" y="23"/>
                  <a:pt x="1556" y="25"/>
                  <a:pt x="1554" y="31"/>
                </a:cubicBezTo>
                <a:cubicBezTo>
                  <a:pt x="1536" y="93"/>
                  <a:pt x="1536" y="93"/>
                  <a:pt x="1536" y="93"/>
                </a:cubicBezTo>
                <a:cubicBezTo>
                  <a:pt x="1524" y="93"/>
                  <a:pt x="1524" y="93"/>
                  <a:pt x="1524" y="93"/>
                </a:cubicBezTo>
                <a:cubicBezTo>
                  <a:pt x="1500" y="8"/>
                  <a:pt x="1500" y="8"/>
                  <a:pt x="1500" y="8"/>
                </a:cubicBezTo>
                <a:cubicBezTo>
                  <a:pt x="1512" y="8"/>
                  <a:pt x="1512" y="8"/>
                  <a:pt x="1512" y="8"/>
                </a:cubicBezTo>
                <a:cubicBezTo>
                  <a:pt x="1530" y="72"/>
                  <a:pt x="1530" y="72"/>
                  <a:pt x="1530" y="72"/>
                </a:cubicBezTo>
                <a:cubicBezTo>
                  <a:pt x="1532" y="78"/>
                  <a:pt x="1532" y="81"/>
                  <a:pt x="1532" y="81"/>
                </a:cubicBezTo>
                <a:cubicBezTo>
                  <a:pt x="1532" y="81"/>
                  <a:pt x="1532" y="77"/>
                  <a:pt x="1534" y="72"/>
                </a:cubicBezTo>
                <a:cubicBezTo>
                  <a:pt x="1552" y="8"/>
                  <a:pt x="1552" y="8"/>
                  <a:pt x="1552" y="8"/>
                </a:cubicBezTo>
                <a:cubicBezTo>
                  <a:pt x="1562" y="8"/>
                  <a:pt x="1562" y="8"/>
                  <a:pt x="1562" y="8"/>
                </a:cubicBezTo>
                <a:cubicBezTo>
                  <a:pt x="1581" y="73"/>
                  <a:pt x="1581" y="73"/>
                  <a:pt x="1581" y="73"/>
                </a:cubicBezTo>
                <a:cubicBezTo>
                  <a:pt x="1582" y="77"/>
                  <a:pt x="1582" y="81"/>
                  <a:pt x="1582" y="81"/>
                </a:cubicBezTo>
                <a:cubicBezTo>
                  <a:pt x="1582" y="81"/>
                  <a:pt x="1583" y="77"/>
                  <a:pt x="1584" y="72"/>
                </a:cubicBezTo>
                <a:cubicBezTo>
                  <a:pt x="1603" y="8"/>
                  <a:pt x="1603" y="8"/>
                  <a:pt x="1603" y="8"/>
                </a:cubicBezTo>
                <a:cubicBezTo>
                  <a:pt x="1613" y="8"/>
                  <a:pt x="1613" y="8"/>
                  <a:pt x="1613" y="8"/>
                </a:cubicBezTo>
                <a:lnTo>
                  <a:pt x="1587" y="93"/>
                </a:lnTo>
                <a:close/>
                <a:moveTo>
                  <a:pt x="1643" y="94"/>
                </a:moveTo>
                <a:cubicBezTo>
                  <a:pt x="1626" y="94"/>
                  <a:pt x="1615" y="81"/>
                  <a:pt x="1615" y="63"/>
                </a:cubicBezTo>
                <a:cubicBezTo>
                  <a:pt x="1615" y="50"/>
                  <a:pt x="1621" y="30"/>
                  <a:pt x="1645" y="30"/>
                </a:cubicBezTo>
                <a:cubicBezTo>
                  <a:pt x="1662" y="30"/>
                  <a:pt x="1673" y="43"/>
                  <a:pt x="1673" y="61"/>
                </a:cubicBezTo>
                <a:cubicBezTo>
                  <a:pt x="1673" y="74"/>
                  <a:pt x="1667" y="94"/>
                  <a:pt x="1643" y="94"/>
                </a:cubicBezTo>
                <a:close/>
                <a:moveTo>
                  <a:pt x="1644" y="37"/>
                </a:moveTo>
                <a:cubicBezTo>
                  <a:pt x="1632" y="37"/>
                  <a:pt x="1628" y="46"/>
                  <a:pt x="1628" y="62"/>
                </a:cubicBezTo>
                <a:cubicBezTo>
                  <a:pt x="1628" y="76"/>
                  <a:pt x="1632" y="87"/>
                  <a:pt x="1644" y="87"/>
                </a:cubicBezTo>
                <a:cubicBezTo>
                  <a:pt x="1656" y="87"/>
                  <a:pt x="1660" y="78"/>
                  <a:pt x="1660" y="62"/>
                </a:cubicBezTo>
                <a:cubicBezTo>
                  <a:pt x="1660" y="48"/>
                  <a:pt x="1656" y="37"/>
                  <a:pt x="1644" y="37"/>
                </a:cubicBezTo>
                <a:close/>
                <a:moveTo>
                  <a:pt x="1719" y="42"/>
                </a:moveTo>
                <a:cubicBezTo>
                  <a:pt x="1718" y="41"/>
                  <a:pt x="1715" y="39"/>
                  <a:pt x="1710" y="39"/>
                </a:cubicBezTo>
                <a:cubicBezTo>
                  <a:pt x="1704" y="39"/>
                  <a:pt x="1700" y="42"/>
                  <a:pt x="1700" y="42"/>
                </a:cubicBezTo>
                <a:cubicBezTo>
                  <a:pt x="1700" y="92"/>
                  <a:pt x="1700" y="92"/>
                  <a:pt x="1700" y="92"/>
                </a:cubicBezTo>
                <a:cubicBezTo>
                  <a:pt x="1688" y="92"/>
                  <a:pt x="1688" y="92"/>
                  <a:pt x="1688" y="92"/>
                </a:cubicBezTo>
                <a:cubicBezTo>
                  <a:pt x="1688" y="32"/>
                  <a:pt x="1688" y="32"/>
                  <a:pt x="1688" y="32"/>
                </a:cubicBezTo>
                <a:cubicBezTo>
                  <a:pt x="1700" y="32"/>
                  <a:pt x="1700" y="32"/>
                  <a:pt x="1700" y="32"/>
                </a:cubicBezTo>
                <a:cubicBezTo>
                  <a:pt x="1700" y="39"/>
                  <a:pt x="1700" y="39"/>
                  <a:pt x="1700" y="39"/>
                </a:cubicBezTo>
                <a:cubicBezTo>
                  <a:pt x="1700" y="39"/>
                  <a:pt x="1705" y="30"/>
                  <a:pt x="1714" y="30"/>
                </a:cubicBezTo>
                <a:cubicBezTo>
                  <a:pt x="1719" y="30"/>
                  <a:pt x="1721" y="32"/>
                  <a:pt x="1723" y="32"/>
                </a:cubicBezTo>
                <a:lnTo>
                  <a:pt x="1719" y="42"/>
                </a:lnTo>
                <a:close/>
                <a:moveTo>
                  <a:pt x="1769" y="92"/>
                </a:moveTo>
                <a:cubicBezTo>
                  <a:pt x="1746" y="60"/>
                  <a:pt x="1746" y="60"/>
                  <a:pt x="1746" y="60"/>
                </a:cubicBezTo>
                <a:cubicBezTo>
                  <a:pt x="1746" y="92"/>
                  <a:pt x="1746" y="92"/>
                  <a:pt x="1746" y="92"/>
                </a:cubicBezTo>
                <a:cubicBezTo>
                  <a:pt x="1734" y="92"/>
                  <a:pt x="1734" y="92"/>
                  <a:pt x="1734" y="92"/>
                </a:cubicBezTo>
                <a:cubicBezTo>
                  <a:pt x="1734" y="0"/>
                  <a:pt x="1734" y="0"/>
                  <a:pt x="1734" y="0"/>
                </a:cubicBezTo>
                <a:cubicBezTo>
                  <a:pt x="1746" y="0"/>
                  <a:pt x="1746" y="0"/>
                  <a:pt x="1746" y="0"/>
                </a:cubicBezTo>
                <a:cubicBezTo>
                  <a:pt x="1746" y="58"/>
                  <a:pt x="1746" y="58"/>
                  <a:pt x="1746" y="58"/>
                </a:cubicBezTo>
                <a:cubicBezTo>
                  <a:pt x="1770" y="32"/>
                  <a:pt x="1770" y="32"/>
                  <a:pt x="1770" y="32"/>
                </a:cubicBezTo>
                <a:cubicBezTo>
                  <a:pt x="1783" y="32"/>
                  <a:pt x="1783" y="32"/>
                  <a:pt x="1783" y="32"/>
                </a:cubicBezTo>
                <a:cubicBezTo>
                  <a:pt x="1757" y="57"/>
                  <a:pt x="1757" y="57"/>
                  <a:pt x="1757" y="57"/>
                </a:cubicBezTo>
                <a:cubicBezTo>
                  <a:pt x="1783" y="92"/>
                  <a:pt x="1783" y="92"/>
                  <a:pt x="1783" y="92"/>
                </a:cubicBezTo>
                <a:lnTo>
                  <a:pt x="1769" y="92"/>
                </a:lnTo>
                <a:close/>
                <a:moveTo>
                  <a:pt x="1803" y="99"/>
                </a:moveTo>
                <a:cubicBezTo>
                  <a:pt x="1799" y="106"/>
                  <a:pt x="1792" y="110"/>
                  <a:pt x="1792" y="110"/>
                </a:cubicBezTo>
                <a:cubicBezTo>
                  <a:pt x="1789" y="106"/>
                  <a:pt x="1789" y="106"/>
                  <a:pt x="1789" y="106"/>
                </a:cubicBezTo>
                <a:cubicBezTo>
                  <a:pt x="1789" y="106"/>
                  <a:pt x="1794" y="100"/>
                  <a:pt x="1794" y="89"/>
                </a:cubicBezTo>
                <a:cubicBezTo>
                  <a:pt x="1794" y="83"/>
                  <a:pt x="1793" y="80"/>
                  <a:pt x="1793" y="80"/>
                </a:cubicBezTo>
                <a:cubicBezTo>
                  <a:pt x="1805" y="80"/>
                  <a:pt x="1805" y="80"/>
                  <a:pt x="1805" y="80"/>
                </a:cubicBezTo>
                <a:cubicBezTo>
                  <a:pt x="1805" y="80"/>
                  <a:pt x="1805" y="80"/>
                  <a:pt x="1805" y="80"/>
                </a:cubicBezTo>
                <a:cubicBezTo>
                  <a:pt x="1805" y="91"/>
                  <a:pt x="1804" y="95"/>
                  <a:pt x="1803" y="99"/>
                </a:cubicBezTo>
                <a:close/>
                <a:moveTo>
                  <a:pt x="1878" y="92"/>
                </a:moveTo>
                <a:cubicBezTo>
                  <a:pt x="1878" y="87"/>
                  <a:pt x="1878" y="87"/>
                  <a:pt x="1878" y="87"/>
                </a:cubicBezTo>
                <a:cubicBezTo>
                  <a:pt x="1878" y="87"/>
                  <a:pt x="1873" y="93"/>
                  <a:pt x="1863" y="93"/>
                </a:cubicBezTo>
                <a:cubicBezTo>
                  <a:pt x="1852" y="93"/>
                  <a:pt x="1844" y="87"/>
                  <a:pt x="1844" y="76"/>
                </a:cubicBezTo>
                <a:cubicBezTo>
                  <a:pt x="1844" y="70"/>
                  <a:pt x="1847" y="65"/>
                  <a:pt x="1851" y="62"/>
                </a:cubicBezTo>
                <a:cubicBezTo>
                  <a:pt x="1855" y="59"/>
                  <a:pt x="1862" y="58"/>
                  <a:pt x="1869" y="58"/>
                </a:cubicBezTo>
                <a:cubicBezTo>
                  <a:pt x="1873" y="58"/>
                  <a:pt x="1878" y="59"/>
                  <a:pt x="1878" y="59"/>
                </a:cubicBezTo>
                <a:cubicBezTo>
                  <a:pt x="1878" y="54"/>
                  <a:pt x="1878" y="54"/>
                  <a:pt x="1878" y="54"/>
                </a:cubicBezTo>
                <a:cubicBezTo>
                  <a:pt x="1878" y="51"/>
                  <a:pt x="1878" y="46"/>
                  <a:pt x="1877" y="44"/>
                </a:cubicBezTo>
                <a:cubicBezTo>
                  <a:pt x="1876" y="39"/>
                  <a:pt x="1871" y="37"/>
                  <a:pt x="1866" y="37"/>
                </a:cubicBezTo>
                <a:cubicBezTo>
                  <a:pt x="1858" y="37"/>
                  <a:pt x="1853" y="40"/>
                  <a:pt x="1853" y="40"/>
                </a:cubicBezTo>
                <a:cubicBezTo>
                  <a:pt x="1850" y="33"/>
                  <a:pt x="1850" y="33"/>
                  <a:pt x="1850" y="33"/>
                </a:cubicBezTo>
                <a:cubicBezTo>
                  <a:pt x="1850" y="33"/>
                  <a:pt x="1857" y="30"/>
                  <a:pt x="1869" y="30"/>
                </a:cubicBezTo>
                <a:cubicBezTo>
                  <a:pt x="1885" y="30"/>
                  <a:pt x="1888" y="39"/>
                  <a:pt x="1888" y="42"/>
                </a:cubicBezTo>
                <a:cubicBezTo>
                  <a:pt x="1889" y="45"/>
                  <a:pt x="1889" y="55"/>
                  <a:pt x="1889" y="57"/>
                </a:cubicBezTo>
                <a:cubicBezTo>
                  <a:pt x="1889" y="92"/>
                  <a:pt x="1889" y="92"/>
                  <a:pt x="1889" y="92"/>
                </a:cubicBezTo>
                <a:lnTo>
                  <a:pt x="1878" y="92"/>
                </a:lnTo>
                <a:close/>
                <a:moveTo>
                  <a:pt x="1878" y="64"/>
                </a:moveTo>
                <a:cubicBezTo>
                  <a:pt x="1878" y="64"/>
                  <a:pt x="1876" y="64"/>
                  <a:pt x="1871" y="64"/>
                </a:cubicBezTo>
                <a:cubicBezTo>
                  <a:pt x="1867" y="64"/>
                  <a:pt x="1863" y="65"/>
                  <a:pt x="1861" y="66"/>
                </a:cubicBezTo>
                <a:cubicBezTo>
                  <a:pt x="1857" y="68"/>
                  <a:pt x="1856" y="72"/>
                  <a:pt x="1856" y="75"/>
                </a:cubicBezTo>
                <a:cubicBezTo>
                  <a:pt x="1856" y="84"/>
                  <a:pt x="1862" y="86"/>
                  <a:pt x="1868" y="86"/>
                </a:cubicBezTo>
                <a:cubicBezTo>
                  <a:pt x="1874" y="86"/>
                  <a:pt x="1878" y="84"/>
                  <a:pt x="1878" y="84"/>
                </a:cubicBezTo>
                <a:lnTo>
                  <a:pt x="1878" y="64"/>
                </a:lnTo>
                <a:close/>
                <a:moveTo>
                  <a:pt x="1946" y="92"/>
                </a:moveTo>
                <a:cubicBezTo>
                  <a:pt x="1946" y="60"/>
                  <a:pt x="1946" y="60"/>
                  <a:pt x="1946" y="60"/>
                </a:cubicBezTo>
                <a:cubicBezTo>
                  <a:pt x="1946" y="56"/>
                  <a:pt x="1946" y="52"/>
                  <a:pt x="1945" y="49"/>
                </a:cubicBezTo>
                <a:cubicBezTo>
                  <a:pt x="1944" y="41"/>
                  <a:pt x="1939" y="38"/>
                  <a:pt x="1931" y="38"/>
                </a:cubicBezTo>
                <a:cubicBezTo>
                  <a:pt x="1924" y="38"/>
                  <a:pt x="1919" y="41"/>
                  <a:pt x="1919" y="41"/>
                </a:cubicBezTo>
                <a:cubicBezTo>
                  <a:pt x="1919" y="92"/>
                  <a:pt x="1919" y="92"/>
                  <a:pt x="1919" y="92"/>
                </a:cubicBezTo>
                <a:cubicBezTo>
                  <a:pt x="1908" y="92"/>
                  <a:pt x="1908" y="92"/>
                  <a:pt x="1908" y="92"/>
                </a:cubicBezTo>
                <a:cubicBezTo>
                  <a:pt x="1908" y="32"/>
                  <a:pt x="1908" y="32"/>
                  <a:pt x="1908" y="32"/>
                </a:cubicBezTo>
                <a:cubicBezTo>
                  <a:pt x="1919" y="32"/>
                  <a:pt x="1919" y="32"/>
                  <a:pt x="1919" y="32"/>
                </a:cubicBezTo>
                <a:cubicBezTo>
                  <a:pt x="1919" y="38"/>
                  <a:pt x="1919" y="38"/>
                  <a:pt x="1919" y="38"/>
                </a:cubicBezTo>
                <a:cubicBezTo>
                  <a:pt x="1919" y="38"/>
                  <a:pt x="1925" y="30"/>
                  <a:pt x="1937" y="30"/>
                </a:cubicBezTo>
                <a:cubicBezTo>
                  <a:pt x="1950" y="30"/>
                  <a:pt x="1955" y="38"/>
                  <a:pt x="1956" y="44"/>
                </a:cubicBezTo>
                <a:cubicBezTo>
                  <a:pt x="1957" y="48"/>
                  <a:pt x="1957" y="53"/>
                  <a:pt x="1957" y="56"/>
                </a:cubicBezTo>
                <a:cubicBezTo>
                  <a:pt x="1957" y="92"/>
                  <a:pt x="1957" y="92"/>
                  <a:pt x="1957" y="92"/>
                </a:cubicBezTo>
                <a:lnTo>
                  <a:pt x="1946" y="92"/>
                </a:lnTo>
                <a:close/>
                <a:moveTo>
                  <a:pt x="2015" y="92"/>
                </a:moveTo>
                <a:cubicBezTo>
                  <a:pt x="2015" y="86"/>
                  <a:pt x="2015" y="86"/>
                  <a:pt x="2015" y="86"/>
                </a:cubicBezTo>
                <a:cubicBezTo>
                  <a:pt x="2015" y="86"/>
                  <a:pt x="2010" y="93"/>
                  <a:pt x="1998" y="93"/>
                </a:cubicBezTo>
                <a:cubicBezTo>
                  <a:pt x="1984" y="93"/>
                  <a:pt x="1973" y="83"/>
                  <a:pt x="1973" y="63"/>
                </a:cubicBezTo>
                <a:cubicBezTo>
                  <a:pt x="1973" y="43"/>
                  <a:pt x="1986" y="31"/>
                  <a:pt x="2002" y="31"/>
                </a:cubicBezTo>
                <a:cubicBezTo>
                  <a:pt x="2011" y="31"/>
                  <a:pt x="2015" y="33"/>
                  <a:pt x="2015" y="33"/>
                </a:cubicBezTo>
                <a:cubicBezTo>
                  <a:pt x="2015" y="0"/>
                  <a:pt x="2015" y="0"/>
                  <a:pt x="2015" y="0"/>
                </a:cubicBezTo>
                <a:cubicBezTo>
                  <a:pt x="2027" y="0"/>
                  <a:pt x="2027" y="0"/>
                  <a:pt x="2027" y="0"/>
                </a:cubicBezTo>
                <a:cubicBezTo>
                  <a:pt x="2027" y="92"/>
                  <a:pt x="2027" y="92"/>
                  <a:pt x="2027" y="92"/>
                </a:cubicBezTo>
                <a:lnTo>
                  <a:pt x="2015" y="92"/>
                </a:lnTo>
                <a:close/>
                <a:moveTo>
                  <a:pt x="2015" y="38"/>
                </a:moveTo>
                <a:cubicBezTo>
                  <a:pt x="2015" y="38"/>
                  <a:pt x="2012" y="37"/>
                  <a:pt x="2006" y="37"/>
                </a:cubicBezTo>
                <a:cubicBezTo>
                  <a:pt x="1992" y="37"/>
                  <a:pt x="1985" y="46"/>
                  <a:pt x="1985" y="62"/>
                </a:cubicBezTo>
                <a:cubicBezTo>
                  <a:pt x="1985" y="76"/>
                  <a:pt x="1992" y="86"/>
                  <a:pt x="2004" y="86"/>
                </a:cubicBezTo>
                <a:cubicBezTo>
                  <a:pt x="2011" y="86"/>
                  <a:pt x="2015" y="83"/>
                  <a:pt x="2015" y="83"/>
                </a:cubicBezTo>
                <a:lnTo>
                  <a:pt x="2015" y="38"/>
                </a:lnTo>
                <a:close/>
              </a:path>
            </a:pathLst>
          </a:custGeom>
          <a:solidFill>
            <a:srgbClr val="505759"/>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012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000"/>
                                        <p:tgtEl>
                                          <p:spTgt spid="8"/>
                                        </p:tgtEl>
                                      </p:cBhvr>
                                    </p:animEffect>
                                  </p:childTnLst>
                                </p:cTn>
                              </p:par>
                            </p:childTnLst>
                          </p:cTn>
                        </p:par>
                        <p:par>
                          <p:cTn id="8" fill="hold">
                            <p:stCondLst>
                              <p:cond delay="2000"/>
                            </p:stCondLst>
                            <p:childTnLst>
                              <p:par>
                                <p:cTn id="9" presetID="10" presetClass="entr" presetSubtype="0" fill="hold" nodeType="afterEffect">
                                  <p:stCondLst>
                                    <p:cond delay="2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18297" y="2400300"/>
            <a:ext cx="6752171" cy="2686638"/>
          </a:xfrm>
        </p:spPr>
        <p:txBody>
          <a:bodyPr anchor="b">
            <a:normAutofit/>
          </a:bodyPr>
          <a:lstStyle>
            <a:lvl1pPr>
              <a:defRPr sz="5175">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34028" y="10591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7858125" y="105912"/>
            <a:ext cx="774063" cy="253746"/>
          </a:xfrm>
        </p:spPr>
        <p:txBody>
          <a:bodyPr/>
          <a:lstStyle>
            <a:lvl1pPr>
              <a:defRPr>
                <a:solidFill>
                  <a:schemeClr val="tx2"/>
                </a:solidFill>
              </a:defRPr>
            </a:lvl1pPr>
          </a:lstStyle>
          <a:p>
            <a:fld id="{7E2CC31D-7501-40A7-9D1B-8AC69C4CFF73}" type="datetime1">
              <a:rPr lang="en-US" smtClean="0"/>
              <a:t>7/9/26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632188" y="105912"/>
            <a:ext cx="342900" cy="253746"/>
          </a:xfrm>
        </p:spPr>
        <p:txBody>
          <a:bodyPr/>
          <a:lstStyle>
            <a:lvl1pPr>
              <a:defRPr>
                <a:solidFill>
                  <a:schemeClr val="tx2"/>
                </a:solidFill>
              </a:defRPr>
            </a:lvl1pPr>
          </a:lstStyle>
          <a:p>
            <a:fld id="{C8116806-1FD2-4A57-B5EA-7014AB76383B}" type="slidenum">
              <a:rPr lang="en-US" smtClean="0"/>
              <a:t>‹#›</a:t>
            </a:fld>
            <a:endParaRPr lang="en-US"/>
          </a:p>
        </p:txBody>
      </p:sp>
      <p:sp>
        <p:nvSpPr>
          <p:cNvPr id="10" name="Rectangle 9">
            <a:extLst>
              <a:ext uri="{FF2B5EF4-FFF2-40B4-BE49-F238E27FC236}">
                <a16:creationId xmlns:a16="http://schemas.microsoft.com/office/drawing/2014/main" id="{28B733B7-4A89-38D3-D0F4-3813FE0C01AB}"/>
              </a:ext>
            </a:extLst>
          </p:cNvPr>
          <p:cNvSpPr/>
          <p:nvPr userDrawn="1"/>
        </p:nvSpPr>
        <p:spPr>
          <a:xfrm>
            <a:off x="0" y="0"/>
            <a:ext cx="9144000" cy="5143500"/>
          </a:xfrm>
          <a:prstGeom prst="rect">
            <a:avLst/>
          </a:prstGeom>
          <a:solidFill>
            <a:srgbClr val="C8102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635761996"/>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59" y="164593"/>
            <a:ext cx="4777741" cy="756653"/>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37160" y="921246"/>
            <a:ext cx="4777740" cy="3782618"/>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940812" y="4793096"/>
            <a:ext cx="974088" cy="253746"/>
          </a:xfrm>
        </p:spPr>
        <p:txBody>
          <a:bodyPr/>
          <a:lstStyle/>
          <a:p>
            <a:fld id="{501F6A6B-DAC2-4111-A4C8-22F3732D2683}" type="datetime1">
              <a:rPr lang="en-US" smtClean="0"/>
              <a:t>7/9/26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14900" y="4793096"/>
            <a:ext cx="342900" cy="253746"/>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5629275" y="200025"/>
            <a:ext cx="3314700" cy="474345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4401435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18297" y="2400300"/>
            <a:ext cx="6752171" cy="2686638"/>
          </a:xfrm>
        </p:spPr>
        <p:txBody>
          <a:bodyPr anchor="b">
            <a:normAutofit/>
          </a:bodyPr>
          <a:lstStyle>
            <a:lvl1pPr>
              <a:defRPr sz="5175">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34028" y="10591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7858125" y="105912"/>
            <a:ext cx="774063" cy="253746"/>
          </a:xfrm>
        </p:spPr>
        <p:txBody>
          <a:bodyPr/>
          <a:lstStyle>
            <a:lvl1pPr>
              <a:defRPr>
                <a:solidFill>
                  <a:schemeClr val="tx2"/>
                </a:solidFill>
              </a:defRPr>
            </a:lvl1pPr>
          </a:lstStyle>
          <a:p>
            <a:fld id="{7E2CC31D-7501-40A7-9D1B-8AC69C4CFF73}" type="datetime1">
              <a:rPr lang="en-US" smtClean="0"/>
              <a:t>7/9/26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632188" y="105912"/>
            <a:ext cx="342900" cy="253746"/>
          </a:xfrm>
        </p:spPr>
        <p:txBody>
          <a:bodyPr/>
          <a:lstStyle>
            <a:lvl1pPr>
              <a:defRPr>
                <a:solidFill>
                  <a:schemeClr val="tx2"/>
                </a:solidFill>
              </a:defRPr>
            </a:lvl1pPr>
          </a:lstStyle>
          <a:p>
            <a:fld id="{C8116806-1FD2-4A57-B5EA-7014AB76383B}" type="slidenum">
              <a:rPr lang="en-US" smtClean="0"/>
              <a:t>‹#›</a:t>
            </a:fld>
            <a:endParaRPr lang="en-US"/>
          </a:p>
        </p:txBody>
      </p:sp>
      <p:sp>
        <p:nvSpPr>
          <p:cNvPr id="10" name="Rectangle 9">
            <a:extLst>
              <a:ext uri="{FF2B5EF4-FFF2-40B4-BE49-F238E27FC236}">
                <a16:creationId xmlns:a16="http://schemas.microsoft.com/office/drawing/2014/main" id="{28B733B7-4A89-38D3-D0F4-3813FE0C01AB}"/>
              </a:ext>
            </a:extLst>
          </p:cNvPr>
          <p:cNvSpPr/>
          <p:nvPr userDrawn="1"/>
        </p:nvSpPr>
        <p:spPr>
          <a:xfrm>
            <a:off x="0" y="0"/>
            <a:ext cx="9144000" cy="5143500"/>
          </a:xfrm>
          <a:prstGeom prst="rect">
            <a:avLst/>
          </a:prstGeom>
          <a:solidFill>
            <a:srgbClr val="C8102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683827298"/>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3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18297" y="2400300"/>
            <a:ext cx="6752171" cy="2686638"/>
          </a:xfrm>
        </p:spPr>
        <p:txBody>
          <a:bodyPr anchor="b">
            <a:normAutofit/>
          </a:bodyPr>
          <a:lstStyle>
            <a:lvl1pPr>
              <a:defRPr sz="5175">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34028" y="10591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7858125" y="105912"/>
            <a:ext cx="774063" cy="253746"/>
          </a:xfrm>
        </p:spPr>
        <p:txBody>
          <a:bodyPr/>
          <a:lstStyle>
            <a:lvl1pPr>
              <a:defRPr>
                <a:solidFill>
                  <a:schemeClr val="tx2"/>
                </a:solidFill>
              </a:defRPr>
            </a:lvl1pPr>
          </a:lstStyle>
          <a:p>
            <a:fld id="{7E2CC31D-7501-40A7-9D1B-8AC69C4CFF73}" type="datetime1">
              <a:rPr lang="en-US" smtClean="0"/>
              <a:t>7/9/26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632188" y="105912"/>
            <a:ext cx="342900" cy="253746"/>
          </a:xfrm>
        </p:spPr>
        <p:txBody>
          <a:bodyPr/>
          <a:lstStyle>
            <a:lvl1pPr>
              <a:defRPr>
                <a:solidFill>
                  <a:schemeClr val="tx2"/>
                </a:solidFill>
              </a:defRPr>
            </a:lvl1pPr>
          </a:lstStyle>
          <a:p>
            <a:fld id="{C8116806-1FD2-4A57-B5EA-7014AB76383B}" type="slidenum">
              <a:rPr lang="en-US" smtClean="0"/>
              <a:t>‹#›</a:t>
            </a:fld>
            <a:endParaRPr lang="en-US"/>
          </a:p>
        </p:txBody>
      </p:sp>
      <p:sp>
        <p:nvSpPr>
          <p:cNvPr id="10" name="Rectangle 9">
            <a:extLst>
              <a:ext uri="{FF2B5EF4-FFF2-40B4-BE49-F238E27FC236}">
                <a16:creationId xmlns:a16="http://schemas.microsoft.com/office/drawing/2014/main" id="{28B733B7-4A89-38D3-D0F4-3813FE0C01AB}"/>
              </a:ext>
            </a:extLst>
          </p:cNvPr>
          <p:cNvSpPr/>
          <p:nvPr userDrawn="1"/>
        </p:nvSpPr>
        <p:spPr>
          <a:xfrm>
            <a:off x="0" y="0"/>
            <a:ext cx="9144000" cy="5143500"/>
          </a:xfrm>
          <a:prstGeom prst="rect">
            <a:avLst/>
          </a:prstGeom>
          <a:solidFill>
            <a:srgbClr val="C8102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792456371"/>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18297" y="2400300"/>
            <a:ext cx="6752171" cy="2686638"/>
          </a:xfrm>
        </p:spPr>
        <p:txBody>
          <a:bodyPr anchor="b">
            <a:normAutofit/>
          </a:bodyPr>
          <a:lstStyle>
            <a:lvl1pPr>
              <a:defRPr sz="5175">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34028" y="10591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7858125" y="105912"/>
            <a:ext cx="774063" cy="253746"/>
          </a:xfrm>
        </p:spPr>
        <p:txBody>
          <a:bodyPr/>
          <a:lstStyle>
            <a:lvl1pPr>
              <a:defRPr>
                <a:solidFill>
                  <a:schemeClr val="tx2"/>
                </a:solidFill>
              </a:defRPr>
            </a:lvl1pPr>
          </a:lstStyle>
          <a:p>
            <a:fld id="{7E2CC31D-7501-40A7-9D1B-8AC69C4CFF73}" type="datetime1">
              <a:rPr lang="en-US" smtClean="0"/>
              <a:t>7/9/26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632188" y="105912"/>
            <a:ext cx="342900" cy="253746"/>
          </a:xfrm>
        </p:spPr>
        <p:txBody>
          <a:bodyPr/>
          <a:lstStyle>
            <a:lvl1pPr>
              <a:defRPr>
                <a:solidFill>
                  <a:schemeClr val="tx2"/>
                </a:solidFill>
              </a:defRPr>
            </a:lvl1pPr>
          </a:lstStyle>
          <a:p>
            <a:fld id="{C8116806-1FD2-4A57-B5EA-7014AB76383B}" type="slidenum">
              <a:rPr lang="en-US" smtClean="0"/>
              <a:t>‹#›</a:t>
            </a:fld>
            <a:endParaRPr lang="en-US"/>
          </a:p>
        </p:txBody>
      </p:sp>
      <p:sp>
        <p:nvSpPr>
          <p:cNvPr id="10" name="Rectangle 9">
            <a:extLst>
              <a:ext uri="{FF2B5EF4-FFF2-40B4-BE49-F238E27FC236}">
                <a16:creationId xmlns:a16="http://schemas.microsoft.com/office/drawing/2014/main" id="{28B733B7-4A89-38D3-D0F4-3813FE0C01AB}"/>
              </a:ext>
            </a:extLst>
          </p:cNvPr>
          <p:cNvSpPr/>
          <p:nvPr userDrawn="1"/>
        </p:nvSpPr>
        <p:spPr>
          <a:xfrm>
            <a:off x="0" y="0"/>
            <a:ext cx="9144000" cy="5143500"/>
          </a:xfrm>
          <a:prstGeom prst="rect">
            <a:avLst/>
          </a:prstGeom>
          <a:solidFill>
            <a:srgbClr val="C8102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85540142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34A0A91-9D96-D54D-B84B-F260D12E8F25}"/>
              </a:ext>
            </a:extLst>
          </p:cNvPr>
          <p:cNvSpPr/>
          <p:nvPr userDrawn="1"/>
        </p:nvSpPr>
        <p:spPr>
          <a:xfrm>
            <a:off x="182880" y="182880"/>
            <a:ext cx="182880" cy="18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779B04-50E5-9440-B8D9-1C7405D5C07D}"/>
              </a:ext>
            </a:extLst>
          </p:cNvPr>
          <p:cNvSpPr/>
          <p:nvPr userDrawn="1"/>
        </p:nvSpPr>
        <p:spPr>
          <a:xfrm>
            <a:off x="365760" y="0"/>
            <a:ext cx="8778240" cy="18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bwMode="gray">
          <a:xfrm>
            <a:off x="0" y="4965192"/>
            <a:ext cx="9144000" cy="18288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gray">
          <a:xfrm>
            <a:off x="548640" y="310896"/>
            <a:ext cx="6510528" cy="6858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bwMode="gray">
          <a:xfrm>
            <a:off x="548640" y="1188720"/>
            <a:ext cx="6510528" cy="34747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bwMode="gray">
          <a:xfrm>
            <a:off x="7088744" y="4965192"/>
            <a:ext cx="1143000" cy="182880"/>
          </a:xfrm>
          <a:prstGeom prst="rect">
            <a:avLst/>
          </a:prstGeom>
        </p:spPr>
        <p:txBody>
          <a:bodyPr vert="horz" lIns="0" tIns="0" rIns="0" bIns="0" rtlCol="0" anchor="ctr"/>
          <a:lstStyle>
            <a:lvl1pPr algn="r">
              <a:defRPr sz="700">
                <a:solidFill>
                  <a:schemeClr val="accent6"/>
                </a:solidFill>
              </a:defRPr>
            </a:lvl1pPr>
          </a:lstStyle>
          <a:p>
            <a:r>
              <a:rPr lang="en-US" dirty="0"/>
              <a:t>Month 00, 0000</a:t>
            </a:r>
          </a:p>
        </p:txBody>
      </p:sp>
      <p:sp>
        <p:nvSpPr>
          <p:cNvPr id="5" name="Footer Placeholder 4"/>
          <p:cNvSpPr>
            <a:spLocks noGrp="1"/>
          </p:cNvSpPr>
          <p:nvPr>
            <p:ph type="ftr" sz="quarter" idx="3"/>
          </p:nvPr>
        </p:nvSpPr>
        <p:spPr bwMode="gray">
          <a:xfrm>
            <a:off x="548640" y="4965192"/>
            <a:ext cx="6540104" cy="182880"/>
          </a:xfrm>
          <a:prstGeom prst="rect">
            <a:avLst/>
          </a:prstGeom>
        </p:spPr>
        <p:txBody>
          <a:bodyPr vert="horz" lIns="0" tIns="0" rIns="0" bIns="0" rtlCol="0" anchor="ctr"/>
          <a:lstStyle>
            <a:lvl1pPr algn="l">
              <a:defRPr sz="700">
                <a:solidFill>
                  <a:schemeClr val="accent6"/>
                </a:solidFill>
              </a:defRPr>
            </a:lvl1pPr>
          </a:lstStyle>
          <a:p>
            <a:endParaRPr lang="en-US" dirty="0"/>
          </a:p>
        </p:txBody>
      </p:sp>
      <p:sp>
        <p:nvSpPr>
          <p:cNvPr id="6" name="Slide Number Placeholder 5"/>
          <p:cNvSpPr>
            <a:spLocks noGrp="1"/>
          </p:cNvSpPr>
          <p:nvPr>
            <p:ph type="sldNum" sz="quarter" idx="4"/>
          </p:nvPr>
        </p:nvSpPr>
        <p:spPr bwMode="gray">
          <a:xfrm>
            <a:off x="8229198" y="4965192"/>
            <a:ext cx="365760" cy="182880"/>
          </a:xfrm>
          <a:prstGeom prst="rect">
            <a:avLst/>
          </a:prstGeom>
        </p:spPr>
        <p:txBody>
          <a:bodyPr vert="horz" lIns="0" tIns="0" rIns="0" bIns="0" rtlCol="0" anchor="ctr"/>
          <a:lstStyle>
            <a:lvl1pPr algn="r">
              <a:defRPr sz="700">
                <a:solidFill>
                  <a:schemeClr val="accent6"/>
                </a:solidFill>
              </a:defRPr>
            </a:lvl1pPr>
          </a:lstStyle>
          <a:p>
            <a:fld id="{CDBA9528-BCFE-1E43-A37D-912FF3C527A6}" type="slidenum">
              <a:rPr lang="en-US" smtClean="0"/>
              <a:pPr/>
              <a:t>‹#›</a:t>
            </a:fld>
            <a:endParaRPr lang="en-US" dirty="0"/>
          </a:p>
        </p:txBody>
      </p:sp>
      <p:sp>
        <p:nvSpPr>
          <p:cNvPr id="21" name="Freeform 9" title="Edwards Lifesciences"/>
          <p:cNvSpPr>
            <a:spLocks noEditPoints="1"/>
          </p:cNvSpPr>
          <p:nvPr/>
        </p:nvSpPr>
        <p:spPr bwMode="gray">
          <a:xfrm>
            <a:off x="7633334" y="46188"/>
            <a:ext cx="960120" cy="87162"/>
          </a:xfrm>
          <a:custGeom>
            <a:avLst/>
            <a:gdLst>
              <a:gd name="T0" fmla="*/ 172 w 11328"/>
              <a:gd name="T1" fmla="*/ 190 h 939"/>
              <a:gd name="T2" fmla="*/ 172 w 11328"/>
              <a:gd name="T3" fmla="*/ 820 h 939"/>
              <a:gd name="T4" fmla="*/ 1003 w 11328"/>
              <a:gd name="T5" fmla="*/ 867 h 939"/>
              <a:gd name="T6" fmla="*/ 998 w 11328"/>
              <a:gd name="T7" fmla="*/ 0 h 939"/>
              <a:gd name="T8" fmla="*/ 934 w 11328"/>
              <a:gd name="T9" fmla="*/ 395 h 939"/>
              <a:gd name="T10" fmla="*/ 2038 w 11328"/>
              <a:gd name="T11" fmla="*/ 929 h 939"/>
              <a:gd name="T12" fmla="*/ 1632 w 11328"/>
              <a:gd name="T13" fmla="*/ 929 h 939"/>
              <a:gd name="T14" fmla="*/ 1558 w 11328"/>
              <a:gd name="T15" fmla="*/ 799 h 939"/>
              <a:gd name="T16" fmla="*/ 1972 w 11328"/>
              <a:gd name="T17" fmla="*/ 801 h 939"/>
              <a:gd name="T18" fmla="*/ 2634 w 11328"/>
              <a:gd name="T19" fmla="*/ 929 h 939"/>
              <a:gd name="T20" fmla="*/ 2546 w 11328"/>
              <a:gd name="T21" fmla="*/ 568 h 939"/>
              <a:gd name="T22" fmla="*/ 2376 w 11328"/>
              <a:gd name="T23" fmla="*/ 431 h 939"/>
              <a:gd name="T24" fmla="*/ 2792 w 11328"/>
              <a:gd name="T25" fmla="*/ 929 h 939"/>
              <a:gd name="T26" fmla="*/ 2451 w 11328"/>
              <a:gd name="T27" fmla="*/ 748 h 939"/>
              <a:gd name="T28" fmla="*/ 3225 w 11328"/>
              <a:gd name="T29" fmla="*/ 425 h 939"/>
              <a:gd name="T30" fmla="*/ 3130 w 11328"/>
              <a:gd name="T31" fmla="*/ 315 h 939"/>
              <a:gd name="T32" fmla="*/ 3826 w 11328"/>
              <a:gd name="T33" fmla="*/ 929 h 939"/>
              <a:gd name="T34" fmla="*/ 3821 w 11328"/>
              <a:gd name="T35" fmla="*/ 331 h 939"/>
              <a:gd name="T36" fmla="*/ 3821 w 11328"/>
              <a:gd name="T37" fmla="*/ 403 h 939"/>
              <a:gd name="T38" fmla="*/ 3821 w 11328"/>
              <a:gd name="T39" fmla="*/ 403 h 939"/>
              <a:gd name="T40" fmla="*/ 4397 w 11328"/>
              <a:gd name="T41" fmla="*/ 772 h 939"/>
              <a:gd name="T42" fmla="*/ 4536 w 11328"/>
              <a:gd name="T43" fmla="*/ 335 h 939"/>
              <a:gd name="T44" fmla="*/ 4434 w 11328"/>
              <a:gd name="T45" fmla="*/ 579 h 939"/>
              <a:gd name="T46" fmla="*/ 5124 w 11328"/>
              <a:gd name="T47" fmla="*/ 82 h 939"/>
              <a:gd name="T48" fmla="*/ 5605 w 11328"/>
              <a:gd name="T49" fmla="*/ 227 h 939"/>
              <a:gd name="T50" fmla="*/ 5523 w 11328"/>
              <a:gd name="T51" fmla="*/ 929 h 939"/>
              <a:gd name="T52" fmla="*/ 6217 w 11328"/>
              <a:gd name="T53" fmla="*/ 112 h 939"/>
              <a:gd name="T54" fmla="*/ 6196 w 11328"/>
              <a:gd name="T55" fmla="*/ 316 h 939"/>
              <a:gd name="T56" fmla="*/ 5905 w 11328"/>
              <a:gd name="T57" fmla="*/ 407 h 939"/>
              <a:gd name="T58" fmla="*/ 5917 w 11328"/>
              <a:gd name="T59" fmla="*/ 131 h 939"/>
              <a:gd name="T60" fmla="*/ 6430 w 11328"/>
              <a:gd name="T61" fmla="*/ 645 h 939"/>
              <a:gd name="T62" fmla="*/ 6260 w 11328"/>
              <a:gd name="T63" fmla="*/ 623 h 939"/>
              <a:gd name="T64" fmla="*/ 6430 w 11328"/>
              <a:gd name="T65" fmla="*/ 633 h 939"/>
              <a:gd name="T66" fmla="*/ 6646 w 11328"/>
              <a:gd name="T67" fmla="*/ 547 h 939"/>
              <a:gd name="T68" fmla="*/ 7083 w 11328"/>
              <a:gd name="T69" fmla="*/ 840 h 939"/>
              <a:gd name="T70" fmla="*/ 7136 w 11328"/>
              <a:gd name="T71" fmla="*/ 303 h 939"/>
              <a:gd name="T72" fmla="*/ 7135 w 11328"/>
              <a:gd name="T73" fmla="*/ 534 h 939"/>
              <a:gd name="T74" fmla="*/ 7780 w 11328"/>
              <a:gd name="T75" fmla="*/ 402 h 939"/>
              <a:gd name="T76" fmla="*/ 7732 w 11328"/>
              <a:gd name="T77" fmla="*/ 939 h 939"/>
              <a:gd name="T78" fmla="*/ 7890 w 11328"/>
              <a:gd name="T79" fmla="*/ 431 h 939"/>
              <a:gd name="T80" fmla="*/ 8114 w 11328"/>
              <a:gd name="T81" fmla="*/ 227 h 939"/>
              <a:gd name="T82" fmla="*/ 8032 w 11328"/>
              <a:gd name="T83" fmla="*/ 929 h 939"/>
              <a:gd name="T84" fmla="*/ 8862 w 11328"/>
              <a:gd name="T85" fmla="*/ 903 h 939"/>
              <a:gd name="T86" fmla="*/ 8885 w 11328"/>
              <a:gd name="T87" fmla="*/ 623 h 939"/>
              <a:gd name="T88" fmla="*/ 8511 w 11328"/>
              <a:gd name="T89" fmla="*/ 475 h 939"/>
              <a:gd name="T90" fmla="*/ 9398 w 11328"/>
              <a:gd name="T91" fmla="*/ 577 h 939"/>
              <a:gd name="T92" fmla="*/ 9018 w 11328"/>
              <a:gd name="T93" fmla="*/ 929 h 939"/>
              <a:gd name="T94" fmla="*/ 9558 w 11328"/>
              <a:gd name="T95" fmla="*/ 438 h 939"/>
              <a:gd name="T96" fmla="*/ 10046 w 11328"/>
              <a:gd name="T97" fmla="*/ 402 h 939"/>
              <a:gd name="T98" fmla="*/ 9998 w 11328"/>
              <a:gd name="T99" fmla="*/ 939 h 939"/>
              <a:gd name="T100" fmla="*/ 10157 w 11328"/>
              <a:gd name="T101" fmla="*/ 431 h 939"/>
              <a:gd name="T102" fmla="*/ 10781 w 11328"/>
              <a:gd name="T103" fmla="*/ 903 h 939"/>
              <a:gd name="T104" fmla="*/ 10804 w 11328"/>
              <a:gd name="T105" fmla="*/ 623 h 939"/>
              <a:gd name="T106" fmla="*/ 10429 w 11328"/>
              <a:gd name="T107" fmla="*/ 475 h 939"/>
              <a:gd name="T108" fmla="*/ 10884 w 11328"/>
              <a:gd name="T109" fmla="*/ 903 h 939"/>
              <a:gd name="T110" fmla="*/ 11028 w 11328"/>
              <a:gd name="T111" fmla="*/ 653 h 939"/>
              <a:gd name="T112" fmla="*/ 11148 w 11328"/>
              <a:gd name="T113" fmla="*/ 399 h 939"/>
              <a:gd name="T114" fmla="*/ 11092 w 11328"/>
              <a:gd name="T115" fmla="*/ 939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328" h="939">
                <a:moveTo>
                  <a:pt x="0" y="929"/>
                </a:moveTo>
                <a:cubicBezTo>
                  <a:pt x="0" y="82"/>
                  <a:pt x="0" y="82"/>
                  <a:pt x="0" y="82"/>
                </a:cubicBezTo>
                <a:cubicBezTo>
                  <a:pt x="457" y="82"/>
                  <a:pt x="457" y="82"/>
                  <a:pt x="457" y="82"/>
                </a:cubicBezTo>
                <a:cubicBezTo>
                  <a:pt x="457" y="190"/>
                  <a:pt x="457" y="190"/>
                  <a:pt x="457" y="190"/>
                </a:cubicBezTo>
                <a:cubicBezTo>
                  <a:pt x="172" y="190"/>
                  <a:pt x="172" y="190"/>
                  <a:pt x="172" y="190"/>
                </a:cubicBezTo>
                <a:cubicBezTo>
                  <a:pt x="172" y="436"/>
                  <a:pt x="172" y="436"/>
                  <a:pt x="172" y="436"/>
                </a:cubicBezTo>
                <a:cubicBezTo>
                  <a:pt x="425" y="436"/>
                  <a:pt x="425" y="436"/>
                  <a:pt x="425" y="436"/>
                </a:cubicBezTo>
                <a:cubicBezTo>
                  <a:pt x="425" y="545"/>
                  <a:pt x="425" y="545"/>
                  <a:pt x="425" y="545"/>
                </a:cubicBezTo>
                <a:cubicBezTo>
                  <a:pt x="172" y="545"/>
                  <a:pt x="172" y="545"/>
                  <a:pt x="172" y="545"/>
                </a:cubicBezTo>
                <a:cubicBezTo>
                  <a:pt x="172" y="820"/>
                  <a:pt x="172" y="820"/>
                  <a:pt x="172" y="820"/>
                </a:cubicBezTo>
                <a:cubicBezTo>
                  <a:pt x="472" y="820"/>
                  <a:pt x="472" y="820"/>
                  <a:pt x="472" y="820"/>
                </a:cubicBezTo>
                <a:cubicBezTo>
                  <a:pt x="472" y="929"/>
                  <a:pt x="472" y="929"/>
                  <a:pt x="472" y="929"/>
                </a:cubicBezTo>
                <a:lnTo>
                  <a:pt x="0" y="929"/>
                </a:lnTo>
                <a:close/>
                <a:moveTo>
                  <a:pt x="1003" y="929"/>
                </a:moveTo>
                <a:cubicBezTo>
                  <a:pt x="1003" y="867"/>
                  <a:pt x="1003" y="867"/>
                  <a:pt x="1003" y="867"/>
                </a:cubicBezTo>
                <a:cubicBezTo>
                  <a:pt x="1003" y="867"/>
                  <a:pt x="959" y="937"/>
                  <a:pt x="834" y="937"/>
                </a:cubicBezTo>
                <a:cubicBezTo>
                  <a:pt x="682" y="937"/>
                  <a:pt x="582" y="833"/>
                  <a:pt x="582" y="634"/>
                </a:cubicBezTo>
                <a:cubicBezTo>
                  <a:pt x="582" y="430"/>
                  <a:pt x="707" y="305"/>
                  <a:pt x="871" y="305"/>
                </a:cubicBezTo>
                <a:cubicBezTo>
                  <a:pt x="962" y="305"/>
                  <a:pt x="998" y="331"/>
                  <a:pt x="998" y="331"/>
                </a:cubicBezTo>
                <a:cubicBezTo>
                  <a:pt x="998" y="0"/>
                  <a:pt x="998" y="0"/>
                  <a:pt x="998" y="0"/>
                </a:cubicBezTo>
                <a:cubicBezTo>
                  <a:pt x="1166" y="0"/>
                  <a:pt x="1166" y="0"/>
                  <a:pt x="1166" y="0"/>
                </a:cubicBezTo>
                <a:cubicBezTo>
                  <a:pt x="1166" y="929"/>
                  <a:pt x="1166" y="929"/>
                  <a:pt x="1166" y="929"/>
                </a:cubicBezTo>
                <a:lnTo>
                  <a:pt x="1003" y="929"/>
                </a:lnTo>
                <a:close/>
                <a:moveTo>
                  <a:pt x="998" y="403"/>
                </a:moveTo>
                <a:cubicBezTo>
                  <a:pt x="998" y="403"/>
                  <a:pt x="973" y="395"/>
                  <a:pt x="934" y="395"/>
                </a:cubicBezTo>
                <a:cubicBezTo>
                  <a:pt x="798" y="395"/>
                  <a:pt x="756" y="492"/>
                  <a:pt x="756" y="622"/>
                </a:cubicBezTo>
                <a:cubicBezTo>
                  <a:pt x="756" y="748"/>
                  <a:pt x="808" y="831"/>
                  <a:pt x="912" y="831"/>
                </a:cubicBezTo>
                <a:cubicBezTo>
                  <a:pt x="966" y="831"/>
                  <a:pt x="998" y="813"/>
                  <a:pt x="998" y="813"/>
                </a:cubicBezTo>
                <a:lnTo>
                  <a:pt x="998" y="403"/>
                </a:lnTo>
                <a:close/>
                <a:moveTo>
                  <a:pt x="2038" y="929"/>
                </a:moveTo>
                <a:cubicBezTo>
                  <a:pt x="1870" y="929"/>
                  <a:pt x="1870" y="929"/>
                  <a:pt x="1870" y="929"/>
                </a:cubicBezTo>
                <a:cubicBezTo>
                  <a:pt x="1766" y="528"/>
                  <a:pt x="1766" y="528"/>
                  <a:pt x="1766" y="528"/>
                </a:cubicBezTo>
                <a:cubicBezTo>
                  <a:pt x="1751" y="468"/>
                  <a:pt x="1751" y="448"/>
                  <a:pt x="1751" y="448"/>
                </a:cubicBezTo>
                <a:cubicBezTo>
                  <a:pt x="1751" y="448"/>
                  <a:pt x="1751" y="473"/>
                  <a:pt x="1736" y="527"/>
                </a:cubicBezTo>
                <a:cubicBezTo>
                  <a:pt x="1632" y="929"/>
                  <a:pt x="1632" y="929"/>
                  <a:pt x="1632" y="929"/>
                </a:cubicBezTo>
                <a:cubicBezTo>
                  <a:pt x="1459" y="929"/>
                  <a:pt x="1459" y="929"/>
                  <a:pt x="1459" y="929"/>
                </a:cubicBezTo>
                <a:cubicBezTo>
                  <a:pt x="1270" y="315"/>
                  <a:pt x="1270" y="315"/>
                  <a:pt x="1270" y="315"/>
                </a:cubicBezTo>
                <a:cubicBezTo>
                  <a:pt x="1440" y="315"/>
                  <a:pt x="1440" y="315"/>
                  <a:pt x="1440" y="315"/>
                </a:cubicBezTo>
                <a:cubicBezTo>
                  <a:pt x="1536" y="688"/>
                  <a:pt x="1536" y="688"/>
                  <a:pt x="1536" y="688"/>
                </a:cubicBezTo>
                <a:cubicBezTo>
                  <a:pt x="1556" y="767"/>
                  <a:pt x="1558" y="799"/>
                  <a:pt x="1558" y="799"/>
                </a:cubicBezTo>
                <a:cubicBezTo>
                  <a:pt x="1558" y="799"/>
                  <a:pt x="1559" y="774"/>
                  <a:pt x="1577" y="703"/>
                </a:cubicBezTo>
                <a:cubicBezTo>
                  <a:pt x="1678" y="315"/>
                  <a:pt x="1678" y="315"/>
                  <a:pt x="1678" y="315"/>
                </a:cubicBezTo>
                <a:cubicBezTo>
                  <a:pt x="1849" y="315"/>
                  <a:pt x="1849" y="315"/>
                  <a:pt x="1849" y="315"/>
                </a:cubicBezTo>
                <a:cubicBezTo>
                  <a:pt x="1954" y="708"/>
                  <a:pt x="1954" y="708"/>
                  <a:pt x="1954" y="708"/>
                </a:cubicBezTo>
                <a:cubicBezTo>
                  <a:pt x="1972" y="778"/>
                  <a:pt x="1972" y="801"/>
                  <a:pt x="1972" y="801"/>
                </a:cubicBezTo>
                <a:cubicBezTo>
                  <a:pt x="1972" y="801"/>
                  <a:pt x="1974" y="763"/>
                  <a:pt x="1993" y="688"/>
                </a:cubicBezTo>
                <a:cubicBezTo>
                  <a:pt x="2088" y="315"/>
                  <a:pt x="2088" y="315"/>
                  <a:pt x="2088" y="315"/>
                </a:cubicBezTo>
                <a:cubicBezTo>
                  <a:pt x="2234" y="315"/>
                  <a:pt x="2234" y="315"/>
                  <a:pt x="2234" y="315"/>
                </a:cubicBezTo>
                <a:lnTo>
                  <a:pt x="2038" y="929"/>
                </a:lnTo>
                <a:close/>
                <a:moveTo>
                  <a:pt x="2634" y="929"/>
                </a:moveTo>
                <a:cubicBezTo>
                  <a:pt x="2634" y="874"/>
                  <a:pt x="2634" y="874"/>
                  <a:pt x="2634" y="874"/>
                </a:cubicBezTo>
                <a:cubicBezTo>
                  <a:pt x="2634" y="874"/>
                  <a:pt x="2589" y="937"/>
                  <a:pt x="2477" y="937"/>
                </a:cubicBezTo>
                <a:cubicBezTo>
                  <a:pt x="2361" y="937"/>
                  <a:pt x="2285" y="869"/>
                  <a:pt x="2285" y="757"/>
                </a:cubicBezTo>
                <a:cubicBezTo>
                  <a:pt x="2285" y="690"/>
                  <a:pt x="2309" y="642"/>
                  <a:pt x="2354" y="610"/>
                </a:cubicBezTo>
                <a:cubicBezTo>
                  <a:pt x="2405" y="573"/>
                  <a:pt x="2474" y="568"/>
                  <a:pt x="2546" y="568"/>
                </a:cubicBezTo>
                <a:cubicBezTo>
                  <a:pt x="2586" y="568"/>
                  <a:pt x="2631" y="571"/>
                  <a:pt x="2631" y="571"/>
                </a:cubicBezTo>
                <a:cubicBezTo>
                  <a:pt x="2631" y="532"/>
                  <a:pt x="2631" y="532"/>
                  <a:pt x="2631" y="532"/>
                </a:cubicBezTo>
                <a:cubicBezTo>
                  <a:pt x="2631" y="502"/>
                  <a:pt x="2628" y="473"/>
                  <a:pt x="2621" y="454"/>
                </a:cubicBezTo>
                <a:cubicBezTo>
                  <a:pt x="2606" y="413"/>
                  <a:pt x="2568" y="400"/>
                  <a:pt x="2516" y="400"/>
                </a:cubicBezTo>
                <a:cubicBezTo>
                  <a:pt x="2432" y="400"/>
                  <a:pt x="2376" y="431"/>
                  <a:pt x="2376" y="431"/>
                </a:cubicBezTo>
                <a:cubicBezTo>
                  <a:pt x="2343" y="336"/>
                  <a:pt x="2343" y="336"/>
                  <a:pt x="2343" y="336"/>
                </a:cubicBezTo>
                <a:cubicBezTo>
                  <a:pt x="2343" y="336"/>
                  <a:pt x="2421" y="301"/>
                  <a:pt x="2559" y="301"/>
                </a:cubicBezTo>
                <a:cubicBezTo>
                  <a:pt x="2718" y="301"/>
                  <a:pt x="2763" y="369"/>
                  <a:pt x="2780" y="415"/>
                </a:cubicBezTo>
                <a:cubicBezTo>
                  <a:pt x="2793" y="453"/>
                  <a:pt x="2792" y="520"/>
                  <a:pt x="2792" y="562"/>
                </a:cubicBezTo>
                <a:cubicBezTo>
                  <a:pt x="2792" y="929"/>
                  <a:pt x="2792" y="929"/>
                  <a:pt x="2792" y="929"/>
                </a:cubicBezTo>
                <a:lnTo>
                  <a:pt x="2634" y="929"/>
                </a:lnTo>
                <a:close/>
                <a:moveTo>
                  <a:pt x="2631" y="646"/>
                </a:moveTo>
                <a:cubicBezTo>
                  <a:pt x="2631" y="646"/>
                  <a:pt x="2620" y="645"/>
                  <a:pt x="2574" y="645"/>
                </a:cubicBezTo>
                <a:cubicBezTo>
                  <a:pt x="2537" y="645"/>
                  <a:pt x="2507" y="651"/>
                  <a:pt x="2483" y="670"/>
                </a:cubicBezTo>
                <a:cubicBezTo>
                  <a:pt x="2459" y="689"/>
                  <a:pt x="2451" y="721"/>
                  <a:pt x="2451" y="748"/>
                </a:cubicBezTo>
                <a:cubicBezTo>
                  <a:pt x="2451" y="823"/>
                  <a:pt x="2506" y="843"/>
                  <a:pt x="2556" y="843"/>
                </a:cubicBezTo>
                <a:cubicBezTo>
                  <a:pt x="2606" y="843"/>
                  <a:pt x="2631" y="829"/>
                  <a:pt x="2631" y="829"/>
                </a:cubicBezTo>
                <a:lnTo>
                  <a:pt x="2631" y="646"/>
                </a:lnTo>
                <a:close/>
                <a:moveTo>
                  <a:pt x="3324" y="455"/>
                </a:moveTo>
                <a:cubicBezTo>
                  <a:pt x="3315" y="448"/>
                  <a:pt x="3280" y="425"/>
                  <a:pt x="3225" y="425"/>
                </a:cubicBezTo>
                <a:cubicBezTo>
                  <a:pt x="3167" y="425"/>
                  <a:pt x="3135" y="447"/>
                  <a:pt x="3135" y="447"/>
                </a:cubicBezTo>
                <a:cubicBezTo>
                  <a:pt x="3135" y="929"/>
                  <a:pt x="3135" y="929"/>
                  <a:pt x="3135" y="929"/>
                </a:cubicBezTo>
                <a:cubicBezTo>
                  <a:pt x="2967" y="929"/>
                  <a:pt x="2967" y="929"/>
                  <a:pt x="2967" y="929"/>
                </a:cubicBezTo>
                <a:cubicBezTo>
                  <a:pt x="2967" y="315"/>
                  <a:pt x="2967" y="315"/>
                  <a:pt x="2967" y="315"/>
                </a:cubicBezTo>
                <a:cubicBezTo>
                  <a:pt x="3130" y="315"/>
                  <a:pt x="3130" y="315"/>
                  <a:pt x="3130" y="315"/>
                </a:cubicBezTo>
                <a:cubicBezTo>
                  <a:pt x="3130" y="396"/>
                  <a:pt x="3130" y="396"/>
                  <a:pt x="3130" y="396"/>
                </a:cubicBezTo>
                <a:cubicBezTo>
                  <a:pt x="3130" y="396"/>
                  <a:pt x="3173" y="305"/>
                  <a:pt x="3278" y="305"/>
                </a:cubicBezTo>
                <a:cubicBezTo>
                  <a:pt x="3316" y="305"/>
                  <a:pt x="3340" y="313"/>
                  <a:pt x="3358" y="321"/>
                </a:cubicBezTo>
                <a:lnTo>
                  <a:pt x="3324" y="455"/>
                </a:lnTo>
                <a:close/>
                <a:moveTo>
                  <a:pt x="3826" y="929"/>
                </a:moveTo>
                <a:cubicBezTo>
                  <a:pt x="3826" y="867"/>
                  <a:pt x="3826" y="867"/>
                  <a:pt x="3826" y="867"/>
                </a:cubicBezTo>
                <a:cubicBezTo>
                  <a:pt x="3826" y="867"/>
                  <a:pt x="3781" y="937"/>
                  <a:pt x="3657" y="937"/>
                </a:cubicBezTo>
                <a:cubicBezTo>
                  <a:pt x="3504" y="937"/>
                  <a:pt x="3405" y="833"/>
                  <a:pt x="3405" y="634"/>
                </a:cubicBezTo>
                <a:cubicBezTo>
                  <a:pt x="3405" y="430"/>
                  <a:pt x="3529" y="305"/>
                  <a:pt x="3694" y="305"/>
                </a:cubicBezTo>
                <a:cubicBezTo>
                  <a:pt x="3785" y="305"/>
                  <a:pt x="3821" y="331"/>
                  <a:pt x="3821" y="331"/>
                </a:cubicBezTo>
                <a:cubicBezTo>
                  <a:pt x="3821" y="0"/>
                  <a:pt x="3821" y="0"/>
                  <a:pt x="3821" y="0"/>
                </a:cubicBezTo>
                <a:cubicBezTo>
                  <a:pt x="3989" y="0"/>
                  <a:pt x="3989" y="0"/>
                  <a:pt x="3989" y="0"/>
                </a:cubicBezTo>
                <a:cubicBezTo>
                  <a:pt x="3989" y="929"/>
                  <a:pt x="3989" y="929"/>
                  <a:pt x="3989" y="929"/>
                </a:cubicBezTo>
                <a:lnTo>
                  <a:pt x="3826" y="929"/>
                </a:lnTo>
                <a:close/>
                <a:moveTo>
                  <a:pt x="3821" y="403"/>
                </a:moveTo>
                <a:cubicBezTo>
                  <a:pt x="3821" y="403"/>
                  <a:pt x="3796" y="395"/>
                  <a:pt x="3756" y="395"/>
                </a:cubicBezTo>
                <a:cubicBezTo>
                  <a:pt x="3621" y="395"/>
                  <a:pt x="3579" y="492"/>
                  <a:pt x="3579" y="622"/>
                </a:cubicBezTo>
                <a:cubicBezTo>
                  <a:pt x="3579" y="748"/>
                  <a:pt x="3630" y="831"/>
                  <a:pt x="3735" y="831"/>
                </a:cubicBezTo>
                <a:cubicBezTo>
                  <a:pt x="3789" y="831"/>
                  <a:pt x="3821" y="813"/>
                  <a:pt x="3821" y="813"/>
                </a:cubicBezTo>
                <a:lnTo>
                  <a:pt x="3821" y="403"/>
                </a:lnTo>
                <a:close/>
                <a:moveTo>
                  <a:pt x="4313" y="939"/>
                </a:moveTo>
                <a:cubicBezTo>
                  <a:pt x="4171" y="939"/>
                  <a:pt x="4105" y="903"/>
                  <a:pt x="4105" y="903"/>
                </a:cubicBezTo>
                <a:cubicBezTo>
                  <a:pt x="4139" y="807"/>
                  <a:pt x="4139" y="807"/>
                  <a:pt x="4139" y="807"/>
                </a:cubicBezTo>
                <a:cubicBezTo>
                  <a:pt x="4139" y="807"/>
                  <a:pt x="4194" y="840"/>
                  <a:pt x="4295" y="840"/>
                </a:cubicBezTo>
                <a:cubicBezTo>
                  <a:pt x="4361" y="840"/>
                  <a:pt x="4397" y="817"/>
                  <a:pt x="4397" y="772"/>
                </a:cubicBezTo>
                <a:cubicBezTo>
                  <a:pt x="4397" y="736"/>
                  <a:pt x="4380" y="725"/>
                  <a:pt x="4339" y="702"/>
                </a:cubicBezTo>
                <a:cubicBezTo>
                  <a:pt x="4249" y="653"/>
                  <a:pt x="4249" y="653"/>
                  <a:pt x="4249" y="653"/>
                </a:cubicBezTo>
                <a:cubicBezTo>
                  <a:pt x="4169" y="609"/>
                  <a:pt x="4127" y="564"/>
                  <a:pt x="4127" y="478"/>
                </a:cubicBezTo>
                <a:cubicBezTo>
                  <a:pt x="4127" y="361"/>
                  <a:pt x="4211" y="303"/>
                  <a:pt x="4348" y="303"/>
                </a:cubicBezTo>
                <a:cubicBezTo>
                  <a:pt x="4469" y="303"/>
                  <a:pt x="4536" y="335"/>
                  <a:pt x="4536" y="335"/>
                </a:cubicBezTo>
                <a:cubicBezTo>
                  <a:pt x="4503" y="431"/>
                  <a:pt x="4503" y="431"/>
                  <a:pt x="4503" y="431"/>
                </a:cubicBezTo>
                <a:cubicBezTo>
                  <a:pt x="4503" y="431"/>
                  <a:pt x="4446" y="399"/>
                  <a:pt x="4369" y="399"/>
                </a:cubicBezTo>
                <a:cubicBezTo>
                  <a:pt x="4319" y="399"/>
                  <a:pt x="4275" y="412"/>
                  <a:pt x="4275" y="459"/>
                </a:cubicBezTo>
                <a:cubicBezTo>
                  <a:pt x="4275" y="497"/>
                  <a:pt x="4297" y="509"/>
                  <a:pt x="4347" y="534"/>
                </a:cubicBezTo>
                <a:cubicBezTo>
                  <a:pt x="4434" y="579"/>
                  <a:pt x="4434" y="579"/>
                  <a:pt x="4434" y="579"/>
                </a:cubicBezTo>
                <a:cubicBezTo>
                  <a:pt x="4509" y="617"/>
                  <a:pt x="4549" y="664"/>
                  <a:pt x="4549" y="747"/>
                </a:cubicBezTo>
                <a:cubicBezTo>
                  <a:pt x="4549" y="887"/>
                  <a:pt x="4440" y="939"/>
                  <a:pt x="4313" y="939"/>
                </a:cubicBezTo>
                <a:close/>
                <a:moveTo>
                  <a:pt x="4953" y="929"/>
                </a:moveTo>
                <a:cubicBezTo>
                  <a:pt x="4953" y="82"/>
                  <a:pt x="4953" y="82"/>
                  <a:pt x="4953" y="82"/>
                </a:cubicBezTo>
                <a:cubicBezTo>
                  <a:pt x="5124" y="82"/>
                  <a:pt x="5124" y="82"/>
                  <a:pt x="5124" y="82"/>
                </a:cubicBezTo>
                <a:cubicBezTo>
                  <a:pt x="5124" y="820"/>
                  <a:pt x="5124" y="820"/>
                  <a:pt x="5124" y="820"/>
                </a:cubicBezTo>
                <a:cubicBezTo>
                  <a:pt x="5421" y="820"/>
                  <a:pt x="5421" y="820"/>
                  <a:pt x="5421" y="820"/>
                </a:cubicBezTo>
                <a:cubicBezTo>
                  <a:pt x="5421" y="929"/>
                  <a:pt x="5421" y="929"/>
                  <a:pt x="5421" y="929"/>
                </a:cubicBezTo>
                <a:lnTo>
                  <a:pt x="4953" y="929"/>
                </a:lnTo>
                <a:close/>
                <a:moveTo>
                  <a:pt x="5605" y="227"/>
                </a:moveTo>
                <a:cubicBezTo>
                  <a:pt x="5547" y="227"/>
                  <a:pt x="5509" y="192"/>
                  <a:pt x="5509" y="141"/>
                </a:cubicBezTo>
                <a:cubicBezTo>
                  <a:pt x="5509" y="85"/>
                  <a:pt x="5547" y="51"/>
                  <a:pt x="5608" y="51"/>
                </a:cubicBezTo>
                <a:cubicBezTo>
                  <a:pt x="5666" y="51"/>
                  <a:pt x="5704" y="85"/>
                  <a:pt x="5704" y="137"/>
                </a:cubicBezTo>
                <a:cubicBezTo>
                  <a:pt x="5704" y="192"/>
                  <a:pt x="5666" y="227"/>
                  <a:pt x="5605" y="227"/>
                </a:cubicBezTo>
                <a:close/>
                <a:moveTo>
                  <a:pt x="5523" y="929"/>
                </a:moveTo>
                <a:cubicBezTo>
                  <a:pt x="5523" y="315"/>
                  <a:pt x="5523" y="315"/>
                  <a:pt x="5523" y="315"/>
                </a:cubicBezTo>
                <a:cubicBezTo>
                  <a:pt x="5691" y="315"/>
                  <a:pt x="5691" y="315"/>
                  <a:pt x="5691" y="315"/>
                </a:cubicBezTo>
                <a:cubicBezTo>
                  <a:pt x="5691" y="929"/>
                  <a:pt x="5691" y="929"/>
                  <a:pt x="5691" y="929"/>
                </a:cubicBezTo>
                <a:lnTo>
                  <a:pt x="5523" y="929"/>
                </a:lnTo>
                <a:close/>
                <a:moveTo>
                  <a:pt x="6217" y="112"/>
                </a:moveTo>
                <a:cubicBezTo>
                  <a:pt x="6217" y="112"/>
                  <a:pt x="6194" y="96"/>
                  <a:pt x="6154" y="96"/>
                </a:cubicBezTo>
                <a:cubicBezTo>
                  <a:pt x="6115" y="96"/>
                  <a:pt x="6094" y="111"/>
                  <a:pt x="6082" y="132"/>
                </a:cubicBezTo>
                <a:cubicBezTo>
                  <a:pt x="6071" y="151"/>
                  <a:pt x="6070" y="181"/>
                  <a:pt x="6070" y="227"/>
                </a:cubicBezTo>
                <a:cubicBezTo>
                  <a:pt x="6070" y="316"/>
                  <a:pt x="6070" y="316"/>
                  <a:pt x="6070" y="316"/>
                </a:cubicBezTo>
                <a:cubicBezTo>
                  <a:pt x="6196" y="316"/>
                  <a:pt x="6196" y="316"/>
                  <a:pt x="6196" y="316"/>
                </a:cubicBezTo>
                <a:cubicBezTo>
                  <a:pt x="6196" y="407"/>
                  <a:pt x="6196" y="407"/>
                  <a:pt x="6196" y="407"/>
                </a:cubicBezTo>
                <a:cubicBezTo>
                  <a:pt x="6070" y="407"/>
                  <a:pt x="6070" y="407"/>
                  <a:pt x="6070" y="407"/>
                </a:cubicBezTo>
                <a:cubicBezTo>
                  <a:pt x="6070" y="929"/>
                  <a:pt x="6070" y="929"/>
                  <a:pt x="6070" y="929"/>
                </a:cubicBezTo>
                <a:cubicBezTo>
                  <a:pt x="5905" y="929"/>
                  <a:pt x="5905" y="929"/>
                  <a:pt x="5905" y="929"/>
                </a:cubicBezTo>
                <a:cubicBezTo>
                  <a:pt x="5905" y="407"/>
                  <a:pt x="5905" y="407"/>
                  <a:pt x="5905" y="407"/>
                </a:cubicBezTo>
                <a:cubicBezTo>
                  <a:pt x="5828" y="407"/>
                  <a:pt x="5828" y="407"/>
                  <a:pt x="5828" y="407"/>
                </a:cubicBezTo>
                <a:cubicBezTo>
                  <a:pt x="5828" y="316"/>
                  <a:pt x="5828" y="316"/>
                  <a:pt x="5828" y="316"/>
                </a:cubicBezTo>
                <a:cubicBezTo>
                  <a:pt x="5905" y="316"/>
                  <a:pt x="5905" y="316"/>
                  <a:pt x="5905" y="316"/>
                </a:cubicBezTo>
                <a:cubicBezTo>
                  <a:pt x="5905" y="283"/>
                  <a:pt x="5905" y="283"/>
                  <a:pt x="5905" y="283"/>
                </a:cubicBezTo>
                <a:cubicBezTo>
                  <a:pt x="5905" y="249"/>
                  <a:pt x="5903" y="174"/>
                  <a:pt x="5917" y="131"/>
                </a:cubicBezTo>
                <a:cubicBezTo>
                  <a:pt x="5943" y="46"/>
                  <a:pt x="6005" y="0"/>
                  <a:pt x="6121" y="0"/>
                </a:cubicBezTo>
                <a:cubicBezTo>
                  <a:pt x="6203" y="0"/>
                  <a:pt x="6245" y="21"/>
                  <a:pt x="6245" y="21"/>
                </a:cubicBezTo>
                <a:lnTo>
                  <a:pt x="6217" y="112"/>
                </a:lnTo>
                <a:close/>
                <a:moveTo>
                  <a:pt x="6430" y="633"/>
                </a:moveTo>
                <a:cubicBezTo>
                  <a:pt x="6430" y="636"/>
                  <a:pt x="6430" y="645"/>
                  <a:pt x="6430" y="645"/>
                </a:cubicBezTo>
                <a:cubicBezTo>
                  <a:pt x="6430" y="765"/>
                  <a:pt x="6508" y="838"/>
                  <a:pt x="6627" y="838"/>
                </a:cubicBezTo>
                <a:cubicBezTo>
                  <a:pt x="6711" y="838"/>
                  <a:pt x="6758" y="810"/>
                  <a:pt x="6758" y="810"/>
                </a:cubicBezTo>
                <a:cubicBezTo>
                  <a:pt x="6790" y="903"/>
                  <a:pt x="6790" y="903"/>
                  <a:pt x="6790" y="903"/>
                </a:cubicBezTo>
                <a:cubicBezTo>
                  <a:pt x="6790" y="903"/>
                  <a:pt x="6723" y="939"/>
                  <a:pt x="6579" y="939"/>
                </a:cubicBezTo>
                <a:cubicBezTo>
                  <a:pt x="6411" y="939"/>
                  <a:pt x="6260" y="869"/>
                  <a:pt x="6260" y="623"/>
                </a:cubicBezTo>
                <a:cubicBezTo>
                  <a:pt x="6260" y="508"/>
                  <a:pt x="6303" y="303"/>
                  <a:pt x="6553" y="303"/>
                </a:cubicBezTo>
                <a:cubicBezTo>
                  <a:pt x="6674" y="303"/>
                  <a:pt x="6737" y="347"/>
                  <a:pt x="6776" y="414"/>
                </a:cubicBezTo>
                <a:cubicBezTo>
                  <a:pt x="6809" y="474"/>
                  <a:pt x="6813" y="556"/>
                  <a:pt x="6813" y="623"/>
                </a:cubicBezTo>
                <a:cubicBezTo>
                  <a:pt x="6813" y="624"/>
                  <a:pt x="6813" y="630"/>
                  <a:pt x="6813" y="633"/>
                </a:cubicBezTo>
                <a:lnTo>
                  <a:pt x="6430" y="633"/>
                </a:lnTo>
                <a:close/>
                <a:moveTo>
                  <a:pt x="6646" y="521"/>
                </a:moveTo>
                <a:cubicBezTo>
                  <a:pt x="6646" y="430"/>
                  <a:pt x="6613" y="384"/>
                  <a:pt x="6541" y="384"/>
                </a:cubicBezTo>
                <a:cubicBezTo>
                  <a:pt x="6481" y="384"/>
                  <a:pt x="6452" y="420"/>
                  <a:pt x="6439" y="475"/>
                </a:cubicBezTo>
                <a:cubicBezTo>
                  <a:pt x="6431" y="505"/>
                  <a:pt x="6431" y="537"/>
                  <a:pt x="6431" y="547"/>
                </a:cubicBezTo>
                <a:cubicBezTo>
                  <a:pt x="6646" y="547"/>
                  <a:pt x="6646" y="547"/>
                  <a:pt x="6646" y="547"/>
                </a:cubicBezTo>
                <a:lnTo>
                  <a:pt x="6646" y="521"/>
                </a:lnTo>
                <a:close/>
                <a:moveTo>
                  <a:pt x="7101" y="939"/>
                </a:moveTo>
                <a:cubicBezTo>
                  <a:pt x="6959" y="939"/>
                  <a:pt x="6893" y="903"/>
                  <a:pt x="6893" y="903"/>
                </a:cubicBezTo>
                <a:cubicBezTo>
                  <a:pt x="6927" y="807"/>
                  <a:pt x="6927" y="807"/>
                  <a:pt x="6927" y="807"/>
                </a:cubicBezTo>
                <a:cubicBezTo>
                  <a:pt x="6927" y="807"/>
                  <a:pt x="6982" y="840"/>
                  <a:pt x="7083" y="840"/>
                </a:cubicBezTo>
                <a:cubicBezTo>
                  <a:pt x="7149" y="840"/>
                  <a:pt x="7185" y="817"/>
                  <a:pt x="7185" y="772"/>
                </a:cubicBezTo>
                <a:cubicBezTo>
                  <a:pt x="7185" y="736"/>
                  <a:pt x="7168" y="725"/>
                  <a:pt x="7127" y="702"/>
                </a:cubicBezTo>
                <a:cubicBezTo>
                  <a:pt x="7037" y="653"/>
                  <a:pt x="7037" y="653"/>
                  <a:pt x="7037" y="653"/>
                </a:cubicBezTo>
                <a:cubicBezTo>
                  <a:pt x="6957" y="609"/>
                  <a:pt x="6915" y="564"/>
                  <a:pt x="6915" y="478"/>
                </a:cubicBezTo>
                <a:cubicBezTo>
                  <a:pt x="6915" y="361"/>
                  <a:pt x="6999" y="303"/>
                  <a:pt x="7136" y="303"/>
                </a:cubicBezTo>
                <a:cubicBezTo>
                  <a:pt x="7257" y="303"/>
                  <a:pt x="7324" y="335"/>
                  <a:pt x="7324" y="335"/>
                </a:cubicBezTo>
                <a:cubicBezTo>
                  <a:pt x="7291" y="431"/>
                  <a:pt x="7291" y="431"/>
                  <a:pt x="7291" y="431"/>
                </a:cubicBezTo>
                <a:cubicBezTo>
                  <a:pt x="7291" y="431"/>
                  <a:pt x="7234" y="399"/>
                  <a:pt x="7157" y="399"/>
                </a:cubicBezTo>
                <a:cubicBezTo>
                  <a:pt x="7107" y="399"/>
                  <a:pt x="7063" y="412"/>
                  <a:pt x="7063" y="459"/>
                </a:cubicBezTo>
                <a:cubicBezTo>
                  <a:pt x="7063" y="497"/>
                  <a:pt x="7085" y="509"/>
                  <a:pt x="7135" y="534"/>
                </a:cubicBezTo>
                <a:cubicBezTo>
                  <a:pt x="7222" y="579"/>
                  <a:pt x="7222" y="579"/>
                  <a:pt x="7222" y="579"/>
                </a:cubicBezTo>
                <a:cubicBezTo>
                  <a:pt x="7297" y="617"/>
                  <a:pt x="7337" y="664"/>
                  <a:pt x="7337" y="747"/>
                </a:cubicBezTo>
                <a:cubicBezTo>
                  <a:pt x="7337" y="887"/>
                  <a:pt x="7228" y="939"/>
                  <a:pt x="7101" y="939"/>
                </a:cubicBezTo>
                <a:close/>
                <a:moveTo>
                  <a:pt x="7890" y="431"/>
                </a:moveTo>
                <a:cubicBezTo>
                  <a:pt x="7890" y="431"/>
                  <a:pt x="7850" y="402"/>
                  <a:pt x="7780" y="402"/>
                </a:cubicBezTo>
                <a:cubicBezTo>
                  <a:pt x="7656" y="402"/>
                  <a:pt x="7604" y="475"/>
                  <a:pt x="7604" y="619"/>
                </a:cubicBezTo>
                <a:cubicBezTo>
                  <a:pt x="7604" y="718"/>
                  <a:pt x="7639" y="838"/>
                  <a:pt x="7778" y="838"/>
                </a:cubicBezTo>
                <a:cubicBezTo>
                  <a:pt x="7829" y="838"/>
                  <a:pt x="7871" y="821"/>
                  <a:pt x="7891" y="810"/>
                </a:cubicBezTo>
                <a:cubicBezTo>
                  <a:pt x="7922" y="903"/>
                  <a:pt x="7922" y="903"/>
                  <a:pt x="7922" y="903"/>
                </a:cubicBezTo>
                <a:cubicBezTo>
                  <a:pt x="7922" y="903"/>
                  <a:pt x="7864" y="939"/>
                  <a:pt x="7732" y="939"/>
                </a:cubicBezTo>
                <a:cubicBezTo>
                  <a:pt x="7529" y="939"/>
                  <a:pt x="7432" y="809"/>
                  <a:pt x="7432" y="634"/>
                </a:cubicBezTo>
                <a:cubicBezTo>
                  <a:pt x="7432" y="561"/>
                  <a:pt x="7448" y="491"/>
                  <a:pt x="7484" y="435"/>
                </a:cubicBezTo>
                <a:cubicBezTo>
                  <a:pt x="7534" y="358"/>
                  <a:pt x="7620" y="303"/>
                  <a:pt x="7758" y="303"/>
                </a:cubicBezTo>
                <a:cubicBezTo>
                  <a:pt x="7860" y="303"/>
                  <a:pt x="7924" y="335"/>
                  <a:pt x="7924" y="335"/>
                </a:cubicBezTo>
                <a:lnTo>
                  <a:pt x="7890" y="431"/>
                </a:lnTo>
                <a:close/>
                <a:moveTo>
                  <a:pt x="8114" y="227"/>
                </a:moveTo>
                <a:cubicBezTo>
                  <a:pt x="8056" y="227"/>
                  <a:pt x="8017" y="192"/>
                  <a:pt x="8017" y="141"/>
                </a:cubicBezTo>
                <a:cubicBezTo>
                  <a:pt x="8017" y="85"/>
                  <a:pt x="8056" y="51"/>
                  <a:pt x="8117" y="51"/>
                </a:cubicBezTo>
                <a:cubicBezTo>
                  <a:pt x="8175" y="51"/>
                  <a:pt x="8213" y="85"/>
                  <a:pt x="8213" y="137"/>
                </a:cubicBezTo>
                <a:cubicBezTo>
                  <a:pt x="8213" y="192"/>
                  <a:pt x="8175" y="227"/>
                  <a:pt x="8114" y="227"/>
                </a:cubicBezTo>
                <a:close/>
                <a:moveTo>
                  <a:pt x="8032" y="929"/>
                </a:moveTo>
                <a:cubicBezTo>
                  <a:pt x="8032" y="315"/>
                  <a:pt x="8032" y="315"/>
                  <a:pt x="8032" y="315"/>
                </a:cubicBezTo>
                <a:cubicBezTo>
                  <a:pt x="8200" y="315"/>
                  <a:pt x="8200" y="315"/>
                  <a:pt x="8200" y="315"/>
                </a:cubicBezTo>
                <a:cubicBezTo>
                  <a:pt x="8200" y="929"/>
                  <a:pt x="8200" y="929"/>
                  <a:pt x="8200" y="929"/>
                </a:cubicBezTo>
                <a:lnTo>
                  <a:pt x="8032" y="929"/>
                </a:lnTo>
                <a:close/>
                <a:moveTo>
                  <a:pt x="8502" y="633"/>
                </a:moveTo>
                <a:cubicBezTo>
                  <a:pt x="8502" y="636"/>
                  <a:pt x="8502" y="645"/>
                  <a:pt x="8502" y="645"/>
                </a:cubicBezTo>
                <a:cubicBezTo>
                  <a:pt x="8502" y="765"/>
                  <a:pt x="8580" y="838"/>
                  <a:pt x="8699" y="838"/>
                </a:cubicBezTo>
                <a:cubicBezTo>
                  <a:pt x="8783" y="838"/>
                  <a:pt x="8830" y="810"/>
                  <a:pt x="8830" y="810"/>
                </a:cubicBezTo>
                <a:cubicBezTo>
                  <a:pt x="8862" y="903"/>
                  <a:pt x="8862" y="903"/>
                  <a:pt x="8862" y="903"/>
                </a:cubicBezTo>
                <a:cubicBezTo>
                  <a:pt x="8862" y="903"/>
                  <a:pt x="8795" y="939"/>
                  <a:pt x="8651" y="939"/>
                </a:cubicBezTo>
                <a:cubicBezTo>
                  <a:pt x="8483" y="939"/>
                  <a:pt x="8332" y="869"/>
                  <a:pt x="8332" y="623"/>
                </a:cubicBezTo>
                <a:cubicBezTo>
                  <a:pt x="8332" y="508"/>
                  <a:pt x="8375" y="303"/>
                  <a:pt x="8625" y="303"/>
                </a:cubicBezTo>
                <a:cubicBezTo>
                  <a:pt x="8746" y="303"/>
                  <a:pt x="8809" y="347"/>
                  <a:pt x="8848" y="414"/>
                </a:cubicBezTo>
                <a:cubicBezTo>
                  <a:pt x="8881" y="474"/>
                  <a:pt x="8885" y="556"/>
                  <a:pt x="8885" y="623"/>
                </a:cubicBezTo>
                <a:cubicBezTo>
                  <a:pt x="8885" y="624"/>
                  <a:pt x="8885" y="630"/>
                  <a:pt x="8885" y="633"/>
                </a:cubicBezTo>
                <a:lnTo>
                  <a:pt x="8502" y="633"/>
                </a:lnTo>
                <a:close/>
                <a:moveTo>
                  <a:pt x="8718" y="521"/>
                </a:moveTo>
                <a:cubicBezTo>
                  <a:pt x="8718" y="430"/>
                  <a:pt x="8685" y="384"/>
                  <a:pt x="8613" y="384"/>
                </a:cubicBezTo>
                <a:cubicBezTo>
                  <a:pt x="8553" y="384"/>
                  <a:pt x="8524" y="420"/>
                  <a:pt x="8511" y="475"/>
                </a:cubicBezTo>
                <a:cubicBezTo>
                  <a:pt x="8503" y="505"/>
                  <a:pt x="8503" y="537"/>
                  <a:pt x="8503" y="547"/>
                </a:cubicBezTo>
                <a:cubicBezTo>
                  <a:pt x="8718" y="547"/>
                  <a:pt x="8718" y="547"/>
                  <a:pt x="8718" y="547"/>
                </a:cubicBezTo>
                <a:lnTo>
                  <a:pt x="8718" y="521"/>
                </a:lnTo>
                <a:close/>
                <a:moveTo>
                  <a:pt x="9398" y="929"/>
                </a:moveTo>
                <a:cubicBezTo>
                  <a:pt x="9398" y="577"/>
                  <a:pt x="9398" y="577"/>
                  <a:pt x="9398" y="577"/>
                </a:cubicBezTo>
                <a:cubicBezTo>
                  <a:pt x="9398" y="546"/>
                  <a:pt x="9398" y="514"/>
                  <a:pt x="9394" y="491"/>
                </a:cubicBezTo>
                <a:cubicBezTo>
                  <a:pt x="9382" y="433"/>
                  <a:pt x="9341" y="409"/>
                  <a:pt x="9278" y="409"/>
                </a:cubicBezTo>
                <a:cubicBezTo>
                  <a:pt x="9224" y="409"/>
                  <a:pt x="9186" y="430"/>
                  <a:pt x="9186" y="430"/>
                </a:cubicBezTo>
                <a:cubicBezTo>
                  <a:pt x="9186" y="929"/>
                  <a:pt x="9186" y="929"/>
                  <a:pt x="9186" y="929"/>
                </a:cubicBezTo>
                <a:cubicBezTo>
                  <a:pt x="9018" y="929"/>
                  <a:pt x="9018" y="929"/>
                  <a:pt x="9018" y="929"/>
                </a:cubicBezTo>
                <a:cubicBezTo>
                  <a:pt x="9018" y="315"/>
                  <a:pt x="9018" y="315"/>
                  <a:pt x="9018" y="315"/>
                </a:cubicBezTo>
                <a:cubicBezTo>
                  <a:pt x="9181" y="315"/>
                  <a:pt x="9181" y="315"/>
                  <a:pt x="9181" y="315"/>
                </a:cubicBezTo>
                <a:cubicBezTo>
                  <a:pt x="9181" y="377"/>
                  <a:pt x="9181" y="377"/>
                  <a:pt x="9181" y="377"/>
                </a:cubicBezTo>
                <a:cubicBezTo>
                  <a:pt x="9181" y="377"/>
                  <a:pt x="9234" y="301"/>
                  <a:pt x="9365" y="301"/>
                </a:cubicBezTo>
                <a:cubicBezTo>
                  <a:pt x="9493" y="301"/>
                  <a:pt x="9544" y="376"/>
                  <a:pt x="9558" y="438"/>
                </a:cubicBezTo>
                <a:cubicBezTo>
                  <a:pt x="9568" y="481"/>
                  <a:pt x="9568" y="531"/>
                  <a:pt x="9568" y="558"/>
                </a:cubicBezTo>
                <a:cubicBezTo>
                  <a:pt x="9568" y="929"/>
                  <a:pt x="9568" y="929"/>
                  <a:pt x="9568" y="929"/>
                </a:cubicBezTo>
                <a:lnTo>
                  <a:pt x="9398" y="929"/>
                </a:lnTo>
                <a:close/>
                <a:moveTo>
                  <a:pt x="10157" y="431"/>
                </a:moveTo>
                <a:cubicBezTo>
                  <a:pt x="10157" y="431"/>
                  <a:pt x="10117" y="402"/>
                  <a:pt x="10046" y="402"/>
                </a:cubicBezTo>
                <a:cubicBezTo>
                  <a:pt x="9923" y="402"/>
                  <a:pt x="9871" y="475"/>
                  <a:pt x="9871" y="619"/>
                </a:cubicBezTo>
                <a:cubicBezTo>
                  <a:pt x="9871" y="718"/>
                  <a:pt x="9906" y="838"/>
                  <a:pt x="10045" y="838"/>
                </a:cubicBezTo>
                <a:cubicBezTo>
                  <a:pt x="10096" y="838"/>
                  <a:pt x="10138" y="821"/>
                  <a:pt x="10158" y="810"/>
                </a:cubicBezTo>
                <a:cubicBezTo>
                  <a:pt x="10189" y="903"/>
                  <a:pt x="10189" y="903"/>
                  <a:pt x="10189" y="903"/>
                </a:cubicBezTo>
                <a:cubicBezTo>
                  <a:pt x="10189" y="903"/>
                  <a:pt x="10130" y="939"/>
                  <a:pt x="9998" y="939"/>
                </a:cubicBezTo>
                <a:cubicBezTo>
                  <a:pt x="9796" y="939"/>
                  <a:pt x="9698" y="809"/>
                  <a:pt x="9698" y="634"/>
                </a:cubicBezTo>
                <a:cubicBezTo>
                  <a:pt x="9698" y="561"/>
                  <a:pt x="9715" y="491"/>
                  <a:pt x="9751" y="435"/>
                </a:cubicBezTo>
                <a:cubicBezTo>
                  <a:pt x="9800" y="358"/>
                  <a:pt x="9887" y="303"/>
                  <a:pt x="10025" y="303"/>
                </a:cubicBezTo>
                <a:cubicBezTo>
                  <a:pt x="10127" y="303"/>
                  <a:pt x="10190" y="335"/>
                  <a:pt x="10190" y="335"/>
                </a:cubicBezTo>
                <a:lnTo>
                  <a:pt x="10157" y="431"/>
                </a:lnTo>
                <a:close/>
                <a:moveTo>
                  <a:pt x="10421" y="633"/>
                </a:moveTo>
                <a:cubicBezTo>
                  <a:pt x="10421" y="636"/>
                  <a:pt x="10421" y="645"/>
                  <a:pt x="10421" y="645"/>
                </a:cubicBezTo>
                <a:cubicBezTo>
                  <a:pt x="10421" y="765"/>
                  <a:pt x="10499" y="838"/>
                  <a:pt x="10618" y="838"/>
                </a:cubicBezTo>
                <a:cubicBezTo>
                  <a:pt x="10702" y="838"/>
                  <a:pt x="10748" y="810"/>
                  <a:pt x="10748" y="810"/>
                </a:cubicBezTo>
                <a:cubicBezTo>
                  <a:pt x="10781" y="903"/>
                  <a:pt x="10781" y="903"/>
                  <a:pt x="10781" y="903"/>
                </a:cubicBezTo>
                <a:cubicBezTo>
                  <a:pt x="10781" y="903"/>
                  <a:pt x="10714" y="939"/>
                  <a:pt x="10570" y="939"/>
                </a:cubicBezTo>
                <a:cubicBezTo>
                  <a:pt x="10402" y="939"/>
                  <a:pt x="10250" y="869"/>
                  <a:pt x="10250" y="623"/>
                </a:cubicBezTo>
                <a:cubicBezTo>
                  <a:pt x="10250" y="508"/>
                  <a:pt x="10294" y="303"/>
                  <a:pt x="10543" y="303"/>
                </a:cubicBezTo>
                <a:cubicBezTo>
                  <a:pt x="10664" y="303"/>
                  <a:pt x="10728" y="347"/>
                  <a:pt x="10766" y="414"/>
                </a:cubicBezTo>
                <a:cubicBezTo>
                  <a:pt x="10800" y="474"/>
                  <a:pt x="10804" y="556"/>
                  <a:pt x="10804" y="623"/>
                </a:cubicBezTo>
                <a:cubicBezTo>
                  <a:pt x="10804" y="624"/>
                  <a:pt x="10804" y="630"/>
                  <a:pt x="10804" y="633"/>
                </a:cubicBezTo>
                <a:lnTo>
                  <a:pt x="10421" y="633"/>
                </a:lnTo>
                <a:close/>
                <a:moveTo>
                  <a:pt x="10637" y="521"/>
                </a:moveTo>
                <a:cubicBezTo>
                  <a:pt x="10637" y="430"/>
                  <a:pt x="10603" y="384"/>
                  <a:pt x="10531" y="384"/>
                </a:cubicBezTo>
                <a:cubicBezTo>
                  <a:pt x="10471" y="384"/>
                  <a:pt x="10442" y="420"/>
                  <a:pt x="10429" y="475"/>
                </a:cubicBezTo>
                <a:cubicBezTo>
                  <a:pt x="10422" y="505"/>
                  <a:pt x="10422" y="537"/>
                  <a:pt x="10422" y="547"/>
                </a:cubicBezTo>
                <a:cubicBezTo>
                  <a:pt x="10637" y="547"/>
                  <a:pt x="10637" y="547"/>
                  <a:pt x="10637" y="547"/>
                </a:cubicBezTo>
                <a:lnTo>
                  <a:pt x="10637" y="521"/>
                </a:lnTo>
                <a:close/>
                <a:moveTo>
                  <a:pt x="11092" y="939"/>
                </a:moveTo>
                <a:cubicBezTo>
                  <a:pt x="10950" y="939"/>
                  <a:pt x="10884" y="903"/>
                  <a:pt x="10884" y="903"/>
                </a:cubicBezTo>
                <a:cubicBezTo>
                  <a:pt x="10918" y="807"/>
                  <a:pt x="10918" y="807"/>
                  <a:pt x="10918" y="807"/>
                </a:cubicBezTo>
                <a:cubicBezTo>
                  <a:pt x="10918" y="807"/>
                  <a:pt x="10973" y="840"/>
                  <a:pt x="11074" y="840"/>
                </a:cubicBezTo>
                <a:cubicBezTo>
                  <a:pt x="11140" y="840"/>
                  <a:pt x="11176" y="817"/>
                  <a:pt x="11176" y="772"/>
                </a:cubicBezTo>
                <a:cubicBezTo>
                  <a:pt x="11176" y="736"/>
                  <a:pt x="11159" y="725"/>
                  <a:pt x="11118" y="702"/>
                </a:cubicBezTo>
                <a:cubicBezTo>
                  <a:pt x="11028" y="653"/>
                  <a:pt x="11028" y="653"/>
                  <a:pt x="11028" y="653"/>
                </a:cubicBezTo>
                <a:cubicBezTo>
                  <a:pt x="10948" y="609"/>
                  <a:pt x="10906" y="564"/>
                  <a:pt x="10906" y="478"/>
                </a:cubicBezTo>
                <a:cubicBezTo>
                  <a:pt x="10906" y="361"/>
                  <a:pt x="10990" y="303"/>
                  <a:pt x="11126" y="303"/>
                </a:cubicBezTo>
                <a:cubicBezTo>
                  <a:pt x="11248" y="303"/>
                  <a:pt x="11315" y="335"/>
                  <a:pt x="11315" y="335"/>
                </a:cubicBezTo>
                <a:cubicBezTo>
                  <a:pt x="11281" y="431"/>
                  <a:pt x="11281" y="431"/>
                  <a:pt x="11281" y="431"/>
                </a:cubicBezTo>
                <a:cubicBezTo>
                  <a:pt x="11281" y="431"/>
                  <a:pt x="11225" y="399"/>
                  <a:pt x="11148" y="399"/>
                </a:cubicBezTo>
                <a:cubicBezTo>
                  <a:pt x="11098" y="399"/>
                  <a:pt x="11053" y="412"/>
                  <a:pt x="11053" y="459"/>
                </a:cubicBezTo>
                <a:cubicBezTo>
                  <a:pt x="11053" y="497"/>
                  <a:pt x="11076" y="509"/>
                  <a:pt x="11125" y="534"/>
                </a:cubicBezTo>
                <a:cubicBezTo>
                  <a:pt x="11213" y="579"/>
                  <a:pt x="11213" y="579"/>
                  <a:pt x="11213" y="579"/>
                </a:cubicBezTo>
                <a:cubicBezTo>
                  <a:pt x="11287" y="617"/>
                  <a:pt x="11328" y="664"/>
                  <a:pt x="11328" y="747"/>
                </a:cubicBezTo>
                <a:cubicBezTo>
                  <a:pt x="11328" y="887"/>
                  <a:pt x="11219" y="939"/>
                  <a:pt x="11092" y="9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47249521"/>
      </p:ext>
    </p:extLst>
  </p:cSld>
  <p:clrMap bg1="lt1" tx1="dk1" bg2="lt2" tx2="dk2" accent1="accent1" accent2="accent2" accent3="accent3" accent4="accent4" accent5="accent5" accent6="accent6" hlink="hlink" folHlink="folHlink"/>
  <p:sldLayoutIdLst>
    <p:sldLayoutId id="2147483671" r:id="rId1"/>
    <p:sldLayoutId id="2147483669" r:id="rId2"/>
    <p:sldLayoutId id="2147483672" r:id="rId3"/>
    <p:sldLayoutId id="2147483673" r:id="rId4"/>
    <p:sldLayoutId id="2147483675" r:id="rId5"/>
    <p:sldLayoutId id="2147483674" r:id="rId6"/>
    <p:sldLayoutId id="2147483676" r:id="rId7"/>
    <p:sldLayoutId id="2147483678" r:id="rId8"/>
    <p:sldLayoutId id="2147483680" r:id="rId9"/>
    <p:sldLayoutId id="2147483677" r:id="rId10"/>
    <p:sldLayoutId id="2147483679" r:id="rId11"/>
    <p:sldLayoutId id="2147483681" r:id="rId12"/>
    <p:sldLayoutId id="2147483650" r:id="rId13"/>
    <p:sldLayoutId id="2147483652" r:id="rId14"/>
    <p:sldLayoutId id="2147483653" r:id="rId15"/>
    <p:sldLayoutId id="2147483654" r:id="rId16"/>
    <p:sldLayoutId id="2147483655" r:id="rId17"/>
    <p:sldLayoutId id="2147483651" r:id="rId18"/>
    <p:sldLayoutId id="2147483665" r:id="rId19"/>
    <p:sldLayoutId id="2147483666" r:id="rId20"/>
    <p:sldLayoutId id="2147483662" r:id="rId21"/>
    <p:sldLayoutId id="2147483664" r:id="rId22"/>
    <p:sldLayoutId id="2147483670" r:id="rId23"/>
    <p:sldLayoutId id="2147483682" r:id="rId24"/>
    <p:sldLayoutId id="2147483683" r:id="rId25"/>
    <p:sldLayoutId id="2147483684" r:id="rId26"/>
    <p:sldLayoutId id="2147483685" r:id="rId27"/>
    <p:sldLayoutId id="2147483686" r:id="rId28"/>
  </p:sldLayoutIdLst>
  <p:hf hdr="0" ftr="0" dt="0"/>
  <p:txStyles>
    <p:titleStyle>
      <a:lvl1pPr algn="l" defTabSz="4572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173038" indent="-173038" algn="l" defTabSz="457200" rtl="0" eaLnBrk="1" latinLnBrk="0" hangingPunct="1">
        <a:lnSpc>
          <a:spcPct val="100000"/>
        </a:lnSpc>
        <a:spcBef>
          <a:spcPts val="600"/>
        </a:spcBef>
        <a:buClr>
          <a:schemeClr val="accent1"/>
        </a:buClr>
        <a:buSzPct val="110000"/>
        <a:buFont typeface="Wingdings" charset="2"/>
        <a:buChar char="§"/>
        <a:defRPr sz="1400" kern="1200" baseline="0">
          <a:solidFill>
            <a:schemeClr val="tx1"/>
          </a:solidFill>
          <a:latin typeface="+mn-lt"/>
          <a:ea typeface="+mn-ea"/>
          <a:cs typeface="+mn-cs"/>
        </a:defRPr>
      </a:lvl1pPr>
      <a:lvl2pPr marL="339725" indent="-166688" algn="l" defTabSz="457200" rtl="0" eaLnBrk="1" latinLnBrk="0" hangingPunct="1">
        <a:lnSpc>
          <a:spcPct val="100000"/>
        </a:lnSpc>
        <a:spcBef>
          <a:spcPts val="600"/>
        </a:spcBef>
        <a:buClr>
          <a:schemeClr val="accent1"/>
        </a:buClr>
        <a:buFont typeface="Arial"/>
        <a:buChar char="–"/>
        <a:defRPr sz="1400" kern="1200" baseline="0">
          <a:solidFill>
            <a:schemeClr val="tx1"/>
          </a:solidFill>
          <a:latin typeface="+mn-lt"/>
          <a:ea typeface="+mn-ea"/>
          <a:cs typeface="+mn-cs"/>
        </a:defRPr>
      </a:lvl2pPr>
      <a:lvl3pPr marL="512763" indent="-173038" algn="l" defTabSz="457200" rtl="0" eaLnBrk="1" latinLnBrk="0" hangingPunct="1">
        <a:lnSpc>
          <a:spcPct val="100000"/>
        </a:lnSpc>
        <a:spcBef>
          <a:spcPts val="600"/>
        </a:spcBef>
        <a:buClr>
          <a:schemeClr val="accent1"/>
        </a:buClr>
        <a:buSzPct val="110000"/>
        <a:buFont typeface="Wingdings" charset="2"/>
        <a:buChar char="§"/>
        <a:defRPr sz="1400" kern="1200" baseline="0">
          <a:solidFill>
            <a:schemeClr val="tx1"/>
          </a:solidFill>
          <a:latin typeface="+mn-lt"/>
          <a:ea typeface="+mn-ea"/>
          <a:cs typeface="+mn-cs"/>
        </a:defRPr>
      </a:lvl3pPr>
      <a:lvl4pPr marL="685800" indent="-173038" algn="l" defTabSz="457200" rtl="0" eaLnBrk="1" latinLnBrk="0" hangingPunct="1">
        <a:lnSpc>
          <a:spcPct val="100000"/>
        </a:lnSpc>
        <a:spcBef>
          <a:spcPts val="600"/>
        </a:spcBef>
        <a:buClr>
          <a:schemeClr val="accent1"/>
        </a:buClr>
        <a:buFont typeface="Arial"/>
        <a:buChar char="–"/>
        <a:defRPr sz="1400" kern="1200" baseline="0">
          <a:solidFill>
            <a:schemeClr val="tx1"/>
          </a:solidFill>
          <a:latin typeface="+mn-lt"/>
          <a:ea typeface="+mn-ea"/>
          <a:cs typeface="+mn-cs"/>
        </a:defRPr>
      </a:lvl4pPr>
      <a:lvl5pPr marL="858838" indent="-173038" algn="l" defTabSz="457200" rtl="0" eaLnBrk="1" latinLnBrk="0" hangingPunct="1">
        <a:lnSpc>
          <a:spcPct val="100000"/>
        </a:lnSpc>
        <a:spcBef>
          <a:spcPts val="600"/>
        </a:spcBef>
        <a:buClr>
          <a:schemeClr val="accent1"/>
        </a:buClr>
        <a:buSzPct val="110000"/>
        <a:buFont typeface="Wingdings" charset="2"/>
        <a:buChar char="§"/>
        <a:defRPr sz="1400" kern="1200" baseline="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2.png"/><Relationship Id="rId3"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3.png"/><Relationship Id="rId3"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1.png"/><Relationship Id="rId3"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7.pn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latin typeface="Arial"/>
              </a:rPr>
              <a:t>Understanding the</a:t>
            </a:r>
          </a:p>
          <a:p>
            <a:r>
              <a:rPr b="1">
                <a:latin typeface="Arial"/>
              </a:rPr>
              <a:t>Challenge Scoring Metric</a:t>
            </a:r>
          </a:p>
        </p:txBody>
      </p:sp>
      <p:sp>
        <p:nvSpPr>
          <p:cNvPr id="3" name="Subtitle 2"/>
          <p:cNvSpPr>
            <a:spLocks noGrp="1"/>
          </p:cNvSpPr>
          <p:nvPr>
            <p:ph type="subTitle" idx="1"/>
          </p:nvPr>
        </p:nvSpPr>
        <p:spPr/>
        <p:txBody>
          <a:bodyPr/>
          <a:lstStyle/>
          <a:p>
            <a:r>
              <a:rPr>
                <a:latin typeface="Arial"/>
              </a:rPr>
              <a:t>George B. Moody PhysioNet Challenge 2026</a:t>
            </a:r>
          </a:p>
          <a:p>
            <a:r>
              <a:rPr sz="1200">
                <a:solidFill>
                  <a:srgbClr val="505759"/>
                </a:solidFill>
                <a:latin typeface="Arial"/>
              </a:rPr>
              <a:t>How submissions are ranked — and what it means for our model</a:t>
            </a:r>
          </a:p>
        </p:txBody>
      </p:sp>
      <p:sp>
        <p:nvSpPr>
          <p:cNvPr id="4" name="TextBox 3"/>
          <p:cNvSpPr txBox="1"/>
          <p:nvPr/>
        </p:nvSpPr>
        <p:spPr>
          <a:xfrm>
            <a:off x="1005840" y="4160520"/>
            <a:ext cx="5029200" cy="548640"/>
          </a:xfrm>
          <a:prstGeom prst="rect">
            <a:avLst/>
          </a:prstGeom>
          <a:noFill/>
        </p:spPr>
        <p:txBody>
          <a:bodyPr wrap="square" anchor="t" lIns="45720" rIns="45720" tIns="18288" bIns="18288">
            <a:spAutoFit/>
          </a:bodyPr>
          <a:lstStyle/>
          <a:p>
            <a:pPr algn="l">
              <a:spcBef>
                <a:spcPts val="0"/>
              </a:spcBef>
              <a:spcAft>
                <a:spcPts val="200"/>
              </a:spcAft>
              <a:buNone/>
            </a:pPr>
            <a:r>
              <a:rPr sz="1200" b="1" i="0">
                <a:solidFill>
                  <a:srgbClr val="2A2E30"/>
                </a:solidFill>
                <a:latin typeface="Arial"/>
              </a:rPr>
              <a:t>Arshia Ilaty  ·  SDG</a:t>
            </a:r>
          </a:p>
          <a:p>
            <a:pPr algn="l">
              <a:spcBef>
                <a:spcPts val="0"/>
              </a:spcBef>
              <a:spcAft>
                <a:spcPts val="0"/>
              </a:spcAft>
              <a:buNone/>
            </a:pPr>
            <a:r>
              <a:rPr sz="1100" b="0" i="0">
                <a:solidFill>
                  <a:srgbClr val="898D8D"/>
                </a:solidFill>
                <a:latin typeface="Arial"/>
              </a:rPr>
              <a:t>July 13,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What we'll cover</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AGENDA</a:t>
            </a:r>
          </a:p>
        </p:txBody>
      </p:sp>
      <p:sp>
        <p:nvSpPr>
          <p:cNvPr id="5" name="Rounded Rectangle 4"/>
          <p:cNvSpPr/>
          <p:nvPr/>
        </p:nvSpPr>
        <p:spPr>
          <a:xfrm>
            <a:off x="548640" y="1417320"/>
            <a:ext cx="457200" cy="50292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600">
                <a:solidFill>
                  <a:srgbClr val="FFFFFF"/>
                </a:solidFill>
                <a:latin typeface="Arial"/>
              </a:rPr>
              <a:t>1</a:t>
            </a:r>
          </a:p>
        </p:txBody>
      </p:sp>
      <p:sp>
        <p:nvSpPr>
          <p:cNvPr id="6" name="TextBox 5"/>
          <p:cNvSpPr txBox="1"/>
          <p:nvPr/>
        </p:nvSpPr>
        <p:spPr>
          <a:xfrm>
            <a:off x="1143000" y="1417320"/>
            <a:ext cx="5760720" cy="502920"/>
          </a:xfrm>
          <a:prstGeom prst="rect">
            <a:avLst/>
          </a:prstGeom>
          <a:noFill/>
        </p:spPr>
        <p:txBody>
          <a:bodyPr wrap="square" anchor="ctr" lIns="45720" rIns="45720" tIns="18288" bIns="18288">
            <a:spAutoFit/>
          </a:bodyPr>
          <a:lstStyle/>
          <a:p>
            <a:pPr>
              <a:spcBef>
                <a:spcPts val="0"/>
              </a:spcBef>
              <a:spcAft>
                <a:spcPts val="0"/>
              </a:spcAft>
              <a:buNone/>
            </a:pPr>
            <a:r>
              <a:rPr sz="1300" b="1">
                <a:solidFill>
                  <a:srgbClr val="2A2E30"/>
                </a:solidFill>
                <a:latin typeface="Arial"/>
              </a:rPr>
              <a:t>The prediction task  </a:t>
            </a:r>
            <a:r>
              <a:rPr sz="1300" b="0">
                <a:solidFill>
                  <a:srgbClr val="505759"/>
                </a:solidFill>
                <a:latin typeface="Arial"/>
              </a:rPr>
              <a:t>What the challenge asks our model to output</a:t>
            </a:r>
          </a:p>
        </p:txBody>
      </p:sp>
      <p:sp>
        <p:nvSpPr>
          <p:cNvPr id="7" name="Rounded Rectangle 6"/>
          <p:cNvSpPr/>
          <p:nvPr/>
        </p:nvSpPr>
        <p:spPr>
          <a:xfrm>
            <a:off x="548640" y="1892807"/>
            <a:ext cx="457200" cy="50292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600">
                <a:solidFill>
                  <a:srgbClr val="FFFFFF"/>
                </a:solidFill>
                <a:latin typeface="Arial"/>
              </a:rPr>
              <a:t>2</a:t>
            </a:r>
          </a:p>
        </p:txBody>
      </p:sp>
      <p:sp>
        <p:nvSpPr>
          <p:cNvPr id="8" name="TextBox 7"/>
          <p:cNvSpPr txBox="1"/>
          <p:nvPr/>
        </p:nvSpPr>
        <p:spPr>
          <a:xfrm>
            <a:off x="1143000" y="1892807"/>
            <a:ext cx="5760720" cy="502920"/>
          </a:xfrm>
          <a:prstGeom prst="rect">
            <a:avLst/>
          </a:prstGeom>
          <a:noFill/>
        </p:spPr>
        <p:txBody>
          <a:bodyPr wrap="square" anchor="ctr" lIns="45720" rIns="45720" tIns="18288" bIns="18288">
            <a:spAutoFit/>
          </a:bodyPr>
          <a:lstStyle/>
          <a:p>
            <a:pPr>
              <a:spcBef>
                <a:spcPts val="0"/>
              </a:spcBef>
              <a:spcAft>
                <a:spcPts val="0"/>
              </a:spcAft>
              <a:buNone/>
            </a:pPr>
            <a:r>
              <a:rPr sz="1300" b="1">
                <a:solidFill>
                  <a:srgbClr val="2A2E30"/>
                </a:solidFill>
                <a:latin typeface="Arial"/>
              </a:rPr>
              <a:t>Why a custom metric  </a:t>
            </a:r>
            <a:r>
              <a:rPr sz="1300" b="0">
                <a:solidFill>
                  <a:srgbClr val="505759"/>
                </a:solidFill>
                <a:latin typeface="Arial"/>
              </a:rPr>
              <a:t>Class imbalance and age act as confounders</a:t>
            </a:r>
          </a:p>
        </p:txBody>
      </p:sp>
      <p:sp>
        <p:nvSpPr>
          <p:cNvPr id="9" name="Rounded Rectangle 8"/>
          <p:cNvSpPr/>
          <p:nvPr/>
        </p:nvSpPr>
        <p:spPr>
          <a:xfrm>
            <a:off x="548640" y="2368296"/>
            <a:ext cx="457200" cy="50292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600">
                <a:solidFill>
                  <a:srgbClr val="FFFFFF"/>
                </a:solidFill>
                <a:latin typeface="Arial"/>
              </a:rPr>
              <a:t>3</a:t>
            </a:r>
          </a:p>
        </p:txBody>
      </p:sp>
      <p:sp>
        <p:nvSpPr>
          <p:cNvPr id="10" name="TextBox 9"/>
          <p:cNvSpPr txBox="1"/>
          <p:nvPr/>
        </p:nvSpPr>
        <p:spPr>
          <a:xfrm>
            <a:off x="1143000" y="2368296"/>
            <a:ext cx="5760720" cy="502920"/>
          </a:xfrm>
          <a:prstGeom prst="rect">
            <a:avLst/>
          </a:prstGeom>
          <a:noFill/>
        </p:spPr>
        <p:txBody>
          <a:bodyPr wrap="square" anchor="ctr" lIns="45720" rIns="45720" tIns="18288" bIns="18288">
            <a:spAutoFit/>
          </a:bodyPr>
          <a:lstStyle/>
          <a:p>
            <a:pPr>
              <a:spcBef>
                <a:spcPts val="0"/>
              </a:spcBef>
              <a:spcAft>
                <a:spcPts val="0"/>
              </a:spcAft>
              <a:buNone/>
            </a:pPr>
            <a:r>
              <a:rPr sz="1300" b="1">
                <a:solidFill>
                  <a:srgbClr val="2A2E30"/>
                </a:solidFill>
                <a:latin typeface="Arial"/>
              </a:rPr>
              <a:t>The seven scores  </a:t>
            </a:r>
            <a:r>
              <a:rPr sz="1300" b="0">
                <a:solidFill>
                  <a:srgbClr val="505759"/>
                </a:solidFill>
                <a:latin typeface="Arial"/>
              </a:rPr>
              <a:t>One primary ranking metric, six diagnostics</a:t>
            </a:r>
          </a:p>
        </p:txBody>
      </p:sp>
      <p:sp>
        <p:nvSpPr>
          <p:cNvPr id="11" name="Rounded Rectangle 10"/>
          <p:cNvSpPr/>
          <p:nvPr/>
        </p:nvSpPr>
        <p:spPr>
          <a:xfrm>
            <a:off x="548640" y="2843784"/>
            <a:ext cx="457200" cy="50292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600">
                <a:solidFill>
                  <a:srgbClr val="FFFFFF"/>
                </a:solidFill>
                <a:latin typeface="Arial"/>
              </a:rPr>
              <a:t>4</a:t>
            </a:r>
          </a:p>
        </p:txBody>
      </p:sp>
      <p:sp>
        <p:nvSpPr>
          <p:cNvPr id="12" name="TextBox 11"/>
          <p:cNvSpPr txBox="1"/>
          <p:nvPr/>
        </p:nvSpPr>
        <p:spPr>
          <a:xfrm>
            <a:off x="1143000" y="2843784"/>
            <a:ext cx="5760720" cy="502920"/>
          </a:xfrm>
          <a:prstGeom prst="rect">
            <a:avLst/>
          </a:prstGeom>
          <a:noFill/>
        </p:spPr>
        <p:txBody>
          <a:bodyPr wrap="square" anchor="ctr" lIns="45720" rIns="45720" tIns="18288" bIns="18288">
            <a:spAutoFit/>
          </a:bodyPr>
          <a:lstStyle/>
          <a:p>
            <a:pPr>
              <a:spcBef>
                <a:spcPts val="0"/>
              </a:spcBef>
              <a:spcAft>
                <a:spcPts val="0"/>
              </a:spcAft>
              <a:buNone/>
            </a:pPr>
            <a:r>
              <a:rPr sz="1300" b="1">
                <a:solidFill>
                  <a:srgbClr val="2A2E30"/>
                </a:solidFill>
                <a:latin typeface="Arial"/>
              </a:rPr>
              <a:t>The Reward metric  </a:t>
            </a:r>
            <a:r>
              <a:rPr sz="1300" b="0">
                <a:solidFill>
                  <a:srgbClr val="505759"/>
                </a:solidFill>
                <a:latin typeface="Arial"/>
              </a:rPr>
              <a:t>Prevalence-weighted payoff — the metric that ranks us</a:t>
            </a:r>
          </a:p>
        </p:txBody>
      </p:sp>
      <p:sp>
        <p:nvSpPr>
          <p:cNvPr id="13" name="Rounded Rectangle 12"/>
          <p:cNvSpPr/>
          <p:nvPr/>
        </p:nvSpPr>
        <p:spPr>
          <a:xfrm>
            <a:off x="548640" y="3319272"/>
            <a:ext cx="457200" cy="50292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600">
                <a:solidFill>
                  <a:srgbClr val="FFFFFF"/>
                </a:solidFill>
                <a:latin typeface="Arial"/>
              </a:rPr>
              <a:t>5</a:t>
            </a:r>
          </a:p>
        </p:txBody>
      </p:sp>
      <p:sp>
        <p:nvSpPr>
          <p:cNvPr id="14" name="TextBox 13"/>
          <p:cNvSpPr txBox="1"/>
          <p:nvPr/>
        </p:nvSpPr>
        <p:spPr>
          <a:xfrm>
            <a:off x="1143000" y="3319272"/>
            <a:ext cx="5760720" cy="502920"/>
          </a:xfrm>
          <a:prstGeom prst="rect">
            <a:avLst/>
          </a:prstGeom>
          <a:noFill/>
        </p:spPr>
        <p:txBody>
          <a:bodyPr wrap="square" anchor="ctr" lIns="45720" rIns="45720" tIns="18288" bIns="18288">
            <a:spAutoFit/>
          </a:bodyPr>
          <a:lstStyle/>
          <a:p>
            <a:pPr>
              <a:spcBef>
                <a:spcPts val="0"/>
              </a:spcBef>
              <a:spcAft>
                <a:spcPts val="0"/>
              </a:spcAft>
              <a:buNone/>
            </a:pPr>
            <a:r>
              <a:rPr sz="1300" b="1">
                <a:solidFill>
                  <a:srgbClr val="2A2E30"/>
                </a:solidFill>
                <a:latin typeface="Arial"/>
              </a:rPr>
              <a:t>Age-aware AUROC  </a:t>
            </a:r>
            <a:r>
              <a:rPr sz="1300" b="0">
                <a:solidFill>
                  <a:srgbClr val="505759"/>
                </a:solidFill>
                <a:latin typeface="Arial"/>
              </a:rPr>
              <a:t>Conditioned and age-weighted variants</a:t>
            </a:r>
          </a:p>
        </p:txBody>
      </p:sp>
      <p:sp>
        <p:nvSpPr>
          <p:cNvPr id="15" name="Rounded Rectangle 14"/>
          <p:cNvSpPr/>
          <p:nvPr/>
        </p:nvSpPr>
        <p:spPr>
          <a:xfrm>
            <a:off x="548640" y="4270248"/>
            <a:ext cx="457200" cy="50292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600">
                <a:solidFill>
                  <a:srgbClr val="FFFFFF"/>
                </a:solidFill>
                <a:latin typeface="Arial"/>
              </a:rPr>
              <a:t>7</a:t>
            </a:r>
          </a:p>
        </p:txBody>
      </p:sp>
      <p:sp>
        <p:nvSpPr>
          <p:cNvPr id="16" name="TextBox 15"/>
          <p:cNvSpPr txBox="1"/>
          <p:nvPr/>
        </p:nvSpPr>
        <p:spPr>
          <a:xfrm>
            <a:off x="1143000" y="4270248"/>
            <a:ext cx="5760720" cy="502920"/>
          </a:xfrm>
          <a:prstGeom prst="rect">
            <a:avLst/>
          </a:prstGeom>
          <a:noFill/>
        </p:spPr>
        <p:txBody>
          <a:bodyPr wrap="square" anchor="ctr" lIns="45720" rIns="45720" tIns="18288" bIns="18288">
            <a:spAutoFit/>
          </a:bodyPr>
          <a:lstStyle/>
          <a:p>
            <a:pPr>
              <a:spcBef>
                <a:spcPts val="0"/>
              </a:spcBef>
              <a:spcAft>
                <a:spcPts val="0"/>
              </a:spcAft>
              <a:buNone/>
            </a:pPr>
            <a:r>
              <a:rPr sz="1300" b="1">
                <a:solidFill>
                  <a:srgbClr val="2A2E30"/>
                </a:solidFill>
                <a:latin typeface="Arial"/>
              </a:rPr>
              <a:t>What it means for us  </a:t>
            </a:r>
            <a:r>
              <a:rPr sz="1300" b="0">
                <a:solidFill>
                  <a:srgbClr val="505759"/>
                </a:solidFill>
                <a:latin typeface="Arial"/>
              </a:rPr>
              <a:t>How we tune and validate against the metric</a:t>
            </a:r>
          </a:p>
        </p:txBody>
      </p:sp>
      <p:sp>
        <p:nvSpPr>
          <p:cNvPr id="17" name="TextBox 16"/>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
        <p:nvSpPr>
          <p:cNvPr id="18" name="Rounded Rectangle 17"/>
          <p:cNvSpPr/>
          <p:nvPr/>
        </p:nvSpPr>
        <p:spPr>
          <a:xfrm>
            <a:off x="548640" y="3794760"/>
            <a:ext cx="457200" cy="50292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Arial"/>
              </a:rPr>
              <a:t>6</a:t>
            </a:r>
          </a:p>
        </p:txBody>
      </p:sp>
      <p:sp>
        <p:nvSpPr>
          <p:cNvPr id="19" name="TextBox 18"/>
          <p:cNvSpPr txBox="1"/>
          <p:nvPr/>
        </p:nvSpPr>
        <p:spPr>
          <a:xfrm>
            <a:off x="1143000" y="3794760"/>
            <a:ext cx="5760720" cy="502920"/>
          </a:xfrm>
          <a:prstGeom prst="rect">
            <a:avLst/>
          </a:prstGeom>
          <a:noFill/>
        </p:spPr>
        <p:txBody>
          <a:bodyPr wrap="square">
            <a:spAutoFit/>
          </a:bodyPr>
          <a:lstStyle/>
          <a:p>
            <a:pPr algn="l"/>
            <a:r>
              <a:rPr sz="1300" b="1">
                <a:solidFill>
                  <a:srgbClr val="2A2E30"/>
                </a:solidFill>
                <a:latin typeface="Arial"/>
              </a:rPr>
              <a:t>The dataset behind the metric  </a:t>
            </a:r>
            <a:r>
              <a:rPr sz="1300" b="0">
                <a:solidFill>
                  <a:srgbClr val="505759"/>
                </a:solidFill>
                <a:latin typeface="Arial"/>
              </a:rPr>
              <a:t>The cohort the model actually sees — and the confounders it must beat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FFFFFF"/>
                </a:solidFill>
                <a:latin typeface="Arial"/>
              </a:rPr>
              <a:t>The prediction task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What the model must predict</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THE TASK</a:t>
            </a:r>
          </a:p>
        </p:txBody>
      </p:sp>
      <p:sp>
        <p:nvSpPr>
          <p:cNvPr id="5" name="TextBox 4"/>
          <p:cNvSpPr txBox="1"/>
          <p:nvPr/>
        </p:nvSpPr>
        <p:spPr>
          <a:xfrm>
            <a:off x="548640" y="1371600"/>
            <a:ext cx="6446520" cy="685800"/>
          </a:xfrm>
          <a:prstGeom prst="rect">
            <a:avLst/>
          </a:prstGeom>
          <a:noFill/>
        </p:spPr>
        <p:txBody>
          <a:bodyPr wrap="square" anchor="t" lIns="45720" rIns="45720" tIns="18288" bIns="18288">
            <a:spAutoFit/>
          </a:bodyPr>
          <a:lstStyle/>
          <a:p>
            <a:pPr>
              <a:spcBef>
                <a:spcPts val="0"/>
              </a:spcBef>
              <a:spcAft>
                <a:spcPts val="0"/>
              </a:spcAft>
              <a:buNone/>
            </a:pPr>
            <a:r>
              <a:rPr sz="1500" b="0">
                <a:solidFill>
                  <a:srgbClr val="2A2E30"/>
                </a:solidFill>
                <a:latin typeface="Arial"/>
              </a:rPr>
              <a:t>From overnight sleep / physiological recordings, predict whether a patient has </a:t>
            </a:r>
            <a:r>
              <a:rPr sz="1500" b="1">
                <a:solidFill>
                  <a:srgbClr val="C8102E"/>
                </a:solidFill>
                <a:latin typeface="Arial"/>
              </a:rPr>
              <a:t>cognitive impairment</a:t>
            </a:r>
            <a:r>
              <a:rPr sz="1500" b="0">
                <a:solidFill>
                  <a:srgbClr val="2A2E30"/>
                </a:solidFill>
                <a:latin typeface="Arial"/>
              </a:rPr>
              <a:t>.</a:t>
            </a:r>
          </a:p>
        </p:txBody>
      </p:sp>
      <p:sp>
        <p:nvSpPr>
          <p:cNvPr id="6" name="Rounded Rectangle 5"/>
          <p:cNvSpPr/>
          <p:nvPr/>
        </p:nvSpPr>
        <p:spPr>
          <a:xfrm>
            <a:off x="548640" y="2148840"/>
            <a:ext cx="3127248" cy="146304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86000"/>
            <a:ext cx="2788920" cy="1234440"/>
          </a:xfrm>
          <a:prstGeom prst="rect">
            <a:avLst/>
          </a:prstGeom>
          <a:noFill/>
        </p:spPr>
        <p:txBody>
          <a:bodyPr wrap="square" anchor="t" lIns="45720" rIns="45720" tIns="18288" bIns="18288">
            <a:spAutoFit/>
          </a:bodyPr>
          <a:lstStyle/>
          <a:p>
            <a:pPr algn="l">
              <a:spcBef>
                <a:spcPts val="0"/>
              </a:spcBef>
              <a:spcAft>
                <a:spcPts val="200"/>
              </a:spcAft>
              <a:buNone/>
            </a:pPr>
            <a:r>
              <a:rPr sz="1000" b="1" i="0">
                <a:solidFill>
                  <a:srgbClr val="C8102E"/>
                </a:solidFill>
                <a:latin typeface="Arial"/>
              </a:rPr>
              <a:t>OUTPUT 1 — BINARY</a:t>
            </a:r>
          </a:p>
          <a:p>
            <a:pPr algn="l">
              <a:spcBef>
                <a:spcPts val="0"/>
              </a:spcBef>
              <a:spcAft>
                <a:spcPts val="200"/>
              </a:spcAft>
              <a:buNone/>
            </a:pPr>
            <a:r>
              <a:rPr sz="1300" b="1" i="0">
                <a:solidFill>
                  <a:srgbClr val="2A2E30"/>
                </a:solidFill>
                <a:latin typeface="Arial"/>
              </a:rPr>
              <a:t>Cognitive_Impairment</a:t>
            </a:r>
          </a:p>
          <a:p>
            <a:pPr algn="l">
              <a:spcBef>
                <a:spcPts val="0"/>
              </a:spcBef>
              <a:spcAft>
                <a:spcPts val="0"/>
              </a:spcAft>
              <a:buNone/>
            </a:pPr>
            <a:r>
              <a:rPr sz="1100" b="0" i="0">
                <a:solidFill>
                  <a:srgbClr val="505759"/>
                </a:solidFill>
                <a:latin typeface="Arial"/>
              </a:rPr>
              <a:t>0 or 1 per patient. Scored by the Reward metric.</a:t>
            </a:r>
          </a:p>
        </p:txBody>
      </p:sp>
      <p:sp>
        <p:nvSpPr>
          <p:cNvPr id="8" name="Rounded Rectangle 7"/>
          <p:cNvSpPr/>
          <p:nvPr/>
        </p:nvSpPr>
        <p:spPr>
          <a:xfrm>
            <a:off x="3867912" y="2148840"/>
            <a:ext cx="3127248" cy="146304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50791" y="2286000"/>
            <a:ext cx="2788920" cy="1234440"/>
          </a:xfrm>
          <a:prstGeom prst="rect">
            <a:avLst/>
          </a:prstGeom>
          <a:noFill/>
        </p:spPr>
        <p:txBody>
          <a:bodyPr wrap="square" anchor="t" lIns="45720" rIns="45720" tIns="18288" bIns="18288">
            <a:spAutoFit/>
          </a:bodyPr>
          <a:lstStyle/>
          <a:p>
            <a:pPr algn="l">
              <a:spcBef>
                <a:spcPts val="0"/>
              </a:spcBef>
              <a:spcAft>
                <a:spcPts val="200"/>
              </a:spcAft>
              <a:buNone/>
            </a:pPr>
            <a:r>
              <a:rPr sz="1000" b="1" i="0">
                <a:solidFill>
                  <a:srgbClr val="346583"/>
                </a:solidFill>
                <a:latin typeface="Arial"/>
              </a:rPr>
              <a:t>OUTPUT 2 — PROBABILITY</a:t>
            </a:r>
          </a:p>
          <a:p>
            <a:pPr algn="l">
              <a:spcBef>
                <a:spcPts val="0"/>
              </a:spcBef>
              <a:spcAft>
                <a:spcPts val="200"/>
              </a:spcAft>
              <a:buNone/>
            </a:pPr>
            <a:r>
              <a:rPr sz="1200" b="1" i="0">
                <a:solidFill>
                  <a:srgbClr val="2A2E30"/>
                </a:solidFill>
                <a:latin typeface="Arial"/>
              </a:rPr>
              <a:t>Cognitive_Impairment_Probability</a:t>
            </a:r>
          </a:p>
          <a:p>
            <a:pPr algn="l">
              <a:spcBef>
                <a:spcPts val="0"/>
              </a:spcBef>
              <a:spcAft>
                <a:spcPts val="0"/>
              </a:spcAft>
              <a:buNone/>
            </a:pPr>
            <a:r>
              <a:rPr sz="1100" b="0" i="0">
                <a:solidFill>
                  <a:srgbClr val="505759"/>
                </a:solidFill>
                <a:latin typeface="Arial"/>
              </a:rPr>
              <a:t>Continuous score in [0,1]. Scored by the AUROC / AUPRC metrics.</a:t>
            </a:r>
          </a:p>
        </p:txBody>
      </p:sp>
      <p:sp>
        <p:nvSpPr>
          <p:cNvPr id="10" name="TextBox 9"/>
          <p:cNvSpPr txBox="1"/>
          <p:nvPr/>
        </p:nvSpPr>
        <p:spPr>
          <a:xfrm>
            <a:off x="548640" y="3840480"/>
            <a:ext cx="6446520" cy="822960"/>
          </a:xfrm>
          <a:prstGeom prst="rect">
            <a:avLst/>
          </a:prstGeom>
          <a:noFill/>
        </p:spPr>
        <p:txBody>
          <a:bodyPr wrap="square" anchor="t" lIns="45720" rIns="45720" tIns="18288" bIns="18288">
            <a:spAutoFit/>
          </a:bodyPr>
          <a:lstStyle/>
          <a:p>
            <a:pPr>
              <a:spcBef>
                <a:spcPts val="0"/>
              </a:spcBef>
              <a:spcAft>
                <a:spcPts val="0"/>
              </a:spcAft>
              <a:buNone/>
            </a:pPr>
            <a:r>
              <a:rPr sz="1200" b="1">
                <a:solidFill>
                  <a:srgbClr val="2A2E30"/>
                </a:solidFill>
                <a:latin typeface="Arial"/>
              </a:rPr>
              <a:t>Evaluated per patient</a:t>
            </a:r>
            <a:r>
              <a:rPr sz="1200" b="0">
                <a:solidFill>
                  <a:srgbClr val="505759"/>
                </a:solidFill>
                <a:latin typeface="Arial"/>
              </a:rPr>
              <a:t>, keyed by SiteID + BDSPPatientID. Each patient also carries an </a:t>
            </a:r>
            <a:r>
              <a:rPr sz="1200" b="1">
                <a:solidFill>
                  <a:srgbClr val="2A2E30"/>
                </a:solidFill>
                <a:latin typeface="Arial"/>
              </a:rPr>
              <a:t>Age</a:t>
            </a:r>
            <a:r>
              <a:rPr sz="1200" b="0">
                <a:solidFill>
                  <a:srgbClr val="505759"/>
                </a:solidFill>
                <a:latin typeface="Arial"/>
              </a:rPr>
              <a:t>, which the metric uses to set expectations — see the next section.</a:t>
            </a:r>
          </a:p>
        </p:txBody>
      </p:sp>
      <p:sp>
        <p:nvSpPr>
          <p:cNvPr id="11" name="TextBox 10"/>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FFFFFF"/>
                </a:solidFill>
                <a:latin typeface="Arial"/>
              </a:rPr>
              <a:t>Why a custom metric?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Two problems plain accuracy can't handle</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MOTIVATION</a:t>
            </a:r>
          </a:p>
        </p:txBody>
      </p:sp>
      <p:sp>
        <p:nvSpPr>
          <p:cNvPr id="5" name="Rounded Rectangle 4"/>
          <p:cNvSpPr/>
          <p:nvPr/>
        </p:nvSpPr>
        <p:spPr>
          <a:xfrm>
            <a:off x="548640" y="1417320"/>
            <a:ext cx="3127248" cy="306324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3127248"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17320"/>
            <a:ext cx="2852928" cy="457200"/>
          </a:xfrm>
          <a:prstGeom prst="rect">
            <a:avLst/>
          </a:prstGeom>
          <a:noFill/>
        </p:spPr>
        <p:txBody>
          <a:bodyPr wrap="square" anchor="ctr" lIns="45720" rIns="45720" tIns="18288" bIns="18288">
            <a:spAutoFit/>
          </a:bodyPr>
          <a:lstStyle/>
          <a:p>
            <a:pPr algn="l">
              <a:spcBef>
                <a:spcPts val="0"/>
              </a:spcBef>
              <a:spcAft>
                <a:spcPts val="0"/>
              </a:spcAft>
              <a:buNone/>
            </a:pPr>
            <a:r>
              <a:rPr sz="1300" b="1" i="0">
                <a:solidFill>
                  <a:srgbClr val="FFFFFF"/>
                </a:solidFill>
                <a:latin typeface="Arial"/>
              </a:rPr>
              <a:t>1 · Class imbalance</a:t>
            </a:r>
          </a:p>
        </p:txBody>
      </p:sp>
      <p:sp>
        <p:nvSpPr>
          <p:cNvPr id="8" name="TextBox 7"/>
          <p:cNvSpPr txBox="1"/>
          <p:nvPr/>
        </p:nvSpPr>
        <p:spPr>
          <a:xfrm>
            <a:off x="713232" y="2011680"/>
            <a:ext cx="2788920" cy="2377440"/>
          </a:xfrm>
          <a:prstGeom prst="rect">
            <a:avLst/>
          </a:prstGeom>
          <a:noFill/>
        </p:spPr>
        <p:txBody>
          <a:bodyPr wrap="square" anchor="t" lIns="45720" rIns="45720" tIns="18288" bIns="18288">
            <a:spAutoFit/>
          </a:bodyPr>
          <a:lstStyle/>
          <a:p>
            <a:pPr algn="l">
              <a:spcBef>
                <a:spcPts val="0"/>
              </a:spcBef>
              <a:spcAft>
                <a:spcPts val="400"/>
              </a:spcAft>
              <a:buNone/>
            </a:pPr>
            <a:r>
              <a:rPr sz="1300" b="1" i="0">
                <a:solidFill>
                  <a:srgbClr val="2A2E30"/>
                </a:solidFill>
                <a:latin typeface="Arial"/>
              </a:rPr>
              <a:t>Impairment is the rare class.</a:t>
            </a:r>
          </a:p>
          <a:p>
            <a:pPr algn="l">
              <a:spcBef>
                <a:spcPts val="0"/>
              </a:spcBef>
              <a:spcAft>
                <a:spcPts val="600"/>
              </a:spcAft>
              <a:buNone/>
            </a:pPr>
            <a:r>
              <a:rPr sz="1200" b="0" i="0">
                <a:solidFill>
                  <a:srgbClr val="505759"/>
                </a:solidFill>
                <a:latin typeface="Arial"/>
              </a:rPr>
              <a:t>A model that predicts “nobody is impaired” can score high accuracy while being clinically useless.</a:t>
            </a:r>
          </a:p>
          <a:p>
            <a:pPr algn="l">
              <a:spcBef>
                <a:spcPts val="0"/>
              </a:spcBef>
              <a:spcAft>
                <a:spcPts val="0"/>
              </a:spcAft>
              <a:buNone/>
            </a:pPr>
            <a:r>
              <a:rPr sz="1200" b="0" i="0">
                <a:solidFill>
                  <a:srgbClr val="505759"/>
                </a:solidFill>
                <a:latin typeface="Arial"/>
              </a:rPr>
              <a:t>The metric must reward finding rare positives and give no free credit for trivial guessing.</a:t>
            </a:r>
          </a:p>
        </p:txBody>
      </p:sp>
      <p:sp>
        <p:nvSpPr>
          <p:cNvPr id="9" name="Rounded Rectangle 8"/>
          <p:cNvSpPr/>
          <p:nvPr/>
        </p:nvSpPr>
        <p:spPr>
          <a:xfrm>
            <a:off x="3867912" y="1417320"/>
            <a:ext cx="3127248" cy="306324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867912" y="1417320"/>
            <a:ext cx="3127248" cy="457200"/>
          </a:xfrm>
          <a:prstGeom prst="rect">
            <a:avLst/>
          </a:prstGeom>
          <a:solidFill>
            <a:srgbClr val="3465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05072" y="1417320"/>
            <a:ext cx="2852928" cy="457200"/>
          </a:xfrm>
          <a:prstGeom prst="rect">
            <a:avLst/>
          </a:prstGeom>
          <a:noFill/>
        </p:spPr>
        <p:txBody>
          <a:bodyPr wrap="square" anchor="ctr" lIns="45720" rIns="45720" tIns="18288" bIns="18288">
            <a:spAutoFit/>
          </a:bodyPr>
          <a:lstStyle/>
          <a:p>
            <a:pPr algn="l">
              <a:spcBef>
                <a:spcPts val="0"/>
              </a:spcBef>
              <a:spcAft>
                <a:spcPts val="0"/>
              </a:spcAft>
              <a:buNone/>
            </a:pPr>
            <a:r>
              <a:rPr sz="1300" b="1" i="0">
                <a:solidFill>
                  <a:srgbClr val="FFFFFF"/>
                </a:solidFill>
                <a:latin typeface="Arial"/>
              </a:rPr>
              <a:t>2 · Age confounding</a:t>
            </a:r>
          </a:p>
        </p:txBody>
      </p:sp>
      <p:sp>
        <p:nvSpPr>
          <p:cNvPr id="12" name="TextBox 11"/>
          <p:cNvSpPr txBox="1"/>
          <p:nvPr/>
        </p:nvSpPr>
        <p:spPr>
          <a:xfrm>
            <a:off x="4032504" y="2011680"/>
            <a:ext cx="2788920" cy="2377440"/>
          </a:xfrm>
          <a:prstGeom prst="rect">
            <a:avLst/>
          </a:prstGeom>
          <a:noFill/>
        </p:spPr>
        <p:txBody>
          <a:bodyPr wrap="square" anchor="t" lIns="45720" rIns="45720" tIns="18288" bIns="18288">
            <a:spAutoFit/>
          </a:bodyPr>
          <a:lstStyle/>
          <a:p>
            <a:pPr algn="l">
              <a:spcBef>
                <a:spcPts val="0"/>
              </a:spcBef>
              <a:spcAft>
                <a:spcPts val="400"/>
              </a:spcAft>
              <a:buNone/>
            </a:pPr>
            <a:r>
              <a:rPr sz="1300" b="1" i="0">
                <a:solidFill>
                  <a:srgbClr val="2A2E30"/>
                </a:solidFill>
                <a:latin typeface="Arial"/>
              </a:rPr>
              <a:t>Risk rises steeply with age.</a:t>
            </a:r>
          </a:p>
          <a:p>
            <a:pPr algn="l">
              <a:spcBef>
                <a:spcPts val="0"/>
              </a:spcBef>
              <a:spcAft>
                <a:spcPts val="600"/>
              </a:spcAft>
              <a:buNone/>
            </a:pPr>
            <a:r>
              <a:rPr sz="1200" b="0" i="0">
                <a:solidFill>
                  <a:srgbClr val="505759"/>
                </a:solidFill>
                <a:latin typeface="Arial"/>
              </a:rPr>
              <a:t>A model could look accurate just by learning “older = higher risk” — not real physiology.</a:t>
            </a:r>
          </a:p>
          <a:p>
            <a:pPr algn="l">
              <a:spcBef>
                <a:spcPts val="0"/>
              </a:spcBef>
              <a:spcAft>
                <a:spcPts val="0"/>
              </a:spcAft>
              <a:buNone/>
            </a:pPr>
            <a:r>
              <a:rPr sz="1200" b="0" i="0">
                <a:solidFill>
                  <a:srgbClr val="505759"/>
                </a:solidFill>
                <a:latin typeface="Arial"/>
              </a:rPr>
              <a:t>The metric must compare patients of similar age, so age alone can't inflate the score.</a:t>
            </a:r>
          </a:p>
        </p:txBody>
      </p:sp>
      <p:sp>
        <p:nvSpPr>
          <p:cNvPr id="13" name="TextBox 12"/>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Seven scores — one decides the ranking</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OVERVIEW</a:t>
            </a:r>
          </a:p>
        </p:txBody>
      </p:sp>
      <p:graphicFrame>
        <p:nvGraphicFramePr>
          <p:cNvPr id="5" name="Table 4"/>
          <p:cNvGraphicFramePr>
            <a:graphicFrameLocks noGrp="1"/>
          </p:cNvGraphicFramePr>
          <p:nvPr/>
        </p:nvGraphicFramePr>
        <p:xfrm>
          <a:off x="548640" y="1417320"/>
          <a:ext cx="6446519" cy="2743200"/>
        </p:xfrm>
        <a:graphic>
          <a:graphicData uri="http://schemas.openxmlformats.org/drawingml/2006/table">
            <a:tbl>
              <a:tblPr firstRow="0" bandRow="0">
                <a:tableStyleId>{5C22544A-7EE6-4342-B048-85BDC9FD1C3A}</a:tableStyleId>
              </a:tblPr>
              <a:tblGrid>
                <a:gridCol w="2331720"/>
                <a:gridCol w="1874519"/>
                <a:gridCol w="2240280"/>
              </a:tblGrid>
              <a:tr h="342900">
                <a:tc>
                  <a:txBody>
                    <a:bodyPr wrap="square"/>
                    <a:lstStyle/>
                    <a:p>
                      <a:pPr algn="l"/>
                      <a:r>
                        <a:rPr sz="1100" b="1">
                          <a:solidFill>
                            <a:srgbClr val="FFFFFF"/>
                          </a:solidFill>
                          <a:latin typeface="Arial"/>
                        </a:rPr>
                        <a:t>Metric</a:t>
                      </a:r>
                    </a:p>
                  </a:txBody>
                  <a:tcPr anchor="ctr" marL="73152" marR="54864" marT="27432" marB="27432">
                    <a:solidFill>
                      <a:srgbClr val="505759"/>
                    </a:solidFill>
                  </a:tcPr>
                </a:tc>
                <a:tc>
                  <a:txBody>
                    <a:bodyPr wrap="square"/>
                    <a:lstStyle/>
                    <a:p>
                      <a:pPr algn="l"/>
                      <a:r>
                        <a:rPr sz="1100" b="1">
                          <a:solidFill>
                            <a:srgbClr val="FFFFFF"/>
                          </a:solidFill>
                          <a:latin typeface="Arial"/>
                        </a:rPr>
                        <a:t>Uses</a:t>
                      </a:r>
                    </a:p>
                  </a:txBody>
                  <a:tcPr anchor="ctr" marL="73152" marR="54864" marT="27432" marB="27432">
                    <a:solidFill>
                      <a:srgbClr val="505759"/>
                    </a:solidFill>
                  </a:tcPr>
                </a:tc>
                <a:tc>
                  <a:txBody>
                    <a:bodyPr wrap="square"/>
                    <a:lstStyle/>
                    <a:p>
                      <a:pPr algn="l"/>
                      <a:r>
                        <a:rPr sz="1100" b="1">
                          <a:solidFill>
                            <a:srgbClr val="FFFFFF"/>
                          </a:solidFill>
                          <a:latin typeface="Arial"/>
                        </a:rPr>
                        <a:t>Role</a:t>
                      </a:r>
                    </a:p>
                  </a:txBody>
                  <a:tcPr anchor="ctr" marL="73152" marR="54864" marT="27432" marB="27432">
                    <a:solidFill>
                      <a:srgbClr val="505759"/>
                    </a:solidFill>
                  </a:tcPr>
                </a:tc>
              </a:tr>
              <a:tr h="342900">
                <a:tc>
                  <a:txBody>
                    <a:bodyPr wrap="square"/>
                    <a:lstStyle/>
                    <a:p>
                      <a:pPr algn="l"/>
                      <a:r>
                        <a:rPr sz="1100" b="1">
                          <a:solidFill>
                            <a:srgbClr val="C8102E"/>
                          </a:solidFill>
                          <a:latin typeface="Arial"/>
                        </a:rPr>
                        <a:t>Reward</a:t>
                      </a:r>
                    </a:p>
                  </a:txBody>
                  <a:tcPr anchor="ctr" marL="73152" marR="54864" marT="27432" marB="27432">
                    <a:solidFill>
                      <a:srgbClr val="FBE9EC"/>
                    </a:solidFill>
                  </a:tcPr>
                </a:tc>
                <a:tc>
                  <a:txBody>
                    <a:bodyPr wrap="square"/>
                    <a:lstStyle/>
                    <a:p>
                      <a:pPr algn="l"/>
                      <a:r>
                        <a:rPr sz="1100" b="0">
                          <a:solidFill>
                            <a:srgbClr val="2A2E30"/>
                          </a:solidFill>
                          <a:latin typeface="Arial"/>
                        </a:rPr>
                        <a:t>Binary prediction</a:t>
                      </a:r>
                    </a:p>
                  </a:txBody>
                  <a:tcPr anchor="ctr" marL="73152" marR="54864" marT="27432" marB="27432">
                    <a:solidFill>
                      <a:srgbClr val="FBE9EC"/>
                    </a:solidFill>
                  </a:tcPr>
                </a:tc>
                <a:tc>
                  <a:txBody>
                    <a:bodyPr wrap="square"/>
                    <a:lstStyle/>
                    <a:p>
                      <a:pPr algn="l"/>
                      <a:r>
                        <a:rPr sz="1100" b="1">
                          <a:solidFill>
                            <a:srgbClr val="C8102E"/>
                          </a:solidFill>
                          <a:latin typeface="Arial"/>
                        </a:rPr>
                        <a:t>PRIMARY — ranks all teams</a:t>
                      </a:r>
                    </a:p>
                  </a:txBody>
                  <a:tcPr anchor="ctr" marL="73152" marR="54864" marT="27432" marB="27432">
                    <a:solidFill>
                      <a:srgbClr val="FBE9EC"/>
                    </a:solidFill>
                  </a:tcPr>
                </a:tc>
              </a:tr>
              <a:tr h="342900">
                <a:tc>
                  <a:txBody>
                    <a:bodyPr wrap="square"/>
                    <a:lstStyle/>
                    <a:p>
                      <a:pPr algn="l"/>
                      <a:r>
                        <a:rPr sz="1100" b="0">
                          <a:solidFill>
                            <a:srgbClr val="2A2E30"/>
                          </a:solidFill>
                          <a:latin typeface="Arial"/>
                        </a:rPr>
                        <a:t>Age-conditioned AUROC</a:t>
                      </a:r>
                    </a:p>
                  </a:txBody>
                  <a:tcPr anchor="ctr" marL="73152" marR="54864" marT="27432" marB="27432">
                    <a:solidFill>
                      <a:srgbClr val="F2F4F4"/>
                    </a:solidFill>
                  </a:tcPr>
                </a:tc>
                <a:tc>
                  <a:txBody>
                    <a:bodyPr wrap="square"/>
                    <a:lstStyle/>
                    <a:p>
                      <a:pPr algn="l"/>
                      <a:r>
                        <a:rPr sz="1100" b="0">
                          <a:solidFill>
                            <a:srgbClr val="2A2E30"/>
                          </a:solidFill>
                          <a:latin typeface="Arial"/>
                        </a:rPr>
                        <a:t>Probability</a:t>
                      </a:r>
                    </a:p>
                  </a:txBody>
                  <a:tcPr anchor="ctr" marL="73152" marR="54864" marT="27432" marB="27432">
                    <a:solidFill>
                      <a:srgbClr val="F2F4F4"/>
                    </a:solidFill>
                  </a:tcPr>
                </a:tc>
                <a:tc>
                  <a:txBody>
                    <a:bodyPr wrap="square"/>
                    <a:lstStyle/>
                    <a:p>
                      <a:pPr algn="l"/>
                      <a:r>
                        <a:rPr sz="1100" b="0">
                          <a:solidFill>
                            <a:srgbClr val="2A2E30"/>
                          </a:solidFill>
                          <a:latin typeface="Arial"/>
                        </a:rPr>
                        <a:t>Diagnostic</a:t>
                      </a:r>
                    </a:p>
                  </a:txBody>
                  <a:tcPr anchor="ctr" marL="73152" marR="54864" marT="27432" marB="27432">
                    <a:solidFill>
                      <a:srgbClr val="F2F4F4"/>
                    </a:solidFill>
                  </a:tcPr>
                </a:tc>
              </a:tr>
              <a:tr h="342900">
                <a:tc>
                  <a:txBody>
                    <a:bodyPr wrap="square"/>
                    <a:lstStyle/>
                    <a:p>
                      <a:pPr algn="l"/>
                      <a:r>
                        <a:rPr sz="1100" b="0">
                          <a:solidFill>
                            <a:srgbClr val="2A2E30"/>
                          </a:solidFill>
                          <a:latin typeface="Arial"/>
                        </a:rPr>
                        <a:t>Age-weighted AUROC</a:t>
                      </a:r>
                    </a:p>
                  </a:txBody>
                  <a:tcPr anchor="ctr" marL="73152" marR="54864" marT="27432" marB="27432">
                    <a:solidFill>
                      <a:srgbClr val="FFFFFF"/>
                    </a:solidFill>
                  </a:tcPr>
                </a:tc>
                <a:tc>
                  <a:txBody>
                    <a:bodyPr wrap="square"/>
                    <a:lstStyle/>
                    <a:p>
                      <a:pPr algn="l"/>
                      <a:r>
                        <a:rPr sz="1100" b="0">
                          <a:solidFill>
                            <a:srgbClr val="2A2E30"/>
                          </a:solidFill>
                          <a:latin typeface="Arial"/>
                        </a:rPr>
                        <a:t>Probability</a:t>
                      </a:r>
                    </a:p>
                  </a:txBody>
                  <a:tcPr anchor="ctr" marL="73152" marR="54864" marT="27432" marB="27432">
                    <a:solidFill>
                      <a:srgbClr val="FFFFFF"/>
                    </a:solidFill>
                  </a:tcPr>
                </a:tc>
                <a:tc>
                  <a:txBody>
                    <a:bodyPr wrap="square"/>
                    <a:lstStyle/>
                    <a:p>
                      <a:pPr algn="l"/>
                      <a:r>
                        <a:rPr sz="1100" b="0">
                          <a:solidFill>
                            <a:srgbClr val="2A2E30"/>
                          </a:solidFill>
                          <a:latin typeface="Arial"/>
                        </a:rPr>
                        <a:t>Diagnostic</a:t>
                      </a:r>
                    </a:p>
                  </a:txBody>
                  <a:tcPr anchor="ctr" marL="73152" marR="54864" marT="27432" marB="27432">
                    <a:solidFill>
                      <a:srgbClr val="FFFFFF"/>
                    </a:solidFill>
                  </a:tcPr>
                </a:tc>
              </a:tr>
              <a:tr h="342900">
                <a:tc>
                  <a:txBody>
                    <a:bodyPr wrap="square"/>
                    <a:lstStyle/>
                    <a:p>
                      <a:pPr algn="l"/>
                      <a:r>
                        <a:rPr sz="1100" b="0">
                          <a:solidFill>
                            <a:srgbClr val="2A2E30"/>
                          </a:solidFill>
                          <a:latin typeface="Arial"/>
                        </a:rPr>
                        <a:t>AUROC</a:t>
                      </a:r>
                    </a:p>
                  </a:txBody>
                  <a:tcPr anchor="ctr" marL="73152" marR="54864" marT="27432" marB="27432">
                    <a:solidFill>
                      <a:srgbClr val="F2F4F4"/>
                    </a:solidFill>
                  </a:tcPr>
                </a:tc>
                <a:tc>
                  <a:txBody>
                    <a:bodyPr wrap="square"/>
                    <a:lstStyle/>
                    <a:p>
                      <a:pPr algn="l"/>
                      <a:r>
                        <a:rPr sz="1100" b="0">
                          <a:solidFill>
                            <a:srgbClr val="2A2E30"/>
                          </a:solidFill>
                          <a:latin typeface="Arial"/>
                        </a:rPr>
                        <a:t>Probability</a:t>
                      </a:r>
                    </a:p>
                  </a:txBody>
                  <a:tcPr anchor="ctr" marL="73152" marR="54864" marT="27432" marB="27432">
                    <a:solidFill>
                      <a:srgbClr val="F2F4F4"/>
                    </a:solidFill>
                  </a:tcPr>
                </a:tc>
                <a:tc>
                  <a:txBody>
                    <a:bodyPr wrap="square"/>
                    <a:lstStyle/>
                    <a:p>
                      <a:pPr algn="l"/>
                      <a:r>
                        <a:rPr sz="1100" b="0">
                          <a:solidFill>
                            <a:srgbClr val="2A2E30"/>
                          </a:solidFill>
                          <a:latin typeface="Arial"/>
                        </a:rPr>
                        <a:t>Diagnostic</a:t>
                      </a:r>
                    </a:p>
                  </a:txBody>
                  <a:tcPr anchor="ctr" marL="73152" marR="54864" marT="27432" marB="27432">
                    <a:solidFill>
                      <a:srgbClr val="F2F4F4"/>
                    </a:solidFill>
                  </a:tcPr>
                </a:tc>
              </a:tr>
              <a:tr h="342900">
                <a:tc>
                  <a:txBody>
                    <a:bodyPr wrap="square"/>
                    <a:lstStyle/>
                    <a:p>
                      <a:pPr algn="l"/>
                      <a:r>
                        <a:rPr sz="1100" b="0">
                          <a:solidFill>
                            <a:srgbClr val="2A2E30"/>
                          </a:solidFill>
                          <a:latin typeface="Arial"/>
                        </a:rPr>
                        <a:t>AUPRC</a:t>
                      </a:r>
                    </a:p>
                  </a:txBody>
                  <a:tcPr anchor="ctr" marL="73152" marR="54864" marT="27432" marB="27432">
                    <a:solidFill>
                      <a:srgbClr val="FFFFFF"/>
                    </a:solidFill>
                  </a:tcPr>
                </a:tc>
                <a:tc>
                  <a:txBody>
                    <a:bodyPr wrap="square"/>
                    <a:lstStyle/>
                    <a:p>
                      <a:pPr algn="l"/>
                      <a:r>
                        <a:rPr sz="1100" b="0">
                          <a:solidFill>
                            <a:srgbClr val="2A2E30"/>
                          </a:solidFill>
                          <a:latin typeface="Arial"/>
                        </a:rPr>
                        <a:t>Probability</a:t>
                      </a:r>
                    </a:p>
                  </a:txBody>
                  <a:tcPr anchor="ctr" marL="73152" marR="54864" marT="27432" marB="27432">
                    <a:solidFill>
                      <a:srgbClr val="FFFFFF"/>
                    </a:solidFill>
                  </a:tcPr>
                </a:tc>
                <a:tc>
                  <a:txBody>
                    <a:bodyPr wrap="square"/>
                    <a:lstStyle/>
                    <a:p>
                      <a:pPr algn="l"/>
                      <a:r>
                        <a:rPr sz="1100" b="0">
                          <a:solidFill>
                            <a:srgbClr val="2A2E30"/>
                          </a:solidFill>
                          <a:latin typeface="Arial"/>
                        </a:rPr>
                        <a:t>Diagnostic</a:t>
                      </a:r>
                    </a:p>
                  </a:txBody>
                  <a:tcPr anchor="ctr" marL="73152" marR="54864" marT="27432" marB="27432">
                    <a:solidFill>
                      <a:srgbClr val="FFFFFF"/>
                    </a:solidFill>
                  </a:tcPr>
                </a:tc>
              </a:tr>
              <a:tr h="342900">
                <a:tc>
                  <a:txBody>
                    <a:bodyPr wrap="square"/>
                    <a:lstStyle/>
                    <a:p>
                      <a:pPr algn="l"/>
                      <a:r>
                        <a:rPr sz="1100" b="0">
                          <a:solidFill>
                            <a:srgbClr val="2A2E30"/>
                          </a:solidFill>
                          <a:latin typeface="Arial"/>
                        </a:rPr>
                        <a:t>Accuracy</a:t>
                      </a:r>
                    </a:p>
                  </a:txBody>
                  <a:tcPr anchor="ctr" marL="73152" marR="54864" marT="27432" marB="27432">
                    <a:solidFill>
                      <a:srgbClr val="F2F4F4"/>
                    </a:solidFill>
                  </a:tcPr>
                </a:tc>
                <a:tc>
                  <a:txBody>
                    <a:bodyPr wrap="square"/>
                    <a:lstStyle/>
                    <a:p>
                      <a:pPr algn="l"/>
                      <a:r>
                        <a:rPr sz="1100" b="0">
                          <a:solidFill>
                            <a:srgbClr val="2A2E30"/>
                          </a:solidFill>
                          <a:latin typeface="Arial"/>
                        </a:rPr>
                        <a:t>Binary prediction</a:t>
                      </a:r>
                    </a:p>
                  </a:txBody>
                  <a:tcPr anchor="ctr" marL="73152" marR="54864" marT="27432" marB="27432">
                    <a:solidFill>
                      <a:srgbClr val="F2F4F4"/>
                    </a:solidFill>
                  </a:tcPr>
                </a:tc>
                <a:tc>
                  <a:txBody>
                    <a:bodyPr wrap="square"/>
                    <a:lstStyle/>
                    <a:p>
                      <a:pPr algn="l"/>
                      <a:r>
                        <a:rPr sz="1100" b="0">
                          <a:solidFill>
                            <a:srgbClr val="2A2E30"/>
                          </a:solidFill>
                          <a:latin typeface="Arial"/>
                        </a:rPr>
                        <a:t>Diagnostic</a:t>
                      </a:r>
                    </a:p>
                  </a:txBody>
                  <a:tcPr anchor="ctr" marL="73152" marR="54864" marT="27432" marB="27432">
                    <a:solidFill>
                      <a:srgbClr val="F2F4F4"/>
                    </a:solidFill>
                  </a:tcPr>
                </a:tc>
              </a:tr>
              <a:tr h="342900">
                <a:tc>
                  <a:txBody>
                    <a:bodyPr wrap="square"/>
                    <a:lstStyle/>
                    <a:p>
                      <a:pPr algn="l"/>
                      <a:r>
                        <a:rPr sz="1100" b="0">
                          <a:solidFill>
                            <a:srgbClr val="2A2E30"/>
                          </a:solidFill>
                          <a:latin typeface="Arial"/>
                        </a:rPr>
                        <a:t>F-measure</a:t>
                      </a:r>
                    </a:p>
                  </a:txBody>
                  <a:tcPr anchor="ctr" marL="73152" marR="54864" marT="27432" marB="27432">
                    <a:solidFill>
                      <a:srgbClr val="FFFFFF"/>
                    </a:solidFill>
                  </a:tcPr>
                </a:tc>
                <a:tc>
                  <a:txBody>
                    <a:bodyPr wrap="square"/>
                    <a:lstStyle/>
                    <a:p>
                      <a:pPr algn="l"/>
                      <a:r>
                        <a:rPr sz="1100" b="0">
                          <a:solidFill>
                            <a:srgbClr val="2A2E30"/>
                          </a:solidFill>
                          <a:latin typeface="Arial"/>
                        </a:rPr>
                        <a:t>Binary prediction</a:t>
                      </a:r>
                    </a:p>
                  </a:txBody>
                  <a:tcPr anchor="ctr" marL="73152" marR="54864" marT="27432" marB="27432">
                    <a:solidFill>
                      <a:srgbClr val="FFFFFF"/>
                    </a:solidFill>
                  </a:tcPr>
                </a:tc>
                <a:tc>
                  <a:txBody>
                    <a:bodyPr wrap="square"/>
                    <a:lstStyle/>
                    <a:p>
                      <a:pPr algn="l"/>
                      <a:r>
                        <a:rPr sz="1100" b="0">
                          <a:solidFill>
                            <a:srgbClr val="2A2E30"/>
                          </a:solidFill>
                          <a:latin typeface="Arial"/>
                        </a:rPr>
                        <a:t>Diagnostic</a:t>
                      </a:r>
                    </a:p>
                  </a:txBody>
                  <a:tcPr anchor="ctr" marL="73152" marR="54864" marT="27432" marB="27432">
                    <a:solidFill>
                      <a:srgbClr val="FFFFFF"/>
                    </a:solidFill>
                  </a:tcPr>
                </a:tc>
              </a:tr>
            </a:tbl>
          </a:graphicData>
        </a:graphic>
      </p:graphicFrame>
      <p:sp>
        <p:nvSpPr>
          <p:cNvPr id="6" name="TextBox 5"/>
          <p:cNvSpPr txBox="1"/>
          <p:nvPr/>
        </p:nvSpPr>
        <p:spPr>
          <a:xfrm>
            <a:off x="548640" y="4343400"/>
            <a:ext cx="6446520" cy="457200"/>
          </a:xfrm>
          <a:prstGeom prst="rect">
            <a:avLst/>
          </a:prstGeom>
          <a:noFill/>
        </p:spPr>
        <p:txBody>
          <a:bodyPr wrap="square" anchor="t" lIns="45720" rIns="45720" tIns="18288" bIns="18288">
            <a:spAutoFit/>
          </a:bodyPr>
          <a:lstStyle/>
          <a:p>
            <a:pPr>
              <a:spcBef>
                <a:spcPts val="0"/>
              </a:spcBef>
              <a:spcAft>
                <a:spcPts val="0"/>
              </a:spcAft>
              <a:buNone/>
            </a:pPr>
            <a:r>
              <a:rPr sz="1100" b="0">
                <a:solidFill>
                  <a:srgbClr val="505759"/>
                </a:solidFill>
                <a:latin typeface="Arial"/>
              </a:rPr>
              <a:t>The </a:t>
            </a:r>
            <a:r>
              <a:rPr sz="1100" b="1">
                <a:solidFill>
                  <a:srgbClr val="C8102E"/>
                </a:solidFill>
                <a:latin typeface="Arial"/>
              </a:rPr>
              <a:t>Reward</a:t>
            </a:r>
            <a:r>
              <a:rPr sz="1100" b="0">
                <a:solidFill>
                  <a:srgbClr val="505759"/>
                </a:solidFill>
                <a:latin typeface="Arial"/>
              </a:rPr>
              <a:t> determines the leaderboard. The other six help us understand </a:t>
            </a:r>
            <a:r>
              <a:rPr sz="1100" b="1">
                <a:solidFill>
                  <a:srgbClr val="2A2E30"/>
                </a:solidFill>
                <a:latin typeface="Arial"/>
              </a:rPr>
              <a:t>why</a:t>
            </a:r>
            <a:r>
              <a:rPr sz="1100" b="0">
                <a:solidFill>
                  <a:srgbClr val="505759"/>
                </a:solidFill>
                <a:latin typeface="Arial"/>
              </a:rPr>
              <a:t> a model scores as it does.</a:t>
            </a:r>
          </a:p>
        </p:txBody>
      </p:sp>
      <p:sp>
        <p:nvSpPr>
          <p:cNvPr id="7" name="TextBox 6"/>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FFFFFF"/>
                </a:solidFill>
                <a:latin typeface="Arial"/>
              </a:rPr>
              <a:t>The Reward metric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The Reward: a prevalence-weighted payoff</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PRIMARY METRIC · INTUITION</a:t>
            </a:r>
          </a:p>
        </p:txBody>
      </p:sp>
      <p:sp>
        <p:nvSpPr>
          <p:cNvPr id="5" name="TextBox 4"/>
          <p:cNvSpPr txBox="1"/>
          <p:nvPr/>
        </p:nvSpPr>
        <p:spPr>
          <a:xfrm>
            <a:off x="548640" y="1371600"/>
            <a:ext cx="6446520" cy="640080"/>
          </a:xfrm>
          <a:prstGeom prst="rect">
            <a:avLst/>
          </a:prstGeom>
          <a:noFill/>
        </p:spPr>
        <p:txBody>
          <a:bodyPr wrap="square" anchor="t" lIns="45720" rIns="45720" tIns="18288" bIns="18288">
            <a:spAutoFit/>
          </a:bodyPr>
          <a:lstStyle/>
          <a:p>
            <a:pPr>
              <a:spcBef>
                <a:spcPts val="0"/>
              </a:spcBef>
              <a:spcAft>
                <a:spcPts val="0"/>
              </a:spcAft>
              <a:buNone/>
            </a:pPr>
            <a:r>
              <a:rPr sz="1400" b="0">
                <a:solidFill>
                  <a:srgbClr val="2A2E30"/>
                </a:solidFill>
                <a:latin typeface="Arial"/>
              </a:rPr>
              <a:t>Every patient earns points. Correct calls on </a:t>
            </a:r>
            <a:r>
              <a:rPr sz="1400" b="1">
                <a:solidFill>
                  <a:srgbClr val="C8102E"/>
                </a:solidFill>
                <a:latin typeface="Arial"/>
              </a:rPr>
              <a:t>rare</a:t>
            </a:r>
            <a:r>
              <a:rPr sz="1400" b="0">
                <a:solidFill>
                  <a:srgbClr val="2A2E30"/>
                </a:solidFill>
                <a:latin typeface="Arial"/>
              </a:rPr>
              <a:t> outcomes pay the most; each mistake costs </a:t>
            </a:r>
            <a:r>
              <a:rPr sz="1400" b="1">
                <a:solidFill>
                  <a:srgbClr val="2A2E30"/>
                </a:solidFill>
                <a:latin typeface="Arial"/>
              </a:rPr>
              <a:t>−1</a:t>
            </a:r>
            <a:r>
              <a:rPr sz="1400" b="0">
                <a:solidFill>
                  <a:srgbClr val="2A2E30"/>
                </a:solidFill>
                <a:latin typeface="Arial"/>
              </a:rPr>
              <a:t>. The score is the average over patients.</a:t>
            </a:r>
          </a:p>
        </p:txBody>
      </p:sp>
      <p:sp>
        <p:nvSpPr>
          <p:cNvPr id="6" name="Rounded Rectangle 5"/>
          <p:cNvSpPr/>
          <p:nvPr/>
        </p:nvSpPr>
        <p:spPr>
          <a:xfrm>
            <a:off x="548640" y="2057400"/>
            <a:ext cx="6446520" cy="960120"/>
          </a:xfrm>
          <a:prstGeom prst="roundRect">
            <a:avLst>
              <a:gd name="adj" fmla="val 6000"/>
            </a:avLst>
          </a:prstGeom>
          <a:solidFill>
            <a:srgbClr val="E9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21408"/>
            <a:ext cx="6035040" cy="868680"/>
          </a:xfrm>
          <a:prstGeom prst="rect">
            <a:avLst/>
          </a:prstGeom>
          <a:noFill/>
        </p:spPr>
        <p:txBody>
          <a:bodyPr wrap="square" anchor="ctr" lIns="45720" rIns="45720" tIns="18288" bIns="18288">
            <a:spAutoFit/>
          </a:bodyPr>
          <a:lstStyle/>
          <a:p>
            <a:pPr>
              <a:spcBef>
                <a:spcPts val="0"/>
              </a:spcBef>
              <a:spcAft>
                <a:spcPts val="300"/>
              </a:spcAft>
              <a:buNone/>
            </a:pPr>
            <a:r>
              <a:rPr sz="1300" b="1">
                <a:solidFill>
                  <a:srgbClr val="346583"/>
                </a:solidFill>
                <a:latin typeface="Arial"/>
              </a:rPr>
              <a:t>p</a:t>
            </a:r>
            <a:r>
              <a:rPr sz="1300" b="0">
                <a:solidFill>
                  <a:srgbClr val="505759"/>
                </a:solidFill>
                <a:latin typeface="Arial"/>
              </a:rPr>
              <a:t>  =  age-specific prevalence of impairment (the </a:t>
            </a:r>
            <a:r>
              <a:rPr sz="1300" b="1">
                <a:solidFill>
                  <a:srgbClr val="2A2E30"/>
                </a:solidFill>
                <a:latin typeface="Arial"/>
              </a:rPr>
              <a:t>base rate</a:t>
            </a:r>
            <a:r>
              <a:rPr sz="1300" b="0">
                <a:solidFill>
                  <a:srgbClr val="505759"/>
                </a:solidFill>
                <a:latin typeface="Arial"/>
              </a:rPr>
              <a:t> expected at that patient's age)</a:t>
            </a:r>
          </a:p>
          <a:p>
            <a:pPr>
              <a:spcBef>
                <a:spcPts val="300"/>
              </a:spcBef>
              <a:spcAft>
                <a:spcPts val="0"/>
              </a:spcAft>
              <a:buNone/>
            </a:pPr>
            <a:r>
              <a:rPr sz="1300" b="1">
                <a:solidFill>
                  <a:srgbClr val="C8102E"/>
                </a:solidFill>
                <a:latin typeface="Arial"/>
              </a:rPr>
              <a:t>Reward</a:t>
            </a:r>
            <a:r>
              <a:rPr sz="1300" b="0">
                <a:solidFill>
                  <a:srgbClr val="505759"/>
                </a:solidFill>
                <a:latin typeface="Arial"/>
              </a:rPr>
              <a:t>  =  </a:t>
            </a:r>
            <a:r>
              <a:rPr sz="1300" b="1">
                <a:solidFill>
                  <a:srgbClr val="2A2E30"/>
                </a:solidFill>
                <a:latin typeface="Arial"/>
              </a:rPr>
              <a:t>(1/N) · Σ  pointsᵢ</a:t>
            </a:r>
            <a:r>
              <a:rPr sz="1300" b="0">
                <a:solidFill>
                  <a:srgbClr val="505759"/>
                </a:solidFill>
                <a:latin typeface="Arial"/>
              </a:rPr>
              <a:t>      averaged across all N scored patients</a:t>
            </a:r>
          </a:p>
        </p:txBody>
      </p:sp>
      <p:sp>
        <p:nvSpPr>
          <p:cNvPr id="8" name="TextBox 7"/>
          <p:cNvSpPr txBox="1"/>
          <p:nvPr/>
        </p:nvSpPr>
        <p:spPr>
          <a:xfrm>
            <a:off x="548640" y="3246120"/>
            <a:ext cx="6446520" cy="1463040"/>
          </a:xfrm>
          <a:prstGeom prst="rect">
            <a:avLst/>
          </a:prstGeom>
          <a:noFill/>
        </p:spPr>
        <p:txBody>
          <a:bodyPr wrap="square" anchor="t" lIns="45720" rIns="45720" tIns="18288" bIns="18288">
            <a:spAutoFit/>
          </a:bodyPr>
          <a:lstStyle/>
          <a:p>
            <a:pPr algn="l">
              <a:spcBef>
                <a:spcPts val="200"/>
              </a:spcBef>
              <a:spcAft>
                <a:spcPts val="600"/>
              </a:spcAft>
              <a:buClr>
                <a:srgbClr val="C8102E"/>
              </a:buClr>
              <a:buFont typeface="Arial"/>
              <a:buSzPct val="70000"/>
              <a:buChar char="▪"/>
            </a:pPr>
            <a:r>
              <a:rPr sz="1300" b="0" i="0">
                <a:solidFill>
                  <a:srgbClr val="2A2E30"/>
                </a:solidFill>
                <a:latin typeface="Arial"/>
              </a:rPr>
              <a:t>Correctly flagging a rare case is worth much more than one common correct call.</a:t>
            </a:r>
          </a:p>
          <a:p>
            <a:pPr algn="l">
              <a:spcBef>
                <a:spcPts val="200"/>
              </a:spcBef>
              <a:spcAft>
                <a:spcPts val="600"/>
              </a:spcAft>
              <a:buClr>
                <a:srgbClr val="C8102E"/>
              </a:buClr>
              <a:buFont typeface="Arial"/>
              <a:buSzPct val="70000"/>
              <a:buChar char="▪"/>
            </a:pPr>
            <a:r>
              <a:rPr sz="1300" b="0" i="0">
                <a:solidFill>
                  <a:srgbClr val="2A2E30"/>
                </a:solidFill>
                <a:latin typeface="Arial"/>
              </a:rPr>
              <a:t>Every error — false alarm or miss — costs the same −1, so over-predicting is not a free win.</a:t>
            </a:r>
          </a:p>
          <a:p>
            <a:pPr algn="l">
              <a:spcBef>
                <a:spcPts val="200"/>
              </a:spcBef>
              <a:spcAft>
                <a:spcPts val="0"/>
              </a:spcAft>
              <a:buClr>
                <a:srgbClr val="C8102E"/>
              </a:buClr>
              <a:buFont typeface="Arial"/>
              <a:buSzPct val="70000"/>
              <a:buChar char="▪"/>
            </a:pPr>
            <a:r>
              <a:rPr sz="1300" b="0" i="0">
                <a:solidFill>
                  <a:srgbClr val="2A2E30"/>
                </a:solidFill>
                <a:latin typeface="Arial"/>
              </a:rPr>
              <a:t>Because payoffs scale with 1/p, the metric self-normalizes: skill shows, guessing doesn't.</a:t>
            </a:r>
          </a:p>
        </p:txBody>
      </p:sp>
      <p:sp>
        <p:nvSpPr>
          <p:cNvPr id="9" name="TextBox 8"/>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How each prediction scores</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PRIMARY METRIC · PAYOFF</a:t>
            </a:r>
          </a:p>
        </p:txBody>
      </p:sp>
      <p:graphicFrame>
        <p:nvGraphicFramePr>
          <p:cNvPr id="5" name="Table 4"/>
          <p:cNvGraphicFramePr>
            <a:graphicFrameLocks noGrp="1"/>
          </p:cNvGraphicFramePr>
          <p:nvPr/>
        </p:nvGraphicFramePr>
        <p:xfrm>
          <a:off x="548640" y="1463040"/>
          <a:ext cx="4160520" cy="1965960"/>
        </p:xfrm>
        <a:graphic>
          <a:graphicData uri="http://schemas.openxmlformats.org/drawingml/2006/table">
            <a:tbl>
              <a:tblPr firstRow="0" bandRow="0">
                <a:tableStyleId>{5C22544A-7EE6-4342-B048-85BDC9FD1C3A}</a:tableStyleId>
              </a:tblPr>
              <a:tblGrid>
                <a:gridCol w="1417320"/>
                <a:gridCol w="1371600"/>
                <a:gridCol w="1371600"/>
              </a:tblGrid>
              <a:tr h="655320">
                <a:tc>
                  <a:txBody>
                    <a:bodyPr wrap="square"/>
                    <a:lstStyle/>
                    <a:p>
                      <a:pPr algn="ctr"/>
                      <a:r>
                        <a:rPr sz="1200" b="0">
                          <a:solidFill>
                            <a:srgbClr val="FFFFFF"/>
                          </a:solidFill>
                          <a:latin typeface="Arial"/>
                        </a:rPr>
                        <a:t/>
                      </a:r>
                    </a:p>
                  </a:txBody>
                  <a:tcPr anchor="ctr" marL="73152" marR="54864" marT="27432" marB="27432">
                    <a:solidFill>
                      <a:srgbClr val="FFFFFF"/>
                    </a:solidFill>
                  </a:tcPr>
                </a:tc>
                <a:tc>
                  <a:txBody>
                    <a:bodyPr wrap="square"/>
                    <a:lstStyle/>
                    <a:p>
                      <a:pPr algn="ctr"/>
                      <a:r>
                        <a:rPr sz="1200" b="1">
                          <a:solidFill>
                            <a:srgbClr val="FFFFFF"/>
                          </a:solidFill>
                          <a:latin typeface="Arial"/>
                        </a:rPr>
                        <a:t>Predicted +</a:t>
                      </a:r>
                    </a:p>
                  </a:txBody>
                  <a:tcPr anchor="ctr" marL="73152" marR="54864" marT="27432" marB="27432">
                    <a:solidFill>
                      <a:srgbClr val="505759"/>
                    </a:solidFill>
                  </a:tcPr>
                </a:tc>
                <a:tc>
                  <a:txBody>
                    <a:bodyPr wrap="square"/>
                    <a:lstStyle/>
                    <a:p>
                      <a:pPr algn="ctr"/>
                      <a:r>
                        <a:rPr sz="1200" b="1">
                          <a:solidFill>
                            <a:srgbClr val="FFFFFF"/>
                          </a:solidFill>
                          <a:latin typeface="Arial"/>
                        </a:rPr>
                        <a:t>Predicted −</a:t>
                      </a:r>
                    </a:p>
                  </a:txBody>
                  <a:tcPr anchor="ctr" marL="73152" marR="54864" marT="27432" marB="27432">
                    <a:solidFill>
                      <a:srgbClr val="505759"/>
                    </a:solidFill>
                  </a:tcPr>
                </a:tc>
              </a:tr>
              <a:tr h="655320">
                <a:tc>
                  <a:txBody>
                    <a:bodyPr wrap="square"/>
                    <a:lstStyle/>
                    <a:p>
                      <a:pPr algn="ctr"/>
                      <a:r>
                        <a:rPr sz="1200" b="1">
                          <a:solidFill>
                            <a:srgbClr val="FFFFFF"/>
                          </a:solidFill>
                          <a:latin typeface="Arial"/>
                        </a:rPr>
                        <a:t>Actual +</a:t>
                      </a:r>
                    </a:p>
                  </a:txBody>
                  <a:tcPr anchor="ctr" marL="73152" marR="54864" marT="27432" marB="27432">
                    <a:solidFill>
                      <a:srgbClr val="505759"/>
                    </a:solidFill>
                  </a:tcPr>
                </a:tc>
                <a:tc>
                  <a:txBody>
                    <a:bodyPr wrap="square"/>
                    <a:lstStyle/>
                    <a:p>
                      <a:pPr algn="ctr"/>
                      <a:r>
                        <a:rPr sz="1200" b="1">
                          <a:solidFill>
                            <a:srgbClr val="C8102E"/>
                          </a:solidFill>
                          <a:latin typeface="Arial"/>
                        </a:rPr>
                        <a:t>+ (1/p − 1)</a:t>
                      </a:r>
                    </a:p>
                  </a:txBody>
                  <a:tcPr anchor="ctr" marL="73152" marR="54864" marT="27432" marB="27432">
                    <a:solidFill>
                      <a:srgbClr val="FBE9EC"/>
                    </a:solidFill>
                  </a:tcPr>
                </a:tc>
                <a:tc>
                  <a:txBody>
                    <a:bodyPr wrap="square"/>
                    <a:lstStyle/>
                    <a:p>
                      <a:pPr algn="ctr"/>
                      <a:r>
                        <a:rPr sz="1200" b="0">
                          <a:solidFill>
                            <a:srgbClr val="505759"/>
                          </a:solidFill>
                          <a:latin typeface="Arial"/>
                        </a:rPr>
                        <a:t>−1  (miss)</a:t>
                      </a:r>
                    </a:p>
                  </a:txBody>
                  <a:tcPr anchor="ctr" marL="73152" marR="54864" marT="27432" marB="27432">
                    <a:solidFill>
                      <a:srgbClr val="FFFFFF"/>
                    </a:solidFill>
                  </a:tcPr>
                </a:tc>
              </a:tr>
              <a:tr h="655320">
                <a:tc>
                  <a:txBody>
                    <a:bodyPr wrap="square"/>
                    <a:lstStyle/>
                    <a:p>
                      <a:pPr algn="ctr"/>
                      <a:r>
                        <a:rPr sz="1200" b="1">
                          <a:solidFill>
                            <a:srgbClr val="FFFFFF"/>
                          </a:solidFill>
                          <a:latin typeface="Arial"/>
                        </a:rPr>
                        <a:t>Actual −</a:t>
                      </a:r>
                    </a:p>
                  </a:txBody>
                  <a:tcPr anchor="ctr" marL="73152" marR="54864" marT="27432" marB="27432">
                    <a:solidFill>
                      <a:srgbClr val="505759"/>
                    </a:solidFill>
                  </a:tcPr>
                </a:tc>
                <a:tc>
                  <a:txBody>
                    <a:bodyPr wrap="square"/>
                    <a:lstStyle/>
                    <a:p>
                      <a:pPr algn="ctr"/>
                      <a:r>
                        <a:rPr sz="1200" b="0">
                          <a:solidFill>
                            <a:srgbClr val="505759"/>
                          </a:solidFill>
                          <a:latin typeface="Arial"/>
                        </a:rPr>
                        <a:t>−1  (false alarm)</a:t>
                      </a:r>
                    </a:p>
                  </a:txBody>
                  <a:tcPr anchor="ctr" marL="73152" marR="54864" marT="27432" marB="27432">
                    <a:solidFill>
                      <a:srgbClr val="FFFFFF"/>
                    </a:solidFill>
                  </a:tcPr>
                </a:tc>
                <a:tc>
                  <a:txBody>
                    <a:bodyPr wrap="square"/>
                    <a:lstStyle/>
                    <a:p>
                      <a:pPr algn="ctr"/>
                      <a:r>
                        <a:rPr sz="1200" b="1">
                          <a:solidFill>
                            <a:srgbClr val="346583"/>
                          </a:solidFill>
                          <a:latin typeface="Arial"/>
                        </a:rPr>
                        <a:t>+ (1/(1−p) − 1)</a:t>
                      </a:r>
                    </a:p>
                  </a:txBody>
                  <a:tcPr anchor="ctr" marL="73152" marR="54864" marT="27432" marB="27432">
                    <a:solidFill>
                      <a:srgbClr val="F2F4F4"/>
                    </a:solidFill>
                  </a:tcPr>
                </a:tc>
              </a:tr>
            </a:tbl>
          </a:graphicData>
        </a:graphic>
      </p:graphicFrame>
      <p:sp>
        <p:nvSpPr>
          <p:cNvPr id="6" name="TextBox 5"/>
          <p:cNvSpPr txBox="1"/>
          <p:nvPr/>
        </p:nvSpPr>
        <p:spPr>
          <a:xfrm>
            <a:off x="4892040" y="1463040"/>
            <a:ext cx="2103120" cy="2926080"/>
          </a:xfrm>
          <a:prstGeom prst="rect">
            <a:avLst/>
          </a:prstGeom>
          <a:noFill/>
        </p:spPr>
        <p:txBody>
          <a:bodyPr wrap="square" anchor="t" lIns="45720" rIns="45720" tIns="18288" bIns="18288">
            <a:spAutoFit/>
          </a:bodyPr>
          <a:lstStyle/>
          <a:p>
            <a:pPr algn="l">
              <a:spcBef>
                <a:spcPts val="0"/>
              </a:spcBef>
              <a:spcAft>
                <a:spcPts val="600"/>
              </a:spcAft>
              <a:buNone/>
            </a:pPr>
            <a:r>
              <a:rPr sz="1100" b="1" i="0">
                <a:solidFill>
                  <a:srgbClr val="C8102E"/>
                </a:solidFill>
                <a:latin typeface="Arial"/>
              </a:rPr>
              <a:t>Reading it</a:t>
            </a:r>
          </a:p>
          <a:p>
            <a:pPr algn="l">
              <a:spcBef>
                <a:spcPts val="0"/>
              </a:spcBef>
              <a:spcAft>
                <a:spcPts val="600"/>
              </a:spcAft>
              <a:buClr>
                <a:srgbClr val="C8102E"/>
              </a:buClr>
              <a:buFont typeface="Arial"/>
              <a:buSzPct val="70000"/>
              <a:buChar char="▪"/>
            </a:pPr>
            <a:r>
              <a:rPr sz="1100" b="0" i="0">
                <a:solidFill>
                  <a:srgbClr val="505759"/>
                </a:solidFill>
                <a:latin typeface="Arial"/>
              </a:rPr>
              <a:t>Hits on the rare (positive) class pay 1/p − 1 — large when p is small.</a:t>
            </a:r>
          </a:p>
          <a:p>
            <a:pPr algn="l">
              <a:spcBef>
                <a:spcPts val="0"/>
              </a:spcBef>
              <a:spcAft>
                <a:spcPts val="600"/>
              </a:spcAft>
              <a:buClr>
                <a:srgbClr val="C8102E"/>
              </a:buClr>
              <a:buFont typeface="Arial"/>
              <a:buSzPct val="70000"/>
              <a:buChar char="▪"/>
            </a:pPr>
            <a:r>
              <a:rPr sz="1100" b="0" i="0">
                <a:solidFill>
                  <a:srgbClr val="505759"/>
                </a:solidFill>
                <a:latin typeface="Arial"/>
              </a:rPr>
              <a:t>Correct negatives pay a small amount, 1/(1−p) − 1.</a:t>
            </a:r>
          </a:p>
          <a:p>
            <a:pPr algn="l">
              <a:spcBef>
                <a:spcPts val="0"/>
              </a:spcBef>
              <a:spcAft>
                <a:spcPts val="0"/>
              </a:spcAft>
              <a:buClr>
                <a:srgbClr val="C8102E"/>
              </a:buClr>
              <a:buFont typeface="Arial"/>
              <a:buSzPct val="70000"/>
              <a:buChar char="▪"/>
            </a:pPr>
            <a:r>
              <a:rPr sz="1100" b="0" i="0">
                <a:solidFill>
                  <a:srgbClr val="505759"/>
                </a:solidFill>
                <a:latin typeface="Arial"/>
              </a:rPr>
              <a:t>Any error costs a flat −1.</a:t>
            </a:r>
          </a:p>
        </p:txBody>
      </p:sp>
      <p:sp>
        <p:nvSpPr>
          <p:cNvPr id="7" name="TextBox 6"/>
          <p:cNvSpPr txBox="1"/>
          <p:nvPr/>
        </p:nvSpPr>
        <p:spPr>
          <a:xfrm>
            <a:off x="548640" y="3977639"/>
            <a:ext cx="6446520" cy="640080"/>
          </a:xfrm>
          <a:prstGeom prst="rect">
            <a:avLst/>
          </a:prstGeom>
          <a:noFill/>
        </p:spPr>
        <p:txBody>
          <a:bodyPr wrap="square" anchor="t" lIns="45720" rIns="45720" tIns="18288" bIns="18288">
            <a:spAutoFit/>
          </a:bodyPr>
          <a:lstStyle/>
          <a:p>
            <a:pPr>
              <a:spcBef>
                <a:spcPts val="0"/>
              </a:spcBef>
              <a:spcAft>
                <a:spcPts val="0"/>
              </a:spcAft>
              <a:buNone/>
            </a:pPr>
            <a:r>
              <a:rPr sz="1200" b="0">
                <a:solidFill>
                  <a:srgbClr val="505759"/>
                </a:solidFill>
                <a:latin typeface="Arial"/>
              </a:rPr>
              <a:t>Worked example at </a:t>
            </a:r>
            <a:r>
              <a:rPr sz="1200" b="1">
                <a:solidFill>
                  <a:srgbClr val="2A2E30"/>
                </a:solidFill>
                <a:latin typeface="Arial"/>
              </a:rPr>
              <a:t>p = 0.15</a:t>
            </a:r>
            <a:r>
              <a:rPr sz="1200" b="0">
                <a:solidFill>
                  <a:srgbClr val="505759"/>
                </a:solidFill>
                <a:latin typeface="Arial"/>
              </a:rPr>
              <a:t>:  a correct positive = </a:t>
            </a:r>
            <a:r>
              <a:rPr sz="1200" b="1">
                <a:solidFill>
                  <a:srgbClr val="C8102E"/>
                </a:solidFill>
                <a:latin typeface="Arial"/>
              </a:rPr>
              <a:t>+5.7</a:t>
            </a:r>
            <a:r>
              <a:rPr sz="1200" b="0">
                <a:solidFill>
                  <a:srgbClr val="505759"/>
                </a:solidFill>
                <a:latin typeface="Arial"/>
              </a:rPr>
              <a:t>,  a correct negative = </a:t>
            </a:r>
            <a:r>
              <a:rPr sz="1200" b="1">
                <a:solidFill>
                  <a:srgbClr val="346583"/>
                </a:solidFill>
                <a:latin typeface="Arial"/>
              </a:rPr>
              <a:t>+0.18</a:t>
            </a:r>
            <a:r>
              <a:rPr sz="1200" b="0">
                <a:solidFill>
                  <a:srgbClr val="505759"/>
                </a:solidFill>
                <a:latin typeface="Arial"/>
              </a:rPr>
              <a:t>,  any error = </a:t>
            </a:r>
            <a:r>
              <a:rPr sz="1200" b="1">
                <a:solidFill>
                  <a:srgbClr val="2A2E30"/>
                </a:solidFill>
                <a:latin typeface="Arial"/>
              </a:rPr>
              <a:t>−1</a:t>
            </a:r>
            <a:r>
              <a:rPr sz="1200" b="0">
                <a:solidFill>
                  <a:srgbClr val="505759"/>
                </a:solidFill>
                <a:latin typeface="Arial"/>
              </a:rPr>
              <a:t>.</a:t>
            </a:r>
          </a:p>
        </p:txBody>
      </p:sp>
      <p:sp>
        <p:nvSpPr>
          <p:cNvPr id="8" name="TextBox 7"/>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Trivial strategies score zero — by design</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PRIMARY METRIC · WHY IT WORKS</a:t>
            </a:r>
          </a:p>
        </p:txBody>
      </p:sp>
      <p:pic>
        <p:nvPicPr>
          <p:cNvPr id="5" name="Picture 4" descr="chart_normalization.png"/>
          <p:cNvPicPr>
            <a:picLocks noChangeAspect="1"/>
          </p:cNvPicPr>
          <p:nvPr/>
        </p:nvPicPr>
        <p:blipFill>
          <a:blip r:embed="rId2"/>
          <a:stretch>
            <a:fillRect/>
          </a:stretch>
        </p:blipFill>
        <p:spPr>
          <a:xfrm>
            <a:off x="548640" y="1371600"/>
            <a:ext cx="5212080" cy="2707282"/>
          </a:xfrm>
          <a:prstGeom prst="rect">
            <a:avLst/>
          </a:prstGeom>
        </p:spPr>
      </p:pic>
      <p:sp>
        <p:nvSpPr>
          <p:cNvPr id="6" name="TextBox 5"/>
          <p:cNvSpPr txBox="1"/>
          <p:nvPr/>
        </p:nvSpPr>
        <p:spPr>
          <a:xfrm>
            <a:off x="548640" y="4343400"/>
            <a:ext cx="6446520" cy="502920"/>
          </a:xfrm>
          <a:prstGeom prst="rect">
            <a:avLst/>
          </a:prstGeom>
          <a:noFill/>
        </p:spPr>
        <p:txBody>
          <a:bodyPr wrap="square" anchor="t" lIns="45720" rIns="45720" tIns="18288" bIns="18288">
            <a:spAutoFit/>
          </a:bodyPr>
          <a:lstStyle/>
          <a:p>
            <a:pPr>
              <a:spcBef>
                <a:spcPts val="0"/>
              </a:spcBef>
              <a:spcAft>
                <a:spcPts val="0"/>
              </a:spcAft>
              <a:buNone/>
            </a:pPr>
            <a:r>
              <a:rPr sz="1100" b="0">
                <a:solidFill>
                  <a:srgbClr val="505759"/>
                </a:solidFill>
                <a:latin typeface="Arial"/>
              </a:rPr>
              <a:t>Verified in simulation: a </a:t>
            </a:r>
            <a:r>
              <a:rPr sz="1100" b="1">
                <a:solidFill>
                  <a:srgbClr val="C8102E"/>
                </a:solidFill>
                <a:latin typeface="Arial"/>
              </a:rPr>
              <a:t>perfect model ≈ +1.0</a:t>
            </a:r>
            <a:r>
              <a:rPr sz="1100" b="0">
                <a:solidFill>
                  <a:srgbClr val="505759"/>
                </a:solidFill>
                <a:latin typeface="Arial"/>
              </a:rPr>
              <a:t>; all-negative, all-positive, and random each </a:t>
            </a:r>
            <a:r>
              <a:rPr sz="1100" b="1">
                <a:solidFill>
                  <a:srgbClr val="2A2E30"/>
                </a:solidFill>
                <a:latin typeface="Arial"/>
              </a:rPr>
              <a:t>≈ 0</a:t>
            </a:r>
            <a:r>
              <a:rPr sz="1100" b="0">
                <a:solidFill>
                  <a:srgbClr val="505759"/>
                </a:solidFill>
                <a:latin typeface="Arial"/>
              </a:rPr>
              <a:t>, at any prevalence.</a:t>
            </a:r>
          </a:p>
        </p:txBody>
      </p:sp>
      <p:sp>
        <p:nvSpPr>
          <p:cNvPr id="7" name="TextBox 6"/>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The rarer the case, the bigger the payoff</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PRIMARY METRIC · WHY IT WORKS</a:t>
            </a:r>
          </a:p>
        </p:txBody>
      </p:sp>
      <p:pic>
        <p:nvPicPr>
          <p:cNvPr id="5" name="Picture 4" descr="chart_rare_pays.png"/>
          <p:cNvPicPr>
            <a:picLocks noChangeAspect="1"/>
          </p:cNvPicPr>
          <p:nvPr/>
        </p:nvPicPr>
        <p:blipFill>
          <a:blip r:embed="rId2"/>
          <a:stretch>
            <a:fillRect/>
          </a:stretch>
        </p:blipFill>
        <p:spPr>
          <a:xfrm>
            <a:off x="548640" y="1371600"/>
            <a:ext cx="5394960" cy="2658813"/>
          </a:xfrm>
          <a:prstGeom prst="rect">
            <a:avLst/>
          </a:prstGeom>
        </p:spPr>
      </p:pic>
      <p:sp>
        <p:nvSpPr>
          <p:cNvPr id="6" name="TextBox 5"/>
          <p:cNvSpPr txBox="1"/>
          <p:nvPr/>
        </p:nvSpPr>
        <p:spPr>
          <a:xfrm>
            <a:off x="548640" y="4343400"/>
            <a:ext cx="6446520" cy="502920"/>
          </a:xfrm>
          <a:prstGeom prst="rect">
            <a:avLst/>
          </a:prstGeom>
          <a:noFill/>
        </p:spPr>
        <p:txBody>
          <a:bodyPr wrap="square" anchor="t" lIns="45720" rIns="45720" tIns="18288" bIns="18288">
            <a:spAutoFit/>
          </a:bodyPr>
          <a:lstStyle/>
          <a:p>
            <a:pPr>
              <a:spcBef>
                <a:spcPts val="0"/>
              </a:spcBef>
              <a:spcAft>
                <a:spcPts val="0"/>
              </a:spcAft>
              <a:buNone/>
            </a:pPr>
            <a:r>
              <a:rPr sz="1100" b="0">
                <a:solidFill>
                  <a:srgbClr val="505759"/>
                </a:solidFill>
                <a:latin typeface="Arial"/>
              </a:rPr>
              <a:t>This is what makes the metric </a:t>
            </a:r>
            <a:r>
              <a:rPr sz="1100" b="1">
                <a:solidFill>
                  <a:srgbClr val="C8102E"/>
                </a:solidFill>
                <a:latin typeface="Arial"/>
              </a:rPr>
              <a:t>clinically aligned</a:t>
            </a:r>
            <a:r>
              <a:rPr sz="1100" b="0">
                <a:solidFill>
                  <a:srgbClr val="505759"/>
                </a:solidFill>
                <a:latin typeface="Arial"/>
              </a:rPr>
              <a:t>: it pushes the model to catch impairment even when it is uncommon.</a:t>
            </a:r>
          </a:p>
        </p:txBody>
      </p:sp>
      <p:sp>
        <p:nvSpPr>
          <p:cNvPr id="7" name="TextBox 6"/>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Age-conditioned AUROC</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DIAGNOSTIC METRIC</a:t>
            </a:r>
          </a:p>
        </p:txBody>
      </p:sp>
      <p:sp>
        <p:nvSpPr>
          <p:cNvPr id="5" name="TextBox 4"/>
          <p:cNvSpPr txBox="1"/>
          <p:nvPr/>
        </p:nvSpPr>
        <p:spPr>
          <a:xfrm>
            <a:off x="548640" y="1371600"/>
            <a:ext cx="6446520" cy="914400"/>
          </a:xfrm>
          <a:prstGeom prst="rect">
            <a:avLst/>
          </a:prstGeom>
          <a:noFill/>
        </p:spPr>
        <p:txBody>
          <a:bodyPr wrap="square" anchor="t" lIns="45720" rIns="45720" tIns="18288" bIns="18288">
            <a:spAutoFit/>
          </a:bodyPr>
          <a:lstStyle/>
          <a:p>
            <a:pPr>
              <a:spcBef>
                <a:spcPts val="0"/>
              </a:spcBef>
              <a:spcAft>
                <a:spcPts val="400"/>
              </a:spcAft>
              <a:buNone/>
            </a:pPr>
            <a:r>
              <a:rPr sz="1400" b="0">
                <a:solidFill>
                  <a:srgbClr val="2A2E30"/>
                </a:solidFill>
                <a:latin typeface="Arial"/>
              </a:rPr>
              <a:t>Standard AUROC asks: given a random positive and a random negative, does the model </a:t>
            </a:r>
            <a:r>
              <a:rPr sz="1400" b="1">
                <a:solidFill>
                  <a:srgbClr val="2A2E30"/>
                </a:solidFill>
                <a:latin typeface="Arial"/>
              </a:rPr>
              <a:t>rank the positive higher?</a:t>
            </a:r>
          </a:p>
          <a:p>
            <a:pPr>
              <a:spcBef>
                <a:spcPts val="0"/>
              </a:spcBef>
              <a:spcAft>
                <a:spcPts val="0"/>
              </a:spcAft>
              <a:buNone/>
            </a:pPr>
            <a:r>
              <a:rPr sz="1400" b="0">
                <a:solidFill>
                  <a:srgbClr val="2A2E30"/>
                </a:solidFill>
                <a:latin typeface="Arial"/>
              </a:rPr>
              <a:t>The age-conditioned version only compares pairs of patients of </a:t>
            </a:r>
            <a:r>
              <a:rPr sz="1400" b="1">
                <a:solidFill>
                  <a:srgbClr val="C8102E"/>
                </a:solidFill>
                <a:latin typeface="Arial"/>
              </a:rPr>
              <a:t>similar age</a:t>
            </a:r>
            <a:r>
              <a:rPr sz="1400" b="0">
                <a:solidFill>
                  <a:srgbClr val="2A2E30"/>
                </a:solidFill>
                <a:latin typeface="Arial"/>
              </a:rPr>
              <a:t> (within ±2 years).</a:t>
            </a:r>
          </a:p>
        </p:txBody>
      </p:sp>
      <p:sp>
        <p:nvSpPr>
          <p:cNvPr id="6" name="Rounded Rectangle 5"/>
          <p:cNvSpPr/>
          <p:nvPr/>
        </p:nvSpPr>
        <p:spPr>
          <a:xfrm>
            <a:off x="548640" y="2514600"/>
            <a:ext cx="6446520" cy="137160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651760"/>
            <a:ext cx="5943600" cy="1143000"/>
          </a:xfrm>
          <a:prstGeom prst="rect">
            <a:avLst/>
          </a:prstGeom>
          <a:noFill/>
        </p:spPr>
        <p:txBody>
          <a:bodyPr wrap="square" anchor="t" lIns="45720" rIns="45720" tIns="18288" bIns="18288">
            <a:spAutoFit/>
          </a:bodyPr>
          <a:lstStyle/>
          <a:p>
            <a:pPr algn="l">
              <a:spcBef>
                <a:spcPts val="0"/>
              </a:spcBef>
              <a:spcAft>
                <a:spcPts val="500"/>
              </a:spcAft>
              <a:buNone/>
            </a:pPr>
            <a:r>
              <a:rPr sz="1100" b="1" i="0">
                <a:solidFill>
                  <a:srgbClr val="C8102E"/>
                </a:solidFill>
                <a:latin typeface="Arial"/>
              </a:rPr>
              <a:t>Why it matters</a:t>
            </a:r>
          </a:p>
          <a:p>
            <a:pPr algn="l">
              <a:spcBef>
                <a:spcPts val="0"/>
              </a:spcBef>
              <a:spcAft>
                <a:spcPts val="0"/>
              </a:spcAft>
              <a:buNone/>
            </a:pPr>
            <a:r>
              <a:rPr sz="1300" b="0" i="0">
                <a:solidFill>
                  <a:srgbClr val="2A2E30"/>
                </a:solidFill>
                <a:latin typeface="Arial"/>
              </a:rPr>
              <a:t>A model can't win just by learning “older patients are higher-risk.” Within a narrow age band, age is held roughly constant — so the score reflects real physiological signal, not the age–risk correlation.</a:t>
            </a:r>
          </a:p>
        </p:txBody>
      </p:sp>
      <p:sp>
        <p:nvSpPr>
          <p:cNvPr id="8" name="TextBox 7"/>
          <p:cNvSpPr txBox="1"/>
          <p:nvPr/>
        </p:nvSpPr>
        <p:spPr>
          <a:xfrm>
            <a:off x="548640" y="4114800"/>
            <a:ext cx="6446520" cy="548640"/>
          </a:xfrm>
          <a:prstGeom prst="rect">
            <a:avLst/>
          </a:prstGeom>
          <a:noFill/>
        </p:spPr>
        <p:txBody>
          <a:bodyPr wrap="square" anchor="t" lIns="45720" rIns="45720" tIns="18288" bIns="18288">
            <a:spAutoFit/>
          </a:bodyPr>
          <a:lstStyle/>
          <a:p>
            <a:pPr>
              <a:spcBef>
                <a:spcPts val="0"/>
              </a:spcBef>
              <a:spcAft>
                <a:spcPts val="0"/>
              </a:spcAft>
              <a:buNone/>
            </a:pPr>
            <a:r>
              <a:rPr sz="1100" b="1">
                <a:solidFill>
                  <a:srgbClr val="505759"/>
                </a:solidFill>
                <a:latin typeface="Arial"/>
              </a:rPr>
              <a:t>0.5 = no better than chance</a:t>
            </a:r>
            <a:r>
              <a:rPr sz="1100" b="0">
                <a:solidFill>
                  <a:srgbClr val="898D8D"/>
                </a:solidFill>
                <a:latin typeface="Arial"/>
              </a:rPr>
              <a:t>   ·   </a:t>
            </a:r>
            <a:r>
              <a:rPr sz="1100" b="1">
                <a:solidFill>
                  <a:srgbClr val="2A2E30"/>
                </a:solidFill>
                <a:latin typeface="Arial"/>
              </a:rPr>
              <a:t>1.0 = perfect ranking</a:t>
            </a:r>
            <a:r>
              <a:rPr sz="1100" b="0">
                <a:solidFill>
                  <a:srgbClr val="505759"/>
                </a:solidFill>
                <a:latin typeface="Arial"/>
              </a:rPr>
              <a:t>   within each age neighborhood.</a:t>
            </a:r>
          </a:p>
        </p:txBody>
      </p:sp>
      <p:sp>
        <p:nvSpPr>
          <p:cNvPr id="9" name="TextBox 8"/>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Age-weighted AUROC</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DIAGNOSTIC METRIC</a:t>
            </a:r>
          </a:p>
        </p:txBody>
      </p:sp>
      <p:sp>
        <p:nvSpPr>
          <p:cNvPr id="5" name="TextBox 4"/>
          <p:cNvSpPr txBox="1"/>
          <p:nvPr/>
        </p:nvSpPr>
        <p:spPr>
          <a:xfrm>
            <a:off x="548640" y="1371600"/>
            <a:ext cx="6446520" cy="914400"/>
          </a:xfrm>
          <a:prstGeom prst="rect">
            <a:avLst/>
          </a:prstGeom>
          <a:noFill/>
        </p:spPr>
        <p:txBody>
          <a:bodyPr wrap="square" anchor="t" lIns="45720" rIns="45720" tIns="18288" bIns="18288">
            <a:spAutoFit/>
          </a:bodyPr>
          <a:lstStyle/>
          <a:p>
            <a:pPr>
              <a:spcBef>
                <a:spcPts val="0"/>
              </a:spcBef>
              <a:spcAft>
                <a:spcPts val="0"/>
              </a:spcAft>
              <a:buNone/>
            </a:pPr>
            <a:r>
              <a:rPr sz="1400" b="0">
                <a:solidFill>
                  <a:srgbClr val="2A2E30"/>
                </a:solidFill>
                <a:latin typeface="Arial"/>
              </a:rPr>
              <a:t>Computes an AUROC </a:t>
            </a:r>
            <a:r>
              <a:rPr sz="1400" b="1">
                <a:solidFill>
                  <a:srgbClr val="C8102E"/>
                </a:solidFill>
                <a:latin typeface="Arial"/>
              </a:rPr>
              <a:t>within each age</a:t>
            </a:r>
            <a:r>
              <a:rPr sz="1400" b="0">
                <a:solidFill>
                  <a:srgbClr val="2A2E30"/>
                </a:solidFill>
                <a:latin typeface="Arial"/>
              </a:rPr>
              <a:t>, then averages them — weighting each age by how many patients fall there.</a:t>
            </a:r>
          </a:p>
        </p:txBody>
      </p:sp>
      <p:sp>
        <p:nvSpPr>
          <p:cNvPr id="6" name="Rounded Rectangle 5"/>
          <p:cNvSpPr/>
          <p:nvPr/>
        </p:nvSpPr>
        <p:spPr>
          <a:xfrm>
            <a:off x="548640" y="2286000"/>
            <a:ext cx="3127248" cy="173736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395728"/>
            <a:ext cx="2788920" cy="1554480"/>
          </a:xfrm>
          <a:prstGeom prst="rect">
            <a:avLst/>
          </a:prstGeom>
          <a:noFill/>
        </p:spPr>
        <p:txBody>
          <a:bodyPr wrap="square" anchor="t" lIns="45720" rIns="45720" tIns="18288" bIns="18288">
            <a:spAutoFit/>
          </a:bodyPr>
          <a:lstStyle/>
          <a:p>
            <a:pPr algn="l">
              <a:spcBef>
                <a:spcPts val="0"/>
              </a:spcBef>
              <a:spcAft>
                <a:spcPts val="400"/>
              </a:spcAft>
              <a:buNone/>
            </a:pPr>
            <a:r>
              <a:rPr sz="1100" b="1" i="0">
                <a:solidFill>
                  <a:srgbClr val="346583"/>
                </a:solidFill>
                <a:latin typeface="Arial"/>
              </a:rPr>
              <a:t>Age-CONDITIONED</a:t>
            </a:r>
          </a:p>
          <a:p>
            <a:pPr algn="l">
              <a:spcBef>
                <a:spcPts val="0"/>
              </a:spcBef>
              <a:spcAft>
                <a:spcPts val="0"/>
              </a:spcAft>
              <a:buNone/>
            </a:pPr>
            <a:r>
              <a:rPr sz="1200" b="0" i="0">
                <a:solidFill>
                  <a:srgbClr val="505759"/>
                </a:solidFill>
                <a:latin typeface="Arial"/>
              </a:rPr>
              <a:t>One pooled score over all similar-age pairs. Answers: “across the board, does it separate cases within age?”</a:t>
            </a:r>
          </a:p>
        </p:txBody>
      </p:sp>
      <p:sp>
        <p:nvSpPr>
          <p:cNvPr id="8" name="Rounded Rectangle 7"/>
          <p:cNvSpPr/>
          <p:nvPr/>
        </p:nvSpPr>
        <p:spPr>
          <a:xfrm>
            <a:off x="3867912" y="2286000"/>
            <a:ext cx="3127248" cy="173736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32504" y="2395728"/>
            <a:ext cx="2788920" cy="1554480"/>
          </a:xfrm>
          <a:prstGeom prst="rect">
            <a:avLst/>
          </a:prstGeom>
          <a:noFill/>
        </p:spPr>
        <p:txBody>
          <a:bodyPr wrap="square" anchor="t" lIns="45720" rIns="45720" tIns="18288" bIns="18288">
            <a:spAutoFit/>
          </a:bodyPr>
          <a:lstStyle/>
          <a:p>
            <a:pPr algn="l">
              <a:spcBef>
                <a:spcPts val="0"/>
              </a:spcBef>
              <a:spcAft>
                <a:spcPts val="400"/>
              </a:spcAft>
              <a:buNone/>
            </a:pPr>
            <a:r>
              <a:rPr sz="1100" b="1" i="0">
                <a:solidFill>
                  <a:srgbClr val="C8102E"/>
                </a:solidFill>
                <a:latin typeface="Arial"/>
              </a:rPr>
              <a:t>Age-WEIGHTED</a:t>
            </a:r>
          </a:p>
          <a:p>
            <a:pPr algn="l">
              <a:spcBef>
                <a:spcPts val="0"/>
              </a:spcBef>
              <a:spcAft>
                <a:spcPts val="0"/>
              </a:spcAft>
              <a:buNone/>
            </a:pPr>
            <a:r>
              <a:rPr sz="1200" b="0" i="0">
                <a:solidFill>
                  <a:srgbClr val="505759"/>
                </a:solidFill>
                <a:latin typeface="Arial"/>
              </a:rPr>
              <a:t>Per-age scores averaged by population. Answers: “how well does it work at a typical patient's age?”</a:t>
            </a:r>
          </a:p>
        </p:txBody>
      </p:sp>
      <p:sp>
        <p:nvSpPr>
          <p:cNvPr id="10" name="TextBox 9"/>
          <p:cNvSpPr txBox="1"/>
          <p:nvPr/>
        </p:nvSpPr>
        <p:spPr>
          <a:xfrm>
            <a:off x="548640" y="4206240"/>
            <a:ext cx="6446520" cy="457200"/>
          </a:xfrm>
          <a:prstGeom prst="rect">
            <a:avLst/>
          </a:prstGeom>
          <a:noFill/>
        </p:spPr>
        <p:txBody>
          <a:bodyPr wrap="square" anchor="t" lIns="45720" rIns="45720" tIns="18288" bIns="18288">
            <a:spAutoFit/>
          </a:bodyPr>
          <a:lstStyle/>
          <a:p>
            <a:pPr algn="l">
              <a:spcBef>
                <a:spcPts val="0"/>
              </a:spcBef>
              <a:spcAft>
                <a:spcPts val="0"/>
              </a:spcAft>
              <a:buNone/>
            </a:pPr>
            <a:r>
              <a:rPr sz="1100" b="0" i="1">
                <a:solidFill>
                  <a:srgbClr val="505759"/>
                </a:solidFill>
                <a:latin typeface="Arial"/>
              </a:rPr>
              <a:t>Both remove age as a shortcut; together they show consistency across the age range.</a:t>
            </a:r>
          </a:p>
        </p:txBody>
      </p:sp>
      <p:sp>
        <p:nvSpPr>
          <p:cNvPr id="11" name="TextBox 10"/>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The familiar four — context, not ranking</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DIAGNOSTIC METRICS</a:t>
            </a:r>
          </a:p>
        </p:txBody>
      </p:sp>
      <p:sp>
        <p:nvSpPr>
          <p:cNvPr id="5" name="Rounded Rectangle 4"/>
          <p:cNvSpPr/>
          <p:nvPr/>
        </p:nvSpPr>
        <p:spPr>
          <a:xfrm>
            <a:off x="548640" y="1417320"/>
            <a:ext cx="6446520" cy="713232"/>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82296" cy="713232"/>
          </a:xfrm>
          <a:prstGeom prst="rect">
            <a:avLst/>
          </a:prstGeom>
          <a:solidFill>
            <a:srgbClr val="3465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1554480" cy="713232"/>
          </a:xfrm>
          <a:prstGeom prst="rect">
            <a:avLst/>
          </a:prstGeom>
          <a:noFill/>
        </p:spPr>
        <p:txBody>
          <a:bodyPr wrap="square" anchor="ctr" lIns="45720" rIns="45720" tIns="18288" bIns="18288">
            <a:spAutoFit/>
          </a:bodyPr>
          <a:lstStyle/>
          <a:p>
            <a:pPr algn="l">
              <a:spcBef>
                <a:spcPts val="0"/>
              </a:spcBef>
              <a:spcAft>
                <a:spcPts val="100"/>
              </a:spcAft>
              <a:buNone/>
            </a:pPr>
            <a:r>
              <a:rPr sz="1300" b="1" i="0">
                <a:solidFill>
                  <a:srgbClr val="2A2E30"/>
                </a:solidFill>
                <a:latin typeface="Arial"/>
              </a:rPr>
              <a:t>AUROC</a:t>
            </a:r>
          </a:p>
          <a:p>
            <a:pPr algn="l">
              <a:spcBef>
                <a:spcPts val="0"/>
              </a:spcBef>
              <a:spcAft>
                <a:spcPts val="0"/>
              </a:spcAft>
              <a:buNone/>
            </a:pPr>
            <a:r>
              <a:rPr sz="900" b="0" i="0">
                <a:solidFill>
                  <a:srgbClr val="898D8D"/>
                </a:solidFill>
                <a:latin typeface="Arial"/>
              </a:rPr>
              <a:t>Probability</a:t>
            </a:r>
          </a:p>
        </p:txBody>
      </p:sp>
      <p:sp>
        <p:nvSpPr>
          <p:cNvPr id="8" name="TextBox 7"/>
          <p:cNvSpPr txBox="1"/>
          <p:nvPr/>
        </p:nvSpPr>
        <p:spPr>
          <a:xfrm>
            <a:off x="2377440" y="1417320"/>
            <a:ext cx="1828800" cy="713232"/>
          </a:xfrm>
          <a:prstGeom prst="rect">
            <a:avLst/>
          </a:prstGeom>
          <a:noFill/>
        </p:spPr>
        <p:txBody>
          <a:bodyPr wrap="square" anchor="ctr" lIns="45720" rIns="45720" tIns="18288" bIns="18288">
            <a:spAutoFit/>
          </a:bodyPr>
          <a:lstStyle/>
          <a:p>
            <a:pPr algn="l">
              <a:spcBef>
                <a:spcPts val="0"/>
              </a:spcBef>
              <a:spcAft>
                <a:spcPts val="0"/>
              </a:spcAft>
              <a:buNone/>
            </a:pPr>
            <a:r>
              <a:rPr sz="1100" b="1" i="0">
                <a:solidFill>
                  <a:srgbClr val="505759"/>
                </a:solidFill>
                <a:latin typeface="Arial"/>
              </a:rPr>
              <a:t>Ranking quality overall</a:t>
            </a:r>
          </a:p>
        </p:txBody>
      </p:sp>
      <p:sp>
        <p:nvSpPr>
          <p:cNvPr id="9" name="TextBox 8"/>
          <p:cNvSpPr txBox="1"/>
          <p:nvPr/>
        </p:nvSpPr>
        <p:spPr>
          <a:xfrm>
            <a:off x="4251960" y="1417320"/>
            <a:ext cx="2651760" cy="713232"/>
          </a:xfrm>
          <a:prstGeom prst="rect">
            <a:avLst/>
          </a:prstGeom>
          <a:noFill/>
        </p:spPr>
        <p:txBody>
          <a:bodyPr wrap="square" anchor="ctr" lIns="45720" rIns="45720" tIns="18288" bIns="18288">
            <a:spAutoFit/>
          </a:bodyPr>
          <a:lstStyle/>
          <a:p>
            <a:pPr algn="l">
              <a:spcBef>
                <a:spcPts val="0"/>
              </a:spcBef>
              <a:spcAft>
                <a:spcPts val="0"/>
              </a:spcAft>
              <a:buNone/>
            </a:pPr>
            <a:r>
              <a:rPr sz="1000" b="0" i="0">
                <a:solidFill>
                  <a:srgbClr val="505759"/>
                </a:solidFill>
                <a:latin typeface="Arial"/>
              </a:rPr>
              <a:t>Ignores prevalence — optimistic on imbalanced data</a:t>
            </a:r>
          </a:p>
        </p:txBody>
      </p:sp>
      <p:sp>
        <p:nvSpPr>
          <p:cNvPr id="10" name="Rounded Rectangle 9"/>
          <p:cNvSpPr/>
          <p:nvPr/>
        </p:nvSpPr>
        <p:spPr>
          <a:xfrm>
            <a:off x="548640" y="2203704"/>
            <a:ext cx="644652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203704"/>
            <a:ext cx="82296" cy="713232"/>
          </a:xfrm>
          <a:prstGeom prst="rect">
            <a:avLst/>
          </a:prstGeom>
          <a:solidFill>
            <a:srgbClr val="3465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203704"/>
            <a:ext cx="1554480" cy="713232"/>
          </a:xfrm>
          <a:prstGeom prst="rect">
            <a:avLst/>
          </a:prstGeom>
          <a:noFill/>
        </p:spPr>
        <p:txBody>
          <a:bodyPr wrap="square" anchor="ctr" lIns="45720" rIns="45720" tIns="18288" bIns="18288">
            <a:spAutoFit/>
          </a:bodyPr>
          <a:lstStyle/>
          <a:p>
            <a:pPr algn="l">
              <a:spcBef>
                <a:spcPts val="0"/>
              </a:spcBef>
              <a:spcAft>
                <a:spcPts val="100"/>
              </a:spcAft>
              <a:buNone/>
            </a:pPr>
            <a:r>
              <a:rPr sz="1300" b="1" i="0">
                <a:solidFill>
                  <a:srgbClr val="2A2E30"/>
                </a:solidFill>
                <a:latin typeface="Arial"/>
              </a:rPr>
              <a:t>AUPRC</a:t>
            </a:r>
          </a:p>
          <a:p>
            <a:pPr algn="l">
              <a:spcBef>
                <a:spcPts val="0"/>
              </a:spcBef>
              <a:spcAft>
                <a:spcPts val="0"/>
              </a:spcAft>
              <a:buNone/>
            </a:pPr>
            <a:r>
              <a:rPr sz="900" b="0" i="0">
                <a:solidFill>
                  <a:srgbClr val="898D8D"/>
                </a:solidFill>
                <a:latin typeface="Arial"/>
              </a:rPr>
              <a:t>Probability</a:t>
            </a:r>
          </a:p>
        </p:txBody>
      </p:sp>
      <p:sp>
        <p:nvSpPr>
          <p:cNvPr id="13" name="TextBox 12"/>
          <p:cNvSpPr txBox="1"/>
          <p:nvPr/>
        </p:nvSpPr>
        <p:spPr>
          <a:xfrm>
            <a:off x="2377440" y="2203704"/>
            <a:ext cx="1828800" cy="713232"/>
          </a:xfrm>
          <a:prstGeom prst="rect">
            <a:avLst/>
          </a:prstGeom>
          <a:noFill/>
        </p:spPr>
        <p:txBody>
          <a:bodyPr wrap="square" anchor="ctr" lIns="45720" rIns="45720" tIns="18288" bIns="18288">
            <a:spAutoFit/>
          </a:bodyPr>
          <a:lstStyle/>
          <a:p>
            <a:pPr algn="l">
              <a:spcBef>
                <a:spcPts val="0"/>
              </a:spcBef>
              <a:spcAft>
                <a:spcPts val="0"/>
              </a:spcAft>
              <a:buNone/>
            </a:pPr>
            <a:r>
              <a:rPr sz="1100" b="1" i="0">
                <a:solidFill>
                  <a:srgbClr val="505759"/>
                </a:solidFill>
                <a:latin typeface="Arial"/>
              </a:rPr>
              <a:t>Focus on the positive class</a:t>
            </a:r>
          </a:p>
        </p:txBody>
      </p:sp>
      <p:sp>
        <p:nvSpPr>
          <p:cNvPr id="14" name="TextBox 13"/>
          <p:cNvSpPr txBox="1"/>
          <p:nvPr/>
        </p:nvSpPr>
        <p:spPr>
          <a:xfrm>
            <a:off x="4251960" y="2203704"/>
            <a:ext cx="2651760" cy="713232"/>
          </a:xfrm>
          <a:prstGeom prst="rect">
            <a:avLst/>
          </a:prstGeom>
          <a:noFill/>
        </p:spPr>
        <p:txBody>
          <a:bodyPr wrap="square" anchor="ctr" lIns="45720" rIns="45720" tIns="18288" bIns="18288">
            <a:spAutoFit/>
          </a:bodyPr>
          <a:lstStyle/>
          <a:p>
            <a:pPr algn="l">
              <a:spcBef>
                <a:spcPts val="0"/>
              </a:spcBef>
              <a:spcAft>
                <a:spcPts val="0"/>
              </a:spcAft>
              <a:buNone/>
            </a:pPr>
            <a:r>
              <a:rPr sz="1000" b="0" i="0">
                <a:solidFill>
                  <a:srgbClr val="505759"/>
                </a:solidFill>
                <a:latin typeface="Arial"/>
              </a:rPr>
              <a:t>More honest than AUROC when positives are rare</a:t>
            </a:r>
          </a:p>
        </p:txBody>
      </p:sp>
      <p:sp>
        <p:nvSpPr>
          <p:cNvPr id="15" name="Rounded Rectangle 14"/>
          <p:cNvSpPr/>
          <p:nvPr/>
        </p:nvSpPr>
        <p:spPr>
          <a:xfrm>
            <a:off x="548640" y="2990088"/>
            <a:ext cx="6446520" cy="713232"/>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990088"/>
            <a:ext cx="82296" cy="713232"/>
          </a:xfrm>
          <a:prstGeom prst="rect">
            <a:avLst/>
          </a:prstGeom>
          <a:solidFill>
            <a:srgbClr val="898D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90088"/>
            <a:ext cx="1554480" cy="713232"/>
          </a:xfrm>
          <a:prstGeom prst="rect">
            <a:avLst/>
          </a:prstGeom>
          <a:noFill/>
        </p:spPr>
        <p:txBody>
          <a:bodyPr wrap="square" anchor="ctr" lIns="45720" rIns="45720" tIns="18288" bIns="18288">
            <a:spAutoFit/>
          </a:bodyPr>
          <a:lstStyle/>
          <a:p>
            <a:pPr algn="l">
              <a:spcBef>
                <a:spcPts val="0"/>
              </a:spcBef>
              <a:spcAft>
                <a:spcPts val="100"/>
              </a:spcAft>
              <a:buNone/>
            </a:pPr>
            <a:r>
              <a:rPr sz="1300" b="1" i="0">
                <a:solidFill>
                  <a:srgbClr val="2A2E30"/>
                </a:solidFill>
                <a:latin typeface="Arial"/>
              </a:rPr>
              <a:t>Accuracy</a:t>
            </a:r>
          </a:p>
          <a:p>
            <a:pPr algn="l">
              <a:spcBef>
                <a:spcPts val="0"/>
              </a:spcBef>
              <a:spcAft>
                <a:spcPts val="0"/>
              </a:spcAft>
              <a:buNone/>
            </a:pPr>
            <a:r>
              <a:rPr sz="900" b="0" i="0">
                <a:solidFill>
                  <a:srgbClr val="898D8D"/>
                </a:solidFill>
                <a:latin typeface="Arial"/>
              </a:rPr>
              <a:t>Binary</a:t>
            </a:r>
          </a:p>
        </p:txBody>
      </p:sp>
      <p:sp>
        <p:nvSpPr>
          <p:cNvPr id="18" name="TextBox 17"/>
          <p:cNvSpPr txBox="1"/>
          <p:nvPr/>
        </p:nvSpPr>
        <p:spPr>
          <a:xfrm>
            <a:off x="2377440" y="2990088"/>
            <a:ext cx="1828800" cy="713232"/>
          </a:xfrm>
          <a:prstGeom prst="rect">
            <a:avLst/>
          </a:prstGeom>
          <a:noFill/>
        </p:spPr>
        <p:txBody>
          <a:bodyPr wrap="square" anchor="ctr" lIns="45720" rIns="45720" tIns="18288" bIns="18288">
            <a:spAutoFit/>
          </a:bodyPr>
          <a:lstStyle/>
          <a:p>
            <a:pPr algn="l">
              <a:spcBef>
                <a:spcPts val="0"/>
              </a:spcBef>
              <a:spcAft>
                <a:spcPts val="0"/>
              </a:spcAft>
              <a:buNone/>
            </a:pPr>
            <a:r>
              <a:rPr sz="1100" b="1" i="0">
                <a:solidFill>
                  <a:srgbClr val="505759"/>
                </a:solidFill>
                <a:latin typeface="Arial"/>
              </a:rPr>
              <a:t>% of correct calls</a:t>
            </a:r>
          </a:p>
        </p:txBody>
      </p:sp>
      <p:sp>
        <p:nvSpPr>
          <p:cNvPr id="19" name="TextBox 18"/>
          <p:cNvSpPr txBox="1"/>
          <p:nvPr/>
        </p:nvSpPr>
        <p:spPr>
          <a:xfrm>
            <a:off x="4251960" y="2990088"/>
            <a:ext cx="2651760" cy="713232"/>
          </a:xfrm>
          <a:prstGeom prst="rect">
            <a:avLst/>
          </a:prstGeom>
          <a:noFill/>
        </p:spPr>
        <p:txBody>
          <a:bodyPr wrap="square" anchor="ctr" lIns="45720" rIns="45720" tIns="18288" bIns="18288">
            <a:spAutoFit/>
          </a:bodyPr>
          <a:lstStyle/>
          <a:p>
            <a:pPr algn="l">
              <a:spcBef>
                <a:spcPts val="0"/>
              </a:spcBef>
              <a:spcAft>
                <a:spcPts val="0"/>
              </a:spcAft>
              <a:buNone/>
            </a:pPr>
            <a:r>
              <a:rPr sz="1000" b="0" i="0">
                <a:solidFill>
                  <a:srgbClr val="505759"/>
                </a:solidFill>
                <a:latin typeface="Arial"/>
              </a:rPr>
              <a:t>Misleading under imbalance — shown for reference</a:t>
            </a:r>
          </a:p>
        </p:txBody>
      </p:sp>
      <p:sp>
        <p:nvSpPr>
          <p:cNvPr id="20" name="Rounded Rectangle 19"/>
          <p:cNvSpPr/>
          <p:nvPr/>
        </p:nvSpPr>
        <p:spPr>
          <a:xfrm>
            <a:off x="548640" y="3776472"/>
            <a:ext cx="644652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776472"/>
            <a:ext cx="82296" cy="713232"/>
          </a:xfrm>
          <a:prstGeom prst="rect">
            <a:avLst/>
          </a:prstGeom>
          <a:solidFill>
            <a:srgbClr val="898D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776472"/>
            <a:ext cx="1554480" cy="713232"/>
          </a:xfrm>
          <a:prstGeom prst="rect">
            <a:avLst/>
          </a:prstGeom>
          <a:noFill/>
        </p:spPr>
        <p:txBody>
          <a:bodyPr wrap="square" anchor="ctr" lIns="45720" rIns="45720" tIns="18288" bIns="18288">
            <a:spAutoFit/>
          </a:bodyPr>
          <a:lstStyle/>
          <a:p>
            <a:pPr algn="l">
              <a:spcBef>
                <a:spcPts val="0"/>
              </a:spcBef>
              <a:spcAft>
                <a:spcPts val="100"/>
              </a:spcAft>
              <a:buNone/>
            </a:pPr>
            <a:r>
              <a:rPr sz="1300" b="1" i="0">
                <a:solidFill>
                  <a:srgbClr val="2A2E30"/>
                </a:solidFill>
                <a:latin typeface="Arial"/>
              </a:rPr>
              <a:t>F-measure</a:t>
            </a:r>
          </a:p>
          <a:p>
            <a:pPr algn="l">
              <a:spcBef>
                <a:spcPts val="0"/>
              </a:spcBef>
              <a:spcAft>
                <a:spcPts val="0"/>
              </a:spcAft>
              <a:buNone/>
            </a:pPr>
            <a:r>
              <a:rPr sz="900" b="0" i="0">
                <a:solidFill>
                  <a:srgbClr val="898D8D"/>
                </a:solidFill>
                <a:latin typeface="Arial"/>
              </a:rPr>
              <a:t>Binary</a:t>
            </a:r>
          </a:p>
        </p:txBody>
      </p:sp>
      <p:sp>
        <p:nvSpPr>
          <p:cNvPr id="23" name="TextBox 22"/>
          <p:cNvSpPr txBox="1"/>
          <p:nvPr/>
        </p:nvSpPr>
        <p:spPr>
          <a:xfrm>
            <a:off x="2377440" y="3776472"/>
            <a:ext cx="1828800" cy="713232"/>
          </a:xfrm>
          <a:prstGeom prst="rect">
            <a:avLst/>
          </a:prstGeom>
          <a:noFill/>
        </p:spPr>
        <p:txBody>
          <a:bodyPr wrap="square" anchor="ctr" lIns="45720" rIns="45720" tIns="18288" bIns="18288">
            <a:spAutoFit/>
          </a:bodyPr>
          <a:lstStyle/>
          <a:p>
            <a:pPr algn="l">
              <a:spcBef>
                <a:spcPts val="0"/>
              </a:spcBef>
              <a:spcAft>
                <a:spcPts val="0"/>
              </a:spcAft>
              <a:buNone/>
            </a:pPr>
            <a:r>
              <a:rPr sz="1100" b="1" i="0">
                <a:solidFill>
                  <a:srgbClr val="505759"/>
                </a:solidFill>
                <a:latin typeface="Arial"/>
              </a:rPr>
              <a:t>Balance of precision &amp; recall</a:t>
            </a:r>
          </a:p>
        </p:txBody>
      </p:sp>
      <p:sp>
        <p:nvSpPr>
          <p:cNvPr id="24" name="TextBox 23"/>
          <p:cNvSpPr txBox="1"/>
          <p:nvPr/>
        </p:nvSpPr>
        <p:spPr>
          <a:xfrm>
            <a:off x="4251960" y="3776472"/>
            <a:ext cx="2651760" cy="713232"/>
          </a:xfrm>
          <a:prstGeom prst="rect">
            <a:avLst/>
          </a:prstGeom>
          <a:noFill/>
        </p:spPr>
        <p:txBody>
          <a:bodyPr wrap="square" anchor="ctr" lIns="45720" rIns="45720" tIns="18288" bIns="18288">
            <a:spAutoFit/>
          </a:bodyPr>
          <a:lstStyle/>
          <a:p>
            <a:pPr algn="l">
              <a:spcBef>
                <a:spcPts val="0"/>
              </a:spcBef>
              <a:spcAft>
                <a:spcPts val="0"/>
              </a:spcAft>
              <a:buNone/>
            </a:pPr>
            <a:r>
              <a:rPr sz="1000" b="0" i="0">
                <a:solidFill>
                  <a:srgbClr val="505759"/>
                </a:solidFill>
                <a:latin typeface="Arial"/>
              </a:rPr>
              <a:t>Threshold-dependent summary of the binary output</a:t>
            </a:r>
          </a:p>
        </p:txBody>
      </p:sp>
      <p:sp>
        <p:nvSpPr>
          <p:cNvPr id="25" name="TextBox 24"/>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dataset behind the metric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1,103 recordings across three clinical sites</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DATASET · COHORT AT A GLANCE</a:t>
            </a:r>
          </a:p>
        </p:txBody>
      </p:sp>
      <p:sp>
        <p:nvSpPr>
          <p:cNvPr id="5" name="Rounded Rectangle 4"/>
          <p:cNvSpPr/>
          <p:nvPr/>
        </p:nvSpPr>
        <p:spPr>
          <a:xfrm>
            <a:off x="548640" y="1481328"/>
            <a:ext cx="1517904" cy="86868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572768"/>
            <a:ext cx="1298448" cy="685800"/>
          </a:xfrm>
          <a:prstGeom prst="rect">
            <a:avLst/>
          </a:prstGeom>
          <a:noFill/>
        </p:spPr>
        <p:txBody>
          <a:bodyPr wrap="square">
            <a:spAutoFit/>
          </a:bodyPr>
          <a:lstStyle/>
          <a:p>
            <a:pPr algn="l"/>
            <a:r>
              <a:rPr sz="2100" b="1">
                <a:solidFill>
                  <a:srgbClr val="2A2E30"/>
                </a:solidFill>
                <a:latin typeface="Arial"/>
              </a:rPr>
              <a:t>1,103</a:t>
            </a:r>
          </a:p>
          <a:p>
            <a:pPr algn="l"/>
            <a:r>
              <a:rPr sz="950" b="0">
                <a:solidFill>
                  <a:srgbClr val="505759"/>
                </a:solidFill>
                <a:latin typeface="Arial"/>
              </a:rPr>
              <a:t>patients · one overnight session each</a:t>
            </a:r>
          </a:p>
        </p:txBody>
      </p:sp>
      <p:sp>
        <p:nvSpPr>
          <p:cNvPr id="7" name="Rounded Rectangle 6"/>
          <p:cNvSpPr/>
          <p:nvPr/>
        </p:nvSpPr>
        <p:spPr>
          <a:xfrm>
            <a:off x="2194560" y="1481328"/>
            <a:ext cx="1517904" cy="86868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04288" y="1572768"/>
            <a:ext cx="1298448" cy="685800"/>
          </a:xfrm>
          <a:prstGeom prst="rect">
            <a:avLst/>
          </a:prstGeom>
          <a:noFill/>
        </p:spPr>
        <p:txBody>
          <a:bodyPr wrap="square">
            <a:spAutoFit/>
          </a:bodyPr>
          <a:lstStyle/>
          <a:p>
            <a:pPr algn="l"/>
            <a:r>
              <a:rPr sz="2100" b="1">
                <a:solidFill>
                  <a:srgbClr val="C8102E"/>
                </a:solidFill>
                <a:latin typeface="Arial"/>
              </a:rPr>
              <a:t>7.6%</a:t>
            </a:r>
          </a:p>
          <a:p>
            <a:pPr algn="l"/>
            <a:r>
              <a:rPr sz="950" b="0">
                <a:solidFill>
                  <a:srgbClr val="505759"/>
                </a:solidFill>
                <a:latin typeface="Arial"/>
              </a:rPr>
              <a:t>impairment prevalence · 84 positive</a:t>
            </a:r>
          </a:p>
        </p:txBody>
      </p:sp>
      <p:sp>
        <p:nvSpPr>
          <p:cNvPr id="9" name="Rounded Rectangle 8"/>
          <p:cNvSpPr/>
          <p:nvPr/>
        </p:nvSpPr>
        <p:spPr>
          <a:xfrm>
            <a:off x="548640" y="2478024"/>
            <a:ext cx="1517904" cy="86868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569464"/>
            <a:ext cx="1298448" cy="685800"/>
          </a:xfrm>
          <a:prstGeom prst="rect">
            <a:avLst/>
          </a:prstGeom>
          <a:noFill/>
        </p:spPr>
        <p:txBody>
          <a:bodyPr wrap="square">
            <a:spAutoFit/>
          </a:bodyPr>
          <a:lstStyle/>
          <a:p>
            <a:pPr algn="l"/>
            <a:r>
              <a:rPr sz="2100" b="1">
                <a:solidFill>
                  <a:srgbClr val="346583"/>
                </a:solidFill>
                <a:latin typeface="Arial"/>
              </a:rPr>
              <a:t>62 ± 8.5</a:t>
            </a:r>
          </a:p>
          <a:p>
            <a:pPr algn="l"/>
            <a:r>
              <a:rPr sz="950" b="0">
                <a:solidFill>
                  <a:srgbClr val="505759"/>
                </a:solidFill>
                <a:latin typeface="Arial"/>
              </a:rPr>
              <a:t>age (yr) · range 50–88</a:t>
            </a:r>
          </a:p>
        </p:txBody>
      </p:sp>
      <p:sp>
        <p:nvSpPr>
          <p:cNvPr id="11" name="Rounded Rectangle 10"/>
          <p:cNvSpPr/>
          <p:nvPr/>
        </p:nvSpPr>
        <p:spPr>
          <a:xfrm>
            <a:off x="2194560" y="2478024"/>
            <a:ext cx="1517904" cy="86868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04288" y="2569464"/>
            <a:ext cx="1298448" cy="685800"/>
          </a:xfrm>
          <a:prstGeom prst="rect">
            <a:avLst/>
          </a:prstGeom>
          <a:noFill/>
        </p:spPr>
        <p:txBody>
          <a:bodyPr wrap="square">
            <a:spAutoFit/>
          </a:bodyPr>
          <a:lstStyle/>
          <a:p>
            <a:pPr algn="l"/>
            <a:r>
              <a:rPr sz="2100" b="1">
                <a:solidFill>
                  <a:srgbClr val="2A2E30"/>
                </a:solidFill>
                <a:latin typeface="Arial"/>
              </a:rPr>
              <a:t>3</a:t>
            </a:r>
          </a:p>
          <a:p>
            <a:pPr algn="l"/>
            <a:r>
              <a:rPr sz="950" b="0">
                <a:solidFill>
                  <a:srgbClr val="505759"/>
                </a:solidFill>
                <a:latin typeface="Arial"/>
              </a:rPr>
              <a:t>clinical sites · BIDMC · Kaiser · Emory</a:t>
            </a:r>
          </a:p>
        </p:txBody>
      </p:sp>
      <p:graphicFrame>
        <p:nvGraphicFramePr>
          <p:cNvPr id="13" name="Table 12"/>
          <p:cNvGraphicFramePr>
            <a:graphicFrameLocks noGrp="1"/>
          </p:cNvGraphicFramePr>
          <p:nvPr/>
        </p:nvGraphicFramePr>
        <p:xfrm>
          <a:off x="3977639" y="1481328"/>
          <a:ext cx="3017520" cy="1481328"/>
        </p:xfrm>
        <a:graphic>
          <a:graphicData uri="http://schemas.openxmlformats.org/drawingml/2006/table">
            <a:tbl>
              <a:tblPr>
                <a:tableStyleId>{5C22544A-7EE6-4342-B048-85BDC9FD1C3A}</a:tableStyleId>
              </a:tblPr>
              <a:tblGrid>
                <a:gridCol w="1188720"/>
                <a:gridCol w="914400"/>
                <a:gridCol w="914400"/>
              </a:tblGrid>
              <a:tr h="310896">
                <a:tc>
                  <a:txBody>
                    <a:bodyPr wrap="square"/>
                    <a:lstStyle/>
                    <a:p>
                      <a:pPr algn="l"/>
                      <a:r>
                        <a:rPr sz="1050" b="1">
                          <a:solidFill>
                            <a:srgbClr val="FFFFFF"/>
                          </a:solidFill>
                          <a:latin typeface="Arial"/>
                        </a:rPr>
                        <a:t>Site</a:t>
                      </a:r>
                    </a:p>
                  </a:txBody>
                  <a:tcPr marL="54864" marR="54864" marT="18288" marB="18288" anchor="ctr">
                    <a:solidFill>
                      <a:srgbClr val="505759"/>
                    </a:solidFill>
                  </a:tcPr>
                </a:tc>
                <a:tc>
                  <a:txBody>
                    <a:bodyPr wrap="square"/>
                    <a:lstStyle/>
                    <a:p>
                      <a:pPr algn="r"/>
                      <a:r>
                        <a:rPr sz="1050" b="1">
                          <a:solidFill>
                            <a:srgbClr val="FFFFFF"/>
                          </a:solidFill>
                          <a:latin typeface="Arial"/>
                        </a:rPr>
                        <a:t>Patients</a:t>
                      </a:r>
                    </a:p>
                  </a:txBody>
                  <a:tcPr marL="54864" marR="54864" marT="18288" marB="18288" anchor="ctr">
                    <a:solidFill>
                      <a:srgbClr val="505759"/>
                    </a:solidFill>
                  </a:tcPr>
                </a:tc>
                <a:tc>
                  <a:txBody>
                    <a:bodyPr wrap="square"/>
                    <a:lstStyle/>
                    <a:p>
                      <a:pPr algn="r"/>
                      <a:r>
                        <a:rPr sz="1050" b="1">
                          <a:solidFill>
                            <a:srgbClr val="FFFFFF"/>
                          </a:solidFill>
                          <a:latin typeface="Arial"/>
                        </a:rPr>
                        <a:t>Prevalence</a:t>
                      </a:r>
                    </a:p>
                  </a:txBody>
                  <a:tcPr marL="54864" marR="54864" marT="18288" marB="18288" anchor="ctr">
                    <a:solidFill>
                      <a:srgbClr val="505759"/>
                    </a:solidFill>
                  </a:tcPr>
                </a:tc>
              </a:tr>
              <a:tr h="292608">
                <a:tc>
                  <a:txBody>
                    <a:bodyPr wrap="square"/>
                    <a:lstStyle/>
                    <a:p>
                      <a:pPr algn="l"/>
                      <a:r>
                        <a:rPr sz="1050" b="0">
                          <a:solidFill>
                            <a:srgbClr val="2A2E30"/>
                          </a:solidFill>
                          <a:latin typeface="Arial"/>
                        </a:rPr>
                        <a:t>BIDMC</a:t>
                      </a:r>
                    </a:p>
                  </a:txBody>
                  <a:tcPr marL="54864" marR="54864" marT="18288" marB="18288" anchor="ctr">
                    <a:solidFill>
                      <a:srgbClr val="FFFFFF"/>
                    </a:solidFill>
                  </a:tcPr>
                </a:tc>
                <a:tc>
                  <a:txBody>
                    <a:bodyPr wrap="square"/>
                    <a:lstStyle/>
                    <a:p>
                      <a:pPr algn="r"/>
                      <a:r>
                        <a:rPr sz="1050" b="0">
                          <a:solidFill>
                            <a:srgbClr val="2A2E30"/>
                          </a:solidFill>
                          <a:latin typeface="Arial"/>
                        </a:rPr>
                        <a:t>857</a:t>
                      </a:r>
                    </a:p>
                  </a:txBody>
                  <a:tcPr marL="54864" marR="54864" marT="18288" marB="18288" anchor="ctr">
                    <a:solidFill>
                      <a:srgbClr val="FFFFFF"/>
                    </a:solidFill>
                  </a:tcPr>
                </a:tc>
                <a:tc>
                  <a:txBody>
                    <a:bodyPr wrap="square"/>
                    <a:lstStyle/>
                    <a:p>
                      <a:pPr algn="r"/>
                      <a:r>
                        <a:rPr sz="1050" b="0">
                          <a:solidFill>
                            <a:srgbClr val="2A2E30"/>
                          </a:solidFill>
                          <a:latin typeface="Arial"/>
                        </a:rPr>
                        <a:t>6.5%</a:t>
                      </a:r>
                    </a:p>
                  </a:txBody>
                  <a:tcPr marL="54864" marR="54864" marT="18288" marB="18288" anchor="ctr">
                    <a:solidFill>
                      <a:srgbClr val="FFFFFF"/>
                    </a:solidFill>
                  </a:tcPr>
                </a:tc>
              </a:tr>
              <a:tr h="292608">
                <a:tc>
                  <a:txBody>
                    <a:bodyPr wrap="square"/>
                    <a:lstStyle/>
                    <a:p>
                      <a:pPr algn="l"/>
                      <a:r>
                        <a:rPr sz="1050" b="0">
                          <a:solidFill>
                            <a:srgbClr val="2A2E30"/>
                          </a:solidFill>
                          <a:latin typeface="Arial"/>
                        </a:rPr>
                        <a:t>Kaiser</a:t>
                      </a:r>
                    </a:p>
                  </a:txBody>
                  <a:tcPr marL="54864" marR="54864" marT="18288" marB="18288" anchor="ctr">
                    <a:solidFill>
                      <a:srgbClr val="F7F8F8"/>
                    </a:solidFill>
                  </a:tcPr>
                </a:tc>
                <a:tc>
                  <a:txBody>
                    <a:bodyPr wrap="square"/>
                    <a:lstStyle/>
                    <a:p>
                      <a:pPr algn="r"/>
                      <a:r>
                        <a:rPr sz="1050" b="0">
                          <a:solidFill>
                            <a:srgbClr val="2A2E30"/>
                          </a:solidFill>
                          <a:latin typeface="Arial"/>
                        </a:rPr>
                        <a:t>192</a:t>
                      </a:r>
                    </a:p>
                  </a:txBody>
                  <a:tcPr marL="54864" marR="54864" marT="18288" marB="18288" anchor="ctr">
                    <a:solidFill>
                      <a:srgbClr val="F7F8F8"/>
                    </a:solidFill>
                  </a:tcPr>
                </a:tc>
                <a:tc>
                  <a:txBody>
                    <a:bodyPr wrap="square"/>
                    <a:lstStyle/>
                    <a:p>
                      <a:pPr algn="r"/>
                      <a:r>
                        <a:rPr sz="1050" b="0">
                          <a:solidFill>
                            <a:srgbClr val="2A2E30"/>
                          </a:solidFill>
                          <a:latin typeface="Arial"/>
                        </a:rPr>
                        <a:t>10.4%</a:t>
                      </a:r>
                    </a:p>
                  </a:txBody>
                  <a:tcPr marL="54864" marR="54864" marT="18288" marB="18288" anchor="ctr">
                    <a:solidFill>
                      <a:srgbClr val="F7F8F8"/>
                    </a:solidFill>
                  </a:tcPr>
                </a:tc>
              </a:tr>
              <a:tr h="292608">
                <a:tc>
                  <a:txBody>
                    <a:bodyPr wrap="square"/>
                    <a:lstStyle/>
                    <a:p>
                      <a:pPr algn="l"/>
                      <a:r>
                        <a:rPr sz="1050" b="0">
                          <a:solidFill>
                            <a:srgbClr val="2A2E30"/>
                          </a:solidFill>
                          <a:latin typeface="Arial"/>
                        </a:rPr>
                        <a:t>Emory</a:t>
                      </a:r>
                    </a:p>
                  </a:txBody>
                  <a:tcPr marL="54864" marR="54864" marT="18288" marB="18288" anchor="ctr">
                    <a:solidFill>
                      <a:srgbClr val="FFFFFF"/>
                    </a:solidFill>
                  </a:tcPr>
                </a:tc>
                <a:tc>
                  <a:txBody>
                    <a:bodyPr wrap="square"/>
                    <a:lstStyle/>
                    <a:p>
                      <a:pPr algn="r"/>
                      <a:r>
                        <a:rPr sz="1050" b="0">
                          <a:solidFill>
                            <a:srgbClr val="2A2E30"/>
                          </a:solidFill>
                          <a:latin typeface="Arial"/>
                        </a:rPr>
                        <a:t>54</a:t>
                      </a:r>
                    </a:p>
                  </a:txBody>
                  <a:tcPr marL="54864" marR="54864" marT="18288" marB="18288" anchor="ctr">
                    <a:solidFill>
                      <a:srgbClr val="FFFFFF"/>
                    </a:solidFill>
                  </a:tcPr>
                </a:tc>
                <a:tc>
                  <a:txBody>
                    <a:bodyPr wrap="square"/>
                    <a:lstStyle/>
                    <a:p>
                      <a:pPr algn="r"/>
                      <a:r>
                        <a:rPr sz="1050" b="0">
                          <a:solidFill>
                            <a:srgbClr val="2A2E30"/>
                          </a:solidFill>
                          <a:latin typeface="Arial"/>
                        </a:rPr>
                        <a:t>14.8%</a:t>
                      </a:r>
                    </a:p>
                  </a:txBody>
                  <a:tcPr marL="54864" marR="54864" marT="18288" marB="18288" anchor="ctr">
                    <a:solidFill>
                      <a:srgbClr val="FFFFFF"/>
                    </a:solidFill>
                  </a:tcPr>
                </a:tc>
              </a:tr>
              <a:tr h="292608">
                <a:tc>
                  <a:txBody>
                    <a:bodyPr wrap="square"/>
                    <a:lstStyle/>
                    <a:p>
                      <a:pPr algn="l"/>
                      <a:r>
                        <a:rPr sz="1050" b="0">
                          <a:solidFill>
                            <a:srgbClr val="2A2E30"/>
                          </a:solidFill>
                          <a:latin typeface="Arial"/>
                        </a:rPr>
                        <a:t>Cohort</a:t>
                      </a:r>
                    </a:p>
                  </a:txBody>
                  <a:tcPr marL="54864" marR="54864" marT="18288" marB="18288" anchor="ctr">
                    <a:solidFill>
                      <a:srgbClr val="F7F8F8"/>
                    </a:solidFill>
                  </a:tcPr>
                </a:tc>
                <a:tc>
                  <a:txBody>
                    <a:bodyPr wrap="square"/>
                    <a:lstStyle/>
                    <a:p>
                      <a:pPr algn="r"/>
                      <a:r>
                        <a:rPr sz="1050" b="0">
                          <a:solidFill>
                            <a:srgbClr val="2A2E30"/>
                          </a:solidFill>
                          <a:latin typeface="Arial"/>
                        </a:rPr>
                        <a:t>1,103</a:t>
                      </a:r>
                    </a:p>
                  </a:txBody>
                  <a:tcPr marL="54864" marR="54864" marT="18288" marB="18288" anchor="ctr">
                    <a:solidFill>
                      <a:srgbClr val="F7F8F8"/>
                    </a:solidFill>
                  </a:tcPr>
                </a:tc>
                <a:tc>
                  <a:txBody>
                    <a:bodyPr wrap="square"/>
                    <a:lstStyle/>
                    <a:p>
                      <a:pPr algn="r"/>
                      <a:r>
                        <a:rPr sz="1050" b="0">
                          <a:solidFill>
                            <a:srgbClr val="2A2E30"/>
                          </a:solidFill>
                          <a:latin typeface="Arial"/>
                        </a:rPr>
                        <a:t>7.6%</a:t>
                      </a:r>
                    </a:p>
                  </a:txBody>
                  <a:tcPr marL="54864" marR="54864" marT="18288" marB="18288" anchor="ctr">
                    <a:solidFill>
                      <a:srgbClr val="F7F8F8"/>
                    </a:solidFill>
                  </a:tcPr>
                </a:tc>
              </a:tr>
            </a:tbl>
          </a:graphicData>
        </a:graphic>
      </p:graphicFrame>
      <p:sp>
        <p:nvSpPr>
          <p:cNvPr id="14" name="TextBox 13"/>
          <p:cNvSpPr txBox="1"/>
          <p:nvPr/>
        </p:nvSpPr>
        <p:spPr>
          <a:xfrm>
            <a:off x="3977639" y="3383280"/>
            <a:ext cx="3017520" cy="548640"/>
          </a:xfrm>
          <a:prstGeom prst="rect">
            <a:avLst/>
          </a:prstGeom>
          <a:noFill/>
        </p:spPr>
        <p:txBody>
          <a:bodyPr wrap="square">
            <a:spAutoFit/>
          </a:bodyPr>
          <a:lstStyle/>
          <a:p>
            <a:pPr algn="l"/>
            <a:r>
              <a:rPr sz="1050" b="0">
                <a:solidFill>
                  <a:srgbClr val="505759"/>
                </a:solidFill>
                <a:latin typeface="Arial"/>
              </a:rPr>
              <a:t>Prevalence rises 6.5% → 14.8% across sites — a source of distribution shift for leave-one-site-out validation.</a:t>
            </a:r>
          </a:p>
        </p:txBody>
      </p:sp>
      <p:sp>
        <p:nvSpPr>
          <p:cNvPr id="15" name="TextBox 14"/>
          <p:cNvSpPr txBox="1"/>
          <p:nvPr/>
        </p:nvSpPr>
        <p:spPr>
          <a:xfrm>
            <a:off x="548640" y="3364992"/>
            <a:ext cx="3200400" cy="822960"/>
          </a:xfrm>
          <a:prstGeom prst="rect">
            <a:avLst/>
          </a:prstGeom>
          <a:noFill/>
        </p:spPr>
        <p:txBody>
          <a:bodyPr wrap="square">
            <a:spAutoFit/>
          </a:bodyPr>
          <a:lstStyle/>
          <a:p>
            <a:pPr algn="l"/>
            <a:r>
              <a:rPr sz="1200" b="1">
                <a:solidFill>
                  <a:srgbClr val="2A2E30"/>
                </a:solidFill>
                <a:latin typeface="Arial"/>
              </a:rPr>
              <a:t>Label</a:t>
            </a:r>
            <a:r>
              <a:rPr sz="1200" b="0">
                <a:solidFill>
                  <a:srgbClr val="505759"/>
                </a:solidFill>
                <a:latin typeface="Arial"/>
              </a:rPr>
              <a:t> = </a:t>
            </a:r>
            <a:r>
              <a:rPr sz="1200" b="1">
                <a:solidFill>
                  <a:srgbClr val="2A2E30"/>
                </a:solidFill>
                <a:latin typeface="Arial"/>
              </a:rPr>
              <a:t>Cognitive_Impairment</a:t>
            </a:r>
            <a:r>
              <a:rPr sz="1200" b="0">
                <a:solidFill>
                  <a:srgbClr val="505759"/>
                </a:solidFill>
                <a:latin typeface="Arial"/>
              </a:rPr>
              <a:t>  ·  84 positive / 1,019 negative, 0 missing.</a:t>
            </a:r>
          </a:p>
        </p:txBody>
      </p:sp>
      <p:sp>
        <p:nvSpPr>
          <p:cNvPr id="16" name="TextBox 15"/>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Both problems the metric fixes are visible in our data</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DATASET · WHY THE METRIC IS BUILT THIS WAY</a:t>
            </a:r>
          </a:p>
        </p:txBody>
      </p:sp>
      <p:pic>
        <p:nvPicPr>
          <p:cNvPr id="5" name="Picture 4" descr="fig1_age_prevalence.png"/>
          <p:cNvPicPr>
            <a:picLocks noChangeAspect="1"/>
          </p:cNvPicPr>
          <p:nvPr/>
        </p:nvPicPr>
        <p:blipFill>
          <a:blip r:embed="rId2"/>
          <a:stretch>
            <a:fillRect/>
          </a:stretch>
        </p:blipFill>
        <p:spPr>
          <a:xfrm>
            <a:off x="502920" y="1867764"/>
            <a:ext cx="3246120" cy="2345230"/>
          </a:xfrm>
          <a:prstGeom prst="rect">
            <a:avLst/>
          </a:prstGeom>
        </p:spPr>
      </p:pic>
      <p:pic>
        <p:nvPicPr>
          <p:cNvPr id="6" name="Picture 5" descr="fig2_site_prevalence.png"/>
          <p:cNvPicPr>
            <a:picLocks noChangeAspect="1"/>
          </p:cNvPicPr>
          <p:nvPr/>
        </p:nvPicPr>
        <p:blipFill>
          <a:blip r:embed="rId3"/>
          <a:stretch>
            <a:fillRect/>
          </a:stretch>
        </p:blipFill>
        <p:spPr>
          <a:xfrm>
            <a:off x="3794760" y="1885879"/>
            <a:ext cx="3200400" cy="2309000"/>
          </a:xfrm>
          <a:prstGeom prst="rect">
            <a:avLst/>
          </a:prstGeom>
        </p:spPr>
      </p:pic>
      <p:sp>
        <p:nvSpPr>
          <p:cNvPr id="7" name="TextBox 6"/>
          <p:cNvSpPr txBox="1"/>
          <p:nvPr/>
        </p:nvSpPr>
        <p:spPr>
          <a:xfrm>
            <a:off x="548640" y="4526280"/>
            <a:ext cx="6492240" cy="457200"/>
          </a:xfrm>
          <a:prstGeom prst="rect">
            <a:avLst/>
          </a:prstGeom>
          <a:noFill/>
        </p:spPr>
        <p:txBody>
          <a:bodyPr wrap="square">
            <a:spAutoFit/>
          </a:bodyPr>
          <a:lstStyle/>
          <a:p>
            <a:pPr algn="l"/>
            <a:r>
              <a:rPr sz="1150" b="1">
                <a:solidFill>
                  <a:srgbClr val="C8102E"/>
                </a:solidFill>
                <a:latin typeface="Arial"/>
              </a:rPr>
              <a:t>Prevalence climbs 2% → 36% across age bands</a:t>
            </a:r>
            <a:r>
              <a:rPr sz="1150" b="0">
                <a:solidFill>
                  <a:srgbClr val="505759"/>
                </a:solidFill>
                <a:latin typeface="Arial"/>
              </a:rPr>
              <a:t> (→ age-conditioned AUROC) and shifts by site </a:t>
            </a:r>
            <a:r>
              <a:rPr sz="1150" b="1">
                <a:solidFill>
                  <a:srgbClr val="2A2E30"/>
                </a:solidFill>
                <a:latin typeface="Arial"/>
              </a:rPr>
              <a:t>6.5% → 14.8%</a:t>
            </a:r>
            <a:r>
              <a:rPr sz="1150" b="0">
                <a:solidFill>
                  <a:srgbClr val="505759"/>
                </a:solidFill>
                <a:latin typeface="Arial"/>
              </a:rPr>
              <a:t> (→ leave-one-site-out validation).</a:t>
            </a:r>
          </a:p>
        </p:txBody>
      </p:sp>
      <p:sp>
        <p:nvSpPr>
          <p:cNvPr id="8" name="TextBox 7"/>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Rich signals, but wildly heterogeneous montages</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DATASET · BIOSIGNALS (header scan of 1,103 EDFs)</a:t>
            </a:r>
          </a:p>
        </p:txBody>
      </p:sp>
      <p:pic>
        <p:nvPicPr>
          <p:cNvPr id="5" name="Picture 4" descr="fig5_montage_heterogeneity.png"/>
          <p:cNvPicPr>
            <a:picLocks noChangeAspect="1"/>
          </p:cNvPicPr>
          <p:nvPr/>
        </p:nvPicPr>
        <p:blipFill>
          <a:blip r:embed="rId2"/>
          <a:stretch>
            <a:fillRect/>
          </a:stretch>
        </p:blipFill>
        <p:spPr>
          <a:xfrm>
            <a:off x="502920" y="1842691"/>
            <a:ext cx="3566160" cy="2441096"/>
          </a:xfrm>
          <a:prstGeom prst="rect">
            <a:avLst/>
          </a:prstGeom>
        </p:spPr>
      </p:pic>
      <p:sp>
        <p:nvSpPr>
          <p:cNvPr id="6" name="TextBox 5"/>
          <p:cNvSpPr txBox="1"/>
          <p:nvPr/>
        </p:nvSpPr>
        <p:spPr>
          <a:xfrm>
            <a:off x="4251960" y="1600200"/>
            <a:ext cx="2743200" cy="731520"/>
          </a:xfrm>
          <a:prstGeom prst="rect">
            <a:avLst/>
          </a:prstGeom>
          <a:noFill/>
        </p:spPr>
        <p:txBody>
          <a:bodyPr wrap="square">
            <a:spAutoFit/>
          </a:bodyPr>
          <a:lstStyle/>
          <a:p>
            <a:pPr algn="l"/>
            <a:r>
              <a:rPr sz="1200" b="1">
                <a:solidFill>
                  <a:srgbClr val="2A2E30"/>
                </a:solidFill>
                <a:latin typeface="Arial"/>
              </a:rPr>
              <a:t>EKG present in 98.9%</a:t>
            </a:r>
            <a:r>
              <a:rPr sz="1200" b="0">
                <a:solidFill>
                  <a:srgbClr val="505759"/>
                </a:solidFill>
                <a:latin typeface="Arial"/>
              </a:rPr>
              <a:t> of recordings; core EEG (F3/C3/O1…) and SaO₂ in ~81%.</a:t>
            </a:r>
          </a:p>
        </p:txBody>
      </p:sp>
      <p:sp>
        <p:nvSpPr>
          <p:cNvPr id="7" name="TextBox 6"/>
          <p:cNvSpPr txBox="1"/>
          <p:nvPr/>
        </p:nvSpPr>
        <p:spPr>
          <a:xfrm>
            <a:off x="4251960" y="2203704"/>
            <a:ext cx="2743200" cy="731520"/>
          </a:xfrm>
          <a:prstGeom prst="rect">
            <a:avLst/>
          </a:prstGeom>
          <a:noFill/>
        </p:spPr>
        <p:txBody>
          <a:bodyPr wrap="square">
            <a:spAutoFit/>
          </a:bodyPr>
          <a:lstStyle/>
          <a:p>
            <a:pPr algn="l"/>
            <a:r>
              <a:rPr sz="1200" b="1">
                <a:solidFill>
                  <a:srgbClr val="2A2E30"/>
                </a:solidFill>
                <a:latin typeface="Arial"/>
              </a:rPr>
              <a:t>16 – 88 channels</a:t>
            </a:r>
            <a:r>
              <a:rPr sz="1200" b="0">
                <a:solidFill>
                  <a:srgbClr val="505759"/>
                </a:solidFill>
                <a:latin typeface="Arial"/>
              </a:rPr>
              <a:t> per file; sampling rates span </a:t>
            </a:r>
            <a:r>
              <a:rPr sz="1200" b="1">
                <a:solidFill>
                  <a:srgbClr val="2A2E30"/>
                </a:solidFill>
                <a:latin typeface="Arial"/>
              </a:rPr>
              <a:t>20 – 512 Hz.</a:t>
            </a:r>
          </a:p>
        </p:txBody>
      </p:sp>
      <p:sp>
        <p:nvSpPr>
          <p:cNvPr id="8" name="TextBox 7"/>
          <p:cNvSpPr txBox="1"/>
          <p:nvPr/>
        </p:nvSpPr>
        <p:spPr>
          <a:xfrm>
            <a:off x="4251960" y="2807208"/>
            <a:ext cx="2743200" cy="731520"/>
          </a:xfrm>
          <a:prstGeom prst="rect">
            <a:avLst/>
          </a:prstGeom>
          <a:noFill/>
        </p:spPr>
        <p:txBody>
          <a:bodyPr wrap="square">
            <a:spAutoFit/>
          </a:bodyPr>
          <a:lstStyle/>
          <a:p>
            <a:pPr algn="l"/>
            <a:r>
              <a:rPr sz="1200" b="1">
                <a:solidFill>
                  <a:srgbClr val="C8102E"/>
                </a:solidFill>
                <a:latin typeface="Arial"/>
              </a:rPr>
              <a:t>BIDMC alone uses 42 distinct channel sets</a:t>
            </a:r>
            <a:r>
              <a:rPr sz="1200" b="0">
                <a:solidFill>
                  <a:srgbClr val="505759"/>
                </a:solidFill>
                <a:latin typeface="Arial"/>
              </a:rPr>
              <a:t>; Kaiser 9, Emory 8.</a:t>
            </a:r>
          </a:p>
        </p:txBody>
      </p:sp>
      <p:sp>
        <p:nvSpPr>
          <p:cNvPr id="9" name="TextBox 8"/>
          <p:cNvSpPr txBox="1"/>
          <p:nvPr/>
        </p:nvSpPr>
        <p:spPr>
          <a:xfrm>
            <a:off x="4251960" y="3410712"/>
            <a:ext cx="2743200" cy="731520"/>
          </a:xfrm>
          <a:prstGeom prst="rect">
            <a:avLst/>
          </a:prstGeom>
          <a:noFill/>
        </p:spPr>
        <p:txBody>
          <a:bodyPr wrap="square">
            <a:spAutoFit/>
          </a:bodyPr>
          <a:lstStyle/>
          <a:p>
            <a:pPr algn="l"/>
            <a:r>
              <a:rPr sz="1200" b="1">
                <a:solidFill>
                  <a:srgbClr val="2A2E30"/>
                </a:solidFill>
                <a:latin typeface="Arial"/>
              </a:rPr>
              <a:t>Same sensor, many labels</a:t>
            </a:r>
            <a:r>
              <a:rPr sz="1200" b="0">
                <a:solidFill>
                  <a:srgbClr val="505759"/>
                </a:solidFill>
                <a:latin typeface="Arial"/>
              </a:rPr>
              <a:t> (SaO2 vs SpO2, CHEST vs Thorax) and mixed units.</a:t>
            </a:r>
          </a:p>
        </p:txBody>
      </p:sp>
      <p:sp>
        <p:nvSpPr>
          <p:cNvPr id="10" name="TextBox 9"/>
          <p:cNvSpPr txBox="1"/>
          <p:nvPr/>
        </p:nvSpPr>
        <p:spPr>
          <a:xfrm>
            <a:off x="4251960" y="4014216"/>
            <a:ext cx="2743200" cy="731520"/>
          </a:xfrm>
          <a:prstGeom prst="rect">
            <a:avLst/>
          </a:prstGeom>
          <a:noFill/>
        </p:spPr>
        <p:txBody>
          <a:bodyPr wrap="square">
            <a:spAutoFit/>
          </a:bodyPr>
          <a:lstStyle/>
          <a:p>
            <a:pPr algn="l"/>
            <a:r>
              <a:rPr sz="1200" b="1">
                <a:solidFill>
                  <a:srgbClr val="C8102E"/>
                </a:solidFill>
                <a:latin typeface="Arial"/>
              </a:rPr>
              <a:t>Implication:</a:t>
            </a:r>
            <a:r>
              <a:rPr sz="1200" b="0">
                <a:solidFill>
                  <a:srgbClr val="505759"/>
                </a:solidFill>
                <a:latin typeface="Arial"/>
              </a:rPr>
              <a:t> features are computed per channel role and must degrade gracefully when a channel is absent.</a:t>
            </a:r>
          </a:p>
        </p:txBody>
      </p:sp>
      <p:sp>
        <p:nvSpPr>
          <p:cNvPr id="11" name="TextBox 10"/>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Fragmented sleep and heavy disordered breathing</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DATASET · SLEEP ARCHITECTURE (CAISR annotations)</a:t>
            </a:r>
          </a:p>
        </p:txBody>
      </p:sp>
      <p:pic>
        <p:nvPicPr>
          <p:cNvPr id="5" name="Picture 4" descr="fig3_stage_composition.png"/>
          <p:cNvPicPr>
            <a:picLocks noChangeAspect="1"/>
          </p:cNvPicPr>
          <p:nvPr/>
        </p:nvPicPr>
        <p:blipFill>
          <a:blip r:embed="rId2"/>
          <a:stretch>
            <a:fillRect/>
          </a:stretch>
        </p:blipFill>
        <p:spPr>
          <a:xfrm>
            <a:off x="1476655" y="1417320"/>
            <a:ext cx="4544768" cy="1600200"/>
          </a:xfrm>
          <a:prstGeom prst="rect">
            <a:avLst/>
          </a:prstGeom>
        </p:spPr>
      </p:pic>
      <p:sp>
        <p:nvSpPr>
          <p:cNvPr id="6" name="Rounded Rectangle 5"/>
          <p:cNvSpPr/>
          <p:nvPr/>
        </p:nvSpPr>
        <p:spPr>
          <a:xfrm>
            <a:off x="548640" y="3200400"/>
            <a:ext cx="1517904" cy="86868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291840"/>
            <a:ext cx="1298448" cy="685800"/>
          </a:xfrm>
          <a:prstGeom prst="rect">
            <a:avLst/>
          </a:prstGeom>
          <a:noFill/>
        </p:spPr>
        <p:txBody>
          <a:bodyPr wrap="square">
            <a:spAutoFit/>
          </a:bodyPr>
          <a:lstStyle/>
          <a:p>
            <a:pPr algn="l"/>
            <a:r>
              <a:rPr sz="2100" b="1">
                <a:solidFill>
                  <a:srgbClr val="346583"/>
                </a:solidFill>
                <a:latin typeface="Arial"/>
              </a:rPr>
              <a:t>73.6%</a:t>
            </a:r>
          </a:p>
          <a:p>
            <a:pPr algn="l"/>
            <a:r>
              <a:rPr sz="950" b="0">
                <a:solidFill>
                  <a:srgbClr val="505759"/>
                </a:solidFill>
                <a:latin typeface="Arial"/>
              </a:rPr>
              <a:t>sleep efficiency (median 76.8%)</a:t>
            </a:r>
          </a:p>
        </p:txBody>
      </p:sp>
      <p:sp>
        <p:nvSpPr>
          <p:cNvPr id="8" name="Rounded Rectangle 7"/>
          <p:cNvSpPr/>
          <p:nvPr/>
        </p:nvSpPr>
        <p:spPr>
          <a:xfrm>
            <a:off x="2194560" y="3200400"/>
            <a:ext cx="1517904" cy="86868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04288" y="3291840"/>
            <a:ext cx="1298448" cy="685800"/>
          </a:xfrm>
          <a:prstGeom prst="rect">
            <a:avLst/>
          </a:prstGeom>
          <a:noFill/>
        </p:spPr>
        <p:txBody>
          <a:bodyPr wrap="square">
            <a:spAutoFit/>
          </a:bodyPr>
          <a:lstStyle/>
          <a:p>
            <a:pPr algn="l"/>
            <a:r>
              <a:rPr sz="2100" b="1">
                <a:solidFill>
                  <a:srgbClr val="C8102E"/>
                </a:solidFill>
                <a:latin typeface="Arial"/>
              </a:rPr>
              <a:t>47.9</a:t>
            </a:r>
          </a:p>
          <a:p>
            <a:pPr algn="l"/>
            <a:r>
              <a:rPr sz="950" b="0">
                <a:solidFill>
                  <a:srgbClr val="505759"/>
                </a:solidFill>
                <a:latin typeface="Arial"/>
              </a:rPr>
              <a:t>AHI events / h of sleep</a:t>
            </a:r>
          </a:p>
        </p:txBody>
      </p:sp>
      <p:sp>
        <p:nvSpPr>
          <p:cNvPr id="10" name="Rounded Rectangle 9"/>
          <p:cNvSpPr/>
          <p:nvPr/>
        </p:nvSpPr>
        <p:spPr>
          <a:xfrm>
            <a:off x="3840479" y="3200400"/>
            <a:ext cx="1517904" cy="86868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0207" y="3291840"/>
            <a:ext cx="1298448" cy="685800"/>
          </a:xfrm>
          <a:prstGeom prst="rect">
            <a:avLst/>
          </a:prstGeom>
          <a:noFill/>
        </p:spPr>
        <p:txBody>
          <a:bodyPr wrap="square">
            <a:spAutoFit/>
          </a:bodyPr>
          <a:lstStyle/>
          <a:p>
            <a:pPr algn="l"/>
            <a:r>
              <a:rPr sz="2100" b="1">
                <a:solidFill>
                  <a:srgbClr val="2A2E30"/>
                </a:solidFill>
                <a:latin typeface="Arial"/>
              </a:rPr>
              <a:t>39.7</a:t>
            </a:r>
          </a:p>
          <a:p>
            <a:pPr algn="l"/>
            <a:r>
              <a:rPr sz="950" b="0">
                <a:solidFill>
                  <a:srgbClr val="505759"/>
                </a:solidFill>
                <a:latin typeface="Arial"/>
              </a:rPr>
              <a:t>arousal index / h</a:t>
            </a:r>
          </a:p>
        </p:txBody>
      </p:sp>
      <p:sp>
        <p:nvSpPr>
          <p:cNvPr id="12" name="Rounded Rectangle 11"/>
          <p:cNvSpPr/>
          <p:nvPr/>
        </p:nvSpPr>
        <p:spPr>
          <a:xfrm>
            <a:off x="5486399" y="3200400"/>
            <a:ext cx="1517904" cy="86868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96127" y="3291840"/>
            <a:ext cx="1298448" cy="685800"/>
          </a:xfrm>
          <a:prstGeom prst="rect">
            <a:avLst/>
          </a:prstGeom>
          <a:noFill/>
        </p:spPr>
        <p:txBody>
          <a:bodyPr wrap="square">
            <a:spAutoFit/>
          </a:bodyPr>
          <a:lstStyle/>
          <a:p>
            <a:pPr algn="l"/>
            <a:r>
              <a:rPr sz="2100" b="1">
                <a:solidFill>
                  <a:srgbClr val="2A2E30"/>
                </a:solidFill>
                <a:latin typeface="Arial"/>
              </a:rPr>
              <a:t>332</a:t>
            </a:r>
          </a:p>
          <a:p>
            <a:pPr algn="l"/>
            <a:r>
              <a:rPr sz="950" b="0">
                <a:solidFill>
                  <a:srgbClr val="505759"/>
                </a:solidFill>
                <a:latin typeface="Arial"/>
              </a:rPr>
              <a:t>total sleep time (min)</a:t>
            </a:r>
          </a:p>
        </p:txBody>
      </p:sp>
      <p:sp>
        <p:nvSpPr>
          <p:cNvPr id="14" name="TextBox 13"/>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Impaired patients sleep measurably worse</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DATASET · THE LEARNABLE SIGNAL (CI vs non-CI)</a:t>
            </a:r>
          </a:p>
        </p:txBody>
      </p:sp>
      <p:pic>
        <p:nvPicPr>
          <p:cNvPr id="5" name="Picture 4" descr="fig4_ci_vs_noci.png"/>
          <p:cNvPicPr>
            <a:picLocks noChangeAspect="1"/>
          </p:cNvPicPr>
          <p:nvPr/>
        </p:nvPicPr>
        <p:blipFill>
          <a:blip r:embed="rId2"/>
          <a:stretch>
            <a:fillRect/>
          </a:stretch>
        </p:blipFill>
        <p:spPr>
          <a:xfrm>
            <a:off x="1080495" y="1417320"/>
            <a:ext cx="5337089" cy="3337560"/>
          </a:xfrm>
          <a:prstGeom prst="rect">
            <a:avLst/>
          </a:prstGeom>
        </p:spPr>
      </p:pic>
      <p:sp>
        <p:nvSpPr>
          <p:cNvPr id="6" name="TextBox 5"/>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impaired sleep breaks down, stage by stage</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DATASET · STAGE-TRANSITION DYNAMICS</a:t>
            </a:r>
          </a:p>
        </p:txBody>
      </p:sp>
      <p:pic>
        <p:nvPicPr>
          <p:cNvPr id="5" name="Picture 4" descr="fig7_transition_matrix.png"/>
          <p:cNvPicPr>
            <a:picLocks noChangeAspect="1"/>
          </p:cNvPicPr>
          <p:nvPr/>
        </p:nvPicPr>
        <p:blipFill>
          <a:blip r:embed="rId2"/>
          <a:stretch>
            <a:fillRect/>
          </a:stretch>
        </p:blipFill>
        <p:spPr>
          <a:xfrm>
            <a:off x="1004721" y="1463040"/>
            <a:ext cx="5488637" cy="2514600"/>
          </a:xfrm>
          <a:prstGeom prst="rect">
            <a:avLst/>
          </a:prstGeom>
        </p:spPr>
      </p:pic>
      <p:sp>
        <p:nvSpPr>
          <p:cNvPr id="6" name="TextBox 5"/>
          <p:cNvSpPr txBox="1"/>
          <p:nvPr/>
        </p:nvSpPr>
        <p:spPr>
          <a:xfrm>
            <a:off x="548640" y="4114800"/>
            <a:ext cx="6492240" cy="822960"/>
          </a:xfrm>
          <a:prstGeom prst="rect">
            <a:avLst/>
          </a:prstGeom>
          <a:noFill/>
        </p:spPr>
        <p:txBody>
          <a:bodyPr wrap="square">
            <a:spAutoFit/>
          </a:bodyPr>
          <a:lstStyle/>
          <a:p>
            <a:pPr algn="l"/>
            <a:r>
              <a:rPr sz="1200" b="0">
                <a:solidFill>
                  <a:srgbClr val="505759"/>
                </a:solidFill>
                <a:latin typeface="Arial"/>
              </a:rPr>
              <a:t>Each cell = P(row stage → next epoch's stage). </a:t>
            </a:r>
            <a:r>
              <a:rPr sz="1200" b="1">
                <a:solidFill>
                  <a:srgbClr val="C8102E"/>
                </a:solidFill>
                <a:latin typeface="Arial"/>
              </a:rPr>
              <a:t>Impaired patients show a destabilized deep sleep</a:t>
            </a:r>
            <a:r>
              <a:rPr sz="1200" b="0">
                <a:solidFill>
                  <a:srgbClr val="505759"/>
                </a:solidFill>
                <a:latin typeface="Arial"/>
              </a:rPr>
              <a:t> — N3→N3 drops 5.4 pts while N3→N2 rises 6.0 — and less stable REM (−4.8). The mechanism behind their fragmentation.</a:t>
            </a:r>
          </a:p>
        </p:txBody>
      </p:sp>
      <p:sp>
        <p:nvSpPr>
          <p:cNvPr id="7" name="TextBox 6"/>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Which features actually separate the groups?</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DATASET · FEATURE SIGNIFICANCE (χ² / t-test, FDR-corrected)</a:t>
            </a:r>
          </a:p>
        </p:txBody>
      </p:sp>
      <p:pic>
        <p:nvPicPr>
          <p:cNvPr id="5" name="Picture 4" descr="fig8_feature_significance.png"/>
          <p:cNvPicPr>
            <a:picLocks noChangeAspect="1"/>
          </p:cNvPicPr>
          <p:nvPr/>
        </p:nvPicPr>
        <p:blipFill>
          <a:blip r:embed="rId2"/>
          <a:stretch>
            <a:fillRect/>
          </a:stretch>
        </p:blipFill>
        <p:spPr>
          <a:xfrm>
            <a:off x="457200" y="1481328"/>
            <a:ext cx="3520440" cy="2260299"/>
          </a:xfrm>
          <a:prstGeom prst="rect">
            <a:avLst/>
          </a:prstGeom>
        </p:spPr>
      </p:pic>
      <p:sp>
        <p:nvSpPr>
          <p:cNvPr id="6" name="TextBox 5"/>
          <p:cNvSpPr txBox="1"/>
          <p:nvPr/>
        </p:nvSpPr>
        <p:spPr>
          <a:xfrm>
            <a:off x="4160520" y="1572768"/>
            <a:ext cx="2834640" cy="777240"/>
          </a:xfrm>
          <a:prstGeom prst="rect">
            <a:avLst/>
          </a:prstGeom>
          <a:noFill/>
        </p:spPr>
        <p:txBody>
          <a:bodyPr wrap="square">
            <a:spAutoFit/>
          </a:bodyPr>
          <a:lstStyle/>
          <a:p>
            <a:pPr algn="l"/>
            <a:r>
              <a:rPr sz="1200" b="1">
                <a:solidFill>
                  <a:srgbClr val="2A2E30"/>
                </a:solidFill>
                <a:latin typeface="Arial"/>
              </a:rPr>
              <a:t>14 of 48 features</a:t>
            </a:r>
            <a:r>
              <a:rPr sz="1200" b="0">
                <a:solidFill>
                  <a:srgbClr val="505759"/>
                </a:solidFill>
                <a:latin typeface="Arial"/>
              </a:rPr>
              <a:t> are significant at FDR q&lt;0.05.</a:t>
            </a:r>
          </a:p>
        </p:txBody>
      </p:sp>
      <p:sp>
        <p:nvSpPr>
          <p:cNvPr id="7" name="TextBox 6"/>
          <p:cNvSpPr txBox="1"/>
          <p:nvPr/>
        </p:nvSpPr>
        <p:spPr>
          <a:xfrm>
            <a:off x="4160520" y="2194560"/>
            <a:ext cx="2834640" cy="777240"/>
          </a:xfrm>
          <a:prstGeom prst="rect">
            <a:avLst/>
          </a:prstGeom>
          <a:noFill/>
        </p:spPr>
        <p:txBody>
          <a:bodyPr wrap="square">
            <a:spAutoFit/>
          </a:bodyPr>
          <a:lstStyle/>
          <a:p>
            <a:pPr algn="l"/>
            <a:r>
              <a:rPr sz="1200" b="1">
                <a:solidFill>
                  <a:srgbClr val="C8102E"/>
                </a:solidFill>
                <a:latin typeface="Arial"/>
              </a:rPr>
              <a:t>Age dominates</a:t>
            </a:r>
            <a:r>
              <a:rPr sz="1200" b="0">
                <a:solidFill>
                  <a:srgbClr val="505759"/>
                </a:solidFill>
                <a:latin typeface="Arial"/>
              </a:rPr>
              <a:t> (Cohen d = 1.08) — exactly why the metric discounts it.</a:t>
            </a:r>
          </a:p>
        </p:txBody>
      </p:sp>
      <p:sp>
        <p:nvSpPr>
          <p:cNvPr id="8" name="TextBox 7"/>
          <p:cNvSpPr txBox="1"/>
          <p:nvPr/>
        </p:nvSpPr>
        <p:spPr>
          <a:xfrm>
            <a:off x="4160520" y="2816352"/>
            <a:ext cx="2834640" cy="777240"/>
          </a:xfrm>
          <a:prstGeom prst="rect">
            <a:avLst/>
          </a:prstGeom>
          <a:noFill/>
        </p:spPr>
        <p:txBody>
          <a:bodyPr wrap="square">
            <a:spAutoFit/>
          </a:bodyPr>
          <a:lstStyle/>
          <a:p>
            <a:pPr algn="l"/>
            <a:r>
              <a:rPr sz="1200" b="0">
                <a:solidFill>
                  <a:srgbClr val="505759"/>
                </a:solidFill>
                <a:latin typeface="Arial"/>
              </a:rPr>
              <a:t>Then: </a:t>
            </a:r>
            <a:r>
              <a:rPr sz="1200" b="1">
                <a:solidFill>
                  <a:srgbClr val="2A2E30"/>
                </a:solidFill>
                <a:latin typeface="Arial"/>
              </a:rPr>
              <a:t>limb movements, ↓REM, ↑WASO/Wake, ↓efficiency &amp; entropy, fewer REM periods, ↓N3.</a:t>
            </a:r>
          </a:p>
        </p:txBody>
      </p:sp>
      <p:sp>
        <p:nvSpPr>
          <p:cNvPr id="9" name="TextBox 8"/>
          <p:cNvSpPr txBox="1"/>
          <p:nvPr/>
        </p:nvSpPr>
        <p:spPr>
          <a:xfrm>
            <a:off x="4160520" y="3438144"/>
            <a:ext cx="2834640" cy="777240"/>
          </a:xfrm>
          <a:prstGeom prst="rect">
            <a:avLst/>
          </a:prstGeom>
          <a:noFill/>
        </p:spPr>
        <p:txBody>
          <a:bodyPr wrap="square">
            <a:spAutoFit/>
          </a:bodyPr>
          <a:lstStyle/>
          <a:p>
            <a:pPr algn="l"/>
            <a:r>
              <a:rPr sz="1200" b="1">
                <a:solidFill>
                  <a:srgbClr val="C8102E"/>
                </a:solidFill>
                <a:latin typeface="Arial"/>
              </a:rPr>
              <a:t>AHI is NOT significant</a:t>
            </a:r>
            <a:r>
              <a:rPr sz="1200" b="0">
                <a:solidFill>
                  <a:srgbClr val="505759"/>
                </a:solidFill>
                <a:latin typeface="Arial"/>
              </a:rPr>
              <a:t> (d=0.19) — signal is in sleep architecture &amp; continuity, not apnea load.</a:t>
            </a:r>
          </a:p>
        </p:txBody>
      </p:sp>
      <p:sp>
        <p:nvSpPr>
          <p:cNvPr id="10" name="TextBox 9"/>
          <p:cNvSpPr txBox="1"/>
          <p:nvPr/>
        </p:nvSpPr>
        <p:spPr>
          <a:xfrm>
            <a:off x="4160520" y="4059936"/>
            <a:ext cx="2834640" cy="777240"/>
          </a:xfrm>
          <a:prstGeom prst="rect">
            <a:avLst/>
          </a:prstGeom>
          <a:noFill/>
        </p:spPr>
        <p:txBody>
          <a:bodyPr wrap="square">
            <a:spAutoFit/>
          </a:bodyPr>
          <a:lstStyle/>
          <a:p>
            <a:pPr algn="l"/>
            <a:r>
              <a:rPr sz="1200" b="0">
                <a:solidFill>
                  <a:srgbClr val="505759"/>
                </a:solidFill>
                <a:latin typeface="Arial"/>
              </a:rPr>
              <a:t>Method: </a:t>
            </a:r>
            <a:r>
              <a:rPr sz="1150" b="0">
                <a:solidFill>
                  <a:srgbClr val="505759"/>
                </a:solidFill>
                <a:latin typeface="Arial"/>
              </a:rPr>
              <a:t>Welch t (numeric) + χ² (categorical), Benjamini–Hochberg FDR.</a:t>
            </a:r>
          </a:p>
        </p:txBody>
      </p:sp>
      <p:sp>
        <p:nvSpPr>
          <p:cNvPr id="11" name="TextBox 10"/>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What's present, and what we have to handle</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DATASET · COMPLETENESS &amp; QUALITY</a:t>
            </a:r>
          </a:p>
        </p:txBody>
      </p:sp>
      <p:pic>
        <p:nvPicPr>
          <p:cNvPr id="5" name="Picture 4" descr="fig6_data_completeness.png"/>
          <p:cNvPicPr>
            <a:picLocks noChangeAspect="1"/>
          </p:cNvPicPr>
          <p:nvPr/>
        </p:nvPicPr>
        <p:blipFill>
          <a:blip r:embed="rId2"/>
          <a:stretch>
            <a:fillRect/>
          </a:stretch>
        </p:blipFill>
        <p:spPr>
          <a:xfrm>
            <a:off x="502920" y="1937269"/>
            <a:ext cx="3611880" cy="2251941"/>
          </a:xfrm>
          <a:prstGeom prst="rect">
            <a:avLst/>
          </a:prstGeom>
        </p:spPr>
      </p:pic>
      <p:sp>
        <p:nvSpPr>
          <p:cNvPr id="6" name="TextBox 5"/>
          <p:cNvSpPr txBox="1"/>
          <p:nvPr/>
        </p:nvSpPr>
        <p:spPr>
          <a:xfrm>
            <a:off x="4297680" y="1600200"/>
            <a:ext cx="2697480" cy="731520"/>
          </a:xfrm>
          <a:prstGeom prst="rect">
            <a:avLst/>
          </a:prstGeom>
          <a:noFill/>
        </p:spPr>
        <p:txBody>
          <a:bodyPr wrap="square">
            <a:spAutoFit/>
          </a:bodyPr>
          <a:lstStyle/>
          <a:p>
            <a:pPr algn="l"/>
            <a:r>
              <a:rPr sz="1200" b="1">
                <a:solidFill>
                  <a:srgbClr val="2A2E30"/>
                </a:solidFill>
                <a:latin typeface="Arial"/>
              </a:rPr>
              <a:t>Age &amp; Sex complete</a:t>
            </a:r>
            <a:r>
              <a:rPr sz="1200" b="0">
                <a:solidFill>
                  <a:srgbClr val="505759"/>
                </a:solidFill>
                <a:latin typeface="Arial"/>
              </a:rPr>
              <a:t>; race and ethnicity essentially complete.</a:t>
            </a:r>
          </a:p>
        </p:txBody>
      </p:sp>
      <p:sp>
        <p:nvSpPr>
          <p:cNvPr id="7" name="TextBox 6"/>
          <p:cNvSpPr txBox="1"/>
          <p:nvPr/>
        </p:nvSpPr>
        <p:spPr>
          <a:xfrm>
            <a:off x="4297680" y="2203704"/>
            <a:ext cx="2697480" cy="731520"/>
          </a:xfrm>
          <a:prstGeom prst="rect">
            <a:avLst/>
          </a:prstGeom>
          <a:noFill/>
        </p:spPr>
        <p:txBody>
          <a:bodyPr wrap="square">
            <a:spAutoFit/>
          </a:bodyPr>
          <a:lstStyle/>
          <a:p>
            <a:pPr algn="l"/>
            <a:r>
              <a:rPr sz="1200" b="1">
                <a:solidFill>
                  <a:srgbClr val="C8102E"/>
                </a:solidFill>
                <a:latin typeface="Arial"/>
              </a:rPr>
              <a:t>BMI missing in 76%</a:t>
            </a:r>
            <a:r>
              <a:rPr sz="1200" b="0">
                <a:solidFill>
                  <a:srgbClr val="505759"/>
                </a:solidFill>
                <a:latin typeface="Arial"/>
              </a:rPr>
              <a:t>, Time_to_Event in 92% (recorded for positives only).</a:t>
            </a:r>
          </a:p>
        </p:txBody>
      </p:sp>
      <p:sp>
        <p:nvSpPr>
          <p:cNvPr id="8" name="TextBox 7"/>
          <p:cNvSpPr txBox="1"/>
          <p:nvPr/>
        </p:nvSpPr>
        <p:spPr>
          <a:xfrm>
            <a:off x="4297680" y="2807208"/>
            <a:ext cx="2697480" cy="731520"/>
          </a:xfrm>
          <a:prstGeom prst="rect">
            <a:avLst/>
          </a:prstGeom>
          <a:noFill/>
        </p:spPr>
        <p:txBody>
          <a:bodyPr wrap="square">
            <a:spAutoFit/>
          </a:bodyPr>
          <a:lstStyle/>
          <a:p>
            <a:pPr algn="l"/>
            <a:r>
              <a:rPr sz="1200" b="1">
                <a:solidFill>
                  <a:srgbClr val="2A2E30"/>
                </a:solidFill>
                <a:latin typeface="Arial"/>
              </a:rPr>
              <a:t>1,090 / 1,103 have CAISR</a:t>
            </a:r>
            <a:r>
              <a:rPr sz="1200" b="0">
                <a:solidFill>
                  <a:srgbClr val="505759"/>
                </a:solidFill>
                <a:latin typeface="Arial"/>
              </a:rPr>
              <a:t> — 13 recordings fall back to global features only.</a:t>
            </a:r>
          </a:p>
        </p:txBody>
      </p:sp>
      <p:sp>
        <p:nvSpPr>
          <p:cNvPr id="9" name="TextBox 8"/>
          <p:cNvSpPr txBox="1"/>
          <p:nvPr/>
        </p:nvSpPr>
        <p:spPr>
          <a:xfrm>
            <a:off x="4297680" y="3410712"/>
            <a:ext cx="2697480" cy="731520"/>
          </a:xfrm>
          <a:prstGeom prst="rect">
            <a:avLst/>
          </a:prstGeom>
          <a:noFill/>
        </p:spPr>
        <p:txBody>
          <a:bodyPr wrap="square">
            <a:spAutoFit/>
          </a:bodyPr>
          <a:lstStyle/>
          <a:p>
            <a:pPr algn="l"/>
            <a:r>
              <a:rPr sz="1200" b="1">
                <a:solidFill>
                  <a:srgbClr val="2A2E30"/>
                </a:solidFill>
                <a:latin typeface="Arial"/>
              </a:rPr>
              <a:t>18 short recordings</a:t>
            </a:r>
            <a:r>
              <a:rPr sz="1200" b="0">
                <a:solidFill>
                  <a:srgbClr val="505759"/>
                </a:solidFill>
                <a:latin typeface="Arial"/>
              </a:rPr>
              <a:t> (&lt;4 h; 9 under 1 h) are flagged for the training pipeline.</a:t>
            </a:r>
          </a:p>
        </p:txBody>
      </p:sp>
      <p:sp>
        <p:nvSpPr>
          <p:cNvPr id="10" name="TextBox 9"/>
          <p:cNvSpPr txBox="1"/>
          <p:nvPr/>
        </p:nvSpPr>
        <p:spPr>
          <a:xfrm>
            <a:off x="4297680" y="4014216"/>
            <a:ext cx="2697480" cy="731520"/>
          </a:xfrm>
          <a:prstGeom prst="rect">
            <a:avLst/>
          </a:prstGeom>
          <a:noFill/>
        </p:spPr>
        <p:txBody>
          <a:bodyPr wrap="square">
            <a:spAutoFit/>
          </a:bodyPr>
          <a:lstStyle/>
          <a:p>
            <a:pPr algn="l"/>
            <a:r>
              <a:rPr sz="1200" b="1">
                <a:solidFill>
                  <a:srgbClr val="2A2E30"/>
                </a:solidFill>
                <a:latin typeface="Arial"/>
              </a:rPr>
              <a:t>Demographics ↔ EDF linkage is exact</a:t>
            </a:r>
            <a:r>
              <a:rPr sz="1200" b="0">
                <a:solidFill>
                  <a:srgbClr val="505759"/>
                </a:solidFill>
                <a:latin typeface="Arial"/>
              </a:rPr>
              <a:t>: 0 orphans in either direction.</a:t>
            </a:r>
          </a:p>
        </p:txBody>
      </p:sp>
      <p:sp>
        <p:nvSpPr>
          <p:cNvPr id="11" name="TextBox 10"/>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What this means for our approach</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TAKEAWAYS</a:t>
            </a:r>
          </a:p>
        </p:txBody>
      </p:sp>
      <p:sp>
        <p:nvSpPr>
          <p:cNvPr id="5" name="Rounded Rectangle 4"/>
          <p:cNvSpPr/>
          <p:nvPr/>
        </p:nvSpPr>
        <p:spPr>
          <a:xfrm>
            <a:off x="548640" y="1417320"/>
            <a:ext cx="6446520" cy="758952"/>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563624"/>
            <a:ext cx="457200" cy="45720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latin typeface="Arial"/>
              </a:rPr>
              <a:t>1</a:t>
            </a:r>
          </a:p>
        </p:txBody>
      </p:sp>
      <p:sp>
        <p:nvSpPr>
          <p:cNvPr id="7" name="TextBox 6"/>
          <p:cNvSpPr txBox="1"/>
          <p:nvPr/>
        </p:nvSpPr>
        <p:spPr>
          <a:xfrm>
            <a:off x="1325880" y="1417320"/>
            <a:ext cx="5532120" cy="758952"/>
          </a:xfrm>
          <a:prstGeom prst="rect">
            <a:avLst/>
          </a:prstGeom>
          <a:noFill/>
        </p:spPr>
        <p:txBody>
          <a:bodyPr wrap="square" anchor="ctr" lIns="45720" rIns="45720" tIns="18288" bIns="18288">
            <a:spAutoFit/>
          </a:bodyPr>
          <a:lstStyle/>
          <a:p>
            <a:pPr algn="l">
              <a:spcBef>
                <a:spcPts val="0"/>
              </a:spcBef>
              <a:spcAft>
                <a:spcPts val="100"/>
              </a:spcAft>
              <a:buNone/>
            </a:pPr>
            <a:r>
              <a:rPr sz="1300" b="1" i="0">
                <a:solidFill>
                  <a:srgbClr val="2A2E30"/>
                </a:solidFill>
                <a:latin typeface="Arial"/>
              </a:rPr>
              <a:t>Optimize the Reward, not accuracy</a:t>
            </a:r>
          </a:p>
          <a:p>
            <a:pPr algn="l">
              <a:spcBef>
                <a:spcPts val="0"/>
              </a:spcBef>
              <a:spcAft>
                <a:spcPts val="0"/>
              </a:spcAft>
              <a:buNone/>
            </a:pPr>
            <a:r>
              <a:rPr sz="1050" b="0" i="0">
                <a:solidFill>
                  <a:srgbClr val="505759"/>
                </a:solidFill>
                <a:latin typeface="Arial"/>
              </a:rPr>
              <a:t>Tune the decision threshold to maximize prevalence-weighted payoff — accuracy will look worse and that's fine.</a:t>
            </a:r>
          </a:p>
        </p:txBody>
      </p:sp>
      <p:sp>
        <p:nvSpPr>
          <p:cNvPr id="8" name="Rounded Rectangle 7"/>
          <p:cNvSpPr/>
          <p:nvPr/>
        </p:nvSpPr>
        <p:spPr>
          <a:xfrm>
            <a:off x="548640" y="2249424"/>
            <a:ext cx="6446520" cy="758952"/>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395728"/>
            <a:ext cx="457200" cy="45720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latin typeface="Arial"/>
              </a:rPr>
              <a:t>2</a:t>
            </a:r>
          </a:p>
        </p:txBody>
      </p:sp>
      <p:sp>
        <p:nvSpPr>
          <p:cNvPr id="10" name="TextBox 9"/>
          <p:cNvSpPr txBox="1"/>
          <p:nvPr/>
        </p:nvSpPr>
        <p:spPr>
          <a:xfrm>
            <a:off x="1325880" y="2249424"/>
            <a:ext cx="5532120" cy="758952"/>
          </a:xfrm>
          <a:prstGeom prst="rect">
            <a:avLst/>
          </a:prstGeom>
          <a:noFill/>
        </p:spPr>
        <p:txBody>
          <a:bodyPr wrap="square" anchor="ctr" lIns="45720" rIns="45720" tIns="18288" bIns="18288">
            <a:spAutoFit/>
          </a:bodyPr>
          <a:lstStyle/>
          <a:p>
            <a:pPr algn="l">
              <a:spcBef>
                <a:spcPts val="0"/>
              </a:spcBef>
              <a:spcAft>
                <a:spcPts val="100"/>
              </a:spcAft>
              <a:buNone/>
            </a:pPr>
            <a:r>
              <a:rPr sz="1300" b="1" i="0">
                <a:solidFill>
                  <a:srgbClr val="2A2E30"/>
                </a:solidFill>
                <a:latin typeface="Arial"/>
              </a:rPr>
              <a:t>Protect recall on the rare class</a:t>
            </a:r>
          </a:p>
          <a:p>
            <a:pPr algn="l">
              <a:spcBef>
                <a:spcPts val="0"/>
              </a:spcBef>
              <a:spcAft>
                <a:spcPts val="0"/>
              </a:spcAft>
              <a:buNone/>
            </a:pPr>
            <a:r>
              <a:rPr sz="1050" b="0" i="0">
                <a:solidFill>
                  <a:srgbClr val="505759"/>
                </a:solidFill>
                <a:latin typeface="Arial"/>
              </a:rPr>
              <a:t>Each caught positive is worth 1/p − 1; a missed one costs −1. Missing impairment is expensive.</a:t>
            </a:r>
          </a:p>
        </p:txBody>
      </p:sp>
      <p:sp>
        <p:nvSpPr>
          <p:cNvPr id="11" name="Rounded Rectangle 10"/>
          <p:cNvSpPr/>
          <p:nvPr/>
        </p:nvSpPr>
        <p:spPr>
          <a:xfrm>
            <a:off x="548640" y="3081528"/>
            <a:ext cx="6446520" cy="758952"/>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3227832"/>
            <a:ext cx="457200" cy="45720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latin typeface="Arial"/>
              </a:rPr>
              <a:t>3</a:t>
            </a:r>
          </a:p>
        </p:txBody>
      </p:sp>
      <p:sp>
        <p:nvSpPr>
          <p:cNvPr id="13" name="TextBox 12"/>
          <p:cNvSpPr txBox="1"/>
          <p:nvPr/>
        </p:nvSpPr>
        <p:spPr>
          <a:xfrm>
            <a:off x="1325880" y="3081528"/>
            <a:ext cx="5532120" cy="758952"/>
          </a:xfrm>
          <a:prstGeom prst="rect">
            <a:avLst/>
          </a:prstGeom>
          <a:noFill/>
        </p:spPr>
        <p:txBody>
          <a:bodyPr wrap="square" anchor="ctr" lIns="45720" rIns="45720" tIns="18288" bIns="18288">
            <a:spAutoFit/>
          </a:bodyPr>
          <a:lstStyle/>
          <a:p>
            <a:pPr algn="l">
              <a:spcBef>
                <a:spcPts val="0"/>
              </a:spcBef>
              <a:spcAft>
                <a:spcPts val="100"/>
              </a:spcAft>
              <a:buNone/>
            </a:pPr>
            <a:r>
              <a:rPr sz="1300" b="1" i="0">
                <a:solidFill>
                  <a:srgbClr val="2A2E30"/>
                </a:solidFill>
                <a:latin typeface="Arial"/>
              </a:rPr>
              <a:t>Don't lean on age</a:t>
            </a:r>
          </a:p>
          <a:p>
            <a:pPr algn="l">
              <a:spcBef>
                <a:spcPts val="0"/>
              </a:spcBef>
              <a:spcAft>
                <a:spcPts val="0"/>
              </a:spcAft>
              <a:buNone/>
            </a:pPr>
            <a:r>
              <a:rPr sz="1050" b="0" i="0">
                <a:solidFill>
                  <a:srgbClr val="505759"/>
                </a:solidFill>
                <a:latin typeface="Arial"/>
              </a:rPr>
              <a:t>The age-aware AUROCs strip the age shortcut. Features must carry real signal within an age band.</a:t>
            </a:r>
          </a:p>
        </p:txBody>
      </p:sp>
      <p:sp>
        <p:nvSpPr>
          <p:cNvPr id="14" name="Rounded Rectangle 13"/>
          <p:cNvSpPr/>
          <p:nvPr/>
        </p:nvSpPr>
        <p:spPr>
          <a:xfrm>
            <a:off x="548640" y="3913632"/>
            <a:ext cx="6446520" cy="758952"/>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5800" y="4059936"/>
            <a:ext cx="457200" cy="457200"/>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latin typeface="Arial"/>
              </a:rPr>
              <a:t>4</a:t>
            </a:r>
          </a:p>
        </p:txBody>
      </p:sp>
      <p:sp>
        <p:nvSpPr>
          <p:cNvPr id="16" name="TextBox 15"/>
          <p:cNvSpPr txBox="1"/>
          <p:nvPr/>
        </p:nvSpPr>
        <p:spPr>
          <a:xfrm>
            <a:off x="1325880" y="3913632"/>
            <a:ext cx="5532120" cy="758952"/>
          </a:xfrm>
          <a:prstGeom prst="rect">
            <a:avLst/>
          </a:prstGeom>
          <a:noFill/>
        </p:spPr>
        <p:txBody>
          <a:bodyPr wrap="square" anchor="ctr" lIns="45720" rIns="45720" tIns="18288" bIns="18288">
            <a:spAutoFit/>
          </a:bodyPr>
          <a:lstStyle/>
          <a:p>
            <a:pPr algn="l">
              <a:spcBef>
                <a:spcPts val="0"/>
              </a:spcBef>
              <a:spcAft>
                <a:spcPts val="100"/>
              </a:spcAft>
              <a:buNone/>
            </a:pPr>
            <a:r>
              <a:rPr sz="1300" b="1" i="0">
                <a:solidFill>
                  <a:srgbClr val="2A2E30"/>
                </a:solidFill>
                <a:latin typeface="Arial"/>
              </a:rPr>
              <a:t>Validate with the official code</a:t>
            </a:r>
          </a:p>
          <a:p>
            <a:pPr algn="l">
              <a:spcBef>
                <a:spcPts val="0"/>
              </a:spcBef>
              <a:spcAft>
                <a:spcPts val="0"/>
              </a:spcAft>
              <a:buNone/>
            </a:pPr>
            <a:r>
              <a:rPr sz="1050" b="0" i="0">
                <a:solidFill>
                  <a:srgbClr val="505759"/>
                </a:solidFill>
                <a:latin typeface="Arial"/>
              </a:rPr>
              <a:t>Score cross-validation folds with evaluate_model.py so our internal numbers match the leaderboard.</a:t>
            </a:r>
          </a:p>
        </p:txBody>
      </p:sp>
      <p:sp>
        <p:nvSpPr>
          <p:cNvPr id="17" name="TextBox 16"/>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latin typeface="Arial"/>
              </a:rPr>
              <a:t>References</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nchor="t" lIns="45720" rIns="45720" tIns="18288" bIns="18288">
            <a:spAutoFit/>
          </a:bodyPr>
          <a:lstStyle/>
          <a:p>
            <a:pPr algn="l">
              <a:spcBef>
                <a:spcPts val="0"/>
              </a:spcBef>
              <a:spcAft>
                <a:spcPts val="0"/>
              </a:spcAft>
              <a:buNone/>
            </a:pPr>
            <a:r>
              <a:rPr sz="1100" b="1" i="0">
                <a:solidFill>
                  <a:srgbClr val="C8102E"/>
                </a:solidFill>
                <a:latin typeface="Arial"/>
              </a:rPr>
              <a:t>SOURCES</a:t>
            </a:r>
          </a:p>
        </p:txBody>
      </p:sp>
      <p:sp>
        <p:nvSpPr>
          <p:cNvPr id="5" name="TextBox 4"/>
          <p:cNvSpPr txBox="1"/>
          <p:nvPr/>
        </p:nvSpPr>
        <p:spPr>
          <a:xfrm>
            <a:off x="548640" y="1417320"/>
            <a:ext cx="6446520" cy="3108960"/>
          </a:xfrm>
          <a:prstGeom prst="rect">
            <a:avLst/>
          </a:prstGeom>
          <a:noFill/>
        </p:spPr>
        <p:txBody>
          <a:bodyPr wrap="square" anchor="t" lIns="45720" rIns="45720" tIns="18288" bIns="18288">
            <a:spAutoFit/>
          </a:bodyPr>
          <a:lstStyle/>
          <a:p>
            <a:pPr>
              <a:spcBef>
                <a:spcPts val="600"/>
              </a:spcBef>
              <a:spcAft>
                <a:spcPts val="100"/>
              </a:spcAft>
              <a:buNone/>
            </a:pPr>
            <a:r>
              <a:rPr sz="1300" b="1">
                <a:solidFill>
                  <a:srgbClr val="C8102E"/>
                </a:solidFill>
                <a:latin typeface="Arial"/>
              </a:rPr>
              <a:t>Challenge website  —  </a:t>
            </a:r>
            <a:r>
              <a:rPr sz="1300" b="0">
                <a:solidFill>
                  <a:srgbClr val="2A2E30"/>
                </a:solidFill>
                <a:latin typeface="Arial"/>
              </a:rPr>
              <a:t>George B. Moody PhysioNet Challenge 2026</a:t>
            </a:r>
          </a:p>
          <a:p>
            <a:pPr algn="l">
              <a:spcBef>
                <a:spcPts val="0"/>
              </a:spcBef>
              <a:spcAft>
                <a:spcPts val="600"/>
              </a:spcAft>
              <a:buNone/>
            </a:pPr>
            <a:r>
              <a:rPr sz="1100" b="0" i="0">
                <a:solidFill>
                  <a:srgbClr val="346583"/>
                </a:solidFill>
                <a:latin typeface="Arial"/>
              </a:rPr>
              <a:t>physionetchallenges.org/2026/</a:t>
            </a:r>
          </a:p>
          <a:p>
            <a:pPr>
              <a:spcBef>
                <a:spcPts val="600"/>
              </a:spcBef>
              <a:spcAft>
                <a:spcPts val="100"/>
              </a:spcAft>
              <a:buNone/>
            </a:pPr>
            <a:r>
              <a:rPr sz="1300" b="1">
                <a:solidFill>
                  <a:srgbClr val="C8102E"/>
                </a:solidFill>
                <a:latin typeface="Arial"/>
              </a:rPr>
              <a:t>Evaluation code  —  </a:t>
            </a:r>
            <a:r>
              <a:rPr sz="1300" b="0">
                <a:solidFill>
                  <a:srgbClr val="2A2E30"/>
                </a:solidFill>
                <a:latin typeface="Arial"/>
              </a:rPr>
              <a:t>Official scoring implementation</a:t>
            </a:r>
          </a:p>
          <a:p>
            <a:pPr algn="l">
              <a:spcBef>
                <a:spcPts val="0"/>
              </a:spcBef>
              <a:spcAft>
                <a:spcPts val="600"/>
              </a:spcAft>
              <a:buNone/>
            </a:pPr>
            <a:r>
              <a:rPr sz="1100" b="0" i="0">
                <a:solidFill>
                  <a:srgbClr val="346583"/>
                </a:solidFill>
                <a:latin typeface="Arial"/>
              </a:rPr>
              <a:t>github.com/physionetchallenges/evaluation-2026</a:t>
            </a:r>
          </a:p>
          <a:p>
            <a:pPr>
              <a:spcBef>
                <a:spcPts val="600"/>
              </a:spcBef>
              <a:spcAft>
                <a:spcPts val="100"/>
              </a:spcAft>
              <a:buNone/>
            </a:pPr>
            <a:r>
              <a:rPr sz="1300" b="1">
                <a:solidFill>
                  <a:srgbClr val="C8102E"/>
                </a:solidFill>
                <a:latin typeface="Arial"/>
              </a:rPr>
              <a:t>Example code  —  </a:t>
            </a:r>
            <a:r>
              <a:rPr sz="1300" b="0">
                <a:solidFill>
                  <a:srgbClr val="2A2E30"/>
                </a:solidFill>
                <a:latin typeface="Arial"/>
              </a:rPr>
              <a:t>Python entry template</a:t>
            </a:r>
          </a:p>
          <a:p>
            <a:pPr algn="l">
              <a:spcBef>
                <a:spcPts val="0"/>
              </a:spcBef>
              <a:spcAft>
                <a:spcPts val="600"/>
              </a:spcAft>
              <a:buNone/>
            </a:pPr>
            <a:r>
              <a:rPr sz="1100" b="0" i="0">
                <a:solidFill>
                  <a:srgbClr val="346583"/>
                </a:solidFill>
                <a:latin typeface="Arial"/>
              </a:rPr>
              <a:t>github.com/physionetchallenges/python-example-2026</a:t>
            </a:r>
          </a:p>
          <a:p>
            <a:pPr>
              <a:spcBef>
                <a:spcPts val="600"/>
              </a:spcBef>
              <a:spcAft>
                <a:spcPts val="100"/>
              </a:spcAft>
              <a:buNone/>
            </a:pPr>
            <a:r>
              <a:rPr sz="1300" b="1">
                <a:solidFill>
                  <a:srgbClr val="C8102E"/>
                </a:solidFill>
                <a:latin typeface="Arial"/>
              </a:rPr>
              <a:t>This deck  —  </a:t>
            </a:r>
            <a:r>
              <a:rPr sz="1300" b="0">
                <a:solidFill>
                  <a:srgbClr val="2A2E30"/>
                </a:solidFill>
                <a:latin typeface="Arial"/>
              </a:rPr>
              <a:t>Metric definitions taken directly from evaluate_model.py in our repository</a:t>
            </a:r>
          </a:p>
        </p:txBody>
      </p:sp>
      <p:sp>
        <p:nvSpPr>
          <p:cNvPr id="6" name="TextBox 5"/>
          <p:cNvSpPr txBox="1"/>
          <p:nvPr/>
        </p:nvSpPr>
        <p:spPr>
          <a:xfrm>
            <a:off x="548640" y="4828032"/>
            <a:ext cx="6035040" cy="228600"/>
          </a:xfrm>
          <a:prstGeom prst="rect">
            <a:avLst/>
          </a:prstGeom>
          <a:noFill/>
        </p:spPr>
        <p:txBody>
          <a:bodyPr wrap="square" anchor="t" lIns="45720" rIns="45720" tIns="18288" bIns="18288">
            <a:spAutoFit/>
          </a:bodyPr>
          <a:lstStyle/>
          <a:p>
            <a:pPr algn="l">
              <a:spcBef>
                <a:spcPts val="0"/>
              </a:spcBef>
              <a:spcAft>
                <a:spcPts val="0"/>
              </a:spcAft>
              <a:buNone/>
            </a:pPr>
            <a:r>
              <a:rPr sz="800" b="0" i="0">
                <a:solidFill>
                  <a:srgbClr val="898D8D"/>
                </a:solidFill>
                <a:latin typeface="Arial"/>
              </a:rPr>
              <a:t>PhysioNet Challenge 2026  ·  Scoring Metrics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FFFFFF"/>
                </a:solidFill>
                <a:latin typeface="Arial"/>
              </a:rPr>
              <a:t>Questions?</a:t>
            </a:r>
          </a:p>
        </p:txBody>
      </p:sp>
      <p:sp>
        <p:nvSpPr>
          <p:cNvPr id="3" name="TextBox 2"/>
          <p:cNvSpPr txBox="1"/>
          <p:nvPr/>
        </p:nvSpPr>
        <p:spPr>
          <a:xfrm>
            <a:off x="548640" y="1417320"/>
            <a:ext cx="7863840" cy="1280160"/>
          </a:xfrm>
          <a:prstGeom prst="rect">
            <a:avLst/>
          </a:prstGeom>
          <a:noFill/>
        </p:spPr>
        <p:txBody>
          <a:bodyPr wrap="square" anchor="t" lIns="45720" rIns="45720" tIns="18288" bIns="18288">
            <a:spAutoFit/>
          </a:bodyPr>
          <a:lstStyle/>
          <a:p>
            <a:pPr algn="l">
              <a:spcBef>
                <a:spcPts val="0"/>
              </a:spcBef>
              <a:spcAft>
                <a:spcPts val="400"/>
              </a:spcAft>
              <a:buNone/>
            </a:pPr>
            <a:r>
              <a:rPr sz="1200" b="1" i="0">
                <a:solidFill>
                  <a:srgbClr val="CEB888"/>
                </a:solidFill>
                <a:latin typeface="Arial"/>
              </a:rPr>
              <a:t>Key takeaway</a:t>
            </a:r>
          </a:p>
          <a:p>
            <a:pPr algn="l">
              <a:spcBef>
                <a:spcPts val="0"/>
              </a:spcBef>
              <a:spcAft>
                <a:spcPts val="600"/>
              </a:spcAft>
              <a:buNone/>
            </a:pPr>
            <a:r>
              <a:rPr sz="1700" b="1" i="0">
                <a:solidFill>
                  <a:srgbClr val="FFFFFF"/>
                </a:solidFill>
                <a:latin typeface="Arial"/>
              </a:rPr>
              <a:t>Optimize for the Reward — catch the rare cases, and don't lean on age.</a:t>
            </a:r>
          </a:p>
          <a:p>
            <a:pPr algn="l">
              <a:spcBef>
                <a:spcPts val="0"/>
              </a:spcBef>
              <a:spcAft>
                <a:spcPts val="0"/>
              </a:spcAft>
              <a:buNone/>
            </a:pPr>
            <a:r>
              <a:rPr sz="1100" b="0" i="0">
                <a:solidFill>
                  <a:srgbClr val="FFFFFF"/>
                </a:solidFill>
                <a:latin typeface="Arial"/>
              </a:rPr>
              <a:t>Arshia Ilaty  ·  SDG  ·  PhysioNet Challenge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approach &amp; results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raw PSG to a calibrated risk score</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APPROACH · END-TO-END PIPELINE</a:t>
            </a:r>
          </a:p>
        </p:txBody>
      </p:sp>
      <p:pic>
        <p:nvPicPr>
          <p:cNvPr id="5" name="Picture 4" descr="fig_slide_pipeline.png"/>
          <p:cNvPicPr>
            <a:picLocks noChangeAspect="1"/>
          </p:cNvPicPr>
          <p:nvPr/>
        </p:nvPicPr>
        <p:blipFill>
          <a:blip r:embed="rId2"/>
          <a:stretch>
            <a:fillRect/>
          </a:stretch>
        </p:blipFill>
        <p:spPr>
          <a:xfrm>
            <a:off x="663819" y="1417320"/>
            <a:ext cx="6170441" cy="2651760"/>
          </a:xfrm>
          <a:prstGeom prst="rect">
            <a:avLst/>
          </a:prstGeom>
        </p:spPr>
      </p:pic>
      <p:sp>
        <p:nvSpPr>
          <p:cNvPr id="6" name="TextBox 5"/>
          <p:cNvSpPr txBox="1"/>
          <p:nvPr/>
        </p:nvSpPr>
        <p:spPr>
          <a:xfrm>
            <a:off x="548640" y="4160520"/>
            <a:ext cx="6492240" cy="777240"/>
          </a:xfrm>
          <a:prstGeom prst="rect">
            <a:avLst/>
          </a:prstGeom>
          <a:noFill/>
        </p:spPr>
        <p:txBody>
          <a:bodyPr wrap="square">
            <a:spAutoFit/>
          </a:bodyPr>
          <a:lstStyle/>
          <a:p>
            <a:pPr algn="l"/>
            <a:r>
              <a:rPr sz="1200" b="1">
                <a:solidFill>
                  <a:srgbClr val="C8102E"/>
                </a:solidFill>
                <a:latin typeface="Arial"/>
              </a:rPr>
              <a:t>Two feature streams fuse leakage-safe</a:t>
            </a:r>
            <a:r>
              <a:rPr sz="1200" b="0">
                <a:solidFill>
                  <a:srgbClr val="505759"/>
                </a:solidFill>
                <a:latin typeface="Arial"/>
              </a:rPr>
              <a:t> (PCA &amp; selection fit in-fold), feed a </a:t>
            </a:r>
            <a:r>
              <a:rPr sz="1200" b="1">
                <a:solidFill>
                  <a:srgbClr val="2A2E30"/>
                </a:solidFill>
                <a:latin typeface="Arial"/>
              </a:rPr>
              <a:t>per-site mixture-of-experts</a:t>
            </a:r>
            <a:r>
              <a:rPr sz="1200" b="0">
                <a:solidFill>
                  <a:srgbClr val="505759"/>
                </a:solidFill>
                <a:latin typeface="Arial"/>
              </a:rPr>
              <a:t> with a Kaiser fine-tune, and a Reward-optimal threshold; validated leave-one-site-out.</a:t>
            </a:r>
          </a:p>
        </p:txBody>
      </p:sp>
      <p:sp>
        <p:nvSpPr>
          <p:cNvPr id="7" name="TextBox 6"/>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337 engineered features across three families</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APPROACH · FEATURE ENGINEERING</a:t>
            </a:r>
          </a:p>
        </p:txBody>
      </p:sp>
      <p:pic>
        <p:nvPicPr>
          <p:cNvPr id="5" name="Picture 4" descr="fig_slide_features.png"/>
          <p:cNvPicPr>
            <a:picLocks noChangeAspect="1"/>
          </p:cNvPicPr>
          <p:nvPr/>
        </p:nvPicPr>
        <p:blipFill>
          <a:blip r:embed="rId2"/>
          <a:stretch>
            <a:fillRect/>
          </a:stretch>
        </p:blipFill>
        <p:spPr>
          <a:xfrm>
            <a:off x="1442347" y="1600200"/>
            <a:ext cx="4613385" cy="2331720"/>
          </a:xfrm>
          <a:prstGeom prst="rect">
            <a:avLst/>
          </a:prstGeom>
        </p:spPr>
      </p:pic>
      <p:sp>
        <p:nvSpPr>
          <p:cNvPr id="6" name="TextBox 5"/>
          <p:cNvSpPr txBox="1"/>
          <p:nvPr/>
        </p:nvSpPr>
        <p:spPr>
          <a:xfrm>
            <a:off x="548640" y="4023360"/>
            <a:ext cx="6492240" cy="868680"/>
          </a:xfrm>
          <a:prstGeom prst="rect">
            <a:avLst/>
          </a:prstGeom>
          <a:noFill/>
        </p:spPr>
        <p:txBody>
          <a:bodyPr wrap="square">
            <a:spAutoFit/>
          </a:bodyPr>
          <a:lstStyle/>
          <a:p>
            <a:pPr algn="l"/>
            <a:r>
              <a:rPr sz="1200" b="1">
                <a:solidFill>
                  <a:srgbClr val="C8102E"/>
                </a:solidFill>
                <a:latin typeface="Arial"/>
              </a:rPr>
              <a:t>Stage-resolved by design</a:t>
            </a:r>
            <a:r>
              <a:rPr sz="1200" b="0">
                <a:solidFill>
                  <a:srgbClr val="505759"/>
                </a:solidFill>
                <a:latin typeface="Arial"/>
              </a:rPr>
              <a:t> — cognitive impairment shows as blunted modulation across sleep stages, so features are computed per stage and the flagship ones are cross-stage contrasts. </a:t>
            </a:r>
            <a:r>
              <a:rPr sz="1200" b="1">
                <a:solidFill>
                  <a:srgbClr val="2A2E30"/>
                </a:solidFill>
                <a:latin typeface="Arial"/>
              </a:rPr>
              <a:t>Age is excluded from training.</a:t>
            </a:r>
          </a:p>
        </p:txBody>
      </p:sp>
      <p:sp>
        <p:nvSpPr>
          <p:cNvPr id="7" name="TextBox 6"/>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model built for site shift and class imbalance</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APPROACH · THE MODEL</a:t>
            </a:r>
          </a:p>
        </p:txBody>
      </p:sp>
      <p:sp>
        <p:nvSpPr>
          <p:cNvPr id="5" name="Rounded Rectangle 4"/>
          <p:cNvSpPr/>
          <p:nvPr/>
        </p:nvSpPr>
        <p:spPr>
          <a:xfrm>
            <a:off x="548640" y="1508760"/>
            <a:ext cx="3154680" cy="146304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18488"/>
            <a:ext cx="2825496" cy="1243584"/>
          </a:xfrm>
          <a:prstGeom prst="rect">
            <a:avLst/>
          </a:prstGeom>
          <a:noFill/>
        </p:spPr>
        <p:txBody>
          <a:bodyPr wrap="square">
            <a:spAutoFit/>
          </a:bodyPr>
          <a:lstStyle/>
          <a:p>
            <a:pPr algn="l"/>
            <a:r>
              <a:rPr sz="1300" b="1">
                <a:solidFill>
                  <a:srgbClr val="346583"/>
                </a:solidFill>
                <a:latin typeface="Arial"/>
              </a:rPr>
              <a:t>Site mixture-of-experts</a:t>
            </a:r>
          </a:p>
          <a:p>
            <a:pPr algn="l"/>
            <a:r>
              <a:rPr sz="1050" b="0">
                <a:solidFill>
                  <a:srgbClr val="505759"/>
                </a:solidFill>
                <a:latin typeface="Arial"/>
              </a:rPr>
              <a:t>A HistGradientBoosting classifier per site (BIDMC · Kaiser · Emory) with a global fallback — so each hospital's montage &amp; population is modeled on its own terms.</a:t>
            </a:r>
          </a:p>
        </p:txBody>
      </p:sp>
      <p:sp>
        <p:nvSpPr>
          <p:cNvPr id="7" name="Rounded Rectangle 6"/>
          <p:cNvSpPr/>
          <p:nvPr/>
        </p:nvSpPr>
        <p:spPr>
          <a:xfrm>
            <a:off x="3886200" y="1508760"/>
            <a:ext cx="3154680" cy="146304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50791" y="1618488"/>
            <a:ext cx="2825496" cy="1243584"/>
          </a:xfrm>
          <a:prstGeom prst="rect">
            <a:avLst/>
          </a:prstGeom>
          <a:noFill/>
        </p:spPr>
        <p:txBody>
          <a:bodyPr wrap="square">
            <a:spAutoFit/>
          </a:bodyPr>
          <a:lstStyle/>
          <a:p>
            <a:pPr algn="l"/>
            <a:r>
              <a:rPr sz="1300" b="1">
                <a:solidFill>
                  <a:srgbClr val="346583"/>
                </a:solidFill>
                <a:latin typeface="Arial"/>
              </a:rPr>
              <a:t>Kaiser fine-tune</a:t>
            </a:r>
          </a:p>
          <a:p>
            <a:pPr algn="l"/>
            <a:r>
              <a:rPr sz="1050" b="0">
                <a:solidFill>
                  <a:srgbClr val="505759"/>
                </a:solidFill>
                <a:latin typeface="Arial"/>
              </a:rPr>
              <a:t>A dedicated fine-tuned head for the Kaiser site, the hardest to generalize to, layered on top of the shared model.</a:t>
            </a:r>
          </a:p>
        </p:txBody>
      </p:sp>
      <p:sp>
        <p:nvSpPr>
          <p:cNvPr id="9" name="Rounded Rectangle 8"/>
          <p:cNvSpPr/>
          <p:nvPr/>
        </p:nvSpPr>
        <p:spPr>
          <a:xfrm>
            <a:off x="548640" y="3172968"/>
            <a:ext cx="3154680" cy="146304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282696"/>
            <a:ext cx="2825496" cy="1243584"/>
          </a:xfrm>
          <a:prstGeom prst="rect">
            <a:avLst/>
          </a:prstGeom>
          <a:noFill/>
        </p:spPr>
        <p:txBody>
          <a:bodyPr wrap="square">
            <a:spAutoFit/>
          </a:bodyPr>
          <a:lstStyle/>
          <a:p>
            <a:pPr algn="l"/>
            <a:r>
              <a:rPr sz="1300" b="1">
                <a:solidFill>
                  <a:srgbClr val="346583"/>
                </a:solidFill>
                <a:latin typeface="Arial"/>
              </a:rPr>
              <a:t>BMI imputation</a:t>
            </a:r>
          </a:p>
          <a:p>
            <a:pPr algn="l"/>
            <a:r>
              <a:rPr sz="1050" b="0">
                <a:solidFill>
                  <a:srgbClr val="505759"/>
                </a:solidFill>
                <a:latin typeface="Arial"/>
              </a:rPr>
              <a:t>BMI is missing for 76% of patients, so it is imputed per site rather than dropped — no feature is allowed to silently vanish.</a:t>
            </a:r>
          </a:p>
        </p:txBody>
      </p:sp>
      <p:sp>
        <p:nvSpPr>
          <p:cNvPr id="11" name="Rounded Rectangle 10"/>
          <p:cNvSpPr/>
          <p:nvPr/>
        </p:nvSpPr>
        <p:spPr>
          <a:xfrm>
            <a:off x="3886200" y="3172968"/>
            <a:ext cx="3154680" cy="1463040"/>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50791" y="3282696"/>
            <a:ext cx="2825496" cy="1243584"/>
          </a:xfrm>
          <a:prstGeom prst="rect">
            <a:avLst/>
          </a:prstGeom>
          <a:noFill/>
        </p:spPr>
        <p:txBody>
          <a:bodyPr wrap="square">
            <a:spAutoFit/>
          </a:bodyPr>
          <a:lstStyle/>
          <a:p>
            <a:pPr algn="l"/>
            <a:r>
              <a:rPr sz="1300" b="1">
                <a:solidFill>
                  <a:srgbClr val="346583"/>
                </a:solidFill>
                <a:latin typeface="Arial"/>
              </a:rPr>
              <a:t>Reward-optimal threshold</a:t>
            </a:r>
          </a:p>
          <a:p>
            <a:pPr algn="l"/>
            <a:r>
              <a:rPr sz="1050" b="0">
                <a:solidFill>
                  <a:srgbClr val="505759"/>
                </a:solidFill>
                <a:latin typeface="Arial"/>
              </a:rPr>
              <a:t>Predict positive when the probability clears the age-specific prevalence — the Bayes-optimal rule for the prevalence-weighted Reward, tuned by site &amp; decade on validation.</a:t>
            </a:r>
          </a:p>
        </p:txBody>
      </p:sp>
      <p:sp>
        <p:nvSpPr>
          <p:cNvPr id="13" name="TextBox 12"/>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Engineered features nearly doubled the internal reward</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RESULTS · INTERNAL LOSO BENCHMARK</a:t>
            </a:r>
          </a:p>
        </p:txBody>
      </p:sp>
      <p:pic>
        <p:nvPicPr>
          <p:cNvPr id="5" name="Picture 4" descr="fig_slide_benchmark.png"/>
          <p:cNvPicPr>
            <a:picLocks noChangeAspect="1"/>
          </p:cNvPicPr>
          <p:nvPr/>
        </p:nvPicPr>
        <p:blipFill>
          <a:blip r:embed="rId2"/>
          <a:stretch>
            <a:fillRect/>
          </a:stretch>
        </p:blipFill>
        <p:spPr>
          <a:xfrm>
            <a:off x="457200" y="1463040"/>
            <a:ext cx="3657600" cy="2460171"/>
          </a:xfrm>
          <a:prstGeom prst="rect">
            <a:avLst/>
          </a:prstGeom>
        </p:spPr>
      </p:pic>
      <p:sp>
        <p:nvSpPr>
          <p:cNvPr id="6" name="TextBox 5"/>
          <p:cNvSpPr txBox="1"/>
          <p:nvPr/>
        </p:nvSpPr>
        <p:spPr>
          <a:xfrm>
            <a:off x="4297680" y="1554480"/>
            <a:ext cx="2743200" cy="868680"/>
          </a:xfrm>
          <a:prstGeom prst="rect">
            <a:avLst/>
          </a:prstGeom>
          <a:noFill/>
        </p:spPr>
        <p:txBody>
          <a:bodyPr wrap="square">
            <a:spAutoFit/>
          </a:bodyPr>
          <a:lstStyle/>
          <a:p>
            <a:pPr algn="l"/>
            <a:r>
              <a:rPr sz="1200" b="1">
                <a:solidFill>
                  <a:srgbClr val="2A2E30"/>
                </a:solidFill>
                <a:latin typeface="Arial"/>
              </a:rPr>
              <a:t>+ NeuroKit2 &amp; report features</a:t>
            </a:r>
            <a:r>
              <a:rPr sz="1200" b="0">
                <a:solidFill>
                  <a:srgbClr val="505759"/>
                </a:solidFill>
                <a:latin typeface="Arial"/>
              </a:rPr>
              <a:t> lift pooled LOSO reward </a:t>
            </a:r>
            <a:r>
              <a:rPr sz="1200" b="1">
                <a:solidFill>
                  <a:srgbClr val="C8102E"/>
                </a:solidFill>
                <a:latin typeface="Arial"/>
              </a:rPr>
              <a:t>0.098 → 0.176</a:t>
            </a:r>
            <a:r>
              <a:rPr sz="1200" b="0">
                <a:solidFill>
                  <a:srgbClr val="505759"/>
                </a:solidFill>
                <a:latin typeface="Arial"/>
              </a:rPr>
              <a:t> on the same harness — improving every held-out site.</a:t>
            </a:r>
          </a:p>
        </p:txBody>
      </p:sp>
      <p:sp>
        <p:nvSpPr>
          <p:cNvPr id="7" name="TextBox 6"/>
          <p:cNvSpPr txBox="1"/>
          <p:nvPr/>
        </p:nvSpPr>
        <p:spPr>
          <a:xfrm>
            <a:off x="4297680" y="2331720"/>
            <a:ext cx="2743200" cy="868680"/>
          </a:xfrm>
          <a:prstGeom prst="rect">
            <a:avLst/>
          </a:prstGeom>
          <a:noFill/>
        </p:spPr>
        <p:txBody>
          <a:bodyPr wrap="square">
            <a:spAutoFit/>
          </a:bodyPr>
          <a:lstStyle/>
          <a:p>
            <a:pPr algn="l"/>
            <a:r>
              <a:rPr sz="1200" b="1">
                <a:solidFill>
                  <a:srgbClr val="2A2E30"/>
                </a:solidFill>
                <a:latin typeface="Arial"/>
              </a:rPr>
              <a:t>Reward 0.168 is the verified submission</a:t>
            </a:r>
            <a:r>
              <a:rPr sz="1200" b="0">
                <a:solidFill>
                  <a:srgbClr val="505759"/>
                </a:solidFill>
                <a:latin typeface="Arial"/>
              </a:rPr>
              <a:t> (official evaluate_model.py).</a:t>
            </a:r>
          </a:p>
        </p:txBody>
      </p:sp>
      <p:sp>
        <p:nvSpPr>
          <p:cNvPr id="8" name="TextBox 7"/>
          <p:cNvSpPr txBox="1"/>
          <p:nvPr/>
        </p:nvSpPr>
        <p:spPr>
          <a:xfrm>
            <a:off x="4297680" y="3108960"/>
            <a:ext cx="2743200" cy="868680"/>
          </a:xfrm>
          <a:prstGeom prst="rect">
            <a:avLst/>
          </a:prstGeom>
          <a:noFill/>
        </p:spPr>
        <p:txBody>
          <a:bodyPr wrap="square">
            <a:spAutoFit/>
          </a:bodyPr>
          <a:lstStyle/>
          <a:p>
            <a:pPr algn="l"/>
            <a:r>
              <a:rPr sz="1200" b="1">
                <a:solidFill>
                  <a:srgbClr val="C8102E"/>
                </a:solidFill>
                <a:latin typeface="Arial"/>
              </a:rPr>
              <a:t>The raw 337-feature union overfits</a:t>
            </a:r>
            <a:r>
              <a:rPr sz="1200" b="0">
                <a:solidFill>
                  <a:srgbClr val="505759"/>
                </a:solidFill>
                <a:latin typeface="Arial"/>
              </a:rPr>
              <a:t> — feature selection is the next lever (below).</a:t>
            </a:r>
          </a:p>
        </p:txBody>
      </p:sp>
      <p:sp>
        <p:nvSpPr>
          <p:cNvPr id="9" name="TextBox 8"/>
          <p:cNvSpPr txBox="1"/>
          <p:nvPr/>
        </p:nvSpPr>
        <p:spPr>
          <a:xfrm>
            <a:off x="4297680" y="3886200"/>
            <a:ext cx="2743200" cy="868680"/>
          </a:xfrm>
          <a:prstGeom prst="rect">
            <a:avLst/>
          </a:prstGeom>
          <a:noFill/>
        </p:spPr>
        <p:txBody>
          <a:bodyPr wrap="square">
            <a:spAutoFit/>
          </a:bodyPr>
          <a:lstStyle/>
          <a:p>
            <a:pPr algn="l"/>
            <a:r>
              <a:rPr sz="1200" b="1">
                <a:solidFill>
                  <a:srgbClr val="2A2E30"/>
                </a:solidFill>
                <a:latin typeface="Arial"/>
              </a:rPr>
              <a:t>Caveat:</a:t>
            </a:r>
            <a:r>
              <a:rPr sz="1100" b="0">
                <a:solidFill>
                  <a:srgbClr val="505759"/>
                </a:solidFill>
                <a:latin typeface="Arial"/>
              </a:rPr>
              <a:t> this internal harness scores the baseline at 0.098, not 0.168 — the relative lift is trustworthy; the absolute number needs reconciling before quoting vs the leaderboard.</a:t>
            </a:r>
          </a:p>
        </p:txBody>
      </p:sp>
      <p:sp>
        <p:nvSpPr>
          <p:cNvPr id="10" name="TextBox 9"/>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Can a foundation model add more? Not yet.</a:t>
            </a:r>
          </a:p>
        </p:txBody>
      </p:sp>
      <p:sp>
        <p:nvSpPr>
          <p:cNvPr id="3" name="Content Placeholder 2"/>
          <p:cNvSpPr>
            <a:spLocks noGrp="1"/>
          </p:cNvSpPr>
          <p:nvPr>
            <p:ph idx="1"/>
          </p:nvPr>
        </p:nvSpPr>
        <p:spPr/>
        <p:txBody>
          <a:bodyPr/>
          <a:lstStyle/>
          <a:p/>
        </p:txBody>
      </p:sp>
      <p:sp>
        <p:nvSpPr>
          <p:cNvPr id="4" name="TextBox 3"/>
          <p:cNvSpPr txBox="1"/>
          <p:nvPr/>
        </p:nvSpPr>
        <p:spPr>
          <a:xfrm>
            <a:off x="548640" y="1024128"/>
            <a:ext cx="6446520" cy="274320"/>
          </a:xfrm>
          <a:prstGeom prst="rect">
            <a:avLst/>
          </a:prstGeom>
          <a:noFill/>
        </p:spPr>
        <p:txBody>
          <a:bodyPr wrap="square">
            <a:spAutoFit/>
          </a:bodyPr>
          <a:lstStyle/>
          <a:p>
            <a:pPr algn="l"/>
            <a:r>
              <a:rPr sz="1100" b="1">
                <a:solidFill>
                  <a:srgbClr val="C8102E"/>
                </a:solidFill>
                <a:latin typeface="Arial"/>
              </a:rPr>
              <a:t>RESULTS · SLEEPFM EMBEDDING FUSION (in progress)</a:t>
            </a:r>
          </a:p>
        </p:txBody>
      </p:sp>
      <p:pic>
        <p:nvPicPr>
          <p:cNvPr id="5" name="Picture 4" descr="fig_slide_forest.png"/>
          <p:cNvPicPr>
            <a:picLocks noChangeAspect="1"/>
          </p:cNvPicPr>
          <p:nvPr/>
        </p:nvPicPr>
        <p:blipFill>
          <a:blip r:embed="rId2"/>
          <a:stretch>
            <a:fillRect/>
          </a:stretch>
        </p:blipFill>
        <p:spPr>
          <a:xfrm>
            <a:off x="457200" y="1444752"/>
            <a:ext cx="4069080" cy="1434647"/>
          </a:xfrm>
          <a:prstGeom prst="rect">
            <a:avLst/>
          </a:prstGeom>
        </p:spPr>
      </p:pic>
      <p:sp>
        <p:nvSpPr>
          <p:cNvPr id="6" name="TextBox 5"/>
          <p:cNvSpPr txBox="1"/>
          <p:nvPr/>
        </p:nvSpPr>
        <p:spPr>
          <a:xfrm>
            <a:off x="4663440" y="1517904"/>
            <a:ext cx="2377440" cy="914400"/>
          </a:xfrm>
          <a:prstGeom prst="rect">
            <a:avLst/>
          </a:prstGeom>
          <a:noFill/>
        </p:spPr>
        <p:txBody>
          <a:bodyPr wrap="square">
            <a:spAutoFit/>
          </a:bodyPr>
          <a:lstStyle/>
          <a:p>
            <a:pPr algn="l"/>
            <a:r>
              <a:rPr sz="1200" b="1">
                <a:solidFill>
                  <a:srgbClr val="2A2E30"/>
                </a:solidFill>
                <a:latin typeface="Arial"/>
              </a:rPr>
              <a:t>SleepFM embeddings</a:t>
            </a:r>
            <a:r>
              <a:rPr sz="1200" b="0">
                <a:solidFill>
                  <a:srgbClr val="505759"/>
                </a:solidFill>
                <a:latin typeface="Arial"/>
              </a:rPr>
              <a:t> (self-supervised, no CI labels) fused leakage-safe with our features.</a:t>
            </a:r>
          </a:p>
        </p:txBody>
      </p:sp>
      <p:sp>
        <p:nvSpPr>
          <p:cNvPr id="7" name="TextBox 6"/>
          <p:cNvSpPr txBox="1"/>
          <p:nvPr/>
        </p:nvSpPr>
        <p:spPr>
          <a:xfrm>
            <a:off x="4663440" y="2304288"/>
            <a:ext cx="2377440" cy="914400"/>
          </a:xfrm>
          <a:prstGeom prst="rect">
            <a:avLst/>
          </a:prstGeom>
          <a:noFill/>
        </p:spPr>
        <p:txBody>
          <a:bodyPr wrap="square">
            <a:spAutoFit/>
          </a:bodyPr>
          <a:lstStyle/>
          <a:p>
            <a:pPr algn="l"/>
            <a:r>
              <a:rPr sz="1200" b="1">
                <a:solidFill>
                  <a:srgbClr val="C8102E"/>
                </a:solidFill>
                <a:latin typeface="Arial"/>
              </a:rPr>
              <a:t>Best point estimate 0.253</a:t>
            </a:r>
            <a:r>
              <a:rPr sz="1200" b="0">
                <a:solidFill>
                  <a:srgbClr val="505759"/>
                </a:solidFill>
                <a:latin typeface="Arial"/>
              </a:rPr>
              <a:t> LOSO — but its 95% CI still includes 0.</a:t>
            </a:r>
          </a:p>
        </p:txBody>
      </p:sp>
      <p:sp>
        <p:nvSpPr>
          <p:cNvPr id="8" name="TextBox 7"/>
          <p:cNvSpPr txBox="1"/>
          <p:nvPr/>
        </p:nvSpPr>
        <p:spPr>
          <a:xfrm>
            <a:off x="4663440" y="3090672"/>
            <a:ext cx="2377440" cy="914400"/>
          </a:xfrm>
          <a:prstGeom prst="rect">
            <a:avLst/>
          </a:prstGeom>
          <a:noFill/>
        </p:spPr>
        <p:txBody>
          <a:bodyPr wrap="square">
            <a:spAutoFit/>
          </a:bodyPr>
          <a:lstStyle/>
          <a:p>
            <a:pPr algn="l"/>
            <a:r>
              <a:rPr sz="1200" b="1">
                <a:solidFill>
                  <a:srgbClr val="2A2E30"/>
                </a:solidFill>
                <a:latin typeface="Arial"/>
              </a:rPr>
              <a:t>Paired test is the verdict:</a:t>
            </a:r>
            <a:r>
              <a:rPr sz="1200" b="0">
                <a:solidFill>
                  <a:srgbClr val="505759"/>
                </a:solidFill>
                <a:latin typeface="Arial"/>
              </a:rPr>
              <a:t> adding embeddings on top of feature selection gives </a:t>
            </a:r>
            <a:r>
              <a:rPr sz="1200" b="1">
                <a:solidFill>
                  <a:srgbClr val="2A2E30"/>
                </a:solidFill>
                <a:latin typeface="Arial"/>
              </a:rPr>
              <a:t>Δ = −0.10 [−1.32, +0.66]</a:t>
            </a:r>
            <a:r>
              <a:rPr sz="1200" b="0">
                <a:solidFill>
                  <a:srgbClr val="505759"/>
                </a:solidFill>
                <a:latin typeface="Arial"/>
              </a:rPr>
              <a:t> — not distinguishable from selection alone.</a:t>
            </a:r>
          </a:p>
        </p:txBody>
      </p:sp>
      <p:sp>
        <p:nvSpPr>
          <p:cNvPr id="9" name="TextBox 8"/>
          <p:cNvSpPr txBox="1"/>
          <p:nvPr/>
        </p:nvSpPr>
        <p:spPr>
          <a:xfrm>
            <a:off x="4663440" y="3877056"/>
            <a:ext cx="2377440" cy="914400"/>
          </a:xfrm>
          <a:prstGeom prst="rect">
            <a:avLst/>
          </a:prstGeom>
          <a:noFill/>
        </p:spPr>
        <p:txBody>
          <a:bodyPr wrap="square">
            <a:spAutoFit/>
          </a:bodyPr>
          <a:lstStyle/>
          <a:p>
            <a:pPr algn="l"/>
            <a:r>
              <a:rPr sz="1200" b="1">
                <a:solidFill>
                  <a:srgbClr val="346583"/>
                </a:solidFill>
                <a:latin typeface="Arial"/>
              </a:rPr>
              <a:t>Next:</a:t>
            </a:r>
            <a:r>
              <a:rPr sz="1200" b="0">
                <a:solidFill>
                  <a:srgbClr val="505759"/>
                </a:solidFill>
                <a:latin typeface="Arial"/>
              </a:rPr>
              <a:t> per-stage PCA, late-fusion/stacking, and more labeled data to shrink the CIs (84 positives is the binding constraint).</a:t>
            </a:r>
          </a:p>
        </p:txBody>
      </p:sp>
      <p:sp>
        <p:nvSpPr>
          <p:cNvPr id="10" name="TextBox 9"/>
          <p:cNvSpPr txBox="1"/>
          <p:nvPr/>
        </p:nvSpPr>
        <p:spPr>
          <a:xfrm>
            <a:off x="548640" y="4828032"/>
            <a:ext cx="6035040" cy="228600"/>
          </a:xfrm>
          <a:prstGeom prst="rect">
            <a:avLst/>
          </a:prstGeom>
          <a:noFill/>
        </p:spPr>
        <p:txBody>
          <a:bodyPr wrap="square">
            <a:spAutoFit/>
          </a:bodyPr>
          <a:lstStyle/>
          <a:p>
            <a:pPr algn="l"/>
            <a:r>
              <a:rPr sz="800" b="0">
                <a:solidFill>
                  <a:srgbClr val="898D8D"/>
                </a:solidFill>
                <a:latin typeface="Arial"/>
              </a:rPr>
              <a:t>PhysioNet Challenge 2026  ·  Scoring Metrics</a:t>
            </a:r>
          </a:p>
        </p:txBody>
      </p:sp>
    </p:spTree>
  </p:cSld>
  <p:clrMapOvr>
    <a:masterClrMapping/>
  </p:clrMapOvr>
</p:sld>
</file>

<file path=ppt/theme/theme1.xml><?xml version="1.0" encoding="utf-8"?>
<a:theme xmlns:a="http://schemas.openxmlformats.org/drawingml/2006/main" name="Edwards PPT Template 13Nov2015">
  <a:themeElements>
    <a:clrScheme name="Edwards">
      <a:dk1>
        <a:srgbClr val="000000"/>
      </a:dk1>
      <a:lt1>
        <a:srgbClr val="FFFFFF"/>
      </a:lt1>
      <a:dk2>
        <a:srgbClr val="94A596"/>
      </a:dk2>
      <a:lt2>
        <a:srgbClr val="A4BCC2"/>
      </a:lt2>
      <a:accent1>
        <a:srgbClr val="C8102E"/>
      </a:accent1>
      <a:accent2>
        <a:srgbClr val="898D8D"/>
      </a:accent2>
      <a:accent3>
        <a:srgbClr val="346583"/>
      </a:accent3>
      <a:accent4>
        <a:srgbClr val="CEB888"/>
      </a:accent4>
      <a:accent5>
        <a:srgbClr val="982E2F"/>
      </a:accent5>
      <a:accent6>
        <a:srgbClr val="505759"/>
      </a:accent6>
      <a:hlink>
        <a:srgbClr val="C8102E"/>
      </a:hlink>
      <a:folHlink>
        <a:srgbClr val="C8102E"/>
      </a:folHlink>
    </a:clrScheme>
    <a:fontScheme name="Edwards 2015">
      <a:majorFont>
        <a:latin typeface="Arial"/>
        <a:ea typeface=""/>
        <a:cs typeface=""/>
      </a:majorFont>
      <a:minorFont>
        <a:latin typeface="Arial"/>
        <a:ea typeface=""/>
        <a:cs typeface=""/>
      </a:minorFont>
    </a:fontScheme>
    <a:fmtScheme name="Edwards 2015">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25400" cap="sq" cmpd="sng" algn="ctr">
          <a:solidFill>
            <a:schemeClr val="phClr"/>
          </a:solidFill>
          <a:prstDash val="solid"/>
        </a:ln>
      </a:lnStyleLst>
      <a:effectStyleLst>
        <a:effectStyle>
          <a:effectLst/>
        </a:effectStyle>
        <a:effectStyle>
          <a:effectLst/>
        </a:effectStyle>
        <a:effectStyle>
          <a:effectLst>
            <a:outerShdw blurRad="190500" dist="63500" dir="2700000" algn="br" rotWithShape="0">
              <a:srgbClr val="000000">
                <a:alpha val="40000"/>
              </a:srgbClr>
            </a:outerShdw>
          </a:effectLst>
        </a:effectStyle>
      </a:effectStyleLst>
      <a:bgFillStyleLst>
        <a:solidFill>
          <a:schemeClr val="phClr"/>
        </a:solidFill>
        <a:solidFill>
          <a:schemeClr val="phClr"/>
        </a:solidFill>
        <a:solidFill>
          <a:schemeClr val="phClr"/>
        </a:solidFill>
      </a:bgFillStyleLst>
    </a:fmtScheme>
  </a:themeElements>
  <a:objectDefaults/>
  <a:extraClrSchemeLst/>
  <a:extLst>
    <a:ext uri="{05A4C25C-085E-4340-85A3-A5531E510DB2}">
      <thm15:themeFamily xmlns:thm15="http://schemas.microsoft.com/office/thememl/2012/main" name="Presentation8" id="{9CBDFC55-8CF8-FC4F-ACA4-6C2398711CFB}" vid="{14300AF9-1F5E-E749-8007-AB4B9B93E9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Edwards PPT Template 13Nov2015</Template>
  <TotalTime>152</TotalTime>
  <Words>2168</Words>
  <Application>Microsoft Macintosh PowerPoint</Application>
  <PresentationFormat>On-screen Show (16:9)</PresentationFormat>
  <Paragraphs>232</Paragraphs>
  <Slides>59</Slides>
  <Notes>12</Notes>
  <HiddenSlides>9</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Wingdings</vt:lpstr>
      <vt:lpstr>Edwards PPT Template 13Nov2015</vt:lpstr>
      <vt:lpstr>Synthetic Medical/Survival Data Generation</vt:lpstr>
      <vt:lpstr>Story, Purpose, and Motivation</vt:lpstr>
      <vt:lpstr> Why synthetic medical data matters now</vt:lpstr>
      <vt:lpstr>Overview</vt:lpstr>
      <vt:lpstr>PowerPoint Presentation</vt:lpstr>
      <vt:lpstr>Methods and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Evaluation, Results, and Evidence</vt:lpstr>
      <vt:lpstr>PowerPoint Presentation</vt:lpstr>
      <vt:lpstr>PowerPoint Presentation</vt:lpstr>
      <vt:lpstr>PowerPoint Presentation</vt:lpstr>
      <vt:lpstr>Roadmap and Key Takeaways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Action Plans</vt:lpstr>
      <vt:lpstr>References</vt:lpstr>
      <vt:lpstr>References</vt:lpstr>
      <vt:lpstr>References</vt:lpstr>
      <vt:lpstr>PowerPoint Presentation</vt:lpstr>
      <vt:lpstr>Presentation title is Arial Bold 26pt </vt:lpstr>
      <vt:lpstr>Presentation title is Arial Bold 26pt </vt:lpstr>
      <vt:lpstr>Presentation title is Arial Bold 26pt </vt:lpstr>
      <vt:lpstr>Presentation title is Arial Bold 26pt </vt:lpstr>
      <vt:lpstr>Presentation title is Arial Bold 26pt </vt:lpstr>
      <vt:lpstr>Presentation title is Arial Bold 26pt </vt:lpstr>
      <vt:lpstr>Presentation title is Arial Bold 26pt </vt:lpstr>
      <vt:lpstr>Presentation title is Arial Bold 26pt </vt:lpstr>
      <vt:lpstr>Presentation title is Arial Bold 26pt </vt:lpstr>
      <vt:lpstr>Presentation title is Arial Bold 26pt </vt:lpstr>
      <vt:lpstr>Presentation title is Arial Bold 26pt </vt:lpstr>
      <vt:lpstr>Our color palette</vt:lpstr>
      <vt:lpstr>This is a “Two Content” slide — two columns that  can be used for text, charts, images or graphics</vt:lpstr>
      <vt:lpstr>Use sentence case for titles. Only capitalize words that need to be capitalized.</vt:lpstr>
      <vt:lpstr>This is a “Comparison” slide — two columns with titles</vt:lpstr>
      <vt:lpstr>Tables</vt:lpstr>
      <vt:lpstr>Charts and graphics</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Arshia Ilaty (Edwards Contingent Worker)</dc:creator>
  <cp:keywords/>
  <dc:description/>
  <cp:lastModifiedBy>Arshia Ilaty (Edwards Contingent Worker)</cp:lastModifiedBy>
  <cp:revision>2</cp:revision>
  <dcterms:created xsi:type="dcterms:W3CDTF">2026-07-07T17:52:45Z</dcterms:created>
  <dcterms:modified xsi:type="dcterms:W3CDTF">2026-07-09T21:27:41Z</dcterms:modified>
  <cp:category/>
</cp:coreProperties>
</file>